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Average"/>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053292-0F80-4647-9BA5-FABB1F77859B}">
  <a:tblStyle styleId="{24053292-0F80-4647-9BA5-FABB1F77859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Average-regular.fnt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Jeremy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16058b42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16058b42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Jeremy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16058b422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16058b422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response variable was team wins for the given season, since winning is what football is all about. The predictor variables we chose were rush yards per attempt and pass yards per attempt on offense, net turnover margin, and </a:t>
            </a:r>
            <a:r>
              <a:rPr lang="en">
                <a:solidFill>
                  <a:schemeClr val="dk1"/>
                </a:solidFill>
              </a:rPr>
              <a:t>rush yards per attempt and pass yards per attempt allowed on defense. For each of the predictors, we chose to use the team’s ranking amongst the 32 nfl teams for the given season, with 1 being the best in the stat, and 32 being the worst. This is because we are only concerned with relative performance within a single season.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16058b422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16058b422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Stephen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19713fa6d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19713fa6d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Stephen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160e21719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160e21719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Stephen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160e21719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160e21719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Stephen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17172975a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17172975a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Stephen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1dc196be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1dc196be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Krithik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1c630f0c2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1c630f0c2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Krithik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1c630f0c2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1c630f0c2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Krithik</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1c630f0c2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1c630f0c2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Kiel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16058b422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16058b422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Kiel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1c630f0c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1c630f0c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Kiel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16058b422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16058b422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Luke - The most insightful implication for real life nfl strategy is that passing offense and defense and winning, as well as winning the turnover margin, are far more important for winning than rushing offense and defense. Intuitively, these </a:t>
            </a:r>
            <a:r>
              <a:rPr lang="en"/>
              <a:t>conclusions</a:t>
            </a:r>
            <a:r>
              <a:rPr lang="en"/>
              <a:t> make sense, as each of the last 5 super bowl winners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3203963" y="1394400"/>
            <a:ext cx="2736077" cy="2736102"/>
          </a:xfrm>
          <a:prstGeom prst="rect">
            <a:avLst/>
          </a:prstGeom>
          <a:noFill/>
          <a:ln>
            <a:noFill/>
          </a:ln>
        </p:spPr>
      </p:pic>
      <p:sp>
        <p:nvSpPr>
          <p:cNvPr id="56" name="Google Shape;56;p13"/>
          <p:cNvSpPr txBox="1"/>
          <p:nvPr>
            <p:ph type="ctrTitle"/>
          </p:nvPr>
        </p:nvSpPr>
        <p:spPr>
          <a:xfrm>
            <a:off x="311700" y="386800"/>
            <a:ext cx="8520600" cy="85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800">
                <a:latin typeface="Average"/>
                <a:ea typeface="Average"/>
                <a:cs typeface="Average"/>
                <a:sym typeface="Average"/>
              </a:rPr>
              <a:t>Football Data Analysis Model</a:t>
            </a:r>
            <a:endParaRPr sz="4800">
              <a:latin typeface="Average"/>
              <a:ea typeface="Average"/>
              <a:cs typeface="Average"/>
              <a:sym typeface="Average"/>
            </a:endParaRPr>
          </a:p>
        </p:txBody>
      </p:sp>
      <p:sp>
        <p:nvSpPr>
          <p:cNvPr id="57" name="Google Shape;57;p13"/>
          <p:cNvSpPr txBox="1"/>
          <p:nvPr>
            <p:ph idx="1" type="subTitle"/>
          </p:nvPr>
        </p:nvSpPr>
        <p:spPr>
          <a:xfrm>
            <a:off x="311700" y="4336708"/>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 sz="1580">
                <a:solidFill>
                  <a:schemeClr val="dk1"/>
                </a:solidFill>
                <a:latin typeface="Average"/>
                <a:ea typeface="Average"/>
                <a:cs typeface="Average"/>
                <a:sym typeface="Average"/>
              </a:rPr>
              <a:t>By Jeremy Shiu, Krithik Jatavallabhula, Stephen Fujiwara, Kiel Messinger, and Luke Shen</a:t>
            </a:r>
            <a:endParaRPr sz="1580">
              <a:solidFill>
                <a:schemeClr val="dk1"/>
              </a:solidFill>
              <a:latin typeface="Average"/>
              <a:ea typeface="Average"/>
              <a:cs typeface="Average"/>
              <a:sym typeface="Average"/>
            </a:endParaRPr>
          </a:p>
        </p:txBody>
      </p:sp>
      <p:pic>
        <p:nvPicPr>
          <p:cNvPr id="58" name="Google Shape;58;p13"/>
          <p:cNvPicPr preferRelativeResize="0"/>
          <p:nvPr/>
        </p:nvPicPr>
        <p:blipFill>
          <a:blip r:embed="rId4">
            <a:alphaModFix/>
          </a:blip>
          <a:stretch>
            <a:fillRect/>
          </a:stretch>
        </p:blipFill>
        <p:spPr>
          <a:xfrm>
            <a:off x="1150300" y="1783237"/>
            <a:ext cx="1508275" cy="1958426"/>
          </a:xfrm>
          <a:prstGeom prst="rect">
            <a:avLst/>
          </a:prstGeom>
          <a:noFill/>
          <a:ln>
            <a:noFill/>
          </a:ln>
        </p:spPr>
      </p:pic>
      <p:pic>
        <p:nvPicPr>
          <p:cNvPr id="59" name="Google Shape;59;p13"/>
          <p:cNvPicPr preferRelativeResize="0"/>
          <p:nvPr/>
        </p:nvPicPr>
        <p:blipFill>
          <a:blip r:embed="rId5">
            <a:alphaModFix/>
          </a:blip>
          <a:stretch>
            <a:fillRect/>
          </a:stretch>
        </p:blipFill>
        <p:spPr>
          <a:xfrm>
            <a:off x="6377475" y="1835225"/>
            <a:ext cx="1854450" cy="1854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txBox="1"/>
          <p:nvPr>
            <p:ph idx="1" type="body"/>
          </p:nvPr>
        </p:nvSpPr>
        <p:spPr>
          <a:xfrm>
            <a:off x="311700" y="9327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highlight>
                  <a:srgbClr val="FFFFFF"/>
                </a:highlight>
                <a:latin typeface="Average"/>
                <a:ea typeface="Average"/>
                <a:cs typeface="Average"/>
                <a:sym typeface="Average"/>
              </a:rPr>
              <a:t>The</a:t>
            </a:r>
            <a:r>
              <a:rPr lang="en" sz="1600">
                <a:solidFill>
                  <a:schemeClr val="dk1"/>
                </a:solidFill>
                <a:highlight>
                  <a:srgbClr val="FFFFFF"/>
                </a:highlight>
                <a:latin typeface="Average"/>
                <a:ea typeface="Average"/>
                <a:cs typeface="Average"/>
                <a:sym typeface="Average"/>
              </a:rPr>
              <a:t> objective of this study is to analyze how different aspects of a team's performance affect their wins in a season using a predictive model constructed from various football statistics.</a:t>
            </a:r>
            <a:endParaRPr sz="600">
              <a:solidFill>
                <a:schemeClr val="dk1"/>
              </a:solidFill>
              <a:highlight>
                <a:srgbClr val="FFFFFF"/>
              </a:highlight>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  Teams have to work around salary cap, draft pick, and roster space limitations.</a:t>
            </a:r>
            <a:endParaRPr sz="1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  What positions are most valuable?</a:t>
            </a:r>
            <a:endParaRPr sz="1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  What offensive/defensive philosophies work best?</a:t>
            </a:r>
            <a:endParaRPr sz="1600">
              <a:solidFill>
                <a:schemeClr val="dk1"/>
              </a:solidFill>
              <a:latin typeface="Average"/>
              <a:ea typeface="Average"/>
              <a:cs typeface="Average"/>
              <a:sym typeface="Average"/>
            </a:endParaRPr>
          </a:p>
          <a:p>
            <a:pPr indent="0" lvl="0" marL="0" rtl="0" algn="l">
              <a:spcBef>
                <a:spcPts val="0"/>
              </a:spcBef>
              <a:spcAft>
                <a:spcPts val="0"/>
              </a:spcAft>
              <a:buNone/>
            </a:pPr>
            <a:r>
              <a:t/>
            </a:r>
            <a:endParaRPr sz="600">
              <a:solidFill>
                <a:schemeClr val="dk1"/>
              </a:solidFill>
              <a:latin typeface="Average"/>
              <a:ea typeface="Average"/>
              <a:cs typeface="Average"/>
              <a:sym typeface="Average"/>
            </a:endParaRPr>
          </a:p>
          <a:p>
            <a:pPr indent="0" lvl="0" marL="0" rtl="0" algn="l">
              <a:spcBef>
                <a:spcPts val="0"/>
              </a:spcBef>
              <a:spcAft>
                <a:spcPts val="0"/>
              </a:spcAft>
              <a:buNone/>
            </a:pPr>
            <a:r>
              <a:rPr lang="en" sz="1600">
                <a:solidFill>
                  <a:schemeClr val="dk1"/>
                </a:solidFill>
                <a:latin typeface="Average"/>
                <a:ea typeface="Average"/>
                <a:cs typeface="Average"/>
                <a:sym typeface="Average"/>
              </a:rPr>
              <a:t>Our </a:t>
            </a:r>
            <a:r>
              <a:rPr lang="en" sz="1600">
                <a:solidFill>
                  <a:schemeClr val="dk1"/>
                </a:solidFill>
                <a:latin typeface="Average"/>
                <a:ea typeface="Average"/>
                <a:cs typeface="Average"/>
                <a:sym typeface="Average"/>
              </a:rPr>
              <a:t>model</a:t>
            </a:r>
            <a:r>
              <a:rPr lang="en" sz="1600">
                <a:solidFill>
                  <a:schemeClr val="dk1"/>
                </a:solidFill>
                <a:latin typeface="Average"/>
                <a:ea typeface="Average"/>
                <a:cs typeface="Average"/>
                <a:sym typeface="Average"/>
              </a:rPr>
              <a:t> will help answer these questions.</a:t>
            </a:r>
            <a:endParaRPr sz="1600">
              <a:solidFill>
                <a:schemeClr val="dk1"/>
              </a:solidFill>
              <a:latin typeface="Average"/>
              <a:ea typeface="Average"/>
              <a:cs typeface="Average"/>
              <a:sym typeface="Average"/>
            </a:endParaRPr>
          </a:p>
        </p:txBody>
      </p:sp>
      <p:pic>
        <p:nvPicPr>
          <p:cNvPr id="66" name="Google Shape;66;p14"/>
          <p:cNvPicPr preferRelativeResize="0"/>
          <p:nvPr/>
        </p:nvPicPr>
        <p:blipFill rotWithShape="1">
          <a:blip r:embed="rId3">
            <a:alphaModFix/>
          </a:blip>
          <a:srcRect b="0" l="0" r="29138" t="14821"/>
          <a:stretch/>
        </p:blipFill>
        <p:spPr>
          <a:xfrm>
            <a:off x="1072025" y="2921150"/>
            <a:ext cx="2884950" cy="1950550"/>
          </a:xfrm>
          <a:prstGeom prst="rect">
            <a:avLst/>
          </a:prstGeom>
          <a:noFill/>
          <a:ln>
            <a:noFill/>
          </a:ln>
        </p:spPr>
      </p:pic>
      <p:sp>
        <p:nvSpPr>
          <p:cNvPr id="67" name="Google Shape;67;p14"/>
          <p:cNvSpPr txBox="1"/>
          <p:nvPr>
            <p:ph type="title"/>
          </p:nvPr>
        </p:nvSpPr>
        <p:spPr>
          <a:xfrm>
            <a:off x="311700" y="311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P</a:t>
            </a:r>
            <a:r>
              <a:rPr lang="en">
                <a:latin typeface="Average"/>
                <a:ea typeface="Average"/>
                <a:cs typeface="Average"/>
                <a:sym typeface="Average"/>
              </a:rPr>
              <a:t>roject Purpose</a:t>
            </a:r>
            <a:endParaRPr>
              <a:latin typeface="Average"/>
              <a:ea typeface="Average"/>
              <a:cs typeface="Average"/>
              <a:sym typeface="Average"/>
            </a:endParaRPr>
          </a:p>
        </p:txBody>
      </p:sp>
      <p:pic>
        <p:nvPicPr>
          <p:cNvPr id="68" name="Google Shape;68;p14"/>
          <p:cNvPicPr preferRelativeResize="0"/>
          <p:nvPr/>
        </p:nvPicPr>
        <p:blipFill>
          <a:blip r:embed="rId4">
            <a:alphaModFix/>
          </a:blip>
          <a:stretch>
            <a:fillRect/>
          </a:stretch>
        </p:blipFill>
        <p:spPr>
          <a:xfrm>
            <a:off x="5079774" y="2502976"/>
            <a:ext cx="2469601" cy="2469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Model Variables</a:t>
            </a:r>
            <a:endParaRPr>
              <a:latin typeface="Average"/>
              <a:ea typeface="Average"/>
              <a:cs typeface="Average"/>
              <a:sym typeface="Average"/>
            </a:endParaRPr>
          </a:p>
        </p:txBody>
      </p:sp>
      <p:sp>
        <p:nvSpPr>
          <p:cNvPr id="75" name="Google Shape;75;p15"/>
          <p:cNvSpPr txBox="1"/>
          <p:nvPr>
            <p:ph idx="1" type="body"/>
          </p:nvPr>
        </p:nvSpPr>
        <p:spPr>
          <a:xfrm>
            <a:off x="311700" y="9238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Average"/>
                <a:ea typeface="Average"/>
                <a:cs typeface="Average"/>
                <a:sym typeface="Average"/>
              </a:rPr>
              <a:t>Wins</a:t>
            </a:r>
            <a:r>
              <a:rPr lang="en" sz="1600">
                <a:solidFill>
                  <a:schemeClr val="dk1"/>
                </a:solidFill>
                <a:latin typeface="Average"/>
                <a:ea typeface="Average"/>
                <a:cs typeface="Average"/>
                <a:sym typeface="Average"/>
              </a:rPr>
              <a:t>: The </a:t>
            </a:r>
            <a:r>
              <a:rPr lang="en" sz="1600">
                <a:solidFill>
                  <a:schemeClr val="dk1"/>
                </a:solidFill>
                <a:latin typeface="Average"/>
                <a:ea typeface="Average"/>
                <a:cs typeface="Average"/>
                <a:sym typeface="Average"/>
              </a:rPr>
              <a:t>amount</a:t>
            </a:r>
            <a:r>
              <a:rPr lang="en" sz="1600">
                <a:solidFill>
                  <a:schemeClr val="dk1"/>
                </a:solidFill>
                <a:latin typeface="Average"/>
                <a:ea typeface="Average"/>
                <a:cs typeface="Average"/>
                <a:sym typeface="Average"/>
              </a:rPr>
              <a:t> of wins the </a:t>
            </a:r>
            <a:r>
              <a:rPr lang="en" sz="1600">
                <a:solidFill>
                  <a:schemeClr val="dk1"/>
                </a:solidFill>
                <a:latin typeface="Average"/>
                <a:ea typeface="Average"/>
                <a:cs typeface="Average"/>
                <a:sym typeface="Average"/>
              </a:rPr>
              <a:t>given</a:t>
            </a:r>
            <a:r>
              <a:rPr lang="en" sz="1600">
                <a:solidFill>
                  <a:schemeClr val="dk1"/>
                </a:solidFill>
                <a:latin typeface="Average"/>
                <a:ea typeface="Average"/>
                <a:cs typeface="Average"/>
                <a:sym typeface="Average"/>
              </a:rPr>
              <a:t> team had in the given year (whole # 0 to 16)</a:t>
            </a:r>
            <a:endParaRPr sz="1600">
              <a:solidFill>
                <a:schemeClr val="dk1"/>
              </a:solidFill>
              <a:latin typeface="Average"/>
              <a:ea typeface="Average"/>
              <a:cs typeface="Average"/>
              <a:sym typeface="Average"/>
            </a:endParaRPr>
          </a:p>
          <a:p>
            <a:pPr indent="0" lvl="0" marL="0" rtl="0" algn="l">
              <a:spcBef>
                <a:spcPts val="1200"/>
              </a:spcBef>
              <a:spcAft>
                <a:spcPts val="0"/>
              </a:spcAft>
              <a:buNone/>
            </a:pPr>
            <a:r>
              <a:rPr lang="en" sz="1600">
                <a:solidFill>
                  <a:schemeClr val="dk1"/>
                </a:solidFill>
                <a:latin typeface="Average"/>
                <a:ea typeface="Average"/>
                <a:cs typeface="Average"/>
                <a:sym typeface="Average"/>
              </a:rPr>
              <a:t>The following variables are not raw numbers; rather, they are the team’s ranking in the given statistic for the year compared to the rest of the league. 1 being the best, 32 being the worst for each stat. We chose to use rankings rather than raw numbers because we are only concerned with team performance relative to the league within each individual season. Thus, we expect that each variable coefficient will be negative; lower rankings in each statistic indicates poorer performance, which should lead to less wins.</a:t>
            </a:r>
            <a:endParaRPr sz="1600">
              <a:solidFill>
                <a:schemeClr val="dk1"/>
              </a:solidFill>
              <a:latin typeface="Average"/>
              <a:ea typeface="Average"/>
              <a:cs typeface="Average"/>
              <a:sym typeface="Average"/>
            </a:endParaRPr>
          </a:p>
          <a:p>
            <a:pPr indent="0" lvl="0" marL="0" rtl="0" algn="l">
              <a:spcBef>
                <a:spcPts val="1200"/>
              </a:spcBef>
              <a:spcAft>
                <a:spcPts val="1200"/>
              </a:spcAft>
              <a:buNone/>
            </a:pPr>
            <a:r>
              <a:rPr b="1" lang="en" sz="1600">
                <a:solidFill>
                  <a:schemeClr val="dk1"/>
                </a:solidFill>
                <a:latin typeface="Average"/>
                <a:ea typeface="Average"/>
                <a:cs typeface="Average"/>
                <a:sym typeface="Average"/>
              </a:rPr>
              <a:t>RYPA</a:t>
            </a:r>
            <a:r>
              <a:rPr lang="en" sz="1600">
                <a:solidFill>
                  <a:schemeClr val="dk1"/>
                </a:solidFill>
                <a:latin typeface="Average"/>
                <a:ea typeface="Average"/>
                <a:cs typeface="Average"/>
                <a:sym typeface="Average"/>
              </a:rPr>
              <a:t>: A</a:t>
            </a:r>
            <a:r>
              <a:rPr lang="en" sz="1600">
                <a:solidFill>
                  <a:schemeClr val="dk1"/>
                </a:solidFill>
                <a:latin typeface="Average"/>
                <a:ea typeface="Average"/>
                <a:cs typeface="Average"/>
                <a:sym typeface="Average"/>
              </a:rPr>
              <a:t>verage yards gained per rushing attempt</a:t>
            </a:r>
            <a:br>
              <a:rPr lang="en" sz="1600">
                <a:solidFill>
                  <a:schemeClr val="dk1"/>
                </a:solidFill>
                <a:latin typeface="Average"/>
                <a:ea typeface="Average"/>
                <a:cs typeface="Average"/>
                <a:sym typeface="Average"/>
              </a:rPr>
            </a:br>
            <a:r>
              <a:rPr b="1" lang="en" sz="1600">
                <a:solidFill>
                  <a:schemeClr val="dk1"/>
                </a:solidFill>
                <a:latin typeface="Average"/>
                <a:ea typeface="Average"/>
                <a:cs typeface="Average"/>
                <a:sym typeface="Average"/>
              </a:rPr>
              <a:t>YPPA</a:t>
            </a:r>
            <a:r>
              <a:rPr lang="en" sz="1600">
                <a:solidFill>
                  <a:schemeClr val="dk1"/>
                </a:solidFill>
                <a:latin typeface="Average"/>
                <a:ea typeface="Average"/>
                <a:cs typeface="Average"/>
                <a:sym typeface="Average"/>
              </a:rPr>
              <a:t>: A</a:t>
            </a:r>
            <a:r>
              <a:rPr lang="en" sz="1600">
                <a:solidFill>
                  <a:schemeClr val="dk1"/>
                </a:solidFill>
                <a:latin typeface="Average"/>
                <a:ea typeface="Average"/>
                <a:cs typeface="Average"/>
                <a:sym typeface="Average"/>
              </a:rPr>
              <a:t>verage yards gained per passing attempt</a:t>
            </a:r>
            <a:br>
              <a:rPr lang="en" sz="1600">
                <a:solidFill>
                  <a:schemeClr val="dk1"/>
                </a:solidFill>
                <a:latin typeface="Average"/>
                <a:ea typeface="Average"/>
                <a:cs typeface="Average"/>
                <a:sym typeface="Average"/>
              </a:rPr>
            </a:br>
            <a:r>
              <a:rPr b="1" lang="en" sz="1600">
                <a:solidFill>
                  <a:schemeClr val="dk1"/>
                </a:solidFill>
                <a:latin typeface="Average"/>
                <a:ea typeface="Average"/>
                <a:cs typeface="Average"/>
                <a:sym typeface="Average"/>
              </a:rPr>
              <a:t>T.O._Margin</a:t>
            </a:r>
            <a:r>
              <a:rPr lang="en" sz="1600">
                <a:solidFill>
                  <a:schemeClr val="dk1"/>
                </a:solidFill>
                <a:latin typeface="Average"/>
                <a:ea typeface="Average"/>
                <a:cs typeface="Average"/>
                <a:sym typeface="Average"/>
              </a:rPr>
              <a:t>: </a:t>
            </a:r>
            <a:r>
              <a:rPr lang="en" sz="1600">
                <a:solidFill>
                  <a:schemeClr val="dk1"/>
                </a:solidFill>
                <a:latin typeface="Average"/>
                <a:ea typeface="Average"/>
                <a:cs typeface="Average"/>
                <a:sym typeface="Average"/>
              </a:rPr>
              <a:t>The net turnover margin (turnovers forced - turnovers committed)</a:t>
            </a:r>
            <a:br>
              <a:rPr lang="en" sz="1600">
                <a:solidFill>
                  <a:schemeClr val="dk1"/>
                </a:solidFill>
                <a:latin typeface="Average"/>
                <a:ea typeface="Average"/>
                <a:cs typeface="Average"/>
                <a:sym typeface="Average"/>
              </a:rPr>
            </a:br>
            <a:r>
              <a:rPr b="1" lang="en" sz="1600">
                <a:solidFill>
                  <a:schemeClr val="dk1"/>
                </a:solidFill>
                <a:latin typeface="Average"/>
                <a:ea typeface="Average"/>
                <a:cs typeface="Average"/>
                <a:sym typeface="Average"/>
              </a:rPr>
              <a:t>Oppo.RYPA</a:t>
            </a:r>
            <a:r>
              <a:rPr lang="en" sz="1600">
                <a:solidFill>
                  <a:schemeClr val="dk1"/>
                </a:solidFill>
                <a:latin typeface="Average"/>
                <a:ea typeface="Average"/>
                <a:cs typeface="Average"/>
                <a:sym typeface="Average"/>
              </a:rPr>
              <a:t>: A</a:t>
            </a:r>
            <a:r>
              <a:rPr lang="en" sz="1600">
                <a:solidFill>
                  <a:schemeClr val="dk1"/>
                </a:solidFill>
                <a:latin typeface="Average"/>
                <a:ea typeface="Average"/>
                <a:cs typeface="Average"/>
                <a:sym typeface="Average"/>
              </a:rPr>
              <a:t>verage yards allowed per opponent rushing attempt</a:t>
            </a:r>
            <a:br>
              <a:rPr lang="en" sz="1600">
                <a:solidFill>
                  <a:schemeClr val="dk1"/>
                </a:solidFill>
                <a:latin typeface="Average"/>
                <a:ea typeface="Average"/>
                <a:cs typeface="Average"/>
                <a:sym typeface="Average"/>
              </a:rPr>
            </a:br>
            <a:r>
              <a:rPr b="1" lang="en" sz="1600">
                <a:solidFill>
                  <a:schemeClr val="dk1"/>
                </a:solidFill>
                <a:latin typeface="Average"/>
                <a:ea typeface="Average"/>
                <a:cs typeface="Average"/>
                <a:sym typeface="Average"/>
              </a:rPr>
              <a:t>Oppo.YPPA</a:t>
            </a:r>
            <a:r>
              <a:rPr lang="en" sz="1600">
                <a:solidFill>
                  <a:schemeClr val="dk1"/>
                </a:solidFill>
                <a:latin typeface="Average"/>
                <a:ea typeface="Average"/>
                <a:cs typeface="Average"/>
                <a:sym typeface="Average"/>
              </a:rPr>
              <a:t>: A</a:t>
            </a:r>
            <a:r>
              <a:rPr lang="en" sz="1600">
                <a:solidFill>
                  <a:schemeClr val="dk1"/>
                </a:solidFill>
                <a:latin typeface="Average"/>
                <a:ea typeface="Average"/>
                <a:cs typeface="Average"/>
                <a:sym typeface="Average"/>
              </a:rPr>
              <a:t>verage yards allowed per opponent passing attempt</a:t>
            </a:r>
            <a:endParaRPr sz="1600">
              <a:solidFill>
                <a:schemeClr val="dk1"/>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Determining the Best Model</a:t>
            </a:r>
            <a:endParaRPr>
              <a:latin typeface="Average"/>
              <a:ea typeface="Average"/>
              <a:cs typeface="Average"/>
              <a:sym typeface="Average"/>
            </a:endParaRPr>
          </a:p>
        </p:txBody>
      </p:sp>
      <p:sp>
        <p:nvSpPr>
          <p:cNvPr id="82" name="Google Shape;82;p16"/>
          <p:cNvSpPr txBox="1"/>
          <p:nvPr>
            <p:ph idx="1" type="body"/>
          </p:nvPr>
        </p:nvSpPr>
        <p:spPr>
          <a:xfrm>
            <a:off x="311700" y="923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chemeClr val="dk1"/>
                </a:solidFill>
                <a:latin typeface="Average"/>
                <a:ea typeface="Average"/>
                <a:cs typeface="Average"/>
                <a:sym typeface="Average"/>
              </a:rPr>
              <a:t>Power </a:t>
            </a:r>
            <a:r>
              <a:rPr b="1" lang="en" sz="1600">
                <a:solidFill>
                  <a:schemeClr val="dk1"/>
                </a:solidFill>
                <a:latin typeface="Average"/>
                <a:ea typeface="Average"/>
                <a:cs typeface="Average"/>
                <a:sym typeface="Average"/>
              </a:rPr>
              <a:t>Transformation:</a:t>
            </a:r>
            <a:endParaRPr b="1" sz="1600">
              <a:solidFill>
                <a:schemeClr val="dk1"/>
              </a:solidFill>
              <a:latin typeface="Average"/>
              <a:ea typeface="Average"/>
              <a:cs typeface="Average"/>
              <a:sym typeface="Average"/>
            </a:endParaRPr>
          </a:p>
          <a:p>
            <a:pPr indent="-330200" lvl="0" marL="457200" rtl="0" algn="l">
              <a:spcBef>
                <a:spcPts val="1200"/>
              </a:spcBef>
              <a:spcAft>
                <a:spcPts val="0"/>
              </a:spcAft>
              <a:buClr>
                <a:schemeClr val="dk1"/>
              </a:buClr>
              <a:buSzPts val="1600"/>
              <a:buFont typeface="Average"/>
              <a:buChar char="-"/>
            </a:pPr>
            <a:r>
              <a:rPr lang="en" sz="1600">
                <a:solidFill>
                  <a:schemeClr val="dk1"/>
                </a:solidFill>
                <a:latin typeface="Average"/>
                <a:ea typeface="Average"/>
                <a:cs typeface="Average"/>
                <a:sym typeface="Average"/>
              </a:rPr>
              <a:t>The </a:t>
            </a:r>
            <a:r>
              <a:rPr lang="en" sz="1600">
                <a:solidFill>
                  <a:schemeClr val="dk1"/>
                </a:solidFill>
                <a:latin typeface="Average"/>
                <a:ea typeface="Average"/>
                <a:cs typeface="Average"/>
                <a:sym typeface="Average"/>
              </a:rPr>
              <a:t>untransformed</a:t>
            </a:r>
            <a:r>
              <a:rPr lang="en" sz="1600">
                <a:solidFill>
                  <a:schemeClr val="dk1"/>
                </a:solidFill>
                <a:latin typeface="Average"/>
                <a:ea typeface="Average"/>
                <a:cs typeface="Average"/>
                <a:sym typeface="Average"/>
              </a:rPr>
              <a:t> model fit well, but after viewing the results from an inverse response plot, we ended up applying a power transformation to the response variable. </a:t>
            </a:r>
            <a:endParaRPr sz="1600">
              <a:solidFill>
                <a:schemeClr val="dk1"/>
              </a:solidFill>
              <a:latin typeface="Average"/>
              <a:ea typeface="Average"/>
              <a:cs typeface="Average"/>
              <a:sym typeface="Average"/>
            </a:endParaRPr>
          </a:p>
          <a:p>
            <a:pPr indent="0" lvl="0" marL="0" rtl="0" algn="l">
              <a:spcBef>
                <a:spcPts val="1200"/>
              </a:spcBef>
              <a:spcAft>
                <a:spcPts val="0"/>
              </a:spcAft>
              <a:buNone/>
            </a:pPr>
            <a:r>
              <a:rPr b="1" lang="en" sz="1600">
                <a:solidFill>
                  <a:schemeClr val="dk1"/>
                </a:solidFill>
                <a:latin typeface="Average"/>
                <a:ea typeface="Average"/>
                <a:cs typeface="Average"/>
                <a:sym typeface="Average"/>
              </a:rPr>
              <a:t>Inverse Response Plot Results:</a:t>
            </a:r>
            <a:endParaRPr b="1" sz="1600">
              <a:solidFill>
                <a:schemeClr val="dk1"/>
              </a:solidFill>
              <a:latin typeface="Average"/>
              <a:ea typeface="Average"/>
              <a:cs typeface="Average"/>
              <a:sym typeface="Average"/>
            </a:endParaRPr>
          </a:p>
          <a:p>
            <a:pPr indent="0" lvl="0" marL="0" rtl="0" algn="l">
              <a:spcBef>
                <a:spcPts val="1200"/>
              </a:spcBef>
              <a:spcAft>
                <a:spcPts val="0"/>
              </a:spcAft>
              <a:buNone/>
            </a:pPr>
            <a:r>
              <a:t/>
            </a:r>
            <a:endParaRPr sz="1600">
              <a:solidFill>
                <a:schemeClr val="dk1"/>
              </a:solidFill>
              <a:latin typeface="Average"/>
              <a:ea typeface="Average"/>
              <a:cs typeface="Average"/>
              <a:sym typeface="Average"/>
            </a:endParaRPr>
          </a:p>
          <a:p>
            <a:pPr indent="0" lvl="0" marL="457200" rtl="0" algn="l">
              <a:spcBef>
                <a:spcPts val="1200"/>
              </a:spcBef>
              <a:spcAft>
                <a:spcPts val="1200"/>
              </a:spcAft>
              <a:buNone/>
            </a:pPr>
            <a:r>
              <a:t/>
            </a:r>
            <a:endParaRPr sz="1600">
              <a:solidFill>
                <a:schemeClr val="dk1"/>
              </a:solidFill>
              <a:latin typeface="Average"/>
              <a:ea typeface="Average"/>
              <a:cs typeface="Average"/>
              <a:sym typeface="Average"/>
            </a:endParaRPr>
          </a:p>
        </p:txBody>
      </p:sp>
      <p:pic>
        <p:nvPicPr>
          <p:cNvPr id="83" name="Google Shape;83;p16"/>
          <p:cNvPicPr preferRelativeResize="0"/>
          <p:nvPr/>
        </p:nvPicPr>
        <p:blipFill rotWithShape="1">
          <a:blip r:embed="rId3">
            <a:alphaModFix/>
          </a:blip>
          <a:srcRect b="3607" l="0" r="4562" t="9065"/>
          <a:stretch/>
        </p:blipFill>
        <p:spPr>
          <a:xfrm>
            <a:off x="410025" y="2620050"/>
            <a:ext cx="3758200" cy="2149651"/>
          </a:xfrm>
          <a:prstGeom prst="rect">
            <a:avLst/>
          </a:prstGeom>
          <a:noFill/>
          <a:ln cap="flat" cmpd="sng" w="19050">
            <a:solidFill>
              <a:schemeClr val="dk1"/>
            </a:solidFill>
            <a:prstDash val="solid"/>
            <a:round/>
            <a:headEnd len="sm" w="sm" type="none"/>
            <a:tailEnd len="sm" w="sm" type="none"/>
          </a:ln>
        </p:spPr>
      </p:pic>
      <p:pic>
        <p:nvPicPr>
          <p:cNvPr id="84" name="Google Shape;84;p16"/>
          <p:cNvPicPr preferRelativeResize="0"/>
          <p:nvPr/>
        </p:nvPicPr>
        <p:blipFill>
          <a:blip r:embed="rId4">
            <a:alphaModFix/>
          </a:blip>
          <a:stretch>
            <a:fillRect/>
          </a:stretch>
        </p:blipFill>
        <p:spPr>
          <a:xfrm>
            <a:off x="4786075" y="2683690"/>
            <a:ext cx="3974650" cy="2022375"/>
          </a:xfrm>
          <a:prstGeom prst="rect">
            <a:avLst/>
          </a:prstGeom>
          <a:noFill/>
          <a:ln cap="flat" cmpd="sng" w="19050">
            <a:solidFill>
              <a:schemeClr val="dk1"/>
            </a:solidFill>
            <a:prstDash val="solid"/>
            <a:round/>
            <a:headEnd len="sm" w="sm" type="none"/>
            <a:tailEnd len="sm" w="sm" type="none"/>
          </a:ln>
        </p:spPr>
      </p:pic>
      <p:pic>
        <p:nvPicPr>
          <p:cNvPr id="85" name="Google Shape;85;p16"/>
          <p:cNvPicPr preferRelativeResize="0"/>
          <p:nvPr/>
        </p:nvPicPr>
        <p:blipFill>
          <a:blip r:embed="rId5">
            <a:alphaModFix/>
          </a:blip>
          <a:stretch>
            <a:fillRect/>
          </a:stretch>
        </p:blipFill>
        <p:spPr>
          <a:xfrm>
            <a:off x="3037973" y="2123937"/>
            <a:ext cx="1052650" cy="340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Determining the Best Model (cont.)</a:t>
            </a:r>
            <a:endParaRPr>
              <a:latin typeface="Average"/>
              <a:ea typeface="Average"/>
              <a:cs typeface="Average"/>
              <a:sym typeface="Average"/>
            </a:endParaRPr>
          </a:p>
        </p:txBody>
      </p:sp>
      <p:sp>
        <p:nvSpPr>
          <p:cNvPr id="92" name="Google Shape;92;p17"/>
          <p:cNvSpPr txBox="1"/>
          <p:nvPr>
            <p:ph idx="1" type="body"/>
          </p:nvPr>
        </p:nvSpPr>
        <p:spPr>
          <a:xfrm>
            <a:off x="311700" y="10000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chemeClr val="dk1"/>
                </a:solidFill>
                <a:latin typeface="Average"/>
                <a:ea typeface="Average"/>
                <a:cs typeface="Average"/>
                <a:sym typeface="Average"/>
              </a:rPr>
              <a:t>Out of all transformed models, the model with the power transformation applied to the response variable did the best, </a:t>
            </a:r>
            <a:r>
              <a:rPr lang="en" sz="1600">
                <a:solidFill>
                  <a:schemeClr val="dk1"/>
                </a:solidFill>
                <a:latin typeface="Average"/>
                <a:ea typeface="Average"/>
                <a:cs typeface="Average"/>
                <a:sym typeface="Average"/>
              </a:rPr>
              <a:t>based</a:t>
            </a:r>
            <a:r>
              <a:rPr lang="en" sz="1600">
                <a:solidFill>
                  <a:schemeClr val="dk1"/>
                </a:solidFill>
                <a:latin typeface="Average"/>
                <a:ea typeface="Average"/>
                <a:cs typeface="Average"/>
                <a:sym typeface="Average"/>
              </a:rPr>
              <a:t> on R</a:t>
            </a:r>
            <a:r>
              <a:rPr baseline="30000" lang="en" sz="1600">
                <a:solidFill>
                  <a:schemeClr val="dk1"/>
                </a:solidFill>
                <a:latin typeface="Average"/>
                <a:ea typeface="Average"/>
                <a:cs typeface="Average"/>
                <a:sym typeface="Average"/>
              </a:rPr>
              <a:t>2</a:t>
            </a:r>
            <a:r>
              <a:rPr lang="en" sz="1600">
                <a:solidFill>
                  <a:schemeClr val="dk1"/>
                </a:solidFill>
                <a:latin typeface="Average"/>
                <a:ea typeface="Average"/>
                <a:cs typeface="Average"/>
                <a:sym typeface="Average"/>
              </a:rPr>
              <a:t>. </a:t>
            </a:r>
            <a:r>
              <a:rPr lang="en" sz="1600">
                <a:solidFill>
                  <a:schemeClr val="dk1"/>
                </a:solidFill>
                <a:latin typeface="Average"/>
                <a:ea typeface="Average"/>
                <a:cs typeface="Average"/>
                <a:sym typeface="Average"/>
              </a:rPr>
              <a:t>(R output)</a:t>
            </a:r>
            <a:endParaRPr sz="1600">
              <a:solidFill>
                <a:schemeClr val="dk1"/>
              </a:solidFill>
              <a:latin typeface="Average"/>
              <a:ea typeface="Average"/>
              <a:cs typeface="Average"/>
              <a:sym typeface="Average"/>
            </a:endParaRPr>
          </a:p>
        </p:txBody>
      </p:sp>
      <p:pic>
        <p:nvPicPr>
          <p:cNvPr id="93" name="Google Shape;93;p17"/>
          <p:cNvPicPr preferRelativeResize="0"/>
          <p:nvPr/>
        </p:nvPicPr>
        <p:blipFill>
          <a:blip r:embed="rId3">
            <a:alphaModFix/>
          </a:blip>
          <a:stretch>
            <a:fillRect/>
          </a:stretch>
        </p:blipFill>
        <p:spPr>
          <a:xfrm>
            <a:off x="220950" y="2044450"/>
            <a:ext cx="2658299" cy="2372025"/>
          </a:xfrm>
          <a:prstGeom prst="rect">
            <a:avLst/>
          </a:prstGeom>
          <a:noFill/>
          <a:ln cap="flat" cmpd="sng" w="19050">
            <a:solidFill>
              <a:schemeClr val="dk1"/>
            </a:solidFill>
            <a:prstDash val="solid"/>
            <a:round/>
            <a:headEnd len="sm" w="sm" type="none"/>
            <a:tailEnd len="sm" w="sm" type="none"/>
          </a:ln>
        </p:spPr>
      </p:pic>
      <p:pic>
        <p:nvPicPr>
          <p:cNvPr id="94" name="Google Shape;94;p17"/>
          <p:cNvPicPr preferRelativeResize="0"/>
          <p:nvPr/>
        </p:nvPicPr>
        <p:blipFill>
          <a:blip r:embed="rId4">
            <a:alphaModFix/>
          </a:blip>
          <a:stretch>
            <a:fillRect/>
          </a:stretch>
        </p:blipFill>
        <p:spPr>
          <a:xfrm>
            <a:off x="3057000" y="2044450"/>
            <a:ext cx="3170388" cy="2430469"/>
          </a:xfrm>
          <a:prstGeom prst="rect">
            <a:avLst/>
          </a:prstGeom>
          <a:noFill/>
          <a:ln cap="flat" cmpd="sng" w="19050">
            <a:solidFill>
              <a:schemeClr val="dk1"/>
            </a:solidFill>
            <a:prstDash val="solid"/>
            <a:round/>
            <a:headEnd len="sm" w="sm" type="none"/>
            <a:tailEnd len="sm" w="sm" type="none"/>
          </a:ln>
        </p:spPr>
      </p:pic>
      <p:pic>
        <p:nvPicPr>
          <p:cNvPr id="95" name="Google Shape;95;p17"/>
          <p:cNvPicPr preferRelativeResize="0"/>
          <p:nvPr/>
        </p:nvPicPr>
        <p:blipFill rotWithShape="1">
          <a:blip r:embed="rId5">
            <a:alphaModFix/>
          </a:blip>
          <a:srcRect b="0" l="0" r="0" t="2334"/>
          <a:stretch/>
        </p:blipFill>
        <p:spPr>
          <a:xfrm>
            <a:off x="6401775" y="1656875"/>
            <a:ext cx="2554526" cy="3200774"/>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8"/>
          <p:cNvSpPr txBox="1"/>
          <p:nvPr>
            <p:ph idx="1" type="body"/>
          </p:nvPr>
        </p:nvSpPr>
        <p:spPr>
          <a:xfrm>
            <a:off x="311700" y="10000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solidFill>
                  <a:schemeClr val="dk1"/>
                </a:solidFill>
                <a:latin typeface="Average"/>
                <a:ea typeface="Average"/>
                <a:cs typeface="Average"/>
                <a:sym typeface="Average"/>
              </a:rPr>
              <a:t>Variable (Model) Selection</a:t>
            </a:r>
            <a:endParaRPr b="1" sz="1600">
              <a:solidFill>
                <a:schemeClr val="dk1"/>
              </a:solidFill>
              <a:latin typeface="Average"/>
              <a:ea typeface="Average"/>
              <a:cs typeface="Average"/>
              <a:sym typeface="Average"/>
            </a:endParaRPr>
          </a:p>
          <a:p>
            <a:pPr indent="0" lvl="0" marL="0" rtl="0" algn="l">
              <a:lnSpc>
                <a:spcPct val="95000"/>
              </a:lnSpc>
              <a:spcBef>
                <a:spcPts val="1200"/>
              </a:spcBef>
              <a:spcAft>
                <a:spcPts val="0"/>
              </a:spcAft>
              <a:buNone/>
            </a:pPr>
            <a:r>
              <a:rPr i="1" lang="en" sz="1600">
                <a:solidFill>
                  <a:schemeClr val="dk1"/>
                </a:solidFill>
                <a:latin typeface="Average"/>
                <a:ea typeface="Average"/>
                <a:cs typeface="Average"/>
                <a:sym typeface="Average"/>
              </a:rPr>
              <a:t>Forward / Backward AIC:</a:t>
            </a:r>
            <a:endParaRPr i="1" sz="1600">
              <a:solidFill>
                <a:schemeClr val="dk1"/>
              </a:solidFill>
              <a:latin typeface="Average"/>
              <a:ea typeface="Average"/>
              <a:cs typeface="Average"/>
              <a:sym typeface="Average"/>
            </a:endParaRPr>
          </a:p>
          <a:p>
            <a:pPr indent="-330200" lvl="0" marL="457200" rtl="0" algn="l">
              <a:lnSpc>
                <a:spcPct val="95000"/>
              </a:lnSpc>
              <a:spcBef>
                <a:spcPts val="1200"/>
              </a:spcBef>
              <a:spcAft>
                <a:spcPts val="0"/>
              </a:spcAft>
              <a:buClr>
                <a:schemeClr val="dk1"/>
              </a:buClr>
              <a:buSzPts val="1600"/>
              <a:buFont typeface="Average"/>
              <a:buChar char="-"/>
            </a:pPr>
            <a:r>
              <a:rPr lang="en" sz="1600">
                <a:solidFill>
                  <a:schemeClr val="dk1"/>
                </a:solidFill>
                <a:latin typeface="Average"/>
                <a:ea typeface="Average"/>
                <a:cs typeface="Average"/>
                <a:sym typeface="Average"/>
              </a:rPr>
              <a:t>Both forward and backward stepwise regression using AIC resulted in:</a:t>
            </a:r>
            <a:endParaRPr sz="1600">
              <a:solidFill>
                <a:schemeClr val="dk1"/>
              </a:solidFill>
              <a:latin typeface="Average"/>
              <a:ea typeface="Average"/>
              <a:cs typeface="Average"/>
              <a:sym typeface="Average"/>
            </a:endParaRPr>
          </a:p>
          <a:p>
            <a:pPr indent="0" lvl="0" marL="0" rtl="0" algn="l">
              <a:lnSpc>
                <a:spcPct val="95000"/>
              </a:lnSpc>
              <a:spcBef>
                <a:spcPts val="1200"/>
              </a:spcBef>
              <a:spcAft>
                <a:spcPts val="0"/>
              </a:spcAft>
              <a:buNone/>
            </a:pPr>
            <a:r>
              <a:t/>
            </a:r>
            <a:endParaRPr sz="1600">
              <a:solidFill>
                <a:schemeClr val="dk1"/>
              </a:solidFill>
              <a:latin typeface="Average"/>
              <a:ea typeface="Average"/>
              <a:cs typeface="Average"/>
              <a:sym typeface="Average"/>
            </a:endParaRPr>
          </a:p>
          <a:p>
            <a:pPr indent="0" lvl="0" marL="0" rtl="0" algn="l">
              <a:lnSpc>
                <a:spcPct val="95000"/>
              </a:lnSpc>
              <a:spcBef>
                <a:spcPts val="1200"/>
              </a:spcBef>
              <a:spcAft>
                <a:spcPts val="0"/>
              </a:spcAft>
              <a:buNone/>
            </a:pPr>
            <a:r>
              <a:rPr i="1" lang="en" sz="1600">
                <a:solidFill>
                  <a:schemeClr val="dk1"/>
                </a:solidFill>
                <a:latin typeface="Average"/>
                <a:ea typeface="Average"/>
                <a:cs typeface="Average"/>
                <a:sym typeface="Average"/>
              </a:rPr>
              <a:t>Forward / Backward BIC:</a:t>
            </a:r>
            <a:endParaRPr i="1" sz="1600">
              <a:solidFill>
                <a:schemeClr val="dk1"/>
              </a:solidFill>
              <a:latin typeface="Average"/>
              <a:ea typeface="Average"/>
              <a:cs typeface="Average"/>
              <a:sym typeface="Average"/>
            </a:endParaRPr>
          </a:p>
          <a:p>
            <a:pPr indent="-330200" lvl="0" marL="457200" rtl="0" algn="l">
              <a:lnSpc>
                <a:spcPct val="95000"/>
              </a:lnSpc>
              <a:spcBef>
                <a:spcPts val="1200"/>
              </a:spcBef>
              <a:spcAft>
                <a:spcPts val="0"/>
              </a:spcAft>
              <a:buClr>
                <a:schemeClr val="dk1"/>
              </a:buClr>
              <a:buSzPts val="1600"/>
              <a:buFont typeface="Average"/>
              <a:buChar char="-"/>
            </a:pPr>
            <a:r>
              <a:rPr lang="en" sz="1600">
                <a:solidFill>
                  <a:schemeClr val="dk1"/>
                </a:solidFill>
                <a:latin typeface="Average"/>
                <a:ea typeface="Average"/>
                <a:cs typeface="Average"/>
                <a:sym typeface="Average"/>
              </a:rPr>
              <a:t>Both forward and backward stepwise regression using BIC resulted in:</a:t>
            </a:r>
            <a:endParaRPr sz="1600">
              <a:solidFill>
                <a:schemeClr val="dk1"/>
              </a:solidFill>
              <a:latin typeface="Average"/>
              <a:ea typeface="Average"/>
              <a:cs typeface="Average"/>
              <a:sym typeface="Average"/>
            </a:endParaRPr>
          </a:p>
          <a:p>
            <a:pPr indent="0" lvl="0" marL="457200" rtl="0" algn="l">
              <a:lnSpc>
                <a:spcPct val="95000"/>
              </a:lnSpc>
              <a:spcBef>
                <a:spcPts val="1200"/>
              </a:spcBef>
              <a:spcAft>
                <a:spcPts val="0"/>
              </a:spcAft>
              <a:buNone/>
            </a:pPr>
            <a:r>
              <a:t/>
            </a:r>
            <a:endParaRPr sz="1600">
              <a:solidFill>
                <a:schemeClr val="dk1"/>
              </a:solidFill>
              <a:latin typeface="Average"/>
              <a:ea typeface="Average"/>
              <a:cs typeface="Average"/>
              <a:sym typeface="Average"/>
            </a:endParaRPr>
          </a:p>
          <a:p>
            <a:pPr indent="0" lvl="0" marL="457200" rtl="0" algn="l">
              <a:lnSpc>
                <a:spcPct val="95000"/>
              </a:lnSpc>
              <a:spcBef>
                <a:spcPts val="1200"/>
              </a:spcBef>
              <a:spcAft>
                <a:spcPts val="1200"/>
              </a:spcAft>
              <a:buNone/>
            </a:pPr>
            <a:r>
              <a:t/>
            </a:r>
            <a:endParaRPr sz="1600">
              <a:solidFill>
                <a:schemeClr val="dk1"/>
              </a:solidFill>
              <a:latin typeface="Average"/>
              <a:ea typeface="Average"/>
              <a:cs typeface="Average"/>
              <a:sym typeface="Average"/>
            </a:endParaRPr>
          </a:p>
        </p:txBody>
      </p:sp>
      <p:pic>
        <p:nvPicPr>
          <p:cNvPr id="102" name="Google Shape;102;p18"/>
          <p:cNvPicPr preferRelativeResize="0"/>
          <p:nvPr/>
        </p:nvPicPr>
        <p:blipFill>
          <a:blip r:embed="rId3">
            <a:alphaModFix/>
          </a:blip>
          <a:stretch>
            <a:fillRect/>
          </a:stretch>
        </p:blipFill>
        <p:spPr>
          <a:xfrm>
            <a:off x="1306300" y="2151022"/>
            <a:ext cx="5787576" cy="399125"/>
          </a:xfrm>
          <a:prstGeom prst="rect">
            <a:avLst/>
          </a:prstGeom>
          <a:noFill/>
          <a:ln>
            <a:noFill/>
          </a:ln>
        </p:spPr>
      </p:pic>
      <p:pic>
        <p:nvPicPr>
          <p:cNvPr id="103" name="Google Shape;103;p18"/>
          <p:cNvPicPr preferRelativeResize="0"/>
          <p:nvPr/>
        </p:nvPicPr>
        <p:blipFill>
          <a:blip r:embed="rId4">
            <a:alphaModFix/>
          </a:blip>
          <a:stretch>
            <a:fillRect/>
          </a:stretch>
        </p:blipFill>
        <p:spPr>
          <a:xfrm>
            <a:off x="1346200" y="3304687"/>
            <a:ext cx="3920737" cy="399125"/>
          </a:xfrm>
          <a:prstGeom prst="rect">
            <a:avLst/>
          </a:prstGeom>
          <a:noFill/>
          <a:ln>
            <a:noFill/>
          </a:ln>
        </p:spPr>
      </p:pic>
      <p:sp>
        <p:nvSpPr>
          <p:cNvPr id="104" name="Google Shape;104;p18"/>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Determining the Best Model (post-transformation.)</a:t>
            </a:r>
            <a:endParaRPr>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Forward / Backward AIC Results</a:t>
            </a:r>
            <a:endParaRPr>
              <a:latin typeface="Average"/>
              <a:ea typeface="Average"/>
              <a:cs typeface="Average"/>
              <a:sym typeface="Average"/>
            </a:endParaRPr>
          </a:p>
        </p:txBody>
      </p:sp>
      <p:sp>
        <p:nvSpPr>
          <p:cNvPr id="111" name="Google Shape;111;p19"/>
          <p:cNvSpPr txBox="1"/>
          <p:nvPr>
            <p:ph idx="1" type="body"/>
          </p:nvPr>
        </p:nvSpPr>
        <p:spPr>
          <a:xfrm>
            <a:off x="342550" y="865313"/>
            <a:ext cx="3588900" cy="417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935"/>
              <a:buNone/>
            </a:pPr>
            <a:r>
              <a:rPr b="1" lang="en" sz="1630">
                <a:solidFill>
                  <a:schemeClr val="dk1"/>
                </a:solidFill>
                <a:latin typeface="Average"/>
                <a:ea typeface="Average"/>
                <a:cs typeface="Average"/>
                <a:sym typeface="Average"/>
              </a:rPr>
              <a:t>Forward AIC: </a:t>
            </a:r>
            <a:endParaRPr b="1" sz="1630">
              <a:solidFill>
                <a:schemeClr val="dk1"/>
              </a:solidFill>
              <a:latin typeface="Average"/>
              <a:ea typeface="Average"/>
              <a:cs typeface="Average"/>
              <a:sym typeface="Average"/>
            </a:endParaRPr>
          </a:p>
        </p:txBody>
      </p:sp>
      <p:sp>
        <p:nvSpPr>
          <p:cNvPr id="112" name="Google Shape;112;p19"/>
          <p:cNvSpPr txBox="1"/>
          <p:nvPr/>
        </p:nvSpPr>
        <p:spPr>
          <a:xfrm>
            <a:off x="3211275" y="863600"/>
            <a:ext cx="504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Average"/>
                <a:ea typeface="Average"/>
                <a:cs typeface="Average"/>
                <a:sym typeface="Average"/>
              </a:rPr>
              <a:t>Backward AIC:</a:t>
            </a:r>
            <a:endParaRPr b="1" sz="1600">
              <a:latin typeface="Average"/>
              <a:ea typeface="Average"/>
              <a:cs typeface="Average"/>
              <a:sym typeface="Average"/>
            </a:endParaRPr>
          </a:p>
        </p:txBody>
      </p:sp>
      <p:pic>
        <p:nvPicPr>
          <p:cNvPr id="113" name="Google Shape;113;p19"/>
          <p:cNvPicPr preferRelativeResize="0"/>
          <p:nvPr/>
        </p:nvPicPr>
        <p:blipFill>
          <a:blip r:embed="rId3">
            <a:alphaModFix/>
          </a:blip>
          <a:stretch>
            <a:fillRect/>
          </a:stretch>
        </p:blipFill>
        <p:spPr>
          <a:xfrm>
            <a:off x="3266762" y="1272169"/>
            <a:ext cx="4822091" cy="1885675"/>
          </a:xfrm>
          <a:prstGeom prst="rect">
            <a:avLst/>
          </a:prstGeom>
          <a:noFill/>
          <a:ln cap="flat" cmpd="sng" w="19050">
            <a:solidFill>
              <a:schemeClr val="dk1"/>
            </a:solidFill>
            <a:prstDash val="solid"/>
            <a:round/>
            <a:headEnd len="sm" w="sm" type="none"/>
            <a:tailEnd len="sm" w="sm" type="none"/>
          </a:ln>
        </p:spPr>
      </p:pic>
      <p:pic>
        <p:nvPicPr>
          <p:cNvPr id="114" name="Google Shape;114;p19"/>
          <p:cNvPicPr preferRelativeResize="0"/>
          <p:nvPr/>
        </p:nvPicPr>
        <p:blipFill>
          <a:blip r:embed="rId4">
            <a:alphaModFix/>
          </a:blip>
          <a:stretch>
            <a:fillRect/>
          </a:stretch>
        </p:blipFill>
        <p:spPr>
          <a:xfrm>
            <a:off x="332609" y="1268646"/>
            <a:ext cx="2395949" cy="3661325"/>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Forward / Backward BIC Results</a:t>
            </a:r>
            <a:endParaRPr>
              <a:latin typeface="Average"/>
              <a:ea typeface="Average"/>
              <a:cs typeface="Average"/>
              <a:sym typeface="Average"/>
            </a:endParaRPr>
          </a:p>
        </p:txBody>
      </p:sp>
      <p:sp>
        <p:nvSpPr>
          <p:cNvPr id="121" name="Google Shape;121;p20"/>
          <p:cNvSpPr txBox="1"/>
          <p:nvPr>
            <p:ph idx="1" type="body"/>
          </p:nvPr>
        </p:nvSpPr>
        <p:spPr>
          <a:xfrm>
            <a:off x="311700" y="847675"/>
            <a:ext cx="3453000" cy="407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None/>
            </a:pPr>
            <a:r>
              <a:rPr b="1" lang="en" sz="1600">
                <a:solidFill>
                  <a:schemeClr val="dk1"/>
                </a:solidFill>
                <a:latin typeface="Average"/>
                <a:ea typeface="Average"/>
                <a:cs typeface="Average"/>
                <a:sym typeface="Average"/>
              </a:rPr>
              <a:t>Forward BIC:</a:t>
            </a:r>
            <a:endParaRPr b="1" sz="1600">
              <a:solidFill>
                <a:schemeClr val="dk1"/>
              </a:solidFill>
              <a:latin typeface="Average"/>
              <a:ea typeface="Average"/>
              <a:cs typeface="Average"/>
              <a:sym typeface="Average"/>
            </a:endParaRPr>
          </a:p>
        </p:txBody>
      </p:sp>
      <p:sp>
        <p:nvSpPr>
          <p:cNvPr id="122" name="Google Shape;122;p20"/>
          <p:cNvSpPr txBox="1"/>
          <p:nvPr>
            <p:ph idx="1" type="body"/>
          </p:nvPr>
        </p:nvSpPr>
        <p:spPr>
          <a:xfrm>
            <a:off x="3588371" y="847675"/>
            <a:ext cx="3453000" cy="407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None/>
            </a:pPr>
            <a:r>
              <a:rPr b="1" lang="en" sz="1600">
                <a:solidFill>
                  <a:schemeClr val="dk1"/>
                </a:solidFill>
                <a:latin typeface="Average"/>
                <a:ea typeface="Average"/>
                <a:cs typeface="Average"/>
                <a:sym typeface="Average"/>
              </a:rPr>
              <a:t>Backward</a:t>
            </a:r>
            <a:r>
              <a:rPr b="1" lang="en" sz="1600">
                <a:solidFill>
                  <a:schemeClr val="dk1"/>
                </a:solidFill>
                <a:latin typeface="Average"/>
                <a:ea typeface="Average"/>
                <a:cs typeface="Average"/>
                <a:sym typeface="Average"/>
              </a:rPr>
              <a:t> BIC:</a:t>
            </a:r>
            <a:endParaRPr b="1" sz="1600">
              <a:solidFill>
                <a:schemeClr val="dk1"/>
              </a:solidFill>
              <a:latin typeface="Average"/>
              <a:ea typeface="Average"/>
              <a:cs typeface="Average"/>
              <a:sym typeface="Average"/>
            </a:endParaRPr>
          </a:p>
        </p:txBody>
      </p:sp>
      <p:pic>
        <p:nvPicPr>
          <p:cNvPr id="123" name="Google Shape;123;p20"/>
          <p:cNvPicPr preferRelativeResize="0"/>
          <p:nvPr/>
        </p:nvPicPr>
        <p:blipFill>
          <a:blip r:embed="rId3">
            <a:alphaModFix/>
          </a:blip>
          <a:stretch>
            <a:fillRect/>
          </a:stretch>
        </p:blipFill>
        <p:spPr>
          <a:xfrm>
            <a:off x="356525" y="1255375"/>
            <a:ext cx="2581125" cy="3673725"/>
          </a:xfrm>
          <a:prstGeom prst="rect">
            <a:avLst/>
          </a:prstGeom>
          <a:noFill/>
          <a:ln cap="flat" cmpd="sng" w="19050">
            <a:solidFill>
              <a:schemeClr val="dk1"/>
            </a:solidFill>
            <a:prstDash val="solid"/>
            <a:round/>
            <a:headEnd len="sm" w="sm" type="none"/>
            <a:tailEnd len="sm" w="sm" type="none"/>
          </a:ln>
        </p:spPr>
      </p:pic>
      <p:pic>
        <p:nvPicPr>
          <p:cNvPr id="124" name="Google Shape;124;p20"/>
          <p:cNvPicPr preferRelativeResize="0"/>
          <p:nvPr/>
        </p:nvPicPr>
        <p:blipFill>
          <a:blip r:embed="rId4">
            <a:alphaModFix/>
          </a:blip>
          <a:stretch>
            <a:fillRect/>
          </a:stretch>
        </p:blipFill>
        <p:spPr>
          <a:xfrm>
            <a:off x="3634075" y="1255375"/>
            <a:ext cx="4337212" cy="3673725"/>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1"/>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Adjusted R</a:t>
            </a:r>
            <a:r>
              <a:rPr baseline="30000" lang="en">
                <a:latin typeface="Average"/>
                <a:ea typeface="Average"/>
                <a:cs typeface="Average"/>
                <a:sym typeface="Average"/>
              </a:rPr>
              <a:t>2 </a:t>
            </a:r>
            <a:r>
              <a:rPr lang="en">
                <a:latin typeface="Average"/>
                <a:ea typeface="Average"/>
                <a:cs typeface="Average"/>
                <a:sym typeface="Average"/>
              </a:rPr>
              <a:t>(3 variable vs. 5 variable model) </a:t>
            </a:r>
            <a:endParaRPr>
              <a:latin typeface="Average"/>
              <a:ea typeface="Average"/>
              <a:cs typeface="Average"/>
              <a:sym typeface="Average"/>
            </a:endParaRPr>
          </a:p>
        </p:txBody>
      </p:sp>
      <p:pic>
        <p:nvPicPr>
          <p:cNvPr id="131" name="Google Shape;131;p21"/>
          <p:cNvPicPr preferRelativeResize="0"/>
          <p:nvPr/>
        </p:nvPicPr>
        <p:blipFill>
          <a:blip r:embed="rId3">
            <a:alphaModFix/>
          </a:blip>
          <a:stretch>
            <a:fillRect/>
          </a:stretch>
        </p:blipFill>
        <p:spPr>
          <a:xfrm>
            <a:off x="4531175" y="2419349"/>
            <a:ext cx="3450101" cy="2475206"/>
          </a:xfrm>
          <a:prstGeom prst="rect">
            <a:avLst/>
          </a:prstGeom>
          <a:noFill/>
          <a:ln cap="flat" cmpd="sng" w="19050">
            <a:solidFill>
              <a:schemeClr val="dk1"/>
            </a:solidFill>
            <a:prstDash val="solid"/>
            <a:round/>
            <a:headEnd len="sm" w="sm" type="none"/>
            <a:tailEnd len="sm" w="sm" type="none"/>
          </a:ln>
        </p:spPr>
      </p:pic>
      <p:pic>
        <p:nvPicPr>
          <p:cNvPr id="132" name="Google Shape;132;p21"/>
          <p:cNvPicPr preferRelativeResize="0"/>
          <p:nvPr/>
        </p:nvPicPr>
        <p:blipFill>
          <a:blip r:embed="rId4">
            <a:alphaModFix/>
          </a:blip>
          <a:stretch>
            <a:fillRect/>
          </a:stretch>
        </p:blipFill>
        <p:spPr>
          <a:xfrm>
            <a:off x="459800" y="2419350"/>
            <a:ext cx="3450101" cy="2475200"/>
          </a:xfrm>
          <a:prstGeom prst="rect">
            <a:avLst/>
          </a:prstGeom>
          <a:noFill/>
          <a:ln cap="flat" cmpd="sng" w="19050">
            <a:solidFill>
              <a:schemeClr val="dk1"/>
            </a:solidFill>
            <a:prstDash val="solid"/>
            <a:round/>
            <a:headEnd len="sm" w="sm" type="none"/>
            <a:tailEnd len="sm" w="sm" type="none"/>
          </a:ln>
        </p:spPr>
      </p:pic>
      <p:sp>
        <p:nvSpPr>
          <p:cNvPr id="133" name="Google Shape;133;p21"/>
          <p:cNvSpPr txBox="1"/>
          <p:nvPr/>
        </p:nvSpPr>
        <p:spPr>
          <a:xfrm>
            <a:off x="231600" y="833962"/>
            <a:ext cx="82203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Average"/>
              <a:buChar char="-"/>
            </a:pPr>
            <a:r>
              <a:rPr lang="en" sz="1600">
                <a:latin typeface="Average"/>
                <a:ea typeface="Average"/>
                <a:cs typeface="Average"/>
                <a:sym typeface="Average"/>
              </a:rPr>
              <a:t>The R</a:t>
            </a:r>
            <a:r>
              <a:rPr baseline="30000" lang="en" sz="1600">
                <a:latin typeface="Average"/>
                <a:ea typeface="Average"/>
                <a:cs typeface="Average"/>
                <a:sym typeface="Average"/>
              </a:rPr>
              <a:t>2</a:t>
            </a:r>
            <a:r>
              <a:rPr baseline="-25000" lang="en" sz="1600">
                <a:latin typeface="Average"/>
                <a:ea typeface="Average"/>
                <a:cs typeface="Average"/>
                <a:sym typeface="Average"/>
              </a:rPr>
              <a:t>adj</a:t>
            </a:r>
            <a:r>
              <a:rPr lang="en" sz="1600">
                <a:latin typeface="Average"/>
                <a:ea typeface="Average"/>
                <a:cs typeface="Average"/>
                <a:sym typeface="Average"/>
              </a:rPr>
              <a:t> </a:t>
            </a:r>
            <a:r>
              <a:rPr lang="en" sz="1600">
                <a:latin typeface="Average"/>
                <a:ea typeface="Average"/>
                <a:cs typeface="Average"/>
                <a:sym typeface="Average"/>
              </a:rPr>
              <a:t>of the full model is slightly greater than of the reduced model, but there is one caveat.</a:t>
            </a:r>
            <a:endParaRPr sz="1600">
              <a:latin typeface="Average"/>
              <a:ea typeface="Average"/>
              <a:cs typeface="Average"/>
              <a:sym typeface="Average"/>
            </a:endParaRPr>
          </a:p>
          <a:p>
            <a:pPr indent="-330200" lvl="0" marL="457200" rtl="0" algn="l">
              <a:spcBef>
                <a:spcPts val="0"/>
              </a:spcBef>
              <a:spcAft>
                <a:spcPts val="0"/>
              </a:spcAft>
              <a:buSzPts val="1600"/>
              <a:buFont typeface="Average"/>
              <a:buChar char="-"/>
            </a:pPr>
            <a:r>
              <a:rPr lang="en" sz="1600">
                <a:latin typeface="Average"/>
                <a:ea typeface="Average"/>
                <a:cs typeface="Average"/>
                <a:sym typeface="Average"/>
              </a:rPr>
              <a:t>In the full model (all predictors), RYPA is not significant as a predictor and OPPO.RYPA is very close to not being significant as well. </a:t>
            </a:r>
            <a:endParaRPr sz="1600">
              <a:latin typeface="Average"/>
              <a:ea typeface="Average"/>
              <a:cs typeface="Average"/>
              <a:sym typeface="Average"/>
            </a:endParaRPr>
          </a:p>
        </p:txBody>
      </p:sp>
      <p:sp>
        <p:nvSpPr>
          <p:cNvPr id="134" name="Google Shape;134;p21"/>
          <p:cNvSpPr txBox="1"/>
          <p:nvPr/>
        </p:nvSpPr>
        <p:spPr>
          <a:xfrm>
            <a:off x="404150" y="1974088"/>
            <a:ext cx="291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Average"/>
                <a:ea typeface="Average"/>
                <a:cs typeface="Average"/>
                <a:sym typeface="Average"/>
              </a:rPr>
              <a:t>Full Model</a:t>
            </a:r>
            <a:endParaRPr b="1" sz="1600">
              <a:latin typeface="Average"/>
              <a:ea typeface="Average"/>
              <a:cs typeface="Average"/>
              <a:sym typeface="Average"/>
            </a:endParaRPr>
          </a:p>
        </p:txBody>
      </p:sp>
      <p:sp>
        <p:nvSpPr>
          <p:cNvPr id="135" name="Google Shape;135;p21"/>
          <p:cNvSpPr txBox="1"/>
          <p:nvPr/>
        </p:nvSpPr>
        <p:spPr>
          <a:xfrm>
            <a:off x="4470975" y="1974088"/>
            <a:ext cx="291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Average"/>
                <a:ea typeface="Average"/>
                <a:cs typeface="Average"/>
                <a:sym typeface="Average"/>
              </a:rPr>
              <a:t>Reduced Model</a:t>
            </a:r>
            <a:endParaRPr b="1" sz="1600">
              <a:latin typeface="Average"/>
              <a:ea typeface="Average"/>
              <a:cs typeface="Average"/>
              <a:sym typeface="Averag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2"/>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Partial F-Test, Added Variable Plots, and VIF</a:t>
            </a:r>
            <a:endParaRPr>
              <a:latin typeface="Average"/>
              <a:ea typeface="Average"/>
              <a:cs typeface="Average"/>
              <a:sym typeface="Average"/>
            </a:endParaRPr>
          </a:p>
        </p:txBody>
      </p:sp>
      <p:pic>
        <p:nvPicPr>
          <p:cNvPr id="142" name="Google Shape;142;p22"/>
          <p:cNvPicPr preferRelativeResize="0"/>
          <p:nvPr/>
        </p:nvPicPr>
        <p:blipFill>
          <a:blip r:embed="rId3">
            <a:alphaModFix/>
          </a:blip>
          <a:stretch>
            <a:fillRect/>
          </a:stretch>
        </p:blipFill>
        <p:spPr>
          <a:xfrm>
            <a:off x="240451" y="1760056"/>
            <a:ext cx="4847149" cy="1307600"/>
          </a:xfrm>
          <a:prstGeom prst="rect">
            <a:avLst/>
          </a:prstGeom>
          <a:noFill/>
          <a:ln cap="flat" cmpd="sng" w="19050">
            <a:solidFill>
              <a:schemeClr val="dk1"/>
            </a:solidFill>
            <a:prstDash val="solid"/>
            <a:round/>
            <a:headEnd len="sm" w="sm" type="none"/>
            <a:tailEnd len="sm" w="sm" type="none"/>
          </a:ln>
        </p:spPr>
      </p:pic>
      <p:pic>
        <p:nvPicPr>
          <p:cNvPr id="143" name="Google Shape;143;p22"/>
          <p:cNvPicPr preferRelativeResize="0"/>
          <p:nvPr/>
        </p:nvPicPr>
        <p:blipFill>
          <a:blip r:embed="rId4">
            <a:alphaModFix/>
          </a:blip>
          <a:stretch>
            <a:fillRect/>
          </a:stretch>
        </p:blipFill>
        <p:spPr>
          <a:xfrm>
            <a:off x="5308225" y="1517769"/>
            <a:ext cx="3456824" cy="2334681"/>
          </a:xfrm>
          <a:prstGeom prst="rect">
            <a:avLst/>
          </a:prstGeom>
          <a:noFill/>
          <a:ln cap="flat" cmpd="sng" w="19050">
            <a:solidFill>
              <a:schemeClr val="dk1"/>
            </a:solidFill>
            <a:prstDash val="solid"/>
            <a:round/>
            <a:headEnd len="sm" w="sm" type="none"/>
            <a:tailEnd len="sm" w="sm" type="none"/>
          </a:ln>
        </p:spPr>
      </p:pic>
      <p:sp>
        <p:nvSpPr>
          <p:cNvPr id="144" name="Google Shape;144;p22"/>
          <p:cNvSpPr txBox="1"/>
          <p:nvPr/>
        </p:nvSpPr>
        <p:spPr>
          <a:xfrm>
            <a:off x="266350" y="913154"/>
            <a:ext cx="8498700" cy="67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Average"/>
              <a:buChar char="-"/>
            </a:pPr>
            <a:r>
              <a:rPr lang="en" sz="1600">
                <a:latin typeface="Average"/>
                <a:ea typeface="Average"/>
                <a:cs typeface="Average"/>
                <a:sym typeface="Average"/>
              </a:rPr>
              <a:t>From a partial F-test (α = </a:t>
            </a:r>
            <a:r>
              <a:rPr lang="en" sz="1600">
                <a:solidFill>
                  <a:schemeClr val="dk1"/>
                </a:solidFill>
                <a:latin typeface="Average"/>
                <a:ea typeface="Average"/>
                <a:cs typeface="Average"/>
                <a:sym typeface="Average"/>
              </a:rPr>
              <a:t>0.05)</a:t>
            </a:r>
            <a:r>
              <a:rPr lang="en" sz="1600">
                <a:latin typeface="Average"/>
                <a:ea typeface="Average"/>
                <a:cs typeface="Average"/>
                <a:sym typeface="Average"/>
              </a:rPr>
              <a:t>, we fail to reject the null (reduced) model as the appropriate model, although by a small margin.</a:t>
            </a:r>
            <a:endParaRPr sz="1600">
              <a:latin typeface="Average"/>
              <a:ea typeface="Average"/>
              <a:cs typeface="Average"/>
              <a:sym typeface="Average"/>
            </a:endParaRPr>
          </a:p>
        </p:txBody>
      </p:sp>
      <p:sp>
        <p:nvSpPr>
          <p:cNvPr id="145" name="Google Shape;145;p22"/>
          <p:cNvSpPr txBox="1"/>
          <p:nvPr/>
        </p:nvSpPr>
        <p:spPr>
          <a:xfrm>
            <a:off x="192875" y="3227625"/>
            <a:ext cx="4923000" cy="67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Average"/>
              <a:buChar char="-"/>
            </a:pPr>
            <a:r>
              <a:rPr lang="en" sz="1600">
                <a:latin typeface="Average"/>
                <a:ea typeface="Average"/>
                <a:cs typeface="Average"/>
                <a:sym typeface="Average"/>
              </a:rPr>
              <a:t>All predictor variables in the reduced model have a strong “pure effect” on their </a:t>
            </a:r>
            <a:r>
              <a:rPr lang="en" sz="1600">
                <a:latin typeface="Average"/>
                <a:ea typeface="Average"/>
                <a:cs typeface="Average"/>
                <a:sym typeface="Average"/>
              </a:rPr>
              <a:t>own. (AV Plots)</a:t>
            </a:r>
            <a:endParaRPr sz="1600">
              <a:latin typeface="Average"/>
              <a:ea typeface="Average"/>
              <a:cs typeface="Average"/>
              <a:sym typeface="Average"/>
            </a:endParaRPr>
          </a:p>
        </p:txBody>
      </p:sp>
      <p:sp>
        <p:nvSpPr>
          <p:cNvPr id="146" name="Google Shape;146;p22"/>
          <p:cNvSpPr txBox="1"/>
          <p:nvPr/>
        </p:nvSpPr>
        <p:spPr>
          <a:xfrm>
            <a:off x="190150" y="3817425"/>
            <a:ext cx="49230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Average"/>
              <a:buChar char="-"/>
            </a:pPr>
            <a:r>
              <a:rPr lang="en" sz="1600">
                <a:latin typeface="Average"/>
                <a:ea typeface="Average"/>
                <a:cs typeface="Average"/>
                <a:sym typeface="Average"/>
              </a:rPr>
              <a:t>No</a:t>
            </a:r>
            <a:r>
              <a:rPr lang="en" sz="1600">
                <a:latin typeface="Average"/>
                <a:ea typeface="Average"/>
                <a:cs typeface="Average"/>
                <a:sym typeface="Average"/>
              </a:rPr>
              <a:t> predictor variables in the reduced model are affected significantly by multicollinearity, and so their impacts are accurately </a:t>
            </a:r>
            <a:r>
              <a:rPr lang="en" sz="1600">
                <a:latin typeface="Average"/>
                <a:ea typeface="Average"/>
                <a:cs typeface="Average"/>
                <a:sym typeface="Average"/>
              </a:rPr>
              <a:t>estimated</a:t>
            </a:r>
            <a:r>
              <a:rPr lang="en" sz="1600">
                <a:latin typeface="Average"/>
                <a:ea typeface="Average"/>
                <a:cs typeface="Average"/>
                <a:sym typeface="Average"/>
              </a:rPr>
              <a:t>. (VIF)</a:t>
            </a:r>
            <a:endParaRPr sz="1600">
              <a:latin typeface="Average"/>
              <a:ea typeface="Average"/>
              <a:cs typeface="Average"/>
              <a:sym typeface="Average"/>
            </a:endParaRPr>
          </a:p>
        </p:txBody>
      </p:sp>
      <p:pic>
        <p:nvPicPr>
          <p:cNvPr id="147" name="Google Shape;147;p22"/>
          <p:cNvPicPr preferRelativeResize="0"/>
          <p:nvPr/>
        </p:nvPicPr>
        <p:blipFill>
          <a:blip r:embed="rId5">
            <a:alphaModFix/>
          </a:blip>
          <a:stretch>
            <a:fillRect/>
          </a:stretch>
        </p:blipFill>
        <p:spPr>
          <a:xfrm>
            <a:off x="5308231" y="4092700"/>
            <a:ext cx="2971106" cy="40020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Final Model Assessment: Diagnostic Tools</a:t>
            </a:r>
            <a:endParaRPr>
              <a:latin typeface="Average"/>
              <a:ea typeface="Average"/>
              <a:cs typeface="Average"/>
              <a:sym typeface="Average"/>
            </a:endParaRPr>
          </a:p>
        </p:txBody>
      </p:sp>
      <p:sp>
        <p:nvSpPr>
          <p:cNvPr id="154" name="Google Shape;154;p23"/>
          <p:cNvSpPr txBox="1"/>
          <p:nvPr>
            <p:ph idx="1" type="body"/>
          </p:nvPr>
        </p:nvSpPr>
        <p:spPr>
          <a:xfrm>
            <a:off x="311700" y="1152475"/>
            <a:ext cx="3720300" cy="5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Average"/>
                <a:ea typeface="Average"/>
                <a:cs typeface="Average"/>
                <a:sym typeface="Average"/>
              </a:rPr>
              <a:t>Original model (untransformed):</a:t>
            </a:r>
            <a:endParaRPr>
              <a:solidFill>
                <a:schemeClr val="dk1"/>
              </a:solidFill>
              <a:latin typeface="Average"/>
              <a:ea typeface="Average"/>
              <a:cs typeface="Average"/>
              <a:sym typeface="Average"/>
            </a:endParaRPr>
          </a:p>
        </p:txBody>
      </p:sp>
      <p:sp>
        <p:nvSpPr>
          <p:cNvPr id="155" name="Google Shape;155;p23"/>
          <p:cNvSpPr txBox="1"/>
          <p:nvPr>
            <p:ph idx="1" type="body"/>
          </p:nvPr>
        </p:nvSpPr>
        <p:spPr>
          <a:xfrm>
            <a:off x="4411900" y="1152475"/>
            <a:ext cx="3720300" cy="5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Average"/>
                <a:ea typeface="Average"/>
                <a:cs typeface="Average"/>
                <a:sym typeface="Average"/>
              </a:rPr>
              <a:t>Final Model</a:t>
            </a:r>
            <a:r>
              <a:rPr lang="en">
                <a:solidFill>
                  <a:schemeClr val="dk1"/>
                </a:solidFill>
                <a:latin typeface="Average"/>
                <a:ea typeface="Average"/>
                <a:cs typeface="Average"/>
                <a:sym typeface="Average"/>
              </a:rPr>
              <a:t>:</a:t>
            </a:r>
            <a:endParaRPr>
              <a:solidFill>
                <a:schemeClr val="dk1"/>
              </a:solidFill>
              <a:latin typeface="Average"/>
              <a:ea typeface="Average"/>
              <a:cs typeface="Average"/>
              <a:sym typeface="Average"/>
            </a:endParaRPr>
          </a:p>
        </p:txBody>
      </p:sp>
      <p:pic>
        <p:nvPicPr>
          <p:cNvPr id="156" name="Google Shape;156;p23"/>
          <p:cNvPicPr preferRelativeResize="0"/>
          <p:nvPr/>
        </p:nvPicPr>
        <p:blipFill>
          <a:blip r:embed="rId3">
            <a:alphaModFix/>
          </a:blip>
          <a:stretch>
            <a:fillRect/>
          </a:stretch>
        </p:blipFill>
        <p:spPr>
          <a:xfrm>
            <a:off x="311700" y="1671775"/>
            <a:ext cx="3947149" cy="2519950"/>
          </a:xfrm>
          <a:prstGeom prst="rect">
            <a:avLst/>
          </a:prstGeom>
          <a:noFill/>
          <a:ln cap="flat" cmpd="sng" w="19050">
            <a:solidFill>
              <a:schemeClr val="dk1"/>
            </a:solidFill>
            <a:prstDash val="solid"/>
            <a:round/>
            <a:headEnd len="sm" w="sm" type="none"/>
            <a:tailEnd len="sm" w="sm" type="none"/>
          </a:ln>
        </p:spPr>
      </p:pic>
      <p:pic>
        <p:nvPicPr>
          <p:cNvPr id="157" name="Google Shape;157;p23"/>
          <p:cNvPicPr preferRelativeResize="0"/>
          <p:nvPr/>
        </p:nvPicPr>
        <p:blipFill>
          <a:blip r:embed="rId4">
            <a:alphaModFix/>
          </a:blip>
          <a:stretch>
            <a:fillRect/>
          </a:stretch>
        </p:blipFill>
        <p:spPr>
          <a:xfrm>
            <a:off x="4523526" y="1671775"/>
            <a:ext cx="4070672" cy="2519951"/>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p:nvPr/>
        </p:nvSpPr>
        <p:spPr>
          <a:xfrm>
            <a:off x="0" y="0"/>
            <a:ext cx="9165000" cy="51435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4"/>
          <p:cNvSpPr txBox="1"/>
          <p:nvPr>
            <p:ph idx="1" type="body"/>
          </p:nvPr>
        </p:nvSpPr>
        <p:spPr>
          <a:xfrm>
            <a:off x="311700" y="879038"/>
            <a:ext cx="8520600" cy="34164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latin typeface="Average"/>
                <a:ea typeface="Average"/>
                <a:cs typeface="Average"/>
                <a:sym typeface="Average"/>
              </a:rPr>
              <a:t>There was evidence for both keeping and removing the rushing </a:t>
            </a:r>
            <a:r>
              <a:rPr lang="en" sz="1600">
                <a:solidFill>
                  <a:schemeClr val="dk1"/>
                </a:solidFill>
                <a:latin typeface="Average"/>
                <a:ea typeface="Average"/>
                <a:cs typeface="Average"/>
                <a:sym typeface="Average"/>
              </a:rPr>
              <a:t>variables</a:t>
            </a:r>
            <a:r>
              <a:rPr lang="en" sz="1600">
                <a:solidFill>
                  <a:schemeClr val="dk1"/>
                </a:solidFill>
                <a:latin typeface="Average"/>
                <a:ea typeface="Average"/>
                <a:cs typeface="Average"/>
                <a:sym typeface="Average"/>
              </a:rPr>
              <a:t> from the model, but in the end, we decided to choose the model with significant </a:t>
            </a:r>
            <a:endParaRPr sz="1600">
              <a:solidFill>
                <a:schemeClr val="dk1"/>
              </a:solidFill>
              <a:latin typeface="Average"/>
              <a:ea typeface="Average"/>
              <a:cs typeface="Average"/>
              <a:sym typeface="Average"/>
            </a:endParaRPr>
          </a:p>
          <a:p>
            <a:pPr indent="0" lvl="0" marL="0" rtl="0" algn="l">
              <a:spcBef>
                <a:spcPts val="1200"/>
              </a:spcBef>
              <a:spcAft>
                <a:spcPts val="1200"/>
              </a:spcAft>
              <a:buClr>
                <a:schemeClr val="dk1"/>
              </a:buClr>
              <a:buSzPts val="1100"/>
              <a:buFont typeface="Arial"/>
              <a:buNone/>
            </a:pPr>
            <a:r>
              <a:t/>
            </a:r>
            <a:endParaRPr>
              <a:latin typeface="Average"/>
              <a:ea typeface="Average"/>
              <a:cs typeface="Average"/>
              <a:sym typeface="Average"/>
            </a:endParaRPr>
          </a:p>
        </p:txBody>
      </p:sp>
      <p:sp>
        <p:nvSpPr>
          <p:cNvPr id="164" name="Google Shape;164;p24"/>
          <p:cNvSpPr txBox="1"/>
          <p:nvPr>
            <p:ph type="title"/>
          </p:nvPr>
        </p:nvSpPr>
        <p:spPr>
          <a:xfrm>
            <a:off x="311700" y="292625"/>
            <a:ext cx="8520600" cy="572700"/>
          </a:xfrm>
          <a:prstGeom prst="rect">
            <a:avLst/>
          </a:prstGeom>
          <a:ln>
            <a:noFill/>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Final Model Decision</a:t>
            </a:r>
            <a:endParaRPr>
              <a:latin typeface="Average"/>
              <a:ea typeface="Average"/>
              <a:cs typeface="Average"/>
              <a:sym typeface="Average"/>
            </a:endParaRPr>
          </a:p>
        </p:txBody>
      </p:sp>
      <p:graphicFrame>
        <p:nvGraphicFramePr>
          <p:cNvPr id="165" name="Google Shape;165;p24"/>
          <p:cNvGraphicFramePr/>
          <p:nvPr/>
        </p:nvGraphicFramePr>
        <p:xfrm>
          <a:off x="420100" y="1703020"/>
          <a:ext cx="3000000" cy="3000000"/>
        </p:xfrm>
        <a:graphic>
          <a:graphicData uri="http://schemas.openxmlformats.org/drawingml/2006/table">
            <a:tbl>
              <a:tblPr>
                <a:noFill/>
                <a:tableStyleId>{24053292-0F80-4647-9BA5-FABB1F77859B}</a:tableStyleId>
              </a:tblPr>
              <a:tblGrid>
                <a:gridCol w="2560300"/>
                <a:gridCol w="2838750"/>
                <a:gridCol w="2511175"/>
              </a:tblGrid>
              <a:tr h="609575">
                <a:tc>
                  <a:txBody>
                    <a:bodyPr/>
                    <a:lstStyle/>
                    <a:p>
                      <a:pPr indent="0" lvl="0" marL="0" rtl="0" algn="l">
                        <a:spcBef>
                          <a:spcPts val="0"/>
                        </a:spcBef>
                        <a:spcAft>
                          <a:spcPts val="0"/>
                        </a:spcAft>
                        <a:buNone/>
                      </a:pPr>
                      <a:r>
                        <a:rPr b="1" lang="en">
                          <a:latin typeface="Average"/>
                          <a:ea typeface="Average"/>
                          <a:cs typeface="Average"/>
                          <a:sym typeface="Average"/>
                        </a:rPr>
                        <a:t>Argument</a:t>
                      </a:r>
                      <a:r>
                        <a:rPr b="1" lang="en">
                          <a:latin typeface="Average"/>
                          <a:ea typeface="Average"/>
                          <a:cs typeface="Average"/>
                          <a:sym typeface="Average"/>
                        </a:rPr>
                        <a:t> for full model</a:t>
                      </a:r>
                      <a:endParaRPr b="1">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Average"/>
                          <a:ea typeface="Average"/>
                          <a:cs typeface="Average"/>
                          <a:sym typeface="Average"/>
                        </a:rPr>
                        <a:t>Conflicting Evidence</a:t>
                      </a:r>
                      <a:endParaRPr b="1">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Average"/>
                          <a:ea typeface="Average"/>
                          <a:cs typeface="Average"/>
                          <a:sym typeface="Average"/>
                        </a:rPr>
                        <a:t>Argument</a:t>
                      </a:r>
                      <a:r>
                        <a:rPr b="1" lang="en">
                          <a:latin typeface="Average"/>
                          <a:ea typeface="Average"/>
                          <a:cs typeface="Average"/>
                          <a:sym typeface="Average"/>
                        </a:rPr>
                        <a:t> for reduced model</a:t>
                      </a:r>
                      <a:endParaRPr b="1">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latin typeface="Average"/>
                          <a:ea typeface="Average"/>
                          <a:cs typeface="Average"/>
                          <a:sym typeface="Average"/>
                        </a:rPr>
                        <a:t>AIC test chose the full model</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Average"/>
                          <a:ea typeface="Average"/>
                          <a:cs typeface="Average"/>
                          <a:sym typeface="Average"/>
                        </a:rPr>
                        <a:t>R</a:t>
                      </a:r>
                      <a:r>
                        <a:rPr baseline="30000" lang="en">
                          <a:latin typeface="Average"/>
                          <a:ea typeface="Average"/>
                          <a:cs typeface="Average"/>
                          <a:sym typeface="Average"/>
                        </a:rPr>
                        <a:t>2</a:t>
                      </a:r>
                      <a:r>
                        <a:rPr baseline="-25000" lang="en">
                          <a:latin typeface="Average"/>
                          <a:ea typeface="Average"/>
                          <a:cs typeface="Average"/>
                          <a:sym typeface="Average"/>
                        </a:rPr>
                        <a:t>adj</a:t>
                      </a:r>
                      <a:r>
                        <a:rPr lang="en">
                          <a:latin typeface="Average"/>
                          <a:ea typeface="Average"/>
                          <a:cs typeface="Average"/>
                          <a:sym typeface="Average"/>
                        </a:rPr>
                        <a:t> was slightly but not significantly higher for full model</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Average"/>
                          <a:ea typeface="Average"/>
                          <a:cs typeface="Average"/>
                          <a:sym typeface="Average"/>
                        </a:rPr>
                        <a:t>RYPA not significant in slope hypothesis test</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1800">
                <a:tc>
                  <a:txBody>
                    <a:bodyPr/>
                    <a:lstStyle/>
                    <a:p>
                      <a:pPr indent="0" lvl="0" marL="0" rtl="0" algn="l">
                        <a:spcBef>
                          <a:spcPts val="0"/>
                        </a:spcBef>
                        <a:spcAft>
                          <a:spcPts val="0"/>
                        </a:spcAft>
                        <a:buNone/>
                      </a:pPr>
                      <a:r>
                        <a:rPr lang="en">
                          <a:latin typeface="Average"/>
                          <a:ea typeface="Average"/>
                          <a:cs typeface="Average"/>
                          <a:sym typeface="Average"/>
                        </a:rPr>
                        <a:t>Teams rush over 40% of the time still so it is a large proportion of the game</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Average"/>
                          <a:ea typeface="Average"/>
                          <a:cs typeface="Average"/>
                          <a:sym typeface="Average"/>
                        </a:rPr>
                        <a:t>Added variable plots for rushing variables showed some trend but not clear necessity </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Average"/>
                          <a:ea typeface="Average"/>
                          <a:cs typeface="Average"/>
                          <a:sym typeface="Average"/>
                        </a:rPr>
                        <a:t>Partial F-Test did not reject null hypothesis of reduced model</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1800">
                <a:tc>
                  <a:txBody>
                    <a:bodyPr/>
                    <a:lstStyle/>
                    <a:p>
                      <a:pPr indent="0" lvl="0" marL="0" rtl="0" algn="l">
                        <a:spcBef>
                          <a:spcPts val="0"/>
                        </a:spcBef>
                        <a:spcAft>
                          <a:spcPts val="0"/>
                        </a:spcAft>
                        <a:buNone/>
                      </a:pPr>
                      <a:r>
                        <a:rPr lang="en">
                          <a:latin typeface="Average"/>
                          <a:ea typeface="Average"/>
                          <a:cs typeface="Average"/>
                          <a:sym typeface="Average"/>
                        </a:rPr>
                        <a:t>No multicollinearity risk so additional variables would not hurt (Low VIF values)</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Average"/>
                          <a:ea typeface="Average"/>
                          <a:cs typeface="Average"/>
                          <a:sym typeface="Average"/>
                        </a:rPr>
                        <a:t>Diagnostic Plots are pretty much the same for </a:t>
                      </a:r>
                      <a:r>
                        <a:rPr lang="en">
                          <a:latin typeface="Average"/>
                          <a:ea typeface="Average"/>
                          <a:cs typeface="Average"/>
                          <a:sym typeface="Average"/>
                        </a:rPr>
                        <a:t>both</a:t>
                      </a:r>
                      <a:r>
                        <a:rPr lang="en">
                          <a:latin typeface="Average"/>
                          <a:ea typeface="Average"/>
                          <a:cs typeface="Average"/>
                          <a:sym typeface="Average"/>
                        </a:rPr>
                        <a:t> options</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latin typeface="Average"/>
                          <a:ea typeface="Average"/>
                          <a:cs typeface="Average"/>
                          <a:sym typeface="Average"/>
                        </a:rPr>
                        <a:t>BIC chose reduced model</a:t>
                      </a:r>
                      <a:endParaRPr>
                        <a:latin typeface="Average"/>
                        <a:ea typeface="Average"/>
                        <a:cs typeface="Average"/>
                        <a:sym typeface="Averag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5"/>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Results of The Model</a:t>
            </a:r>
            <a:endParaRPr>
              <a:latin typeface="Average"/>
              <a:ea typeface="Average"/>
              <a:cs typeface="Average"/>
              <a:sym typeface="Average"/>
            </a:endParaRPr>
          </a:p>
        </p:txBody>
      </p:sp>
      <p:sp>
        <p:nvSpPr>
          <p:cNvPr id="172" name="Google Shape;172;p25"/>
          <p:cNvSpPr txBox="1"/>
          <p:nvPr>
            <p:ph idx="1" type="body"/>
          </p:nvPr>
        </p:nvSpPr>
        <p:spPr>
          <a:xfrm>
            <a:off x="311700" y="1152475"/>
            <a:ext cx="1507200" cy="45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Average"/>
                <a:ea typeface="Average"/>
                <a:cs typeface="Average"/>
                <a:sym typeface="Average"/>
              </a:rPr>
              <a:t>Final Model: </a:t>
            </a:r>
            <a:endParaRPr b="1" sz="1600">
              <a:solidFill>
                <a:schemeClr val="dk1"/>
              </a:solidFill>
              <a:latin typeface="Average"/>
              <a:ea typeface="Average"/>
              <a:cs typeface="Average"/>
              <a:sym typeface="Average"/>
            </a:endParaRPr>
          </a:p>
          <a:p>
            <a:pPr indent="0" lvl="0" marL="0" rtl="0" algn="l">
              <a:spcBef>
                <a:spcPts val="1200"/>
              </a:spcBef>
              <a:spcAft>
                <a:spcPts val="1200"/>
              </a:spcAft>
              <a:buNone/>
            </a:pPr>
            <a:r>
              <a:t/>
            </a:r>
            <a:endParaRPr sz="1500">
              <a:solidFill>
                <a:schemeClr val="dk1"/>
              </a:solidFill>
              <a:latin typeface="Average"/>
              <a:ea typeface="Average"/>
              <a:cs typeface="Average"/>
              <a:sym typeface="Average"/>
            </a:endParaRPr>
          </a:p>
        </p:txBody>
      </p:sp>
      <p:pic>
        <p:nvPicPr>
          <p:cNvPr id="173" name="Google Shape;173;p25"/>
          <p:cNvPicPr preferRelativeResize="0"/>
          <p:nvPr/>
        </p:nvPicPr>
        <p:blipFill>
          <a:blip r:embed="rId3">
            <a:alphaModFix/>
          </a:blip>
          <a:stretch>
            <a:fillRect/>
          </a:stretch>
        </p:blipFill>
        <p:spPr>
          <a:xfrm>
            <a:off x="1583500" y="1177363"/>
            <a:ext cx="4245775" cy="390550"/>
          </a:xfrm>
          <a:prstGeom prst="rect">
            <a:avLst/>
          </a:prstGeom>
          <a:noFill/>
          <a:ln>
            <a:noFill/>
          </a:ln>
        </p:spPr>
      </p:pic>
      <p:sp>
        <p:nvSpPr>
          <p:cNvPr id="174" name="Google Shape;174;p25"/>
          <p:cNvSpPr txBox="1"/>
          <p:nvPr/>
        </p:nvSpPr>
        <p:spPr>
          <a:xfrm>
            <a:off x="311700" y="1575150"/>
            <a:ext cx="8331000" cy="171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Average"/>
                <a:ea typeface="Average"/>
                <a:cs typeface="Average"/>
                <a:sym typeface="Average"/>
              </a:rPr>
              <a:t>–&gt;  </a:t>
            </a:r>
            <a:r>
              <a:rPr lang="en" sz="1600">
                <a:solidFill>
                  <a:schemeClr val="dk1"/>
                </a:solidFill>
                <a:latin typeface="Average"/>
                <a:ea typeface="Average"/>
                <a:cs typeface="Average"/>
                <a:sym typeface="Average"/>
              </a:rPr>
              <a:t>Wins</a:t>
            </a:r>
            <a:r>
              <a:rPr lang="en" sz="1600">
                <a:solidFill>
                  <a:schemeClr val="dk1"/>
                </a:solidFill>
                <a:latin typeface="Average"/>
                <a:ea typeface="Average"/>
                <a:cs typeface="Average"/>
                <a:sym typeface="Average"/>
              </a:rPr>
              <a:t> = (9.683 - .068(YPPA) - .097(T.O._Margin) - .078(OPPO.YPPA))</a:t>
            </a:r>
            <a:r>
              <a:rPr baseline="30000" lang="en" sz="1600">
                <a:solidFill>
                  <a:schemeClr val="dk1"/>
                </a:solidFill>
                <a:latin typeface="Average"/>
                <a:ea typeface="Average"/>
                <a:cs typeface="Average"/>
                <a:sym typeface="Average"/>
              </a:rPr>
              <a:t>1.183</a:t>
            </a:r>
            <a:endParaRPr baseline="30000" sz="1600">
              <a:solidFill>
                <a:schemeClr val="dk1"/>
              </a:solidFill>
              <a:latin typeface="Average"/>
              <a:ea typeface="Average"/>
              <a:cs typeface="Average"/>
              <a:sym typeface="Average"/>
            </a:endParaRPr>
          </a:p>
          <a:p>
            <a:pPr indent="0" lvl="0" marL="0" rtl="0" algn="l">
              <a:lnSpc>
                <a:spcPct val="115000"/>
              </a:lnSpc>
              <a:spcBef>
                <a:spcPts val="1200"/>
              </a:spcBef>
              <a:spcAft>
                <a:spcPts val="1200"/>
              </a:spcAft>
              <a:buClr>
                <a:schemeClr val="dk1"/>
              </a:buClr>
              <a:buSzPts val="1100"/>
              <a:buFont typeface="Arial"/>
              <a:buNone/>
            </a:pPr>
            <a:r>
              <a:rPr b="1" lang="en" sz="1600">
                <a:solidFill>
                  <a:schemeClr val="dk1"/>
                </a:solidFill>
                <a:latin typeface="Average"/>
                <a:ea typeface="Average"/>
                <a:cs typeface="Average"/>
                <a:sym typeface="Average"/>
              </a:rPr>
              <a:t>R</a:t>
            </a:r>
            <a:r>
              <a:rPr b="1" baseline="30000" lang="en" sz="1600">
                <a:solidFill>
                  <a:schemeClr val="dk1"/>
                </a:solidFill>
                <a:latin typeface="Average"/>
                <a:ea typeface="Average"/>
                <a:cs typeface="Average"/>
                <a:sym typeface="Average"/>
              </a:rPr>
              <a:t>2</a:t>
            </a:r>
            <a:r>
              <a:rPr lang="en" sz="1600">
                <a:solidFill>
                  <a:schemeClr val="dk1"/>
                </a:solidFill>
                <a:latin typeface="Average"/>
                <a:ea typeface="Average"/>
                <a:cs typeface="Average"/>
                <a:sym typeface="Average"/>
              </a:rPr>
              <a:t>: The R</a:t>
            </a:r>
            <a:r>
              <a:rPr baseline="30000" lang="en" sz="1600">
                <a:solidFill>
                  <a:schemeClr val="dk1"/>
                </a:solidFill>
                <a:latin typeface="Average"/>
                <a:ea typeface="Average"/>
                <a:cs typeface="Average"/>
                <a:sym typeface="Average"/>
              </a:rPr>
              <a:t>2</a:t>
            </a:r>
            <a:r>
              <a:rPr lang="en" sz="1600">
                <a:solidFill>
                  <a:schemeClr val="dk1"/>
                </a:solidFill>
                <a:latin typeface="Average"/>
                <a:ea typeface="Average"/>
                <a:cs typeface="Average"/>
                <a:sym typeface="Average"/>
              </a:rPr>
              <a:t> was .6476, indicating that ~64% of the variance in wins is explained by the model. Some other factors could be the rushing efficiency (was worth about 1-2%) conversion/success rate on 3rd or 4th down and in the red zone (touchdowns vs. field goals), and average margin of loss/victory (some teams might run up their score in a blowout).</a:t>
            </a:r>
            <a:endParaRPr sz="1600">
              <a:solidFill>
                <a:schemeClr val="dk1"/>
              </a:solidFill>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6"/>
          <p:cNvSpPr txBox="1"/>
          <p:nvPr>
            <p:ph idx="1" type="body"/>
          </p:nvPr>
        </p:nvSpPr>
        <p:spPr>
          <a:xfrm>
            <a:off x="159300" y="823750"/>
            <a:ext cx="87687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Font typeface="Average"/>
              <a:buAutoNum type="arabicPeriod"/>
            </a:pPr>
            <a:r>
              <a:rPr lang="en" sz="1600">
                <a:solidFill>
                  <a:schemeClr val="dk1"/>
                </a:solidFill>
                <a:latin typeface="Average"/>
                <a:ea typeface="Average"/>
                <a:cs typeface="Average"/>
                <a:sym typeface="Average"/>
              </a:rPr>
              <a:t>An improvement in yards per pass attempt by 10 ranking spots (prev. ranking - 10) would increase wins by .68</a:t>
            </a:r>
            <a:r>
              <a:rPr baseline="30000" lang="en" sz="1600">
                <a:solidFill>
                  <a:schemeClr val="dk1"/>
                </a:solidFill>
                <a:latin typeface="Average"/>
                <a:ea typeface="Average"/>
                <a:cs typeface="Average"/>
                <a:sym typeface="Average"/>
              </a:rPr>
              <a:t>1.183</a:t>
            </a:r>
            <a:r>
              <a:rPr lang="en" sz="1600">
                <a:solidFill>
                  <a:schemeClr val="dk1"/>
                </a:solidFill>
                <a:latin typeface="Average"/>
                <a:ea typeface="Average"/>
                <a:cs typeface="Average"/>
                <a:sym typeface="Average"/>
              </a:rPr>
              <a:t> = .63 wins.</a:t>
            </a:r>
            <a:endParaRPr sz="1600">
              <a:solidFill>
                <a:schemeClr val="dk1"/>
              </a:solidFill>
              <a:latin typeface="Average"/>
              <a:ea typeface="Average"/>
              <a:cs typeface="Average"/>
              <a:sym typeface="Average"/>
            </a:endParaRPr>
          </a:p>
          <a:p>
            <a:pPr indent="-330200" lvl="0" marL="457200" rtl="0" algn="l">
              <a:spcBef>
                <a:spcPts val="0"/>
              </a:spcBef>
              <a:spcAft>
                <a:spcPts val="0"/>
              </a:spcAft>
              <a:buClr>
                <a:schemeClr val="dk1"/>
              </a:buClr>
              <a:buSzPts val="1600"/>
              <a:buFont typeface="Average"/>
              <a:buAutoNum type="arabicPeriod"/>
            </a:pPr>
            <a:r>
              <a:rPr lang="en" sz="1600">
                <a:solidFill>
                  <a:schemeClr val="dk1"/>
                </a:solidFill>
                <a:latin typeface="Average"/>
                <a:ea typeface="Average"/>
                <a:cs typeface="Average"/>
                <a:sym typeface="Average"/>
              </a:rPr>
              <a:t>An improvement in turnover margin by 10 ranking spots (prev. ranking - 10) would increase wins by .97^1.183 = .96 wins.</a:t>
            </a:r>
            <a:endParaRPr sz="1600">
              <a:solidFill>
                <a:schemeClr val="dk1"/>
              </a:solidFill>
              <a:latin typeface="Average"/>
              <a:ea typeface="Average"/>
              <a:cs typeface="Average"/>
              <a:sym typeface="Average"/>
            </a:endParaRPr>
          </a:p>
          <a:p>
            <a:pPr indent="-330200" lvl="0" marL="457200" rtl="0" algn="l">
              <a:spcBef>
                <a:spcPts val="0"/>
              </a:spcBef>
              <a:spcAft>
                <a:spcPts val="0"/>
              </a:spcAft>
              <a:buClr>
                <a:schemeClr val="dk1"/>
              </a:buClr>
              <a:buSzPts val="1600"/>
              <a:buFont typeface="Average"/>
              <a:buAutoNum type="arabicPeriod"/>
            </a:pPr>
            <a:r>
              <a:rPr lang="en" sz="1600">
                <a:solidFill>
                  <a:schemeClr val="dk1"/>
                </a:solidFill>
                <a:latin typeface="Average"/>
                <a:ea typeface="Average"/>
                <a:cs typeface="Average"/>
                <a:sym typeface="Average"/>
              </a:rPr>
              <a:t>An improvement in opponents yards per pass attempt by 10 ranking spots (prev. ranking - 10) would increase wins by .78</a:t>
            </a:r>
            <a:r>
              <a:rPr baseline="30000" lang="en" sz="1600">
                <a:solidFill>
                  <a:schemeClr val="dk1"/>
                </a:solidFill>
                <a:latin typeface="Average"/>
                <a:ea typeface="Average"/>
                <a:cs typeface="Average"/>
                <a:sym typeface="Average"/>
              </a:rPr>
              <a:t>1.183</a:t>
            </a:r>
            <a:r>
              <a:rPr lang="en" sz="1600">
                <a:solidFill>
                  <a:schemeClr val="dk1"/>
                </a:solidFill>
                <a:latin typeface="Average"/>
                <a:ea typeface="Average"/>
                <a:cs typeface="Average"/>
                <a:sym typeface="Average"/>
              </a:rPr>
              <a:t> = .75 wins.</a:t>
            </a:r>
            <a:endParaRPr sz="1600">
              <a:solidFill>
                <a:schemeClr val="dk1"/>
              </a:solidFill>
              <a:latin typeface="Average"/>
              <a:ea typeface="Average"/>
              <a:cs typeface="Average"/>
              <a:sym typeface="Average"/>
            </a:endParaRPr>
          </a:p>
          <a:p>
            <a:pPr indent="0" lvl="0" marL="0" rtl="0" algn="l">
              <a:spcBef>
                <a:spcPts val="1200"/>
              </a:spcBef>
              <a:spcAft>
                <a:spcPts val="1200"/>
              </a:spcAft>
              <a:buNone/>
            </a:pPr>
            <a:r>
              <a:t/>
            </a:r>
            <a:endParaRPr>
              <a:latin typeface="Average"/>
              <a:ea typeface="Average"/>
              <a:cs typeface="Average"/>
              <a:sym typeface="Average"/>
            </a:endParaRPr>
          </a:p>
        </p:txBody>
      </p:sp>
      <p:sp>
        <p:nvSpPr>
          <p:cNvPr id="181" name="Google Shape;181;p26"/>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Slope </a:t>
            </a:r>
            <a:r>
              <a:rPr lang="en">
                <a:latin typeface="Average"/>
                <a:ea typeface="Average"/>
                <a:cs typeface="Average"/>
                <a:sym typeface="Average"/>
              </a:rPr>
              <a:t>Interpretation</a:t>
            </a:r>
            <a:r>
              <a:rPr lang="en">
                <a:latin typeface="Average"/>
                <a:ea typeface="Average"/>
                <a:cs typeface="Average"/>
                <a:sym typeface="Average"/>
              </a:rPr>
              <a:t> and Model Predictions</a:t>
            </a:r>
            <a:endParaRPr>
              <a:latin typeface="Average"/>
              <a:ea typeface="Average"/>
              <a:cs typeface="Average"/>
              <a:sym typeface="Average"/>
            </a:endParaRPr>
          </a:p>
        </p:txBody>
      </p:sp>
      <p:pic>
        <p:nvPicPr>
          <p:cNvPr id="182" name="Google Shape;182;p26"/>
          <p:cNvPicPr preferRelativeResize="0"/>
          <p:nvPr/>
        </p:nvPicPr>
        <p:blipFill>
          <a:blip r:embed="rId3">
            <a:alphaModFix/>
          </a:blip>
          <a:stretch>
            <a:fillRect/>
          </a:stretch>
        </p:blipFill>
        <p:spPr>
          <a:xfrm>
            <a:off x="5208838" y="2729049"/>
            <a:ext cx="2538025" cy="2057625"/>
          </a:xfrm>
          <a:prstGeom prst="rect">
            <a:avLst/>
          </a:prstGeom>
          <a:noFill/>
          <a:ln>
            <a:noFill/>
          </a:ln>
        </p:spPr>
      </p:pic>
      <p:pic>
        <p:nvPicPr>
          <p:cNvPr id="183" name="Google Shape;183;p26"/>
          <p:cNvPicPr preferRelativeResize="0"/>
          <p:nvPr/>
        </p:nvPicPr>
        <p:blipFill>
          <a:blip r:embed="rId4">
            <a:alphaModFix/>
          </a:blip>
          <a:stretch>
            <a:fillRect/>
          </a:stretch>
        </p:blipFill>
        <p:spPr>
          <a:xfrm>
            <a:off x="1083291" y="2199130"/>
            <a:ext cx="2587550" cy="2587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p:nvPr/>
        </p:nvSpPr>
        <p:spPr>
          <a:xfrm>
            <a:off x="0" y="0"/>
            <a:ext cx="9165000" cy="51435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verage"/>
                <a:ea typeface="Average"/>
                <a:cs typeface="Average"/>
                <a:sym typeface="Average"/>
              </a:rPr>
              <a:t>Implications to NFL Strategy</a:t>
            </a:r>
            <a:endParaRPr>
              <a:latin typeface="Average"/>
              <a:ea typeface="Average"/>
              <a:cs typeface="Average"/>
              <a:sym typeface="Average"/>
            </a:endParaRPr>
          </a:p>
        </p:txBody>
      </p:sp>
      <p:sp>
        <p:nvSpPr>
          <p:cNvPr id="190" name="Google Shape;190;p27"/>
          <p:cNvSpPr txBox="1"/>
          <p:nvPr>
            <p:ph idx="1" type="body"/>
          </p:nvPr>
        </p:nvSpPr>
        <p:spPr>
          <a:xfrm>
            <a:off x="311700" y="847685"/>
            <a:ext cx="8520600" cy="4094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630">
                <a:solidFill>
                  <a:schemeClr val="dk1"/>
                </a:solidFill>
                <a:latin typeface="Average"/>
                <a:ea typeface="Average"/>
                <a:cs typeface="Average"/>
                <a:sym typeface="Average"/>
              </a:rPr>
              <a:t>Passing &gt; Running, T.O.’s Reign Supreme: </a:t>
            </a:r>
            <a:r>
              <a:rPr lang="en" sz="1630">
                <a:solidFill>
                  <a:schemeClr val="dk1"/>
                </a:solidFill>
                <a:latin typeface="Average"/>
                <a:ea typeface="Average"/>
                <a:cs typeface="Average"/>
                <a:sym typeface="Average"/>
              </a:rPr>
              <a:t>Strong rushing efficiency on both offense and defense is not a prerequisite for being a winning team. Passing efficiency on both offense and defense are far more significant predictors for wins. And, as we expected, turnover margin is the strongest predictor of wins, according to our model.</a:t>
            </a:r>
            <a:endParaRPr sz="1630">
              <a:solidFill>
                <a:schemeClr val="dk1"/>
              </a:solidFill>
              <a:latin typeface="Average"/>
              <a:ea typeface="Average"/>
              <a:cs typeface="Average"/>
              <a:sym typeface="Average"/>
            </a:endParaRPr>
          </a:p>
          <a:p>
            <a:pPr indent="0" lvl="0" marL="0" rtl="0" algn="l">
              <a:lnSpc>
                <a:spcPct val="95000"/>
              </a:lnSpc>
              <a:spcBef>
                <a:spcPts val="1200"/>
              </a:spcBef>
              <a:spcAft>
                <a:spcPts val="0"/>
              </a:spcAft>
              <a:buSzPts val="935"/>
              <a:buNone/>
            </a:pPr>
            <a:r>
              <a:rPr b="1" lang="en" sz="1630">
                <a:solidFill>
                  <a:schemeClr val="dk1"/>
                </a:solidFill>
                <a:latin typeface="Average"/>
                <a:ea typeface="Average"/>
                <a:cs typeface="Average"/>
                <a:sym typeface="Average"/>
              </a:rPr>
              <a:t>Potential Explanations:</a:t>
            </a:r>
            <a:r>
              <a:rPr lang="en" sz="1630">
                <a:solidFill>
                  <a:schemeClr val="dk1"/>
                </a:solidFill>
                <a:latin typeface="Average"/>
                <a:ea typeface="Average"/>
                <a:cs typeface="Average"/>
                <a:sym typeface="Average"/>
              </a:rPr>
              <a:t> Why is passing efficiency so much more important than rushing efficiency in the modern NFL? Here are a few potential reasons why: </a:t>
            </a:r>
            <a:r>
              <a:rPr lang="en" sz="1630">
                <a:solidFill>
                  <a:schemeClr val="dk1"/>
                </a:solidFill>
                <a:latin typeface="Average"/>
                <a:ea typeface="Average"/>
                <a:cs typeface="Average"/>
                <a:sym typeface="Average"/>
              </a:rPr>
              <a:t>1. An offense that is only strong in passing offense is more difficult to stop than that of rushing. 2. Passing is more conducive to </a:t>
            </a:r>
            <a:r>
              <a:rPr lang="en" sz="1630">
                <a:solidFill>
                  <a:schemeClr val="dk1"/>
                </a:solidFill>
                <a:latin typeface="Average"/>
                <a:ea typeface="Average"/>
                <a:cs typeface="Average"/>
                <a:sym typeface="Average"/>
              </a:rPr>
              <a:t>explosive</a:t>
            </a:r>
            <a:r>
              <a:rPr lang="en" sz="1630">
                <a:solidFill>
                  <a:schemeClr val="dk1"/>
                </a:solidFill>
                <a:latin typeface="Average"/>
                <a:ea typeface="Average"/>
                <a:cs typeface="Average"/>
                <a:sym typeface="Average"/>
              </a:rPr>
              <a:t> plays than rushing. 3. Comeback victories are generated by passing the ball, not running it (rushing attempts quickly drains the game clock).</a:t>
            </a:r>
            <a:endParaRPr sz="1630">
              <a:solidFill>
                <a:schemeClr val="dk1"/>
              </a:solidFill>
              <a:latin typeface="Average"/>
              <a:ea typeface="Average"/>
              <a:cs typeface="Average"/>
              <a:sym typeface="Average"/>
            </a:endParaRPr>
          </a:p>
          <a:p>
            <a:pPr indent="0" lvl="0" marL="0" rtl="0" algn="l">
              <a:lnSpc>
                <a:spcPct val="95000"/>
              </a:lnSpc>
              <a:spcBef>
                <a:spcPts val="1200"/>
              </a:spcBef>
              <a:spcAft>
                <a:spcPts val="1200"/>
              </a:spcAft>
              <a:buSzPts val="935"/>
              <a:buNone/>
            </a:pPr>
            <a:r>
              <a:rPr b="1" lang="en" sz="1630">
                <a:solidFill>
                  <a:schemeClr val="dk1"/>
                </a:solidFill>
                <a:latin typeface="Average"/>
                <a:ea typeface="Average"/>
                <a:cs typeface="Average"/>
                <a:sym typeface="Average"/>
              </a:rPr>
              <a:t>Final Thoughts:</a:t>
            </a:r>
            <a:r>
              <a:rPr lang="en" sz="1630">
                <a:solidFill>
                  <a:schemeClr val="dk1"/>
                </a:solidFill>
                <a:latin typeface="Average"/>
                <a:ea typeface="Average"/>
                <a:cs typeface="Average"/>
                <a:sym typeface="Average"/>
              </a:rPr>
              <a:t> Conventional NFL wisdom says that a team needs a balanced rushing and passing attack to dominate. However it appears that trends are shifting. Rushing efficiency still matters - perhaps, just less than we may have thought. Anecdotally and intuitively, these conclusions make sense; the NFL continues shifting to a more pass-centric league and each of the last five Super Bowl winners have been led by star quarterbacks and stout defenses with relatively cheap running backs. </a:t>
            </a:r>
            <a:endParaRPr sz="1630">
              <a:solidFill>
                <a:schemeClr val="dk1"/>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