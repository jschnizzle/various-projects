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Override PartName="/ppt/slides/slide27.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6"/>
    <p:sldMasterId id="2147483662" r:id="rId7"/>
    <p:sldMasterId id="2147483663" r:id="rId8"/>
  </p:sldMasterIdLst>
  <p:notesMasterIdLst>
    <p:notesMasterId r:id="rId9"/>
  </p:notesMasterIdLst>
  <p:sldIdLst>
    <p:sldId id="256" r:id="rId10"/>
    <p:sldId id="257" r:id="rId11"/>
    <p:sldId id="258" r:id="rId12"/>
    <p:sldId id="282" r:id="rId36"/>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Rachel Nguyen"/>
  <p:cmAuthor clrIdx="1" id="1" initials="" lastIdx="2" name="Jeremy Shiu"/>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4AC92B4-E7F7-47E5-B7FE-79C4C661988F}">
  <a:tblStyle styleId="{94AC92B4-E7F7-47E5-B7FE-79C4C661988F}"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1.xml"/><Relationship Id="rId22" Type="http://schemas.openxmlformats.org/officeDocument/2006/relationships/slide" Target="slides/slide13.xml"/><Relationship Id="rId21" Type="http://schemas.openxmlformats.org/officeDocument/2006/relationships/slide" Target="slides/slide12.xml"/><Relationship Id="rId24" Type="http://schemas.openxmlformats.org/officeDocument/2006/relationships/slide" Target="slides/slide15.xml"/><Relationship Id="rId23" Type="http://schemas.openxmlformats.org/officeDocument/2006/relationships/slide" Target="slides/slide14.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slide" Target="slides/slide19.xml"/><Relationship Id="rId27" Type="http://schemas.openxmlformats.org/officeDocument/2006/relationships/slide" Target="slides/slide18.xml"/><Relationship Id="rId5" Type="http://schemas.openxmlformats.org/officeDocument/2006/relationships/commentAuthors" Target="commentAuthors.xml"/><Relationship Id="rId6" Type="http://schemas.openxmlformats.org/officeDocument/2006/relationships/slideMaster" Target="slideMasters/slideMaster1.xml"/><Relationship Id="rId29" Type="http://schemas.openxmlformats.org/officeDocument/2006/relationships/slide" Target="slides/slide20.xml"/><Relationship Id="rId7" Type="http://schemas.openxmlformats.org/officeDocument/2006/relationships/slideMaster" Target="slideMasters/slideMaster2.xml"/><Relationship Id="rId8" Type="http://schemas.openxmlformats.org/officeDocument/2006/relationships/slideMaster" Target="slideMasters/slideMaster3.xml"/><Relationship Id="rId31" Type="http://schemas.openxmlformats.org/officeDocument/2006/relationships/slide" Target="slides/slide22.xml"/><Relationship Id="rId30" Type="http://schemas.openxmlformats.org/officeDocument/2006/relationships/slide" Target="slides/slide21.xml"/><Relationship Id="rId11" Type="http://schemas.openxmlformats.org/officeDocument/2006/relationships/slide" Target="slides/slide2.xml"/><Relationship Id="rId33" Type="http://schemas.openxmlformats.org/officeDocument/2006/relationships/slide" Target="slides/slide24.xml"/><Relationship Id="rId10" Type="http://schemas.openxmlformats.org/officeDocument/2006/relationships/slide" Target="slides/slide1.xml"/><Relationship Id="rId32" Type="http://schemas.openxmlformats.org/officeDocument/2006/relationships/slide" Target="slides/slide23.xml"/><Relationship Id="rId13" Type="http://schemas.openxmlformats.org/officeDocument/2006/relationships/slide" Target="slides/slide4.xml"/><Relationship Id="rId35" Type="http://schemas.openxmlformats.org/officeDocument/2006/relationships/slide" Target="slides/slide26.xml"/><Relationship Id="rId12" Type="http://schemas.openxmlformats.org/officeDocument/2006/relationships/slide" Target="slides/slide3.xml"/><Relationship Id="rId34" Type="http://schemas.openxmlformats.org/officeDocument/2006/relationships/slide" Target="slides/slide25.xml"/><Relationship Id="rId15" Type="http://schemas.openxmlformats.org/officeDocument/2006/relationships/slide" Target="slides/slide6.xml"/><Relationship Id="rId14" Type="http://schemas.openxmlformats.org/officeDocument/2006/relationships/slide" Target="slides/slide5.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  <Relationship Id="rId36" Type="http://schemas.openxmlformats.org/officeDocument/2006/relationships/slide" Target="slides/slide27.xml"/>
</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7-27T18:10:19.678">
    <p:pos x="259" y="259"/>
    <p:text>Something like this could explain why stakes in WC advancement are high.</p:text>
  </p:cm>
  <p:cm authorId="1" idx="1" dt="2026-07-27T18:06:34.580">
    <p:pos x="259" y="259"/>
    <p:text>Yeah, I'm thinking that this slide would probably work better with us talking over it than it does just sitting on the slide deck. We'd probably wanna talk about fan engagement, gambling, analyst predictions, etc.</p:text>
  </p:cm>
  <p:cm authorId="1" idx="2" dt="2026-07-27T18:06:59.697">
    <p:pos x="259" y="259"/>
    <p:text>Probably should change TV broadcasting rights to something else because 45% seems kind of meaningless
1 total reaction
Rachel Nguyen reacted with 👍 at 2026-07-27 6:10 PM UTC</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3f96ce90f00_0_0:notes"/>
          <p:cNvSpPr/>
          <p:nvPr>
            <p:ph idx="2" type="sldImg"/>
          </p:nvPr>
        </p:nvSpPr>
        <p:spPr>
          <a:xfrm>
            <a:off x="685727" y="857273"/>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g3f96ce90f00_0_0:notes"/>
          <p:cNvSpPr txBox="1"/>
          <p:nvPr>
            <p:ph idx="1" type="body"/>
          </p:nvPr>
        </p:nvSpPr>
        <p:spPr>
          <a:xfrm>
            <a:off x="685800" y="3300500"/>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 name="Google Shape;57;g3f96ce90f00_0_0:notes"/>
          <p:cNvSpPr txBox="1"/>
          <p:nvPr>
            <p:ph idx="12" type="sldNum"/>
          </p:nvPr>
        </p:nvSpPr>
        <p:spPr>
          <a:xfrm>
            <a:off x="3884613" y="6514083"/>
            <a:ext cx="2971800" cy="3441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f96e698299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g3f96e698299_1_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f969861359_6_50:notes"/>
          <p:cNvSpPr/>
          <p:nvPr>
            <p:ph idx="2" type="sldImg"/>
          </p:nvPr>
        </p:nvSpPr>
        <p:spPr>
          <a:xfrm>
            <a:off x="685727" y="857273"/>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g3f969861359_6_50:notes"/>
          <p:cNvSpPr txBox="1"/>
          <p:nvPr>
            <p:ph idx="1" type="body"/>
          </p:nvPr>
        </p:nvSpPr>
        <p:spPr>
          <a:xfrm>
            <a:off x="685800" y="3300500"/>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g3f969861359_6_50:notes"/>
          <p:cNvSpPr txBox="1"/>
          <p:nvPr>
            <p:ph idx="12" type="sldNum"/>
          </p:nvPr>
        </p:nvSpPr>
        <p:spPr>
          <a:xfrm>
            <a:off x="3884613" y="6514083"/>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f969861359_2_16: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g3f969861359_2_16: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8" name="Google Shape;138;g3f969861359_2_16: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f969861359_2_54: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g3f969861359_2_54: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f969861359_2_54: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f969861359_2_66: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g3f969861359_2_66: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g3f969861359_2_66: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f969861359_2_86: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g3f969861359_2_86: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8" name="Google Shape;208;g3f969861359_2_86: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f969861359_2_110: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g3f969861359_2_110: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3" name="Google Shape;233;g3f969861359_2_110: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f969861359_2_122: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g3f969861359_2_122: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g3f969861359_2_122: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f969861359_2_134: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g3f969861359_2_134: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9" name="Google Shape;259;g3f969861359_2_134: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f969861359_2_144: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g3f969861359_2_144: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9" name="Google Shape;269;g3f969861359_2_144: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f969861359_2_178: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g3f969861359_2_178: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3" name="Google Shape;303;g3f969861359_2_178: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f969861359_6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f969861359_6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f969861359_6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f969861359_6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f969861359_2_216:notes"/>
          <p:cNvSpPr txBox="1"/>
          <p:nvPr>
            <p:ph idx="1" type="body"/>
          </p:nvPr>
        </p:nvSpPr>
        <p:spPr>
          <a:xfrm>
            <a:off x="685800" y="3300500"/>
            <a:ext cx="5486400" cy="2700409"/>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g3f969861359_2_216: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f96ce90f00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g3f96ce90f00_0_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52" name="Google Shape;352;g3f96ce90f00_0_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f969861359_2_243: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g3f969861359_2_243: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5" name="Google Shape;365;g3f969861359_2_243: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f969861359_2_264: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6" name="Google Shape;386;g3f969861359_2_264: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7" name="Google Shape;387;g3f969861359_2_264: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f969861359_2_274: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7" name="Google Shape;397;g3f969861359_2_274: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8" name="Google Shape;398;g3f969861359_2_274: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f969861359_2_286: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0" name="Google Shape;410;g3f969861359_2_286: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g3f969861359_2_286: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f969861359_2_306: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1" name="Google Shape;431;g3f969861359_2_306: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2" name="Google Shape;432;g3f969861359_2_306: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f969861359_2_322: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g3f969861359_2_322: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5" name="Google Shape;445;g3f969861359_2_322: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f969861359_2_348:notes"/>
          <p:cNvSpPr txBox="1"/>
          <p:nvPr>
            <p:ph idx="1" type="body"/>
          </p:nvPr>
        </p:nvSpPr>
        <p:spPr>
          <a:xfrm>
            <a:off x="685800" y="3300500"/>
            <a:ext cx="5486400" cy="2700409"/>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g3f969861359_2_348: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f969861359_2_373: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8" name="Google Shape;498;g3f969861359_2_373: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9" name="Google Shape;499;g3f969861359_2_373: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f969861359_2_385: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1" name="Google Shape;511;g3f969861359_2_385: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2" name="Google Shape;512;g3f969861359_2_385: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3f969861359_2_449: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8" name="Google Shape;538;g3f969861359_2_449: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9" name="Google Shape;539;g3f969861359_2_449: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3" name="Shape 5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 name="Shape 52"/>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0"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comments" Target="../comments/commen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hyperlink" Target="https://www.theglobalstatistics.com/fifa-world-cup-revenue-statistics/" TargetMode="External"/><Relationship Id="rId4" Type="http://schemas.openxmlformats.org/officeDocument/2006/relationships/hyperlink" Target="https://www.theglobalstatistics.com/fifa-world-cup-revenue-statistics/"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03B"/>
        </a:solidFill>
      </p:bgPr>
    </p:bg>
    <p:spTree>
      <p:nvGrpSpPr>
        <p:cNvPr id="58" name="Shape 58"/>
        <p:cNvGrpSpPr/>
        <p:nvPr/>
      </p:nvGrpSpPr>
      <p:grpSpPr>
        <a:xfrm>
          <a:off x="0" y="0"/>
          <a:ext cx="0" cy="0"/>
          <a:chOff x="0" y="0"/>
          <a:chExt cx="0" cy="0"/>
        </a:xfrm>
      </p:grpSpPr>
      <p:sp>
        <p:nvSpPr>
          <p:cNvPr id="59" name="Google Shape;59;p17"/>
          <p:cNvSpPr/>
          <p:nvPr/>
        </p:nvSpPr>
        <p:spPr>
          <a:xfrm>
            <a:off x="6789601" y="-1097280"/>
            <a:ext cx="3703500" cy="3703200"/>
          </a:xfrm>
          <a:prstGeom prst="ellipse">
            <a:avLst/>
          </a:prstGeom>
          <a:noFill/>
          <a:ln cap="flat" cmpd="sng" w="19050">
            <a:solidFill>
              <a:srgbClr val="34456E"/>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0" name="Google Shape;60;p17"/>
          <p:cNvSpPr/>
          <p:nvPr/>
        </p:nvSpPr>
        <p:spPr>
          <a:xfrm>
            <a:off x="7269674" y="-617220"/>
            <a:ext cx="2674800" cy="2674500"/>
          </a:xfrm>
          <a:prstGeom prst="ellipse">
            <a:avLst/>
          </a:prstGeom>
          <a:noFill/>
          <a:ln cap="flat" cmpd="sng" w="19050">
            <a:solidFill>
              <a:srgbClr val="34456E"/>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1" name="Google Shape;61;p17"/>
          <p:cNvSpPr/>
          <p:nvPr/>
        </p:nvSpPr>
        <p:spPr>
          <a:xfrm>
            <a:off x="7784037" y="-102870"/>
            <a:ext cx="1646100" cy="1645800"/>
          </a:xfrm>
          <a:prstGeom prst="ellipse">
            <a:avLst/>
          </a:prstGeom>
          <a:solidFill>
            <a:srgbClr val="2E997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2" name="Google Shape;62;p17"/>
          <p:cNvSpPr/>
          <p:nvPr/>
        </p:nvSpPr>
        <p:spPr>
          <a:xfrm>
            <a:off x="411491" y="1474470"/>
            <a:ext cx="61725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AE8A"/>
              </a:buClr>
              <a:buSzPts val="1000"/>
              <a:buFont typeface="Calibri"/>
              <a:buNone/>
            </a:pPr>
            <a:r>
              <a:rPr b="1" i="0" lang="en" sz="1000" u="none" cap="none" strike="noStrike">
                <a:solidFill>
                  <a:srgbClr val="3FAE8A"/>
                </a:solidFill>
                <a:latin typeface="Calibri"/>
                <a:ea typeface="Calibri"/>
                <a:cs typeface="Calibri"/>
                <a:sym typeface="Calibri"/>
              </a:rPr>
              <a:t>FINAL PROJECT PRESENTATION</a:t>
            </a:r>
            <a:endParaRPr b="0" i="0" sz="1000" u="none" cap="none" strike="noStrike">
              <a:solidFill>
                <a:schemeClr val="dk1"/>
              </a:solidFill>
              <a:latin typeface="Calibri"/>
              <a:ea typeface="Calibri"/>
              <a:cs typeface="Calibri"/>
              <a:sym typeface="Calibri"/>
            </a:endParaRPr>
          </a:p>
        </p:txBody>
      </p:sp>
      <p:sp>
        <p:nvSpPr>
          <p:cNvPr id="63" name="Google Shape;63;p17"/>
          <p:cNvSpPr/>
          <p:nvPr/>
        </p:nvSpPr>
        <p:spPr>
          <a:xfrm>
            <a:off x="411500" y="1783075"/>
            <a:ext cx="6172500" cy="13029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FFFFFF"/>
              </a:buClr>
              <a:buSzPts val="3200"/>
              <a:buFont typeface="Calibri"/>
              <a:buNone/>
            </a:pPr>
            <a:r>
              <a:rPr b="1" lang="en" sz="3200">
                <a:solidFill>
                  <a:srgbClr val="FFFFFF"/>
                </a:solidFill>
                <a:latin typeface="Calibri"/>
                <a:ea typeface="Calibri"/>
                <a:cs typeface="Calibri"/>
                <a:sym typeface="Calibri"/>
              </a:rPr>
              <a:t>Buying World Cup Wins and Historical Determinism</a:t>
            </a:r>
            <a:endParaRPr b="0" i="0" sz="3200" u="none" cap="none" strike="noStrike">
              <a:solidFill>
                <a:schemeClr val="dk1"/>
              </a:solidFill>
              <a:latin typeface="Calibri"/>
              <a:ea typeface="Calibri"/>
              <a:cs typeface="Calibri"/>
              <a:sym typeface="Calibri"/>
            </a:endParaRPr>
          </a:p>
        </p:txBody>
      </p:sp>
      <p:sp>
        <p:nvSpPr>
          <p:cNvPr id="64" name="Google Shape;64;p17"/>
          <p:cNvSpPr/>
          <p:nvPr/>
        </p:nvSpPr>
        <p:spPr>
          <a:xfrm>
            <a:off x="411491" y="3120390"/>
            <a:ext cx="65838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FB0C9"/>
              </a:buClr>
              <a:buSzPts val="1300"/>
              <a:buFont typeface="Calibri"/>
              <a:buNone/>
            </a:pPr>
            <a:r>
              <a:rPr lang="en">
                <a:solidFill>
                  <a:srgbClr val="9FB0C9"/>
                </a:solidFill>
                <a:latin typeface="Calibri"/>
                <a:ea typeface="Calibri"/>
                <a:cs typeface="Calibri"/>
                <a:sym typeface="Calibri"/>
              </a:rPr>
              <a:t>Predicting FIFA World Cup Group-Stage Advancement</a:t>
            </a:r>
            <a:endParaRPr b="0" i="0" u="none" cap="none" strike="noStrike">
              <a:solidFill>
                <a:schemeClr val="dk1"/>
              </a:solidFill>
              <a:latin typeface="Calibri"/>
              <a:ea typeface="Calibri"/>
              <a:cs typeface="Calibri"/>
              <a:sym typeface="Calibri"/>
            </a:endParaRPr>
          </a:p>
        </p:txBody>
      </p:sp>
      <p:cxnSp>
        <p:nvCxnSpPr>
          <p:cNvPr id="65" name="Google Shape;65;p17"/>
          <p:cNvCxnSpPr/>
          <p:nvPr/>
        </p:nvCxnSpPr>
        <p:spPr>
          <a:xfrm>
            <a:off x="411491" y="4354830"/>
            <a:ext cx="1371600" cy="0"/>
          </a:xfrm>
          <a:prstGeom prst="straightConnector1">
            <a:avLst/>
          </a:prstGeom>
          <a:noFill/>
          <a:ln cap="flat" cmpd="sng" w="12700">
            <a:solidFill>
              <a:srgbClr val="34456E"/>
            </a:solidFill>
            <a:prstDash val="solid"/>
            <a:round/>
            <a:headEnd len="sm" w="sm" type="none"/>
            <a:tailEnd len="sm" w="sm" type="none"/>
          </a:ln>
        </p:spPr>
      </p:cxnSp>
      <p:sp>
        <p:nvSpPr>
          <p:cNvPr id="66" name="Google Shape;66;p17"/>
          <p:cNvSpPr/>
          <p:nvPr/>
        </p:nvSpPr>
        <p:spPr>
          <a:xfrm>
            <a:off x="411491" y="4457700"/>
            <a:ext cx="4114800" cy="24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Jeremy Shiu  &amp;  Rachel Nguyen</a:t>
            </a:r>
            <a:endParaRPr b="0" i="0" sz="1000" u="none" cap="none" strike="noStrike">
              <a:solidFill>
                <a:schemeClr val="dk1"/>
              </a:solidFill>
              <a:latin typeface="Calibri"/>
              <a:ea typeface="Calibri"/>
              <a:cs typeface="Calibri"/>
              <a:sym typeface="Calibri"/>
            </a:endParaRPr>
          </a:p>
        </p:txBody>
      </p:sp>
      <p:sp>
        <p:nvSpPr>
          <p:cNvPr id="67" name="Google Shape;67;p17"/>
          <p:cNvSpPr/>
          <p:nvPr/>
        </p:nvSpPr>
        <p:spPr>
          <a:xfrm>
            <a:off x="411491" y="4697730"/>
            <a:ext cx="54864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FB0C9"/>
              </a:buClr>
              <a:buSzPts val="800"/>
              <a:buFont typeface="Calibri"/>
              <a:buNone/>
            </a:pPr>
            <a:r>
              <a:rPr b="0" i="0" lang="en" sz="800" u="none" cap="none" strike="noStrike">
                <a:solidFill>
                  <a:srgbClr val="9FB0C9"/>
                </a:solidFill>
                <a:latin typeface="Calibri"/>
                <a:ea typeface="Calibri"/>
                <a:cs typeface="Calibri"/>
                <a:sym typeface="Calibri"/>
              </a:rPr>
              <a:t>STAT 418 · Tools in Data Science · UCLA Summer 2026 · July 2026</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03B"/>
        </a:solidFill>
      </p:bgPr>
    </p:bg>
    <p:spTree>
      <p:nvGrpSpPr>
        <p:cNvPr id="71" name="Shape 71"/>
        <p:cNvGrpSpPr/>
        <p:nvPr/>
      </p:nvGrpSpPr>
      <p:grpSpPr>
        <a:xfrm>
          <a:off x="0" y="0"/>
          <a:ext cx="0" cy="0"/>
          <a:chOff x="0" y="0"/>
          <a:chExt cx="0" cy="0"/>
        </a:xfrm>
      </p:grpSpPr>
      <p:sp>
        <p:nvSpPr>
          <p:cNvPr id="72" name="Google Shape;72;p18"/>
          <p:cNvSpPr/>
          <p:nvPr/>
        </p:nvSpPr>
        <p:spPr>
          <a:xfrm>
            <a:off x="411481" y="308610"/>
            <a:ext cx="8320811"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 sz="825" u="none" cap="none" strike="noStrike">
                <a:solidFill>
                  <a:srgbClr val="9FB0C9"/>
                </a:solidFill>
                <a:latin typeface="Calibri"/>
                <a:ea typeface="Calibri"/>
                <a:cs typeface="Calibri"/>
                <a:sym typeface="Calibri"/>
              </a:rPr>
              <a:t>EXECUTIVE SUMMARY</a:t>
            </a:r>
            <a:endParaRPr b="0" i="0" sz="825" u="none" cap="none" strike="noStrike">
              <a:solidFill>
                <a:srgbClr val="000000"/>
              </a:solidFill>
              <a:latin typeface="Calibri"/>
              <a:ea typeface="Calibri"/>
              <a:cs typeface="Calibri"/>
              <a:sym typeface="Calibri"/>
            </a:endParaRPr>
          </a:p>
        </p:txBody>
      </p:sp>
      <p:sp>
        <p:nvSpPr>
          <p:cNvPr id="73" name="Google Shape;73;p18"/>
          <p:cNvSpPr/>
          <p:nvPr/>
        </p:nvSpPr>
        <p:spPr>
          <a:xfrm>
            <a:off x="411481" y="525000"/>
            <a:ext cx="8320811" cy="6300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 sz="2000" u="none" cap="none" strike="noStrike">
                <a:solidFill>
                  <a:srgbClr val="FFFFFF"/>
                </a:solidFill>
                <a:latin typeface="Calibri"/>
                <a:ea typeface="Calibri"/>
                <a:cs typeface="Calibri"/>
                <a:sym typeface="Calibri"/>
              </a:rPr>
              <a:t>Three pre-tournament factors reliably predict who escapes the World Cup group stage</a:t>
            </a:r>
            <a:endParaRPr b="0" i="0" sz="2000" u="none" cap="none" strike="noStrike">
              <a:solidFill>
                <a:srgbClr val="000000"/>
              </a:solidFill>
              <a:latin typeface="Calibri"/>
              <a:ea typeface="Calibri"/>
              <a:cs typeface="Calibri"/>
              <a:sym typeface="Calibri"/>
            </a:endParaRPr>
          </a:p>
        </p:txBody>
      </p:sp>
      <p:sp>
        <p:nvSpPr>
          <p:cNvPr id="74" name="Google Shape;74;p18"/>
          <p:cNvSpPr/>
          <p:nvPr/>
        </p:nvSpPr>
        <p:spPr>
          <a:xfrm>
            <a:off x="411481" y="1200000"/>
            <a:ext cx="8320811" cy="352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 sz="900" u="none" cap="none" strike="noStrike">
                <a:solidFill>
                  <a:srgbClr val="9FB0C9"/>
                </a:solidFill>
                <a:latin typeface="Calibri"/>
                <a:ea typeface="Calibri"/>
                <a:cs typeface="Calibri"/>
                <a:sym typeface="Calibri"/>
              </a:rPr>
              <a:t>A logistic model on 366 men’s World Cup team-campaigns (1970–2022) isolates what separates teams that advance — experience, host status, and regional strength — and it holds up out of sample and on the completed 2026 field.</a:t>
            </a:r>
            <a:endParaRPr b="0" i="0" sz="900" u="none" cap="none" strike="noStrike">
              <a:solidFill>
                <a:srgbClr val="000000"/>
              </a:solidFill>
              <a:latin typeface="Calibri"/>
              <a:ea typeface="Calibri"/>
              <a:cs typeface="Calibri"/>
              <a:sym typeface="Calibri"/>
            </a:endParaRPr>
          </a:p>
        </p:txBody>
      </p:sp>
      <p:sp>
        <p:nvSpPr>
          <p:cNvPr id="75" name="Google Shape;75;p18"/>
          <p:cNvSpPr/>
          <p:nvPr/>
        </p:nvSpPr>
        <p:spPr>
          <a:xfrm>
            <a:off x="411480" y="2670000"/>
            <a:ext cx="2636444" cy="900000"/>
          </a:xfrm>
          <a:prstGeom prst="roundRect">
            <a:avLst>
              <a:gd fmla="val 5000" name="adj"/>
            </a:avLst>
          </a:prstGeom>
          <a:solidFill>
            <a:srgbClr val="13203B"/>
          </a:solidFill>
          <a:ln>
            <a:noFill/>
          </a:ln>
        </p:spPr>
        <p:txBody>
          <a:bodyPr anchorCtr="0" anchor="ctr" bIns="68550" lIns="68550" spcFirstLastPara="1" rIns="68550" wrap="square" tIns="68550">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76" name="Google Shape;76;p18"/>
          <p:cNvSpPr/>
          <p:nvPr/>
        </p:nvSpPr>
        <p:spPr>
          <a:xfrm>
            <a:off x="562356" y="2760000"/>
            <a:ext cx="2334692" cy="35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 sz="1800" u="none" cap="none" strike="noStrike">
                <a:solidFill>
                  <a:srgbClr val="3FAE8A"/>
                </a:solidFill>
                <a:latin typeface="Calibri"/>
                <a:ea typeface="Calibri"/>
                <a:cs typeface="Calibri"/>
                <a:sym typeface="Calibri"/>
              </a:rPr>
              <a:t>366</a:t>
            </a:r>
            <a:endParaRPr b="0" i="0" sz="1800" u="none" cap="none" strike="noStrike">
              <a:solidFill>
                <a:srgbClr val="000000"/>
              </a:solidFill>
              <a:latin typeface="Calibri"/>
              <a:ea typeface="Calibri"/>
              <a:cs typeface="Calibri"/>
              <a:sym typeface="Calibri"/>
            </a:endParaRPr>
          </a:p>
        </p:txBody>
      </p:sp>
      <p:sp>
        <p:nvSpPr>
          <p:cNvPr id="77" name="Google Shape;77;p18"/>
          <p:cNvSpPr/>
          <p:nvPr/>
        </p:nvSpPr>
        <p:spPr>
          <a:xfrm>
            <a:off x="562356" y="3135000"/>
            <a:ext cx="2334692" cy="195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 sz="800" u="none" cap="none" strike="noStrike">
                <a:solidFill>
                  <a:srgbClr val="FFFFFF"/>
                </a:solidFill>
                <a:latin typeface="Calibri"/>
                <a:ea typeface="Calibri"/>
                <a:cs typeface="Calibri"/>
                <a:sym typeface="Calibri"/>
              </a:rPr>
              <a:t>team-campaigns</a:t>
            </a:r>
            <a:endParaRPr b="0" i="0" sz="800" u="none" cap="none" strike="noStrike">
              <a:solidFill>
                <a:srgbClr val="000000"/>
              </a:solidFill>
              <a:latin typeface="Calibri"/>
              <a:ea typeface="Calibri"/>
              <a:cs typeface="Calibri"/>
              <a:sym typeface="Calibri"/>
            </a:endParaRPr>
          </a:p>
        </p:txBody>
      </p:sp>
      <p:sp>
        <p:nvSpPr>
          <p:cNvPr id="78" name="Google Shape;78;p18"/>
          <p:cNvSpPr/>
          <p:nvPr/>
        </p:nvSpPr>
        <p:spPr>
          <a:xfrm>
            <a:off x="562356" y="3330000"/>
            <a:ext cx="2334692" cy="2250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0" i="0" lang="en" sz="700" u="none" cap="none" strike="noStrike">
                <a:solidFill>
                  <a:srgbClr val="9FB0C9"/>
                </a:solidFill>
                <a:latin typeface="Calibri"/>
                <a:ea typeface="Calibri"/>
                <a:cs typeface="Calibri"/>
                <a:sym typeface="Calibri"/>
              </a:rPr>
              <a:t>men’s World Cups, 1970–2022</a:t>
            </a:r>
            <a:endParaRPr b="0" i="0" sz="700" u="none" cap="none" strike="noStrike">
              <a:solidFill>
                <a:srgbClr val="000000"/>
              </a:solidFill>
              <a:latin typeface="Calibri"/>
              <a:ea typeface="Calibri"/>
              <a:cs typeface="Calibri"/>
              <a:sym typeface="Calibri"/>
            </a:endParaRPr>
          </a:p>
        </p:txBody>
      </p:sp>
      <p:sp>
        <p:nvSpPr>
          <p:cNvPr id="79" name="Google Shape;79;p18"/>
          <p:cNvSpPr/>
          <p:nvPr/>
        </p:nvSpPr>
        <p:spPr>
          <a:xfrm>
            <a:off x="3253663" y="2670000"/>
            <a:ext cx="2636444" cy="900000"/>
          </a:xfrm>
          <a:prstGeom prst="roundRect">
            <a:avLst>
              <a:gd fmla="val 5000" name="adj"/>
            </a:avLst>
          </a:prstGeom>
          <a:solidFill>
            <a:srgbClr val="13203B"/>
          </a:solidFill>
          <a:ln>
            <a:noFill/>
          </a:ln>
        </p:spPr>
        <p:txBody>
          <a:bodyPr anchorCtr="0" anchor="ctr" bIns="68550" lIns="68550" spcFirstLastPara="1" rIns="68550" wrap="square" tIns="68550">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80" name="Google Shape;80;p18"/>
          <p:cNvSpPr/>
          <p:nvPr/>
        </p:nvSpPr>
        <p:spPr>
          <a:xfrm>
            <a:off x="3404539" y="2760000"/>
            <a:ext cx="2334692" cy="35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 sz="1800" u="none" cap="none" strike="noStrike">
                <a:solidFill>
                  <a:srgbClr val="3FAE8A"/>
                </a:solidFill>
                <a:latin typeface="Calibri"/>
                <a:ea typeface="Calibri"/>
                <a:cs typeface="Calibri"/>
                <a:sym typeface="Calibri"/>
              </a:rPr>
              <a:t>65% · 0.69</a:t>
            </a:r>
            <a:endParaRPr b="0" i="0" sz="1800" u="none" cap="none" strike="noStrike">
              <a:solidFill>
                <a:srgbClr val="000000"/>
              </a:solidFill>
              <a:latin typeface="Calibri"/>
              <a:ea typeface="Calibri"/>
              <a:cs typeface="Calibri"/>
              <a:sym typeface="Calibri"/>
            </a:endParaRPr>
          </a:p>
        </p:txBody>
      </p:sp>
      <p:sp>
        <p:nvSpPr>
          <p:cNvPr id="81" name="Google Shape;81;p18"/>
          <p:cNvSpPr/>
          <p:nvPr/>
        </p:nvSpPr>
        <p:spPr>
          <a:xfrm>
            <a:off x="3404539" y="3135000"/>
            <a:ext cx="2334692" cy="195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 sz="800" u="none" cap="none" strike="noStrike">
                <a:solidFill>
                  <a:srgbClr val="FFFFFF"/>
                </a:solidFill>
                <a:latin typeface="Calibri"/>
                <a:ea typeface="Calibri"/>
                <a:cs typeface="Calibri"/>
                <a:sym typeface="Calibri"/>
              </a:rPr>
              <a:t>accuracy · AUC (out-of-sample)</a:t>
            </a:r>
            <a:endParaRPr b="0" i="0" sz="800" u="none" cap="none" strike="noStrike">
              <a:solidFill>
                <a:srgbClr val="000000"/>
              </a:solidFill>
              <a:latin typeface="Calibri"/>
              <a:ea typeface="Calibri"/>
              <a:cs typeface="Calibri"/>
              <a:sym typeface="Calibri"/>
            </a:endParaRPr>
          </a:p>
        </p:txBody>
      </p:sp>
      <p:sp>
        <p:nvSpPr>
          <p:cNvPr id="82" name="Google Shape;82;p18"/>
          <p:cNvSpPr/>
          <p:nvPr/>
        </p:nvSpPr>
        <p:spPr>
          <a:xfrm>
            <a:off x="3404539" y="3330000"/>
            <a:ext cx="2334692" cy="2250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0" i="0" lang="en" sz="700" u="none" cap="none" strike="noStrike">
                <a:solidFill>
                  <a:srgbClr val="9FB0C9"/>
                </a:solidFill>
                <a:latin typeface="Calibri"/>
                <a:ea typeface="Calibri"/>
                <a:cs typeface="Calibri"/>
                <a:sym typeface="Calibri"/>
              </a:rPr>
              <a:t>trained 1970–2006, tested 2010–2022</a:t>
            </a:r>
            <a:endParaRPr b="0" i="0" sz="700" u="none" cap="none" strike="noStrike">
              <a:solidFill>
                <a:srgbClr val="000000"/>
              </a:solidFill>
              <a:latin typeface="Calibri"/>
              <a:ea typeface="Calibri"/>
              <a:cs typeface="Calibri"/>
              <a:sym typeface="Calibri"/>
            </a:endParaRPr>
          </a:p>
        </p:txBody>
      </p:sp>
      <p:sp>
        <p:nvSpPr>
          <p:cNvPr id="83" name="Google Shape;83;p18"/>
          <p:cNvSpPr/>
          <p:nvPr/>
        </p:nvSpPr>
        <p:spPr>
          <a:xfrm>
            <a:off x="6095848" y="2670000"/>
            <a:ext cx="2636444" cy="900000"/>
          </a:xfrm>
          <a:prstGeom prst="roundRect">
            <a:avLst>
              <a:gd fmla="val 5000" name="adj"/>
            </a:avLst>
          </a:prstGeom>
          <a:solidFill>
            <a:srgbClr val="13203B"/>
          </a:solidFill>
          <a:ln>
            <a:noFill/>
          </a:ln>
        </p:spPr>
        <p:txBody>
          <a:bodyPr anchorCtr="0" anchor="ctr" bIns="68550" lIns="68550" spcFirstLastPara="1" rIns="68550" wrap="square" tIns="68550">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84" name="Google Shape;84;p18"/>
          <p:cNvSpPr/>
          <p:nvPr/>
        </p:nvSpPr>
        <p:spPr>
          <a:xfrm>
            <a:off x="6246724" y="2760000"/>
            <a:ext cx="2334692" cy="35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 sz="1800" u="none" cap="none" strike="noStrike">
                <a:solidFill>
                  <a:srgbClr val="3FAE8A"/>
                </a:solidFill>
                <a:latin typeface="Calibri"/>
                <a:ea typeface="Calibri"/>
                <a:cs typeface="Calibri"/>
                <a:sym typeface="Calibri"/>
              </a:rPr>
              <a:t>0.757</a:t>
            </a:r>
            <a:endParaRPr b="0" i="0" sz="1800" u="none" cap="none" strike="noStrike">
              <a:solidFill>
                <a:srgbClr val="000000"/>
              </a:solidFill>
              <a:latin typeface="Calibri"/>
              <a:ea typeface="Calibri"/>
              <a:cs typeface="Calibri"/>
              <a:sym typeface="Calibri"/>
            </a:endParaRPr>
          </a:p>
        </p:txBody>
      </p:sp>
      <p:sp>
        <p:nvSpPr>
          <p:cNvPr id="85" name="Google Shape;85;p18"/>
          <p:cNvSpPr/>
          <p:nvPr/>
        </p:nvSpPr>
        <p:spPr>
          <a:xfrm>
            <a:off x="6246724" y="3135000"/>
            <a:ext cx="2334692" cy="195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 sz="800" u="none" cap="none" strike="noStrike">
                <a:solidFill>
                  <a:srgbClr val="FFFFFF"/>
                </a:solidFill>
                <a:latin typeface="Calibri"/>
                <a:ea typeface="Calibri"/>
                <a:cs typeface="Calibri"/>
                <a:sym typeface="Calibri"/>
              </a:rPr>
              <a:t>forward-test AUC</a:t>
            </a:r>
            <a:endParaRPr b="0" i="0" sz="800" u="none" cap="none" strike="noStrike">
              <a:solidFill>
                <a:srgbClr val="000000"/>
              </a:solidFill>
              <a:latin typeface="Calibri"/>
              <a:ea typeface="Calibri"/>
              <a:cs typeface="Calibri"/>
              <a:sym typeface="Calibri"/>
            </a:endParaRPr>
          </a:p>
        </p:txBody>
      </p:sp>
      <p:sp>
        <p:nvSpPr>
          <p:cNvPr id="86" name="Google Shape;86;p18"/>
          <p:cNvSpPr/>
          <p:nvPr/>
        </p:nvSpPr>
        <p:spPr>
          <a:xfrm>
            <a:off x="6246724" y="3330000"/>
            <a:ext cx="2334692" cy="2250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0" i="0" lang="en" sz="700" u="none" cap="none" strike="noStrike">
                <a:solidFill>
                  <a:srgbClr val="9FB0C9"/>
                </a:solidFill>
                <a:latin typeface="Calibri"/>
                <a:ea typeface="Calibri"/>
                <a:cs typeface="Calibri"/>
                <a:sym typeface="Calibri"/>
              </a:rPr>
              <a:t>applied to the completed 2026 field</a:t>
            </a:r>
            <a:endParaRPr b="0" i="0" sz="700" u="none" cap="none" strike="noStrike">
              <a:solidFill>
                <a:srgbClr val="000000"/>
              </a:solidFill>
              <a:latin typeface="Calibri"/>
              <a:ea typeface="Calibri"/>
              <a:cs typeface="Calibri"/>
              <a:sym typeface="Calibri"/>
            </a:endParaRPr>
          </a:p>
        </p:txBody>
      </p:sp>
      <p:sp>
        <p:nvSpPr>
          <p:cNvPr id="87" name="Google Shape;87;p18"/>
          <p:cNvSpPr/>
          <p:nvPr/>
        </p:nvSpPr>
        <p:spPr>
          <a:xfrm>
            <a:off x="411480" y="1620000"/>
            <a:ext cx="2636444" cy="937500"/>
          </a:xfrm>
          <a:prstGeom prst="roundRect">
            <a:avLst>
              <a:gd fmla="val 5000" name="adj"/>
            </a:avLst>
          </a:prstGeom>
          <a:solidFill>
            <a:srgbClr val="1E3158"/>
          </a:solidFill>
          <a:ln>
            <a:noFill/>
          </a:ln>
        </p:spPr>
        <p:txBody>
          <a:bodyPr anchorCtr="0" anchor="ctr" bIns="68550" lIns="68550" spcFirstLastPara="1" rIns="68550" wrap="square" tIns="68550">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88" name="Google Shape;88;p18"/>
          <p:cNvSpPr/>
          <p:nvPr/>
        </p:nvSpPr>
        <p:spPr>
          <a:xfrm>
            <a:off x="411480" y="1620000"/>
            <a:ext cx="54864" cy="937500"/>
          </a:xfrm>
          <a:prstGeom prst="rect">
            <a:avLst/>
          </a:prstGeom>
          <a:solidFill>
            <a:srgbClr val="3FAE8A"/>
          </a:solidFill>
          <a:ln>
            <a:noFill/>
          </a:ln>
        </p:spPr>
        <p:txBody>
          <a:bodyPr anchorCtr="0" anchor="ctr" bIns="68550" lIns="68550" spcFirstLastPara="1" rIns="68550" wrap="square" tIns="68550">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89" name="Google Shape;89;p18"/>
          <p:cNvSpPr/>
          <p:nvPr/>
        </p:nvSpPr>
        <p:spPr>
          <a:xfrm>
            <a:off x="651510" y="1732500"/>
            <a:ext cx="2245538" cy="3525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 sz="1100" u="none" cap="none" strike="noStrike">
                <a:solidFill>
                  <a:srgbClr val="3FAE8A"/>
                </a:solidFill>
                <a:latin typeface="Calibri"/>
                <a:ea typeface="Calibri"/>
                <a:cs typeface="Calibri"/>
                <a:sym typeface="Calibri"/>
              </a:rPr>
              <a:t>Hosting — largest effect</a:t>
            </a:r>
            <a:endParaRPr b="0" i="0" sz="1100" u="none" cap="none" strike="noStrike">
              <a:solidFill>
                <a:srgbClr val="000000"/>
              </a:solidFill>
              <a:latin typeface="Calibri"/>
              <a:ea typeface="Calibri"/>
              <a:cs typeface="Calibri"/>
              <a:sym typeface="Calibri"/>
            </a:endParaRPr>
          </a:p>
        </p:txBody>
      </p:sp>
      <p:sp>
        <p:nvSpPr>
          <p:cNvPr id="90" name="Google Shape;90;p18"/>
          <p:cNvSpPr/>
          <p:nvPr/>
        </p:nvSpPr>
        <p:spPr>
          <a:xfrm>
            <a:off x="651510" y="2085000"/>
            <a:ext cx="2245538" cy="450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 sz="863" u="none" cap="none" strike="noStrike">
                <a:solidFill>
                  <a:srgbClr val="FFFFFF"/>
                </a:solidFill>
                <a:latin typeface="Calibri"/>
                <a:ea typeface="Calibri"/>
                <a:cs typeface="Calibri"/>
                <a:sym typeface="Calibri"/>
              </a:rPr>
              <a:t>Host nations advance at roughly eight times the odds of a comparable non-host (p ≈ .002).</a:t>
            </a:r>
            <a:endParaRPr b="0" i="0" sz="863" u="none" cap="none" strike="noStrike">
              <a:solidFill>
                <a:srgbClr val="000000"/>
              </a:solidFill>
              <a:latin typeface="Calibri"/>
              <a:ea typeface="Calibri"/>
              <a:cs typeface="Calibri"/>
              <a:sym typeface="Calibri"/>
            </a:endParaRPr>
          </a:p>
        </p:txBody>
      </p:sp>
      <p:sp>
        <p:nvSpPr>
          <p:cNvPr id="91" name="Google Shape;91;p18"/>
          <p:cNvSpPr/>
          <p:nvPr/>
        </p:nvSpPr>
        <p:spPr>
          <a:xfrm>
            <a:off x="3253663" y="1620000"/>
            <a:ext cx="2636444" cy="937500"/>
          </a:xfrm>
          <a:prstGeom prst="roundRect">
            <a:avLst>
              <a:gd fmla="val 5000" name="adj"/>
            </a:avLst>
          </a:prstGeom>
          <a:solidFill>
            <a:srgbClr val="1E3158"/>
          </a:solidFill>
          <a:ln>
            <a:noFill/>
          </a:ln>
        </p:spPr>
        <p:txBody>
          <a:bodyPr anchorCtr="0" anchor="ctr" bIns="68550" lIns="68550" spcFirstLastPara="1" rIns="68550" wrap="square" tIns="68550">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92" name="Google Shape;92;p18"/>
          <p:cNvSpPr/>
          <p:nvPr/>
        </p:nvSpPr>
        <p:spPr>
          <a:xfrm>
            <a:off x="3253664" y="1620000"/>
            <a:ext cx="54864" cy="937500"/>
          </a:xfrm>
          <a:prstGeom prst="rect">
            <a:avLst/>
          </a:prstGeom>
          <a:solidFill>
            <a:srgbClr val="3FAE8A"/>
          </a:solidFill>
          <a:ln>
            <a:noFill/>
          </a:ln>
        </p:spPr>
        <p:txBody>
          <a:bodyPr anchorCtr="0" anchor="ctr" bIns="68550" lIns="68550" spcFirstLastPara="1" rIns="68550" wrap="square" tIns="68550">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93" name="Google Shape;93;p18"/>
          <p:cNvSpPr/>
          <p:nvPr/>
        </p:nvSpPr>
        <p:spPr>
          <a:xfrm>
            <a:off x="3493693" y="1732500"/>
            <a:ext cx="2245538" cy="3525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 sz="1100" u="none" cap="none" strike="noStrike">
                <a:solidFill>
                  <a:srgbClr val="3FAE8A"/>
                </a:solidFill>
                <a:latin typeface="Calibri"/>
                <a:ea typeface="Calibri"/>
                <a:cs typeface="Calibri"/>
                <a:sym typeface="Calibri"/>
              </a:rPr>
              <a:t>Experience compounds</a:t>
            </a:r>
            <a:endParaRPr b="0" i="0" sz="1100" u="none" cap="none" strike="noStrike">
              <a:solidFill>
                <a:srgbClr val="000000"/>
              </a:solidFill>
              <a:latin typeface="Calibri"/>
              <a:ea typeface="Calibri"/>
              <a:cs typeface="Calibri"/>
              <a:sym typeface="Calibri"/>
            </a:endParaRPr>
          </a:p>
        </p:txBody>
      </p:sp>
      <p:sp>
        <p:nvSpPr>
          <p:cNvPr id="94" name="Google Shape;94;p18"/>
          <p:cNvSpPr/>
          <p:nvPr/>
        </p:nvSpPr>
        <p:spPr>
          <a:xfrm>
            <a:off x="3493693" y="2085000"/>
            <a:ext cx="2245538" cy="450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 sz="863" u="none" cap="none" strike="noStrike">
                <a:solidFill>
                  <a:srgbClr val="FFFFFF"/>
                </a:solidFill>
                <a:latin typeface="Calibri"/>
                <a:ea typeface="Calibri"/>
                <a:cs typeface="Calibri"/>
                <a:sym typeface="Calibri"/>
              </a:rPr>
              <a:t>Each prior World Cup appearance raises a team’s odds of advancing by about 22% (p &lt; .001).</a:t>
            </a:r>
            <a:endParaRPr b="0" i="0" sz="863" u="none" cap="none" strike="noStrike">
              <a:solidFill>
                <a:srgbClr val="000000"/>
              </a:solidFill>
              <a:latin typeface="Calibri"/>
              <a:ea typeface="Calibri"/>
              <a:cs typeface="Calibri"/>
              <a:sym typeface="Calibri"/>
            </a:endParaRPr>
          </a:p>
        </p:txBody>
      </p:sp>
      <p:sp>
        <p:nvSpPr>
          <p:cNvPr id="95" name="Google Shape;95;p18"/>
          <p:cNvSpPr/>
          <p:nvPr/>
        </p:nvSpPr>
        <p:spPr>
          <a:xfrm>
            <a:off x="6095848" y="1620000"/>
            <a:ext cx="2636444" cy="937500"/>
          </a:xfrm>
          <a:prstGeom prst="roundRect">
            <a:avLst>
              <a:gd fmla="val 5000" name="adj"/>
            </a:avLst>
          </a:prstGeom>
          <a:solidFill>
            <a:srgbClr val="1E3158"/>
          </a:solidFill>
          <a:ln>
            <a:noFill/>
          </a:ln>
        </p:spPr>
        <p:txBody>
          <a:bodyPr anchorCtr="0" anchor="ctr" bIns="68550" lIns="68550" spcFirstLastPara="1" rIns="68550" wrap="square" tIns="68550">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96" name="Google Shape;96;p18"/>
          <p:cNvSpPr/>
          <p:nvPr/>
        </p:nvSpPr>
        <p:spPr>
          <a:xfrm>
            <a:off x="6095847" y="1620000"/>
            <a:ext cx="54864" cy="937500"/>
          </a:xfrm>
          <a:prstGeom prst="rect">
            <a:avLst/>
          </a:prstGeom>
          <a:solidFill>
            <a:srgbClr val="3FAE8A"/>
          </a:solidFill>
          <a:ln>
            <a:noFill/>
          </a:ln>
        </p:spPr>
        <p:txBody>
          <a:bodyPr anchorCtr="0" anchor="ctr" bIns="68550" lIns="68550" spcFirstLastPara="1" rIns="68550" wrap="square" tIns="68550">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97" name="Google Shape;97;p18"/>
          <p:cNvSpPr/>
          <p:nvPr/>
        </p:nvSpPr>
        <p:spPr>
          <a:xfrm>
            <a:off x="6335878" y="1732500"/>
            <a:ext cx="2245538" cy="3525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 sz="1100" u="none" cap="none" strike="noStrike">
                <a:solidFill>
                  <a:srgbClr val="3FAE8A"/>
                </a:solidFill>
                <a:latin typeface="Calibri"/>
                <a:ea typeface="Calibri"/>
                <a:cs typeface="Calibri"/>
                <a:sym typeface="Calibri"/>
              </a:rPr>
              <a:t>Regional strength persists</a:t>
            </a:r>
            <a:endParaRPr b="0" i="0" sz="1100" u="none" cap="none" strike="noStrike">
              <a:solidFill>
                <a:srgbClr val="000000"/>
              </a:solidFill>
              <a:latin typeface="Calibri"/>
              <a:ea typeface="Calibri"/>
              <a:cs typeface="Calibri"/>
              <a:sym typeface="Calibri"/>
            </a:endParaRPr>
          </a:p>
        </p:txBody>
      </p:sp>
      <p:sp>
        <p:nvSpPr>
          <p:cNvPr id="98" name="Google Shape;98;p18"/>
          <p:cNvSpPr/>
          <p:nvPr/>
        </p:nvSpPr>
        <p:spPr>
          <a:xfrm>
            <a:off x="6335878" y="2055000"/>
            <a:ext cx="2245500" cy="450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 sz="863" u="none" cap="none" strike="noStrike">
                <a:solidFill>
                  <a:srgbClr val="FFFFFF"/>
                </a:solidFill>
                <a:latin typeface="Calibri"/>
                <a:ea typeface="Calibri"/>
                <a:cs typeface="Calibri"/>
                <a:sym typeface="Calibri"/>
              </a:rPr>
              <a:t>UEFA and CONMEBOL lead; AFC, CAF, and CONCACAF trail even after controlling for other factors.</a:t>
            </a:r>
            <a:endParaRPr b="0" i="0" sz="863" u="none" cap="none" strike="noStrike">
              <a:solidFill>
                <a:srgbClr val="000000"/>
              </a:solidFill>
              <a:latin typeface="Calibri"/>
              <a:ea typeface="Calibri"/>
              <a:cs typeface="Calibri"/>
              <a:sym typeface="Calibri"/>
            </a:endParaRPr>
          </a:p>
        </p:txBody>
      </p:sp>
      <p:sp>
        <p:nvSpPr>
          <p:cNvPr id="99" name="Google Shape;99;p18"/>
          <p:cNvSpPr/>
          <p:nvPr/>
        </p:nvSpPr>
        <p:spPr>
          <a:xfrm>
            <a:off x="411481" y="3735000"/>
            <a:ext cx="8320811" cy="585000"/>
          </a:xfrm>
          <a:prstGeom prst="roundRect">
            <a:avLst>
              <a:gd fmla="val 5000" name="adj"/>
            </a:avLst>
          </a:prstGeom>
          <a:solidFill>
            <a:srgbClr val="13203B"/>
          </a:solidFill>
          <a:ln>
            <a:noFill/>
          </a:ln>
        </p:spPr>
        <p:txBody>
          <a:bodyPr anchorCtr="0" anchor="ctr" bIns="68550" lIns="68550" spcFirstLastPara="1" rIns="68550" wrap="square" tIns="68550">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100" name="Google Shape;100;p18"/>
          <p:cNvSpPr/>
          <p:nvPr/>
        </p:nvSpPr>
        <p:spPr>
          <a:xfrm>
            <a:off x="576481" y="3735000"/>
            <a:ext cx="7990811" cy="5850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 sz="900" u="none" cap="none" strike="noStrike">
                <a:solidFill>
                  <a:srgbClr val="3FAE8A"/>
                </a:solidFill>
                <a:latin typeface="Calibri"/>
                <a:ea typeface="Calibri"/>
                <a:cs typeface="Calibri"/>
                <a:sym typeface="Calibri"/>
              </a:rPr>
              <a:t>What doesn’t move the needle:  </a:t>
            </a:r>
            <a:r>
              <a:rPr b="0" i="0" lang="en" sz="900" u="none" cap="none" strike="noStrike">
                <a:solidFill>
                  <a:srgbClr val="FFFFFF"/>
                </a:solidFill>
                <a:latin typeface="Calibri"/>
                <a:ea typeface="Calibri"/>
                <a:cs typeface="Calibri"/>
                <a:sym typeface="Calibri"/>
              </a:rPr>
              <a:t>squad age, the forward/defender mix, and coach nationality show no detectable effect once experience, host status, and region are accounted for.</a:t>
            </a:r>
            <a:endParaRPr b="0" i="0" sz="900" u="none" cap="none" strike="noStrike">
              <a:solidFill>
                <a:srgbClr val="000000"/>
              </a:solidFill>
              <a:latin typeface="Calibri"/>
              <a:ea typeface="Calibri"/>
              <a:cs typeface="Calibri"/>
              <a:sym typeface="Calibri"/>
            </a:endParaRPr>
          </a:p>
        </p:txBody>
      </p:sp>
      <p:sp>
        <p:nvSpPr>
          <p:cNvPr id="101" name="Google Shape;101;p18"/>
          <p:cNvSpPr/>
          <p:nvPr/>
        </p:nvSpPr>
        <p:spPr>
          <a:xfrm>
            <a:off x="411480" y="4800600"/>
            <a:ext cx="4800600"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 sz="675" u="none" cap="none" strike="noStrike">
                <a:solidFill>
                  <a:srgbClr val="34456E"/>
                </a:solidFill>
                <a:latin typeface="Calibri"/>
                <a:ea typeface="Calibri"/>
                <a:cs typeface="Calibri"/>
                <a:sym typeface="Calibri"/>
              </a:rPr>
              <a:t>Shiu &amp; Nguyen  |  STAT 418, Tools in Data Science  |  UCLA Summer 2026</a:t>
            </a:r>
            <a:endParaRPr b="0" i="0" sz="675" u="none" cap="none" strike="noStrike">
              <a:solidFill>
                <a:srgbClr val="000000"/>
              </a:solidFill>
              <a:latin typeface="Calibri"/>
              <a:ea typeface="Calibri"/>
              <a:cs typeface="Calibri"/>
              <a:sym typeface="Calibri"/>
            </a:endParaRPr>
          </a:p>
        </p:txBody>
      </p:sp>
      <p:sp>
        <p:nvSpPr>
          <p:cNvPr id="102" name="Google Shape;102;p18"/>
          <p:cNvSpPr/>
          <p:nvPr/>
        </p:nvSpPr>
        <p:spPr>
          <a:xfrm>
            <a:off x="8457971" y="4800600"/>
            <a:ext cx="411480" cy="2057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 sz="750" u="none" cap="none" strike="noStrike">
                <a:solidFill>
                  <a:srgbClr val="8592AA"/>
                </a:solidFill>
                <a:latin typeface="Calibri"/>
                <a:ea typeface="Calibri"/>
                <a:cs typeface="Calibri"/>
                <a:sym typeface="Calibri"/>
              </a:rPr>
              <a:t>2</a:t>
            </a:r>
            <a:endParaRPr b="0" i="0" sz="750" u="none" cap="none" strike="noStrike">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03B"/>
        </a:solidFill>
      </p:bgPr>
    </p:bg>
    <p:spTree>
      <p:nvGrpSpPr>
        <p:cNvPr id="107" name="Shape 107"/>
        <p:cNvGrpSpPr/>
        <p:nvPr/>
      </p:nvGrpSpPr>
      <p:grpSpPr>
        <a:xfrm>
          <a:off x="0" y="0"/>
          <a:ext cx="0" cy="0"/>
          <a:chOff x="0" y="0"/>
          <a:chExt cx="0" cy="0"/>
        </a:xfrm>
      </p:grpSpPr>
      <p:sp>
        <p:nvSpPr>
          <p:cNvPr id="108" name="Google Shape;108;p19"/>
          <p:cNvSpPr/>
          <p:nvPr/>
        </p:nvSpPr>
        <p:spPr>
          <a:xfrm>
            <a:off x="411491" y="463125"/>
            <a:ext cx="8320800" cy="7545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FFFFFF"/>
              </a:buClr>
              <a:buSzPts val="2000"/>
              <a:buFont typeface="Calibri"/>
              <a:buNone/>
            </a:pPr>
            <a:r>
              <a:rPr b="1" i="0" lang="en" sz="2000" u="none" cap="none" strike="noStrike">
                <a:solidFill>
                  <a:srgbClr val="FFFFFF"/>
                </a:solidFill>
                <a:latin typeface="Calibri"/>
                <a:ea typeface="Calibri"/>
                <a:cs typeface="Calibri"/>
                <a:sym typeface="Calibri"/>
              </a:rPr>
              <a:t>High financial and viewership stakes make outcome forecasting a high-value analytical problem</a:t>
            </a:r>
            <a:endParaRPr b="0" i="0" sz="2000" u="none" cap="none" strike="noStrike">
              <a:solidFill>
                <a:schemeClr val="dk1"/>
              </a:solidFill>
              <a:latin typeface="Calibri"/>
              <a:ea typeface="Calibri"/>
              <a:cs typeface="Calibri"/>
              <a:sym typeface="Calibri"/>
            </a:endParaRPr>
          </a:p>
        </p:txBody>
      </p:sp>
      <p:cxnSp>
        <p:nvCxnSpPr>
          <p:cNvPr id="109" name="Google Shape;109;p19"/>
          <p:cNvCxnSpPr/>
          <p:nvPr/>
        </p:nvCxnSpPr>
        <p:spPr>
          <a:xfrm>
            <a:off x="411491" y="1243584"/>
            <a:ext cx="8320800" cy="0"/>
          </a:xfrm>
          <a:prstGeom prst="straightConnector1">
            <a:avLst/>
          </a:prstGeom>
          <a:noFill/>
          <a:ln cap="flat" cmpd="sng" w="9525">
            <a:solidFill>
              <a:srgbClr val="34456E"/>
            </a:solidFill>
            <a:prstDash val="solid"/>
            <a:round/>
            <a:headEnd len="sm" w="sm" type="none"/>
            <a:tailEnd len="sm" w="sm" type="none"/>
          </a:ln>
        </p:spPr>
      </p:cxnSp>
      <p:sp>
        <p:nvSpPr>
          <p:cNvPr id="110" name="Google Shape;110;p19"/>
          <p:cNvSpPr/>
          <p:nvPr/>
        </p:nvSpPr>
        <p:spPr>
          <a:xfrm>
            <a:off x="411491" y="1474470"/>
            <a:ext cx="2636700" cy="2846100"/>
          </a:xfrm>
          <a:prstGeom prst="roundRect">
            <a:avLst>
              <a:gd fmla="val 2081" name="adj"/>
            </a:avLst>
          </a:pr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1" name="Google Shape;111;p19"/>
          <p:cNvSpPr/>
          <p:nvPr/>
        </p:nvSpPr>
        <p:spPr>
          <a:xfrm>
            <a:off x="548655" y="1851660"/>
            <a:ext cx="2362200" cy="58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9973"/>
              </a:buClr>
              <a:buSzPts val="2900"/>
              <a:buFont typeface="Calibri"/>
              <a:buNone/>
            </a:pPr>
            <a:r>
              <a:rPr b="1" i="0" lang="en" sz="2900" u="none" cap="none" strike="noStrike">
                <a:solidFill>
                  <a:srgbClr val="2E9973"/>
                </a:solidFill>
                <a:latin typeface="Calibri"/>
                <a:ea typeface="Calibri"/>
                <a:cs typeface="Calibri"/>
                <a:sym typeface="Calibri"/>
              </a:rPr>
              <a:t>$7.6B</a:t>
            </a:r>
            <a:endParaRPr b="0" i="0" sz="2900" u="none" cap="none" strike="noStrike">
              <a:solidFill>
                <a:schemeClr val="dk1"/>
              </a:solidFill>
              <a:latin typeface="Calibri"/>
              <a:ea typeface="Calibri"/>
              <a:cs typeface="Calibri"/>
              <a:sym typeface="Calibri"/>
            </a:endParaRPr>
          </a:p>
        </p:txBody>
      </p:sp>
      <p:sp>
        <p:nvSpPr>
          <p:cNvPr id="112" name="Google Shape;112;p19"/>
          <p:cNvSpPr/>
          <p:nvPr/>
        </p:nvSpPr>
        <p:spPr>
          <a:xfrm>
            <a:off x="548655" y="2468880"/>
            <a:ext cx="2362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203B"/>
              </a:buClr>
              <a:buSzPts val="1100"/>
              <a:buFont typeface="Calibri"/>
              <a:buNone/>
            </a:pPr>
            <a:r>
              <a:rPr b="1" i="0" lang="en" sz="1100" u="none" cap="none" strike="noStrike">
                <a:solidFill>
                  <a:srgbClr val="13203B"/>
                </a:solidFill>
                <a:latin typeface="Calibri"/>
                <a:ea typeface="Calibri"/>
                <a:cs typeface="Calibri"/>
                <a:sym typeface="Calibri"/>
              </a:rPr>
              <a:t>Revenue Generated</a:t>
            </a:r>
            <a:endParaRPr b="0" i="0" sz="1100" u="none" cap="none" strike="noStrike">
              <a:solidFill>
                <a:schemeClr val="dk1"/>
              </a:solidFill>
              <a:latin typeface="Calibri"/>
              <a:ea typeface="Calibri"/>
              <a:cs typeface="Calibri"/>
              <a:sym typeface="Calibri"/>
            </a:endParaRPr>
          </a:p>
        </p:txBody>
      </p:sp>
      <p:sp>
        <p:nvSpPr>
          <p:cNvPr id="113" name="Google Shape;113;p19"/>
          <p:cNvSpPr/>
          <p:nvPr/>
        </p:nvSpPr>
        <p:spPr>
          <a:xfrm>
            <a:off x="548655" y="2722626"/>
            <a:ext cx="2362200" cy="24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592AA"/>
              </a:buClr>
              <a:buSzPts val="800"/>
              <a:buFont typeface="Calibri"/>
              <a:buNone/>
            </a:pPr>
            <a:r>
              <a:rPr b="0" i="0" lang="en" sz="800" u="none" cap="none" strike="noStrike">
                <a:solidFill>
                  <a:srgbClr val="8592AA"/>
                </a:solidFill>
                <a:latin typeface="Calibri"/>
                <a:ea typeface="Calibri"/>
                <a:cs typeface="Calibri"/>
                <a:sym typeface="Calibri"/>
              </a:rPr>
              <a:t>During the '22 World Cup</a:t>
            </a:r>
            <a:endParaRPr b="0" i="0" sz="800" u="none" cap="none" strike="noStrike">
              <a:solidFill>
                <a:schemeClr val="dk1"/>
              </a:solidFill>
              <a:latin typeface="Calibri"/>
              <a:ea typeface="Calibri"/>
              <a:cs typeface="Calibri"/>
              <a:sym typeface="Calibri"/>
            </a:endParaRPr>
          </a:p>
        </p:txBody>
      </p:sp>
      <p:sp>
        <p:nvSpPr>
          <p:cNvPr id="114" name="Google Shape;114;p19"/>
          <p:cNvSpPr/>
          <p:nvPr/>
        </p:nvSpPr>
        <p:spPr>
          <a:xfrm>
            <a:off x="1421130" y="3223260"/>
            <a:ext cx="617100" cy="617100"/>
          </a:xfrm>
          <a:prstGeom prst="ellipse">
            <a:avLst/>
          </a:prstGeom>
          <a:solidFill>
            <a:srgbClr val="2E997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5" name="Google Shape;115;p19"/>
          <p:cNvSpPr/>
          <p:nvPr/>
        </p:nvSpPr>
        <p:spPr>
          <a:xfrm>
            <a:off x="1585726" y="3483864"/>
            <a:ext cx="288000" cy="246900"/>
          </a:xfrm>
          <a:prstGeom prst="roundRect">
            <a:avLst>
              <a:gd fmla="val 16667" name="adj"/>
            </a:avLst>
          </a:pr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6" name="Google Shape;116;p19"/>
          <p:cNvSpPr/>
          <p:nvPr/>
        </p:nvSpPr>
        <p:spPr>
          <a:xfrm>
            <a:off x="1681741" y="3387852"/>
            <a:ext cx="96000" cy="109800"/>
          </a:xfrm>
          <a:prstGeom prst="roundRect">
            <a:avLst>
              <a:gd fmla="val 14286" name="adj"/>
            </a:avLst>
          </a:pr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7" name="Google Shape;117;p19"/>
          <p:cNvSpPr/>
          <p:nvPr/>
        </p:nvSpPr>
        <p:spPr>
          <a:xfrm>
            <a:off x="1585726" y="3456432"/>
            <a:ext cx="2880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9973"/>
              </a:buClr>
              <a:buSzPts val="1100"/>
              <a:buFont typeface="Calibri"/>
              <a:buNone/>
            </a:pPr>
            <a:r>
              <a:rPr b="1" i="0" lang="en" sz="1100" u="none" cap="none" strike="noStrike">
                <a:solidFill>
                  <a:srgbClr val="2E9973"/>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118" name="Google Shape;118;p19"/>
          <p:cNvSpPr/>
          <p:nvPr/>
        </p:nvSpPr>
        <p:spPr>
          <a:xfrm>
            <a:off x="3253750" y="1474470"/>
            <a:ext cx="2636700" cy="2846100"/>
          </a:xfrm>
          <a:prstGeom prst="roundRect">
            <a:avLst>
              <a:gd fmla="val 2081" name="adj"/>
            </a:avLst>
          </a:pr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9" name="Google Shape;119;p19"/>
          <p:cNvSpPr/>
          <p:nvPr/>
        </p:nvSpPr>
        <p:spPr>
          <a:xfrm>
            <a:off x="3390914" y="1851660"/>
            <a:ext cx="2362200" cy="58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9973"/>
              </a:buClr>
              <a:buSzPts val="2900"/>
              <a:buFont typeface="Calibri"/>
              <a:buNone/>
            </a:pPr>
            <a:r>
              <a:rPr b="1" lang="en" sz="2900">
                <a:solidFill>
                  <a:srgbClr val="2E9973"/>
                </a:solidFill>
                <a:latin typeface="Calibri"/>
                <a:ea typeface="Calibri"/>
                <a:cs typeface="Calibri"/>
                <a:sym typeface="Calibri"/>
              </a:rPr>
              <a:t>6.6M</a:t>
            </a:r>
            <a:endParaRPr b="0" i="0" sz="2900" u="none" cap="none" strike="noStrike">
              <a:solidFill>
                <a:schemeClr val="dk1"/>
              </a:solidFill>
              <a:latin typeface="Calibri"/>
              <a:ea typeface="Calibri"/>
              <a:cs typeface="Calibri"/>
              <a:sym typeface="Calibri"/>
            </a:endParaRPr>
          </a:p>
        </p:txBody>
      </p:sp>
      <p:sp>
        <p:nvSpPr>
          <p:cNvPr id="120" name="Google Shape;120;p19"/>
          <p:cNvSpPr/>
          <p:nvPr/>
        </p:nvSpPr>
        <p:spPr>
          <a:xfrm>
            <a:off x="3390914" y="2468880"/>
            <a:ext cx="2362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203B"/>
              </a:buClr>
              <a:buSzPts val="1100"/>
              <a:buFont typeface="Calibri"/>
              <a:buNone/>
            </a:pPr>
            <a:r>
              <a:rPr b="1" lang="en" sz="1100">
                <a:solidFill>
                  <a:srgbClr val="13203B"/>
                </a:solidFill>
                <a:latin typeface="Calibri"/>
                <a:ea typeface="Calibri"/>
                <a:cs typeface="Calibri"/>
                <a:sym typeface="Calibri"/>
              </a:rPr>
              <a:t>Fans in Attendance</a:t>
            </a:r>
            <a:endParaRPr b="0" i="0" sz="1100" u="none" cap="none" strike="noStrike">
              <a:solidFill>
                <a:schemeClr val="dk1"/>
              </a:solidFill>
              <a:latin typeface="Calibri"/>
              <a:ea typeface="Calibri"/>
              <a:cs typeface="Calibri"/>
              <a:sym typeface="Calibri"/>
            </a:endParaRPr>
          </a:p>
        </p:txBody>
      </p:sp>
      <p:sp>
        <p:nvSpPr>
          <p:cNvPr id="121" name="Google Shape;121;p19"/>
          <p:cNvSpPr/>
          <p:nvPr/>
        </p:nvSpPr>
        <p:spPr>
          <a:xfrm>
            <a:off x="3390914" y="2722626"/>
            <a:ext cx="2362200" cy="24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592AA"/>
              </a:buClr>
              <a:buSzPts val="800"/>
              <a:buFont typeface="Calibri"/>
              <a:buNone/>
            </a:pPr>
            <a:r>
              <a:rPr lang="en" sz="800">
                <a:solidFill>
                  <a:srgbClr val="8592AA"/>
                </a:solidFill>
                <a:latin typeface="Calibri"/>
                <a:ea typeface="Calibri"/>
                <a:cs typeface="Calibri"/>
                <a:sym typeface="Calibri"/>
              </a:rPr>
              <a:t>Across 102 games</a:t>
            </a:r>
            <a:endParaRPr b="0" i="0" sz="800" u="none" cap="none" strike="noStrike">
              <a:solidFill>
                <a:schemeClr val="dk1"/>
              </a:solidFill>
              <a:latin typeface="Calibri"/>
              <a:ea typeface="Calibri"/>
              <a:cs typeface="Calibri"/>
              <a:sym typeface="Calibri"/>
            </a:endParaRPr>
          </a:p>
        </p:txBody>
      </p:sp>
      <p:sp>
        <p:nvSpPr>
          <p:cNvPr id="122" name="Google Shape;122;p19"/>
          <p:cNvSpPr/>
          <p:nvPr/>
        </p:nvSpPr>
        <p:spPr>
          <a:xfrm>
            <a:off x="4263540" y="3250710"/>
            <a:ext cx="617100" cy="617100"/>
          </a:xfrm>
          <a:prstGeom prst="ellipse">
            <a:avLst/>
          </a:prstGeom>
          <a:solidFill>
            <a:srgbClr val="2E997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3" name="Google Shape;123;p19"/>
          <p:cNvSpPr/>
          <p:nvPr/>
        </p:nvSpPr>
        <p:spPr>
          <a:xfrm>
            <a:off x="6096010" y="1474470"/>
            <a:ext cx="2636700" cy="2846100"/>
          </a:xfrm>
          <a:prstGeom prst="roundRect">
            <a:avLst>
              <a:gd fmla="val 2081" name="adj"/>
            </a:avLst>
          </a:pr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4" name="Google Shape;124;p19"/>
          <p:cNvSpPr/>
          <p:nvPr/>
        </p:nvSpPr>
        <p:spPr>
          <a:xfrm>
            <a:off x="6233174" y="1851660"/>
            <a:ext cx="2362200" cy="58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9973"/>
              </a:buClr>
              <a:buSzPts val="2900"/>
              <a:buFont typeface="Calibri"/>
              <a:buNone/>
            </a:pPr>
            <a:r>
              <a:rPr b="1" i="0" lang="en" sz="2900" u="none" cap="none" strike="noStrike">
                <a:solidFill>
                  <a:srgbClr val="2E9973"/>
                </a:solidFill>
                <a:latin typeface="Calibri"/>
                <a:ea typeface="Calibri"/>
                <a:cs typeface="Calibri"/>
                <a:sym typeface="Calibri"/>
              </a:rPr>
              <a:t>5B</a:t>
            </a:r>
            <a:endParaRPr b="0" i="0" sz="2900" u="none" cap="none" strike="noStrike">
              <a:solidFill>
                <a:schemeClr val="dk1"/>
              </a:solidFill>
              <a:latin typeface="Calibri"/>
              <a:ea typeface="Calibri"/>
              <a:cs typeface="Calibri"/>
              <a:sym typeface="Calibri"/>
            </a:endParaRPr>
          </a:p>
        </p:txBody>
      </p:sp>
      <p:sp>
        <p:nvSpPr>
          <p:cNvPr id="125" name="Google Shape;125;p19"/>
          <p:cNvSpPr/>
          <p:nvPr/>
        </p:nvSpPr>
        <p:spPr>
          <a:xfrm>
            <a:off x="6233174" y="2468880"/>
            <a:ext cx="2362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3203B"/>
              </a:buClr>
              <a:buSzPts val="1100"/>
              <a:buFont typeface="Calibri"/>
              <a:buNone/>
            </a:pPr>
            <a:r>
              <a:rPr b="1" i="0" lang="en" sz="1100" u="none" cap="none" strike="noStrike">
                <a:solidFill>
                  <a:srgbClr val="13203B"/>
                </a:solidFill>
                <a:latin typeface="Calibri"/>
                <a:ea typeface="Calibri"/>
                <a:cs typeface="Calibri"/>
                <a:sym typeface="Calibri"/>
              </a:rPr>
              <a:t>Total Viewers</a:t>
            </a:r>
            <a:endParaRPr b="0" i="0" sz="1100" u="none" cap="none" strike="noStrike">
              <a:solidFill>
                <a:schemeClr val="dk1"/>
              </a:solidFill>
              <a:latin typeface="Calibri"/>
              <a:ea typeface="Calibri"/>
              <a:cs typeface="Calibri"/>
              <a:sym typeface="Calibri"/>
            </a:endParaRPr>
          </a:p>
        </p:txBody>
      </p:sp>
      <p:sp>
        <p:nvSpPr>
          <p:cNvPr id="126" name="Google Shape;126;p19"/>
          <p:cNvSpPr/>
          <p:nvPr/>
        </p:nvSpPr>
        <p:spPr>
          <a:xfrm>
            <a:off x="6233174" y="2722626"/>
            <a:ext cx="2362200" cy="24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592AA"/>
              </a:buClr>
              <a:buSzPts val="800"/>
              <a:buFont typeface="Calibri"/>
              <a:buNone/>
            </a:pPr>
            <a:r>
              <a:rPr b="0" i="0" lang="en" sz="800" u="none" cap="none" strike="noStrike">
                <a:solidFill>
                  <a:srgbClr val="8592AA"/>
                </a:solidFill>
                <a:latin typeface="Calibri"/>
                <a:ea typeface="Calibri"/>
                <a:cs typeface="Calibri"/>
                <a:sym typeface="Calibri"/>
              </a:rPr>
              <a:t>Engaged across TV &amp; digital</a:t>
            </a:r>
            <a:endParaRPr b="0" i="0" sz="800" u="none" cap="none" strike="noStrike">
              <a:solidFill>
                <a:schemeClr val="dk1"/>
              </a:solidFill>
              <a:latin typeface="Calibri"/>
              <a:ea typeface="Calibri"/>
              <a:cs typeface="Calibri"/>
              <a:sym typeface="Calibri"/>
            </a:endParaRPr>
          </a:p>
        </p:txBody>
      </p:sp>
      <p:sp>
        <p:nvSpPr>
          <p:cNvPr id="127" name="Google Shape;127;p19"/>
          <p:cNvSpPr/>
          <p:nvPr/>
        </p:nvSpPr>
        <p:spPr>
          <a:xfrm>
            <a:off x="7105974" y="3182060"/>
            <a:ext cx="617100" cy="617100"/>
          </a:xfrm>
          <a:prstGeom prst="ellipse">
            <a:avLst/>
          </a:prstGeom>
          <a:solidFill>
            <a:srgbClr val="2E997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8" name="Google Shape;128;p19"/>
          <p:cNvSpPr/>
          <p:nvPr/>
        </p:nvSpPr>
        <p:spPr>
          <a:xfrm>
            <a:off x="411491" y="4800600"/>
            <a:ext cx="4800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4456E"/>
              </a:buClr>
              <a:buSzPts val="700"/>
              <a:buFont typeface="Calibri"/>
              <a:buNone/>
            </a:pPr>
            <a:r>
              <a:rPr b="0" i="0" lang="en" sz="700" u="none" cap="none" strike="noStrike">
                <a:solidFill>
                  <a:srgbClr val="34456E"/>
                </a:solidFill>
                <a:latin typeface="Calibri"/>
                <a:ea typeface="Calibri"/>
                <a:cs typeface="Calibri"/>
                <a:sym typeface="Calibri"/>
              </a:rPr>
              <a:t>Shiu &amp; Nguyen  |  STAT 418, Tools in Data Science  |  UCLA Summer 2026</a:t>
            </a:r>
            <a:endParaRPr b="0" i="0" sz="700" u="none" cap="none" strike="noStrike">
              <a:solidFill>
                <a:schemeClr val="dk1"/>
              </a:solidFill>
              <a:latin typeface="Calibri"/>
              <a:ea typeface="Calibri"/>
              <a:cs typeface="Calibri"/>
              <a:sym typeface="Calibri"/>
            </a:endParaRPr>
          </a:p>
        </p:txBody>
      </p:sp>
      <p:sp>
        <p:nvSpPr>
          <p:cNvPr id="129" name="Google Shape;129;p19"/>
          <p:cNvSpPr/>
          <p:nvPr/>
        </p:nvSpPr>
        <p:spPr>
          <a:xfrm>
            <a:off x="8458197" y="4800600"/>
            <a:ext cx="411600" cy="205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592AA"/>
              </a:buClr>
              <a:buSzPts val="800"/>
              <a:buFont typeface="Calibri"/>
              <a:buNone/>
            </a:pPr>
            <a:r>
              <a:rPr b="0" i="0" lang="en" sz="800" u="none" cap="none" strike="noStrike">
                <a:solidFill>
                  <a:srgbClr val="8592AA"/>
                </a:solidFill>
                <a:latin typeface="Calibri"/>
                <a:ea typeface="Calibri"/>
                <a:cs typeface="Calibri"/>
                <a:sym typeface="Calibri"/>
              </a:rPr>
              <a:t>4</a:t>
            </a:r>
            <a:endParaRPr b="0" i="0" sz="800" u="none" cap="none" strike="noStrike">
              <a:solidFill>
                <a:schemeClr val="dk1"/>
              </a:solidFill>
              <a:latin typeface="Calibri"/>
              <a:ea typeface="Calibri"/>
              <a:cs typeface="Calibri"/>
              <a:sym typeface="Calibri"/>
            </a:endParaRPr>
          </a:p>
        </p:txBody>
      </p:sp>
      <p:sp>
        <p:nvSpPr>
          <p:cNvPr id="130" name="Google Shape;130;p19"/>
          <p:cNvSpPr txBox="1"/>
          <p:nvPr/>
        </p:nvSpPr>
        <p:spPr>
          <a:xfrm>
            <a:off x="3547550" y="4821600"/>
            <a:ext cx="561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31" name="Google Shape;131;p19"/>
          <p:cNvSpPr/>
          <p:nvPr/>
        </p:nvSpPr>
        <p:spPr>
          <a:xfrm>
            <a:off x="7229287" y="3367143"/>
            <a:ext cx="370500" cy="246900"/>
          </a:xfrm>
          <a:prstGeom prst="roundRect">
            <a:avLst>
              <a:gd fmla="val 11111" name="adj"/>
            </a:avLst>
          </a:pr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2" name="Google Shape;132;p19"/>
          <p:cNvSpPr/>
          <p:nvPr/>
        </p:nvSpPr>
        <p:spPr>
          <a:xfrm>
            <a:off x="4489744" y="3319186"/>
            <a:ext cx="164700" cy="164700"/>
          </a:xfrm>
          <a:prstGeom prst="ellipse">
            <a:avLst/>
          </a:pr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3" name="Google Shape;133;p19"/>
          <p:cNvSpPr/>
          <p:nvPr/>
        </p:nvSpPr>
        <p:spPr>
          <a:xfrm>
            <a:off x="7352734" y="3648622"/>
            <a:ext cx="123600" cy="41100"/>
          </a:xfrm>
          <a:prstGeom prst="rect">
            <a:avLst/>
          </a:pr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4" name="Google Shape;134;p19"/>
          <p:cNvSpPr/>
          <p:nvPr/>
        </p:nvSpPr>
        <p:spPr>
          <a:xfrm flipH="1" rot="10800000">
            <a:off x="4400638" y="3532084"/>
            <a:ext cx="342900" cy="192000"/>
          </a:xfrm>
          <a:prstGeom prst="trapezoid">
            <a:avLst>
              <a:gd fmla="val 25000" name="adj"/>
            </a:avLst>
          </a:pr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 name="Shape 139"/>
        <p:cNvGrpSpPr/>
        <p:nvPr/>
      </p:nvGrpSpPr>
      <p:grpSpPr>
        <a:xfrm>
          <a:off x="0" y="0"/>
          <a:ext cx="0" cy="0"/>
          <a:chOff x="0" y="0"/>
          <a:chExt cx="0" cy="0"/>
        </a:xfrm>
      </p:grpSpPr>
      <p:sp>
        <p:nvSpPr>
          <p:cNvPr id="140" name="Google Shape;140;p20"/>
          <p:cNvSpPr/>
          <p:nvPr/>
        </p:nvSpPr>
        <p:spPr>
          <a:xfrm>
            <a:off x="411491" y="514350"/>
            <a:ext cx="8321033" cy="65151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3203B"/>
              </a:buClr>
              <a:buSzPts val="1800"/>
              <a:buFont typeface="Calibri"/>
              <a:buNone/>
            </a:pPr>
            <a:r>
              <a:rPr b="1" lang="en" sz="2500">
                <a:solidFill>
                  <a:srgbClr val="13203B"/>
                </a:solidFill>
                <a:latin typeface="Calibri"/>
                <a:ea typeface="Calibri"/>
                <a:cs typeface="Calibri"/>
                <a:sym typeface="Calibri"/>
              </a:rPr>
              <a:t>Project Roadmap</a:t>
            </a:r>
            <a:endParaRPr b="0" i="0" sz="2500" u="none" cap="none" strike="noStrike">
              <a:solidFill>
                <a:schemeClr val="dk1"/>
              </a:solidFill>
              <a:latin typeface="Calibri"/>
              <a:ea typeface="Calibri"/>
              <a:cs typeface="Calibri"/>
              <a:sym typeface="Calibri"/>
            </a:endParaRPr>
          </a:p>
        </p:txBody>
      </p:sp>
      <p:sp>
        <p:nvSpPr>
          <p:cNvPr id="141" name="Google Shape;141;p20"/>
          <p:cNvSpPr/>
          <p:nvPr/>
        </p:nvSpPr>
        <p:spPr>
          <a:xfrm>
            <a:off x="411500" y="1106035"/>
            <a:ext cx="4132500" cy="959100"/>
          </a:xfrm>
          <a:prstGeom prst="roundRect">
            <a:avLst>
              <a:gd fmla="val 5926" name="adj"/>
            </a:avLst>
          </a:prstGeom>
          <a:solidFill>
            <a:srgbClr val="F3F5F9"/>
          </a:solidFill>
          <a:ln>
            <a:noFill/>
          </a:ln>
        </p:spPr>
        <p:txBody>
          <a:bodyPr anchorCtr="0" anchor="ctr" bIns="71050" lIns="71050" spcFirstLastPara="1" rIns="71050" wrap="square" tIns="71050">
            <a:noAutofit/>
          </a:bodyPr>
          <a:lstStyle/>
          <a:p>
            <a:pPr indent="0" lvl="0" marL="0" marR="0" rtl="0" algn="l">
              <a:lnSpc>
                <a:spcPct val="100000"/>
              </a:lnSpc>
              <a:spcBef>
                <a:spcPts val="0"/>
              </a:spcBef>
              <a:spcAft>
                <a:spcPts val="0"/>
              </a:spcAft>
              <a:buClr>
                <a:srgbClr val="000000"/>
              </a:buClr>
              <a:buSzPts val="1140"/>
              <a:buFont typeface="Arial"/>
              <a:buNone/>
            </a:pPr>
            <a:r>
              <a:t/>
            </a:r>
            <a:endParaRPr b="0" i="0" sz="1140" u="none" cap="none" strike="noStrike">
              <a:solidFill>
                <a:srgbClr val="000000"/>
              </a:solidFill>
              <a:latin typeface="Arial"/>
              <a:ea typeface="Arial"/>
              <a:cs typeface="Arial"/>
              <a:sym typeface="Arial"/>
            </a:endParaRPr>
          </a:p>
        </p:txBody>
      </p:sp>
      <p:sp>
        <p:nvSpPr>
          <p:cNvPr id="142" name="Google Shape;142;p20"/>
          <p:cNvSpPr/>
          <p:nvPr/>
        </p:nvSpPr>
        <p:spPr>
          <a:xfrm>
            <a:off x="610435" y="1258575"/>
            <a:ext cx="355200" cy="355200"/>
          </a:xfrm>
          <a:prstGeom prst="ellipse">
            <a:avLst/>
          </a:prstGeom>
          <a:solidFill>
            <a:srgbClr val="2E9973"/>
          </a:solidFill>
          <a:ln>
            <a:noFill/>
          </a:ln>
        </p:spPr>
        <p:txBody>
          <a:bodyPr anchorCtr="0" anchor="ctr" bIns="71050" lIns="71050" spcFirstLastPara="1" rIns="71050" wrap="square" tIns="71050">
            <a:noAutofit/>
          </a:bodyPr>
          <a:lstStyle/>
          <a:p>
            <a:pPr indent="0" lvl="0" marL="0" marR="0" rtl="0" algn="l">
              <a:lnSpc>
                <a:spcPct val="100000"/>
              </a:lnSpc>
              <a:spcBef>
                <a:spcPts val="0"/>
              </a:spcBef>
              <a:spcAft>
                <a:spcPts val="0"/>
              </a:spcAft>
              <a:buClr>
                <a:srgbClr val="000000"/>
              </a:buClr>
              <a:buSzPts val="1140"/>
              <a:buFont typeface="Arial"/>
              <a:buNone/>
            </a:pPr>
            <a:r>
              <a:t/>
            </a:r>
            <a:endParaRPr b="0" i="0" sz="1140" u="none" cap="none" strike="noStrike">
              <a:solidFill>
                <a:srgbClr val="000000"/>
              </a:solidFill>
              <a:latin typeface="Arial"/>
              <a:ea typeface="Arial"/>
              <a:cs typeface="Arial"/>
              <a:sym typeface="Arial"/>
            </a:endParaRPr>
          </a:p>
        </p:txBody>
      </p:sp>
      <p:sp>
        <p:nvSpPr>
          <p:cNvPr id="143" name="Google Shape;143;p20"/>
          <p:cNvSpPr/>
          <p:nvPr/>
        </p:nvSpPr>
        <p:spPr>
          <a:xfrm>
            <a:off x="610435" y="1258575"/>
            <a:ext cx="355200" cy="355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47"/>
              <a:buFont typeface="Calibri"/>
              <a:buNone/>
            </a:pPr>
            <a:r>
              <a:rPr b="1" i="0" lang="en" sz="1347" u="none" cap="none" strike="noStrike">
                <a:solidFill>
                  <a:srgbClr val="FFFFFF"/>
                </a:solidFill>
                <a:latin typeface="Calibri"/>
                <a:ea typeface="Calibri"/>
                <a:cs typeface="Calibri"/>
                <a:sym typeface="Calibri"/>
              </a:rPr>
              <a:t>1</a:t>
            </a:r>
            <a:endParaRPr b="0" i="0" sz="1347" u="none" cap="none" strike="noStrike">
              <a:solidFill>
                <a:schemeClr val="dk1"/>
              </a:solidFill>
              <a:latin typeface="Calibri"/>
              <a:ea typeface="Calibri"/>
              <a:cs typeface="Calibri"/>
              <a:sym typeface="Calibri"/>
            </a:endParaRPr>
          </a:p>
        </p:txBody>
      </p:sp>
      <p:sp>
        <p:nvSpPr>
          <p:cNvPr id="144" name="Google Shape;144;p20"/>
          <p:cNvSpPr/>
          <p:nvPr/>
        </p:nvSpPr>
        <p:spPr>
          <a:xfrm>
            <a:off x="1121980" y="1294125"/>
            <a:ext cx="3279900" cy="284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3203B"/>
              </a:buClr>
              <a:buSzPts val="1140"/>
              <a:buFont typeface="Calibri"/>
              <a:buNone/>
            </a:pPr>
            <a:r>
              <a:rPr b="1" i="0" lang="en" sz="1450" u="none" cap="none" strike="noStrike">
                <a:solidFill>
                  <a:srgbClr val="13203B"/>
                </a:solidFill>
                <a:latin typeface="Calibri"/>
                <a:ea typeface="Calibri"/>
                <a:cs typeface="Calibri"/>
                <a:sym typeface="Calibri"/>
              </a:rPr>
              <a:t>Context</a:t>
            </a:r>
            <a:endParaRPr b="0" i="0" sz="1450" u="none" cap="none" strike="noStrike">
              <a:solidFill>
                <a:schemeClr val="dk1"/>
              </a:solidFill>
              <a:latin typeface="Calibri"/>
              <a:ea typeface="Calibri"/>
              <a:cs typeface="Calibri"/>
              <a:sym typeface="Calibri"/>
            </a:endParaRPr>
          </a:p>
        </p:txBody>
      </p:sp>
      <p:sp>
        <p:nvSpPr>
          <p:cNvPr id="145" name="Google Shape;145;p20"/>
          <p:cNvSpPr/>
          <p:nvPr/>
        </p:nvSpPr>
        <p:spPr>
          <a:xfrm>
            <a:off x="1121980" y="1512195"/>
            <a:ext cx="3244500" cy="497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0607F"/>
              </a:buClr>
              <a:buSzPts val="932"/>
              <a:buFont typeface="Calibri"/>
              <a:buNone/>
            </a:pPr>
            <a:r>
              <a:rPr b="0" i="0" lang="en" sz="1140" u="none" cap="none" strike="noStrike">
                <a:solidFill>
                  <a:srgbClr val="50607F"/>
                </a:solidFill>
                <a:latin typeface="Calibri"/>
                <a:ea typeface="Calibri"/>
                <a:cs typeface="Calibri"/>
                <a:sym typeface="Calibri"/>
              </a:rPr>
              <a:t>Why group-stage advancement is hard to forecast, and who has a stake in getting it right.</a:t>
            </a:r>
            <a:endParaRPr b="0" i="0" sz="1140" u="none" cap="none" strike="noStrike">
              <a:solidFill>
                <a:schemeClr val="dk1"/>
              </a:solidFill>
              <a:latin typeface="Calibri"/>
              <a:ea typeface="Calibri"/>
              <a:cs typeface="Calibri"/>
              <a:sym typeface="Calibri"/>
            </a:endParaRPr>
          </a:p>
        </p:txBody>
      </p:sp>
      <p:sp>
        <p:nvSpPr>
          <p:cNvPr id="146" name="Google Shape;146;p20"/>
          <p:cNvSpPr/>
          <p:nvPr/>
        </p:nvSpPr>
        <p:spPr>
          <a:xfrm>
            <a:off x="4724031" y="1106035"/>
            <a:ext cx="4132500" cy="959100"/>
          </a:xfrm>
          <a:prstGeom prst="roundRect">
            <a:avLst>
              <a:gd fmla="val 5926" name="adj"/>
            </a:avLst>
          </a:prstGeom>
          <a:solidFill>
            <a:srgbClr val="F3F5F9"/>
          </a:solidFill>
          <a:ln>
            <a:noFill/>
          </a:ln>
        </p:spPr>
        <p:txBody>
          <a:bodyPr anchorCtr="0" anchor="ctr" bIns="71050" lIns="71050" spcFirstLastPara="1" rIns="71050" wrap="square" tIns="71050">
            <a:noAutofit/>
          </a:bodyPr>
          <a:lstStyle/>
          <a:p>
            <a:pPr indent="0" lvl="0" marL="0" marR="0" rtl="0" algn="l">
              <a:lnSpc>
                <a:spcPct val="100000"/>
              </a:lnSpc>
              <a:spcBef>
                <a:spcPts val="0"/>
              </a:spcBef>
              <a:spcAft>
                <a:spcPts val="0"/>
              </a:spcAft>
              <a:buClr>
                <a:srgbClr val="000000"/>
              </a:buClr>
              <a:buSzPts val="1140"/>
              <a:buFont typeface="Arial"/>
              <a:buNone/>
            </a:pPr>
            <a:r>
              <a:t/>
            </a:r>
            <a:endParaRPr b="0" i="0" sz="1140" u="none" cap="none" strike="noStrike">
              <a:solidFill>
                <a:srgbClr val="000000"/>
              </a:solidFill>
              <a:latin typeface="Arial"/>
              <a:ea typeface="Arial"/>
              <a:cs typeface="Arial"/>
              <a:sym typeface="Arial"/>
            </a:endParaRPr>
          </a:p>
        </p:txBody>
      </p:sp>
      <p:sp>
        <p:nvSpPr>
          <p:cNvPr id="147" name="Google Shape;147;p20"/>
          <p:cNvSpPr/>
          <p:nvPr/>
        </p:nvSpPr>
        <p:spPr>
          <a:xfrm>
            <a:off x="4944867" y="1258575"/>
            <a:ext cx="355200" cy="355200"/>
          </a:xfrm>
          <a:prstGeom prst="ellipse">
            <a:avLst/>
          </a:prstGeom>
          <a:solidFill>
            <a:srgbClr val="2E9973"/>
          </a:solidFill>
          <a:ln>
            <a:noFill/>
          </a:ln>
        </p:spPr>
        <p:txBody>
          <a:bodyPr anchorCtr="0" anchor="ctr" bIns="71050" lIns="71050" spcFirstLastPara="1" rIns="71050" wrap="square" tIns="71050">
            <a:noAutofit/>
          </a:bodyPr>
          <a:lstStyle/>
          <a:p>
            <a:pPr indent="0" lvl="0" marL="0" marR="0" rtl="0" algn="l">
              <a:lnSpc>
                <a:spcPct val="100000"/>
              </a:lnSpc>
              <a:spcBef>
                <a:spcPts val="0"/>
              </a:spcBef>
              <a:spcAft>
                <a:spcPts val="0"/>
              </a:spcAft>
              <a:buClr>
                <a:srgbClr val="000000"/>
              </a:buClr>
              <a:buSzPts val="1140"/>
              <a:buFont typeface="Arial"/>
              <a:buNone/>
            </a:pPr>
            <a:r>
              <a:t/>
            </a:r>
            <a:endParaRPr b="0" i="0" sz="1140" u="none" cap="none" strike="noStrike">
              <a:solidFill>
                <a:srgbClr val="000000"/>
              </a:solidFill>
              <a:latin typeface="Arial"/>
              <a:ea typeface="Arial"/>
              <a:cs typeface="Arial"/>
              <a:sym typeface="Arial"/>
            </a:endParaRPr>
          </a:p>
        </p:txBody>
      </p:sp>
      <p:sp>
        <p:nvSpPr>
          <p:cNvPr id="148" name="Google Shape;148;p20"/>
          <p:cNvSpPr/>
          <p:nvPr/>
        </p:nvSpPr>
        <p:spPr>
          <a:xfrm>
            <a:off x="4933916" y="1258575"/>
            <a:ext cx="355200" cy="355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47"/>
              <a:buFont typeface="Calibri"/>
              <a:buNone/>
            </a:pPr>
            <a:r>
              <a:rPr b="1" i="0" lang="en" sz="1347" u="none" cap="none" strike="noStrike">
                <a:solidFill>
                  <a:srgbClr val="FFFFFF"/>
                </a:solidFill>
                <a:latin typeface="Calibri"/>
                <a:ea typeface="Calibri"/>
                <a:cs typeface="Calibri"/>
                <a:sym typeface="Calibri"/>
              </a:rPr>
              <a:t>4</a:t>
            </a:r>
            <a:endParaRPr b="0" i="0" sz="1347" u="none" cap="none" strike="noStrike">
              <a:solidFill>
                <a:schemeClr val="dk1"/>
              </a:solidFill>
              <a:latin typeface="Calibri"/>
              <a:ea typeface="Calibri"/>
              <a:cs typeface="Calibri"/>
              <a:sym typeface="Calibri"/>
            </a:endParaRPr>
          </a:p>
        </p:txBody>
      </p:sp>
      <p:sp>
        <p:nvSpPr>
          <p:cNvPr id="149" name="Google Shape;149;p20"/>
          <p:cNvSpPr/>
          <p:nvPr/>
        </p:nvSpPr>
        <p:spPr>
          <a:xfrm>
            <a:off x="5434511" y="1294125"/>
            <a:ext cx="3279900" cy="284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3203B"/>
              </a:buClr>
              <a:buSzPts val="1140"/>
              <a:buFont typeface="Calibri"/>
              <a:buNone/>
            </a:pPr>
            <a:r>
              <a:rPr b="1" i="0" lang="en" sz="1450" u="none" cap="none" strike="noStrike">
                <a:solidFill>
                  <a:srgbClr val="13203B"/>
                </a:solidFill>
                <a:latin typeface="Calibri"/>
                <a:ea typeface="Calibri"/>
                <a:cs typeface="Calibri"/>
                <a:sym typeface="Calibri"/>
              </a:rPr>
              <a:t>Modeling</a:t>
            </a:r>
            <a:endParaRPr b="0" i="0" sz="1450" u="none" cap="none" strike="noStrike">
              <a:solidFill>
                <a:schemeClr val="dk1"/>
              </a:solidFill>
              <a:latin typeface="Calibri"/>
              <a:ea typeface="Calibri"/>
              <a:cs typeface="Calibri"/>
              <a:sym typeface="Calibri"/>
            </a:endParaRPr>
          </a:p>
        </p:txBody>
      </p:sp>
      <p:sp>
        <p:nvSpPr>
          <p:cNvPr id="150" name="Google Shape;150;p20"/>
          <p:cNvSpPr/>
          <p:nvPr/>
        </p:nvSpPr>
        <p:spPr>
          <a:xfrm>
            <a:off x="5434500" y="1512195"/>
            <a:ext cx="3244500" cy="497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0607F"/>
              </a:buClr>
              <a:buSzPts val="932"/>
              <a:buFont typeface="Calibri"/>
              <a:buNone/>
            </a:pPr>
            <a:r>
              <a:rPr lang="en" sz="1140">
                <a:solidFill>
                  <a:srgbClr val="50607F"/>
                </a:solidFill>
                <a:latin typeface="Calibri"/>
                <a:ea typeface="Calibri"/>
                <a:cs typeface="Calibri"/>
                <a:sym typeface="Calibri"/>
              </a:rPr>
              <a:t>Why logistic regression, and how two model specifications check each other.</a:t>
            </a:r>
            <a:endParaRPr b="0" i="0" sz="1140" u="none" cap="none" strike="noStrike">
              <a:solidFill>
                <a:schemeClr val="dk1"/>
              </a:solidFill>
              <a:latin typeface="Calibri"/>
              <a:ea typeface="Calibri"/>
              <a:cs typeface="Calibri"/>
              <a:sym typeface="Calibri"/>
            </a:endParaRPr>
          </a:p>
        </p:txBody>
      </p:sp>
      <p:sp>
        <p:nvSpPr>
          <p:cNvPr id="151" name="Google Shape;151;p20"/>
          <p:cNvSpPr/>
          <p:nvPr/>
        </p:nvSpPr>
        <p:spPr>
          <a:xfrm>
            <a:off x="411500" y="2264086"/>
            <a:ext cx="4132500" cy="959100"/>
          </a:xfrm>
          <a:prstGeom prst="roundRect">
            <a:avLst>
              <a:gd fmla="val 5926" name="adj"/>
            </a:avLst>
          </a:prstGeom>
          <a:solidFill>
            <a:srgbClr val="F3F5F9"/>
          </a:solidFill>
          <a:ln>
            <a:noFill/>
          </a:ln>
        </p:spPr>
        <p:txBody>
          <a:bodyPr anchorCtr="0" anchor="ctr" bIns="71050" lIns="71050" spcFirstLastPara="1" rIns="71050" wrap="square" tIns="71050">
            <a:noAutofit/>
          </a:bodyPr>
          <a:lstStyle/>
          <a:p>
            <a:pPr indent="0" lvl="0" marL="0" marR="0" rtl="0" algn="l">
              <a:lnSpc>
                <a:spcPct val="100000"/>
              </a:lnSpc>
              <a:spcBef>
                <a:spcPts val="0"/>
              </a:spcBef>
              <a:spcAft>
                <a:spcPts val="0"/>
              </a:spcAft>
              <a:buClr>
                <a:srgbClr val="000000"/>
              </a:buClr>
              <a:buSzPts val="1140"/>
              <a:buFont typeface="Arial"/>
              <a:buNone/>
            </a:pPr>
            <a:r>
              <a:t/>
            </a:r>
            <a:endParaRPr b="0" i="0" sz="1140" u="none" cap="none" strike="noStrike">
              <a:solidFill>
                <a:srgbClr val="000000"/>
              </a:solidFill>
              <a:latin typeface="Arial"/>
              <a:ea typeface="Arial"/>
              <a:cs typeface="Arial"/>
              <a:sym typeface="Arial"/>
            </a:endParaRPr>
          </a:p>
        </p:txBody>
      </p:sp>
      <p:sp>
        <p:nvSpPr>
          <p:cNvPr id="152" name="Google Shape;152;p20"/>
          <p:cNvSpPr/>
          <p:nvPr/>
        </p:nvSpPr>
        <p:spPr>
          <a:xfrm>
            <a:off x="610435" y="2416626"/>
            <a:ext cx="355200" cy="355200"/>
          </a:xfrm>
          <a:prstGeom prst="ellipse">
            <a:avLst/>
          </a:prstGeom>
          <a:solidFill>
            <a:srgbClr val="2E9973"/>
          </a:solidFill>
          <a:ln>
            <a:noFill/>
          </a:ln>
        </p:spPr>
        <p:txBody>
          <a:bodyPr anchorCtr="0" anchor="ctr" bIns="71050" lIns="71050" spcFirstLastPara="1" rIns="71050" wrap="square" tIns="71050">
            <a:noAutofit/>
          </a:bodyPr>
          <a:lstStyle/>
          <a:p>
            <a:pPr indent="0" lvl="0" marL="0" marR="0" rtl="0" algn="l">
              <a:lnSpc>
                <a:spcPct val="100000"/>
              </a:lnSpc>
              <a:spcBef>
                <a:spcPts val="0"/>
              </a:spcBef>
              <a:spcAft>
                <a:spcPts val="0"/>
              </a:spcAft>
              <a:buClr>
                <a:srgbClr val="000000"/>
              </a:buClr>
              <a:buSzPts val="1140"/>
              <a:buFont typeface="Arial"/>
              <a:buNone/>
            </a:pPr>
            <a:r>
              <a:t/>
            </a:r>
            <a:endParaRPr b="0" i="0" sz="1140" u="none" cap="none" strike="noStrike">
              <a:solidFill>
                <a:srgbClr val="000000"/>
              </a:solidFill>
              <a:latin typeface="Arial"/>
              <a:ea typeface="Arial"/>
              <a:cs typeface="Arial"/>
              <a:sym typeface="Arial"/>
            </a:endParaRPr>
          </a:p>
        </p:txBody>
      </p:sp>
      <p:sp>
        <p:nvSpPr>
          <p:cNvPr id="153" name="Google Shape;153;p20"/>
          <p:cNvSpPr/>
          <p:nvPr/>
        </p:nvSpPr>
        <p:spPr>
          <a:xfrm>
            <a:off x="610435" y="2416626"/>
            <a:ext cx="355200" cy="355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47"/>
              <a:buFont typeface="Calibri"/>
              <a:buNone/>
            </a:pPr>
            <a:r>
              <a:rPr b="1" i="0" lang="en" sz="1347" u="none" cap="none" strike="noStrike">
                <a:solidFill>
                  <a:srgbClr val="FFFFFF"/>
                </a:solidFill>
                <a:latin typeface="Calibri"/>
                <a:ea typeface="Calibri"/>
                <a:cs typeface="Calibri"/>
                <a:sym typeface="Calibri"/>
              </a:rPr>
              <a:t>2</a:t>
            </a:r>
            <a:endParaRPr b="0" i="0" sz="1347" u="none" cap="none" strike="noStrike">
              <a:solidFill>
                <a:schemeClr val="dk1"/>
              </a:solidFill>
              <a:latin typeface="Calibri"/>
              <a:ea typeface="Calibri"/>
              <a:cs typeface="Calibri"/>
              <a:sym typeface="Calibri"/>
            </a:endParaRPr>
          </a:p>
        </p:txBody>
      </p:sp>
      <p:sp>
        <p:nvSpPr>
          <p:cNvPr id="154" name="Google Shape;154;p20"/>
          <p:cNvSpPr/>
          <p:nvPr/>
        </p:nvSpPr>
        <p:spPr>
          <a:xfrm>
            <a:off x="1121980" y="2452176"/>
            <a:ext cx="3279900" cy="284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3203B"/>
              </a:buClr>
              <a:buSzPts val="1140"/>
              <a:buFont typeface="Calibri"/>
              <a:buNone/>
            </a:pPr>
            <a:r>
              <a:rPr b="1" i="0" lang="en" sz="1450" u="none" cap="none" strike="noStrike">
                <a:solidFill>
                  <a:srgbClr val="13203B"/>
                </a:solidFill>
                <a:latin typeface="Calibri"/>
                <a:ea typeface="Calibri"/>
                <a:cs typeface="Calibri"/>
                <a:sym typeface="Calibri"/>
              </a:rPr>
              <a:t>Data</a:t>
            </a:r>
            <a:endParaRPr b="0" i="0" sz="1450" u="none" cap="none" strike="noStrike">
              <a:solidFill>
                <a:schemeClr val="dk1"/>
              </a:solidFill>
              <a:latin typeface="Calibri"/>
              <a:ea typeface="Calibri"/>
              <a:cs typeface="Calibri"/>
              <a:sym typeface="Calibri"/>
            </a:endParaRPr>
          </a:p>
        </p:txBody>
      </p:sp>
      <p:sp>
        <p:nvSpPr>
          <p:cNvPr id="155" name="Google Shape;155;p20"/>
          <p:cNvSpPr/>
          <p:nvPr/>
        </p:nvSpPr>
        <p:spPr>
          <a:xfrm>
            <a:off x="1121980" y="2658996"/>
            <a:ext cx="3244500" cy="3552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0607F"/>
              </a:buClr>
              <a:buSzPts val="932"/>
              <a:buFont typeface="Calibri"/>
              <a:buNone/>
            </a:pPr>
            <a:r>
              <a:rPr b="0" i="0" lang="en" sz="1140" u="none" cap="none" strike="noStrike">
                <a:solidFill>
                  <a:srgbClr val="50607F"/>
                </a:solidFill>
                <a:latin typeface="Calibri"/>
                <a:ea typeface="Calibri"/>
                <a:cs typeface="Calibri"/>
                <a:sym typeface="Calibri"/>
              </a:rPr>
              <a:t>One World Cup dataset from 8 tables joined using SQL.</a:t>
            </a:r>
            <a:endParaRPr b="0" i="0" sz="1140" u="none" cap="none" strike="noStrike">
              <a:solidFill>
                <a:schemeClr val="dk1"/>
              </a:solidFill>
              <a:latin typeface="Calibri"/>
              <a:ea typeface="Calibri"/>
              <a:cs typeface="Calibri"/>
              <a:sym typeface="Calibri"/>
            </a:endParaRPr>
          </a:p>
        </p:txBody>
      </p:sp>
      <p:sp>
        <p:nvSpPr>
          <p:cNvPr id="156" name="Google Shape;156;p20"/>
          <p:cNvSpPr/>
          <p:nvPr/>
        </p:nvSpPr>
        <p:spPr>
          <a:xfrm>
            <a:off x="4724031" y="2264086"/>
            <a:ext cx="4132500" cy="959100"/>
          </a:xfrm>
          <a:prstGeom prst="roundRect">
            <a:avLst>
              <a:gd fmla="val 5926" name="adj"/>
            </a:avLst>
          </a:prstGeom>
          <a:solidFill>
            <a:srgbClr val="F3F5F9"/>
          </a:solidFill>
          <a:ln>
            <a:noFill/>
          </a:ln>
        </p:spPr>
        <p:txBody>
          <a:bodyPr anchorCtr="0" anchor="ctr" bIns="71050" lIns="71050" spcFirstLastPara="1" rIns="71050" wrap="square" tIns="71050">
            <a:noAutofit/>
          </a:bodyPr>
          <a:lstStyle/>
          <a:p>
            <a:pPr indent="0" lvl="0" marL="0" marR="0" rtl="0" algn="l">
              <a:lnSpc>
                <a:spcPct val="100000"/>
              </a:lnSpc>
              <a:spcBef>
                <a:spcPts val="0"/>
              </a:spcBef>
              <a:spcAft>
                <a:spcPts val="0"/>
              </a:spcAft>
              <a:buClr>
                <a:srgbClr val="000000"/>
              </a:buClr>
              <a:buSzPts val="1140"/>
              <a:buFont typeface="Arial"/>
              <a:buNone/>
            </a:pPr>
            <a:r>
              <a:t/>
            </a:r>
            <a:endParaRPr b="0" i="0" sz="1140" u="none" cap="none" strike="noStrike">
              <a:solidFill>
                <a:srgbClr val="000000"/>
              </a:solidFill>
              <a:latin typeface="Arial"/>
              <a:ea typeface="Arial"/>
              <a:cs typeface="Arial"/>
              <a:sym typeface="Arial"/>
            </a:endParaRPr>
          </a:p>
        </p:txBody>
      </p:sp>
      <p:sp>
        <p:nvSpPr>
          <p:cNvPr id="157" name="Google Shape;157;p20"/>
          <p:cNvSpPr/>
          <p:nvPr/>
        </p:nvSpPr>
        <p:spPr>
          <a:xfrm>
            <a:off x="4944867" y="2416626"/>
            <a:ext cx="355200" cy="355200"/>
          </a:xfrm>
          <a:prstGeom prst="ellipse">
            <a:avLst/>
          </a:prstGeom>
          <a:solidFill>
            <a:srgbClr val="2E9973"/>
          </a:solidFill>
          <a:ln>
            <a:noFill/>
          </a:ln>
        </p:spPr>
        <p:txBody>
          <a:bodyPr anchorCtr="0" anchor="ctr" bIns="71050" lIns="71050" spcFirstLastPara="1" rIns="71050" wrap="square" tIns="71050">
            <a:noAutofit/>
          </a:bodyPr>
          <a:lstStyle/>
          <a:p>
            <a:pPr indent="0" lvl="0" marL="0" marR="0" rtl="0" algn="l">
              <a:lnSpc>
                <a:spcPct val="100000"/>
              </a:lnSpc>
              <a:spcBef>
                <a:spcPts val="0"/>
              </a:spcBef>
              <a:spcAft>
                <a:spcPts val="0"/>
              </a:spcAft>
              <a:buClr>
                <a:srgbClr val="000000"/>
              </a:buClr>
              <a:buSzPts val="1140"/>
              <a:buFont typeface="Arial"/>
              <a:buNone/>
            </a:pPr>
            <a:r>
              <a:t/>
            </a:r>
            <a:endParaRPr b="0" i="0" sz="1140" u="none" cap="none" strike="noStrike">
              <a:solidFill>
                <a:srgbClr val="000000"/>
              </a:solidFill>
              <a:latin typeface="Arial"/>
              <a:ea typeface="Arial"/>
              <a:cs typeface="Arial"/>
              <a:sym typeface="Arial"/>
            </a:endParaRPr>
          </a:p>
        </p:txBody>
      </p:sp>
      <p:sp>
        <p:nvSpPr>
          <p:cNvPr id="158" name="Google Shape;158;p20"/>
          <p:cNvSpPr/>
          <p:nvPr/>
        </p:nvSpPr>
        <p:spPr>
          <a:xfrm>
            <a:off x="4933916" y="2416626"/>
            <a:ext cx="355200" cy="355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47"/>
              <a:buFont typeface="Calibri"/>
              <a:buNone/>
            </a:pPr>
            <a:r>
              <a:rPr b="1" i="0" lang="en" sz="1347" u="none" cap="none" strike="noStrike">
                <a:solidFill>
                  <a:srgbClr val="FFFFFF"/>
                </a:solidFill>
                <a:latin typeface="Calibri"/>
                <a:ea typeface="Calibri"/>
                <a:cs typeface="Calibri"/>
                <a:sym typeface="Calibri"/>
              </a:rPr>
              <a:t>5</a:t>
            </a:r>
            <a:endParaRPr b="0" i="0" sz="1347" u="none" cap="none" strike="noStrike">
              <a:solidFill>
                <a:schemeClr val="dk1"/>
              </a:solidFill>
              <a:latin typeface="Calibri"/>
              <a:ea typeface="Calibri"/>
              <a:cs typeface="Calibri"/>
              <a:sym typeface="Calibri"/>
            </a:endParaRPr>
          </a:p>
        </p:txBody>
      </p:sp>
      <p:sp>
        <p:nvSpPr>
          <p:cNvPr id="159" name="Google Shape;159;p20"/>
          <p:cNvSpPr/>
          <p:nvPr/>
        </p:nvSpPr>
        <p:spPr>
          <a:xfrm>
            <a:off x="5434511" y="2452176"/>
            <a:ext cx="3279900" cy="284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3203B"/>
              </a:buClr>
              <a:buSzPts val="1140"/>
              <a:buFont typeface="Calibri"/>
              <a:buNone/>
            </a:pPr>
            <a:r>
              <a:rPr b="1" i="0" lang="en" sz="1450" u="none" cap="none" strike="noStrike">
                <a:solidFill>
                  <a:srgbClr val="13203B"/>
                </a:solidFill>
                <a:latin typeface="Calibri"/>
                <a:ea typeface="Calibri"/>
                <a:cs typeface="Calibri"/>
                <a:sym typeface="Calibri"/>
              </a:rPr>
              <a:t>Results</a:t>
            </a:r>
            <a:endParaRPr b="0" i="0" sz="1450" u="none" cap="none" strike="noStrike">
              <a:solidFill>
                <a:schemeClr val="dk1"/>
              </a:solidFill>
              <a:latin typeface="Calibri"/>
              <a:ea typeface="Calibri"/>
              <a:cs typeface="Calibri"/>
              <a:sym typeface="Calibri"/>
            </a:endParaRPr>
          </a:p>
        </p:txBody>
      </p:sp>
      <p:sp>
        <p:nvSpPr>
          <p:cNvPr id="160" name="Google Shape;160;p20"/>
          <p:cNvSpPr/>
          <p:nvPr/>
        </p:nvSpPr>
        <p:spPr>
          <a:xfrm>
            <a:off x="5434511" y="2670246"/>
            <a:ext cx="3244500" cy="497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0607F"/>
              </a:buClr>
              <a:buSzPts val="932"/>
              <a:buFont typeface="Calibri"/>
              <a:buNone/>
            </a:pPr>
            <a:r>
              <a:rPr b="0" i="0" lang="en" sz="1140" u="none" cap="none" strike="noStrike">
                <a:solidFill>
                  <a:srgbClr val="50607F"/>
                </a:solidFill>
                <a:latin typeface="Calibri"/>
                <a:ea typeface="Calibri"/>
                <a:cs typeface="Calibri"/>
                <a:sym typeface="Calibri"/>
              </a:rPr>
              <a:t>The three factors that move the needle — and the ones that don’t.</a:t>
            </a:r>
            <a:endParaRPr b="0" i="0" sz="1140" u="none" cap="none" strike="noStrike">
              <a:solidFill>
                <a:schemeClr val="dk1"/>
              </a:solidFill>
              <a:latin typeface="Calibri"/>
              <a:ea typeface="Calibri"/>
              <a:cs typeface="Calibri"/>
              <a:sym typeface="Calibri"/>
            </a:endParaRPr>
          </a:p>
        </p:txBody>
      </p:sp>
      <p:sp>
        <p:nvSpPr>
          <p:cNvPr id="161" name="Google Shape;161;p20"/>
          <p:cNvSpPr/>
          <p:nvPr/>
        </p:nvSpPr>
        <p:spPr>
          <a:xfrm>
            <a:off x="411500" y="3422137"/>
            <a:ext cx="4132500" cy="959100"/>
          </a:xfrm>
          <a:prstGeom prst="roundRect">
            <a:avLst>
              <a:gd fmla="val 5926" name="adj"/>
            </a:avLst>
          </a:prstGeom>
          <a:solidFill>
            <a:srgbClr val="F3F5F9"/>
          </a:solidFill>
          <a:ln>
            <a:noFill/>
          </a:ln>
        </p:spPr>
        <p:txBody>
          <a:bodyPr anchorCtr="0" anchor="ctr" bIns="71050" lIns="71050" spcFirstLastPara="1" rIns="71050" wrap="square" tIns="71050">
            <a:noAutofit/>
          </a:bodyPr>
          <a:lstStyle/>
          <a:p>
            <a:pPr indent="0" lvl="0" marL="0" marR="0" rtl="0" algn="l">
              <a:lnSpc>
                <a:spcPct val="100000"/>
              </a:lnSpc>
              <a:spcBef>
                <a:spcPts val="0"/>
              </a:spcBef>
              <a:spcAft>
                <a:spcPts val="0"/>
              </a:spcAft>
              <a:buClr>
                <a:srgbClr val="000000"/>
              </a:buClr>
              <a:buSzPts val="1140"/>
              <a:buFont typeface="Arial"/>
              <a:buNone/>
            </a:pPr>
            <a:r>
              <a:t/>
            </a:r>
            <a:endParaRPr b="0" i="0" sz="1140" u="none" cap="none" strike="noStrike">
              <a:solidFill>
                <a:srgbClr val="000000"/>
              </a:solidFill>
              <a:latin typeface="Arial"/>
              <a:ea typeface="Arial"/>
              <a:cs typeface="Arial"/>
              <a:sym typeface="Arial"/>
            </a:endParaRPr>
          </a:p>
        </p:txBody>
      </p:sp>
      <p:sp>
        <p:nvSpPr>
          <p:cNvPr id="162" name="Google Shape;162;p20"/>
          <p:cNvSpPr/>
          <p:nvPr/>
        </p:nvSpPr>
        <p:spPr>
          <a:xfrm>
            <a:off x="610435" y="3574677"/>
            <a:ext cx="355200" cy="355200"/>
          </a:xfrm>
          <a:prstGeom prst="ellipse">
            <a:avLst/>
          </a:prstGeom>
          <a:solidFill>
            <a:srgbClr val="2E9973"/>
          </a:solidFill>
          <a:ln>
            <a:noFill/>
          </a:ln>
        </p:spPr>
        <p:txBody>
          <a:bodyPr anchorCtr="0" anchor="ctr" bIns="71050" lIns="71050" spcFirstLastPara="1" rIns="71050" wrap="square" tIns="71050">
            <a:noAutofit/>
          </a:bodyPr>
          <a:lstStyle/>
          <a:p>
            <a:pPr indent="0" lvl="0" marL="0" marR="0" rtl="0" algn="l">
              <a:lnSpc>
                <a:spcPct val="100000"/>
              </a:lnSpc>
              <a:spcBef>
                <a:spcPts val="0"/>
              </a:spcBef>
              <a:spcAft>
                <a:spcPts val="0"/>
              </a:spcAft>
              <a:buClr>
                <a:srgbClr val="000000"/>
              </a:buClr>
              <a:buSzPts val="1140"/>
              <a:buFont typeface="Arial"/>
              <a:buNone/>
            </a:pPr>
            <a:r>
              <a:t/>
            </a:r>
            <a:endParaRPr b="0" i="0" sz="1140" u="none" cap="none" strike="noStrike">
              <a:solidFill>
                <a:srgbClr val="000000"/>
              </a:solidFill>
              <a:latin typeface="Arial"/>
              <a:ea typeface="Arial"/>
              <a:cs typeface="Arial"/>
              <a:sym typeface="Arial"/>
            </a:endParaRPr>
          </a:p>
        </p:txBody>
      </p:sp>
      <p:sp>
        <p:nvSpPr>
          <p:cNvPr id="163" name="Google Shape;163;p20"/>
          <p:cNvSpPr/>
          <p:nvPr/>
        </p:nvSpPr>
        <p:spPr>
          <a:xfrm>
            <a:off x="610435" y="3574677"/>
            <a:ext cx="355200" cy="355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47"/>
              <a:buFont typeface="Calibri"/>
              <a:buNone/>
            </a:pPr>
            <a:r>
              <a:rPr b="1" i="0" lang="en" sz="1347" u="none" cap="none" strike="noStrike">
                <a:solidFill>
                  <a:srgbClr val="FFFFFF"/>
                </a:solidFill>
                <a:latin typeface="Calibri"/>
                <a:ea typeface="Calibri"/>
                <a:cs typeface="Calibri"/>
                <a:sym typeface="Calibri"/>
              </a:rPr>
              <a:t>3</a:t>
            </a:r>
            <a:endParaRPr b="0" i="0" sz="1347" u="none" cap="none" strike="noStrike">
              <a:solidFill>
                <a:schemeClr val="dk1"/>
              </a:solidFill>
              <a:latin typeface="Calibri"/>
              <a:ea typeface="Calibri"/>
              <a:cs typeface="Calibri"/>
              <a:sym typeface="Calibri"/>
            </a:endParaRPr>
          </a:p>
        </p:txBody>
      </p:sp>
      <p:sp>
        <p:nvSpPr>
          <p:cNvPr id="164" name="Google Shape;164;p20"/>
          <p:cNvSpPr/>
          <p:nvPr/>
        </p:nvSpPr>
        <p:spPr>
          <a:xfrm>
            <a:off x="1121980" y="3610227"/>
            <a:ext cx="3279900" cy="284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3203B"/>
              </a:buClr>
              <a:buSzPts val="1140"/>
              <a:buFont typeface="Calibri"/>
              <a:buNone/>
            </a:pPr>
            <a:r>
              <a:rPr b="1" i="0" lang="en" sz="1450" u="none" cap="none" strike="noStrike">
                <a:solidFill>
                  <a:srgbClr val="13203B"/>
                </a:solidFill>
                <a:latin typeface="Calibri"/>
                <a:ea typeface="Calibri"/>
                <a:cs typeface="Calibri"/>
                <a:sym typeface="Calibri"/>
              </a:rPr>
              <a:t>EDA</a:t>
            </a:r>
            <a:endParaRPr b="0" i="0" sz="1450" u="none" cap="none" strike="noStrike">
              <a:solidFill>
                <a:schemeClr val="dk1"/>
              </a:solidFill>
              <a:latin typeface="Calibri"/>
              <a:ea typeface="Calibri"/>
              <a:cs typeface="Calibri"/>
              <a:sym typeface="Calibri"/>
            </a:endParaRPr>
          </a:p>
        </p:txBody>
      </p:sp>
      <p:sp>
        <p:nvSpPr>
          <p:cNvPr id="165" name="Google Shape;165;p20"/>
          <p:cNvSpPr/>
          <p:nvPr/>
        </p:nvSpPr>
        <p:spPr>
          <a:xfrm>
            <a:off x="1121980" y="3828297"/>
            <a:ext cx="3244500" cy="497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0607F"/>
              </a:buClr>
              <a:buSzPts val="932"/>
              <a:buFont typeface="Calibri"/>
              <a:buNone/>
            </a:pPr>
            <a:r>
              <a:rPr b="0" i="0" lang="en" sz="1140" u="none" cap="none" strike="noStrike">
                <a:solidFill>
                  <a:srgbClr val="50607F"/>
                </a:solidFill>
                <a:latin typeface="Calibri"/>
                <a:ea typeface="Calibri"/>
                <a:cs typeface="Calibri"/>
                <a:sym typeface="Calibri"/>
              </a:rPr>
              <a:t>What the outcome and early predictor patterns look like before any model is fit.</a:t>
            </a:r>
            <a:endParaRPr b="0" i="0" sz="1140" u="none" cap="none" strike="noStrike">
              <a:solidFill>
                <a:schemeClr val="dk1"/>
              </a:solidFill>
              <a:latin typeface="Calibri"/>
              <a:ea typeface="Calibri"/>
              <a:cs typeface="Calibri"/>
              <a:sym typeface="Calibri"/>
            </a:endParaRPr>
          </a:p>
        </p:txBody>
      </p:sp>
      <p:sp>
        <p:nvSpPr>
          <p:cNvPr id="166" name="Google Shape;166;p20"/>
          <p:cNvSpPr/>
          <p:nvPr/>
        </p:nvSpPr>
        <p:spPr>
          <a:xfrm>
            <a:off x="4724031" y="3422137"/>
            <a:ext cx="4132500" cy="959100"/>
          </a:xfrm>
          <a:prstGeom prst="roundRect">
            <a:avLst>
              <a:gd fmla="val 5926" name="adj"/>
            </a:avLst>
          </a:prstGeom>
          <a:solidFill>
            <a:srgbClr val="F3F5F9"/>
          </a:solidFill>
          <a:ln>
            <a:noFill/>
          </a:ln>
        </p:spPr>
        <p:txBody>
          <a:bodyPr anchorCtr="0" anchor="ctr" bIns="71050" lIns="71050" spcFirstLastPara="1" rIns="71050" wrap="square" tIns="71050">
            <a:noAutofit/>
          </a:bodyPr>
          <a:lstStyle/>
          <a:p>
            <a:pPr indent="0" lvl="0" marL="0" marR="0" rtl="0" algn="l">
              <a:lnSpc>
                <a:spcPct val="100000"/>
              </a:lnSpc>
              <a:spcBef>
                <a:spcPts val="0"/>
              </a:spcBef>
              <a:spcAft>
                <a:spcPts val="0"/>
              </a:spcAft>
              <a:buClr>
                <a:srgbClr val="000000"/>
              </a:buClr>
              <a:buSzPts val="1140"/>
              <a:buFont typeface="Arial"/>
              <a:buNone/>
            </a:pPr>
            <a:r>
              <a:t/>
            </a:r>
            <a:endParaRPr b="0" i="0" sz="1140" u="none" cap="none" strike="noStrike">
              <a:solidFill>
                <a:srgbClr val="000000"/>
              </a:solidFill>
              <a:latin typeface="Arial"/>
              <a:ea typeface="Arial"/>
              <a:cs typeface="Arial"/>
              <a:sym typeface="Arial"/>
            </a:endParaRPr>
          </a:p>
        </p:txBody>
      </p:sp>
      <p:sp>
        <p:nvSpPr>
          <p:cNvPr id="167" name="Google Shape;167;p20"/>
          <p:cNvSpPr/>
          <p:nvPr/>
        </p:nvSpPr>
        <p:spPr>
          <a:xfrm>
            <a:off x="4944867" y="3574677"/>
            <a:ext cx="355200" cy="355200"/>
          </a:xfrm>
          <a:prstGeom prst="ellipse">
            <a:avLst/>
          </a:prstGeom>
          <a:solidFill>
            <a:srgbClr val="2E9973"/>
          </a:solidFill>
          <a:ln>
            <a:noFill/>
          </a:ln>
        </p:spPr>
        <p:txBody>
          <a:bodyPr anchorCtr="0" anchor="ctr" bIns="71050" lIns="71050" spcFirstLastPara="1" rIns="71050" wrap="square" tIns="71050">
            <a:noAutofit/>
          </a:bodyPr>
          <a:lstStyle/>
          <a:p>
            <a:pPr indent="0" lvl="0" marL="0" marR="0" rtl="0" algn="l">
              <a:lnSpc>
                <a:spcPct val="100000"/>
              </a:lnSpc>
              <a:spcBef>
                <a:spcPts val="0"/>
              </a:spcBef>
              <a:spcAft>
                <a:spcPts val="0"/>
              </a:spcAft>
              <a:buClr>
                <a:srgbClr val="000000"/>
              </a:buClr>
              <a:buSzPts val="1140"/>
              <a:buFont typeface="Arial"/>
              <a:buNone/>
            </a:pPr>
            <a:r>
              <a:t/>
            </a:r>
            <a:endParaRPr b="0" i="0" sz="1140" u="none" cap="none" strike="noStrike">
              <a:solidFill>
                <a:srgbClr val="000000"/>
              </a:solidFill>
              <a:latin typeface="Arial"/>
              <a:ea typeface="Arial"/>
              <a:cs typeface="Arial"/>
              <a:sym typeface="Arial"/>
            </a:endParaRPr>
          </a:p>
        </p:txBody>
      </p:sp>
      <p:sp>
        <p:nvSpPr>
          <p:cNvPr id="168" name="Google Shape;168;p20"/>
          <p:cNvSpPr/>
          <p:nvPr/>
        </p:nvSpPr>
        <p:spPr>
          <a:xfrm>
            <a:off x="4933916" y="3574677"/>
            <a:ext cx="355200" cy="355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47"/>
              <a:buFont typeface="Calibri"/>
              <a:buNone/>
            </a:pPr>
            <a:r>
              <a:rPr b="1" i="0" lang="en" sz="1347" u="none" cap="none" strike="noStrike">
                <a:solidFill>
                  <a:srgbClr val="FFFFFF"/>
                </a:solidFill>
                <a:latin typeface="Calibri"/>
                <a:ea typeface="Calibri"/>
                <a:cs typeface="Calibri"/>
                <a:sym typeface="Calibri"/>
              </a:rPr>
              <a:t>6</a:t>
            </a:r>
            <a:endParaRPr b="0" i="0" sz="1347" u="none" cap="none" strike="noStrike">
              <a:solidFill>
                <a:schemeClr val="dk1"/>
              </a:solidFill>
              <a:latin typeface="Calibri"/>
              <a:ea typeface="Calibri"/>
              <a:cs typeface="Calibri"/>
              <a:sym typeface="Calibri"/>
            </a:endParaRPr>
          </a:p>
        </p:txBody>
      </p:sp>
      <p:sp>
        <p:nvSpPr>
          <p:cNvPr id="169" name="Google Shape;169;p20"/>
          <p:cNvSpPr/>
          <p:nvPr/>
        </p:nvSpPr>
        <p:spPr>
          <a:xfrm>
            <a:off x="5434511" y="3610227"/>
            <a:ext cx="3279900" cy="284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3203B"/>
              </a:buClr>
              <a:buSzPts val="1140"/>
              <a:buFont typeface="Calibri"/>
              <a:buNone/>
            </a:pPr>
            <a:r>
              <a:rPr b="1" i="0" lang="en" sz="1450" u="none" cap="none" strike="noStrike">
                <a:solidFill>
                  <a:srgbClr val="13203B"/>
                </a:solidFill>
                <a:latin typeface="Calibri"/>
                <a:ea typeface="Calibri"/>
                <a:cs typeface="Calibri"/>
                <a:sym typeface="Calibri"/>
              </a:rPr>
              <a:t>Business Implications</a:t>
            </a:r>
            <a:endParaRPr b="0" i="0" sz="1450" u="none" cap="none" strike="noStrike">
              <a:solidFill>
                <a:schemeClr val="dk1"/>
              </a:solidFill>
              <a:latin typeface="Calibri"/>
              <a:ea typeface="Calibri"/>
              <a:cs typeface="Calibri"/>
              <a:sym typeface="Calibri"/>
            </a:endParaRPr>
          </a:p>
        </p:txBody>
      </p:sp>
      <p:sp>
        <p:nvSpPr>
          <p:cNvPr id="170" name="Google Shape;170;p20"/>
          <p:cNvSpPr/>
          <p:nvPr/>
        </p:nvSpPr>
        <p:spPr>
          <a:xfrm>
            <a:off x="5434511" y="3828297"/>
            <a:ext cx="3244500" cy="497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0607F"/>
              </a:buClr>
              <a:buSzPts val="932"/>
              <a:buFont typeface="Calibri"/>
              <a:buNone/>
            </a:pPr>
            <a:r>
              <a:rPr b="0" i="0" lang="en" sz="1140" u="none" cap="none" strike="noStrike">
                <a:solidFill>
                  <a:srgbClr val="50607F"/>
                </a:solidFill>
                <a:latin typeface="Calibri"/>
                <a:ea typeface="Calibri"/>
                <a:cs typeface="Calibri"/>
                <a:sym typeface="Calibri"/>
              </a:rPr>
              <a:t>What federations, analysts, and broadcasters should take from this.</a:t>
            </a:r>
            <a:endParaRPr b="0" i="0" sz="1140" u="none" cap="none" strike="noStrike">
              <a:solidFill>
                <a:schemeClr val="dk1"/>
              </a:solidFill>
              <a:latin typeface="Calibri"/>
              <a:ea typeface="Calibri"/>
              <a:cs typeface="Calibri"/>
              <a:sym typeface="Calibri"/>
            </a:endParaRPr>
          </a:p>
        </p:txBody>
      </p:sp>
      <p:sp>
        <p:nvSpPr>
          <p:cNvPr id="171" name="Google Shape;171;p20"/>
          <p:cNvSpPr/>
          <p:nvPr/>
        </p:nvSpPr>
        <p:spPr>
          <a:xfrm>
            <a:off x="411491" y="4800600"/>
            <a:ext cx="48006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592AA"/>
              </a:buClr>
              <a:buSzPts val="700"/>
              <a:buFont typeface="Calibri"/>
              <a:buNone/>
            </a:pPr>
            <a:r>
              <a:rPr b="0" i="0" lang="en" sz="700" u="none" cap="none" strike="noStrike">
                <a:solidFill>
                  <a:srgbClr val="8592AA"/>
                </a:solidFill>
                <a:latin typeface="Calibri"/>
                <a:ea typeface="Calibri"/>
                <a:cs typeface="Calibri"/>
                <a:sym typeface="Calibri"/>
              </a:rPr>
              <a:t>Shiu &amp; Nguyen  |  STAT 418, Tools in Data Science  |  UCLA Summer 2026</a:t>
            </a:r>
            <a:endParaRPr b="0" i="0" sz="700" u="none" cap="none" strike="noStrike">
              <a:solidFill>
                <a:schemeClr val="dk1"/>
              </a:solidFill>
              <a:latin typeface="Calibri"/>
              <a:ea typeface="Calibri"/>
              <a:cs typeface="Calibri"/>
              <a:sym typeface="Calibri"/>
            </a:endParaRPr>
          </a:p>
        </p:txBody>
      </p:sp>
      <p:sp>
        <p:nvSpPr>
          <p:cNvPr id="172" name="Google Shape;172;p20"/>
          <p:cNvSpPr/>
          <p:nvPr/>
        </p:nvSpPr>
        <p:spPr>
          <a:xfrm>
            <a:off x="8458197" y="4800600"/>
            <a:ext cx="411491" cy="2057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592AA"/>
              </a:buClr>
              <a:buSzPts val="800"/>
              <a:buFont typeface="Calibri"/>
              <a:buNone/>
            </a:pPr>
            <a:r>
              <a:rPr b="0" i="0" lang="en" sz="800" u="none" cap="none" strike="noStrike">
                <a:solidFill>
                  <a:srgbClr val="8592AA"/>
                </a:solidFill>
                <a:latin typeface="Calibri"/>
                <a:ea typeface="Calibri"/>
                <a:cs typeface="Calibri"/>
                <a:sym typeface="Calibri"/>
              </a:rPr>
              <a:t>2</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03B"/>
        </a:solidFill>
      </p:bgPr>
    </p:bg>
    <p:spTree>
      <p:nvGrpSpPr>
        <p:cNvPr id="177" name="Shape 177"/>
        <p:cNvGrpSpPr/>
        <p:nvPr/>
      </p:nvGrpSpPr>
      <p:grpSpPr>
        <a:xfrm>
          <a:off x="0" y="0"/>
          <a:ext cx="0" cy="0"/>
          <a:chOff x="0" y="0"/>
          <a:chExt cx="0" cy="0"/>
        </a:xfrm>
      </p:grpSpPr>
      <p:sp>
        <p:nvSpPr>
          <p:cNvPr id="178" name="Google Shape;178;p21"/>
          <p:cNvSpPr/>
          <p:nvPr/>
        </p:nvSpPr>
        <p:spPr>
          <a:xfrm>
            <a:off x="5989251" y="-617220"/>
            <a:ext cx="3017600" cy="301752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34456E"/>
              </a:buClr>
              <a:buSzPts val="19500"/>
              <a:buFont typeface="Calibri"/>
              <a:buNone/>
            </a:pPr>
            <a:r>
              <a:rPr b="1" i="0" lang="en" sz="19500" u="none" cap="none" strike="noStrike">
                <a:solidFill>
                  <a:srgbClr val="34456E"/>
                </a:solidFill>
                <a:latin typeface="Calibri"/>
                <a:ea typeface="Calibri"/>
                <a:cs typeface="Calibri"/>
                <a:sym typeface="Calibri"/>
              </a:rPr>
              <a:t>01</a:t>
            </a:r>
            <a:endParaRPr b="0" i="0" sz="19500" u="none" cap="none" strike="noStrike">
              <a:solidFill>
                <a:schemeClr val="dk1"/>
              </a:solidFill>
              <a:latin typeface="Calibri"/>
              <a:ea typeface="Calibri"/>
              <a:cs typeface="Calibri"/>
              <a:sym typeface="Calibri"/>
            </a:endParaRPr>
          </a:p>
        </p:txBody>
      </p:sp>
      <p:sp>
        <p:nvSpPr>
          <p:cNvPr id="179" name="Google Shape;179;p21"/>
          <p:cNvSpPr/>
          <p:nvPr/>
        </p:nvSpPr>
        <p:spPr>
          <a:xfrm>
            <a:off x="411491" y="480060"/>
            <a:ext cx="288044" cy="288036"/>
          </a:xfrm>
          <a:prstGeom prst="ellipse">
            <a:avLst/>
          </a:prstGeom>
          <a:solidFill>
            <a:srgbClr val="2E997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80" name="Google Shape;180;p21"/>
          <p:cNvSpPr/>
          <p:nvPr/>
        </p:nvSpPr>
        <p:spPr>
          <a:xfrm>
            <a:off x="411491" y="480060"/>
            <a:ext cx="288044" cy="2880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181" name="Google Shape;181;p21"/>
          <p:cNvSpPr/>
          <p:nvPr/>
        </p:nvSpPr>
        <p:spPr>
          <a:xfrm>
            <a:off x="809266" y="480060"/>
            <a:ext cx="5486546" cy="2880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FB0C9"/>
              </a:buClr>
              <a:buSzPts val="1000"/>
              <a:buFont typeface="Calibri"/>
              <a:buNone/>
            </a:pPr>
            <a:r>
              <a:rPr b="1" i="0" lang="en" sz="1000" u="none" cap="none" strike="noStrike">
                <a:solidFill>
                  <a:srgbClr val="9FB0C9"/>
                </a:solidFill>
                <a:latin typeface="Calibri"/>
                <a:ea typeface="Calibri"/>
                <a:cs typeface="Calibri"/>
                <a:sym typeface="Calibri"/>
              </a:rPr>
              <a:t>SECTION 1 OF 6  ·  CONTEXT</a:t>
            </a:r>
            <a:endParaRPr b="0" i="0" sz="1000" u="none" cap="none" strike="noStrike">
              <a:solidFill>
                <a:schemeClr val="dk1"/>
              </a:solidFill>
              <a:latin typeface="Calibri"/>
              <a:ea typeface="Calibri"/>
              <a:cs typeface="Calibri"/>
              <a:sym typeface="Calibri"/>
            </a:endParaRPr>
          </a:p>
        </p:txBody>
      </p:sp>
      <p:sp>
        <p:nvSpPr>
          <p:cNvPr id="182" name="Google Shape;182;p21"/>
          <p:cNvSpPr/>
          <p:nvPr/>
        </p:nvSpPr>
        <p:spPr>
          <a:xfrm>
            <a:off x="411491" y="1988820"/>
            <a:ext cx="7269674" cy="144018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FFFFFF"/>
              </a:buClr>
              <a:buSzPts val="2600"/>
              <a:buFont typeface="Calibri"/>
              <a:buNone/>
            </a:pPr>
            <a:r>
              <a:rPr b="1" lang="en" sz="2600">
                <a:solidFill>
                  <a:srgbClr val="FFFFFF"/>
                </a:solidFill>
                <a:latin typeface="Calibri"/>
                <a:ea typeface="Calibri"/>
                <a:cs typeface="Calibri"/>
                <a:sym typeface="Calibri"/>
              </a:rPr>
              <a:t>Group-stage advancement is the World Cup's first major competitive milestone.</a:t>
            </a:r>
            <a:endParaRPr b="0" i="0" sz="2600" u="none" cap="none" strike="noStrike">
              <a:solidFill>
                <a:schemeClr val="dk1"/>
              </a:solidFill>
              <a:latin typeface="Calibri"/>
              <a:ea typeface="Calibri"/>
              <a:cs typeface="Calibri"/>
              <a:sym typeface="Calibri"/>
            </a:endParaRPr>
          </a:p>
        </p:txBody>
      </p:sp>
      <p:sp>
        <p:nvSpPr>
          <p:cNvPr id="183" name="Google Shape;183;p21"/>
          <p:cNvSpPr/>
          <p:nvPr/>
        </p:nvSpPr>
        <p:spPr>
          <a:xfrm>
            <a:off x="411491" y="4800600"/>
            <a:ext cx="4800728"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4456E"/>
              </a:buClr>
              <a:buSzPts val="700"/>
              <a:buFont typeface="Calibri"/>
              <a:buNone/>
            </a:pPr>
            <a:r>
              <a:rPr b="0" i="0" lang="en" sz="700" u="none" cap="none" strike="noStrike">
                <a:solidFill>
                  <a:srgbClr val="34456E"/>
                </a:solidFill>
                <a:latin typeface="Calibri"/>
                <a:ea typeface="Calibri"/>
                <a:cs typeface="Calibri"/>
                <a:sym typeface="Calibri"/>
              </a:rPr>
              <a:t>Shiu &amp; Nguyen  |  STAT 418, Tools in Data Science  |  UCLA Summer 2026</a:t>
            </a:r>
            <a:endParaRPr b="0" i="0" sz="700" u="none" cap="none" strike="noStrike">
              <a:solidFill>
                <a:schemeClr val="dk1"/>
              </a:solidFill>
              <a:latin typeface="Calibri"/>
              <a:ea typeface="Calibri"/>
              <a:cs typeface="Calibri"/>
              <a:sym typeface="Calibri"/>
            </a:endParaRPr>
          </a:p>
        </p:txBody>
      </p:sp>
      <p:sp>
        <p:nvSpPr>
          <p:cNvPr id="184" name="Google Shape;184;p21"/>
          <p:cNvSpPr/>
          <p:nvPr/>
        </p:nvSpPr>
        <p:spPr>
          <a:xfrm>
            <a:off x="8458197" y="4800600"/>
            <a:ext cx="411491" cy="2057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592AA"/>
              </a:buClr>
              <a:buSzPts val="800"/>
              <a:buFont typeface="Calibri"/>
              <a:buNone/>
            </a:pPr>
            <a:r>
              <a:rPr b="0" i="0" lang="en" sz="800" u="none" cap="none" strike="noStrike">
                <a:solidFill>
                  <a:srgbClr val="8592AA"/>
                </a:solidFill>
                <a:latin typeface="Calibri"/>
                <a:ea typeface="Calibri"/>
                <a:cs typeface="Calibri"/>
                <a:sym typeface="Calibri"/>
              </a:rPr>
              <a:t>3</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9" name="Shape 189"/>
        <p:cNvGrpSpPr/>
        <p:nvPr/>
      </p:nvGrpSpPr>
      <p:grpSpPr>
        <a:xfrm>
          <a:off x="0" y="0"/>
          <a:ext cx="0" cy="0"/>
          <a:chOff x="0" y="0"/>
          <a:chExt cx="0" cy="0"/>
        </a:xfrm>
      </p:grpSpPr>
      <p:sp>
        <p:nvSpPr>
          <p:cNvPr id="190" name="Google Shape;190;p22"/>
          <p:cNvSpPr/>
          <p:nvPr/>
        </p:nvSpPr>
        <p:spPr>
          <a:xfrm>
            <a:off x="336164" y="3839508"/>
            <a:ext cx="4368900" cy="682500"/>
          </a:xfrm>
          <a:prstGeom prst="roundRect">
            <a:avLst>
              <a:gd fmla="val 16667" name="adj"/>
            </a:avLst>
          </a:prstGeom>
          <a:solidFill>
            <a:srgbClr val="EAEEF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 name="Google Shape;191;p22"/>
          <p:cNvSpPr/>
          <p:nvPr/>
        </p:nvSpPr>
        <p:spPr>
          <a:xfrm>
            <a:off x="6566291" y="1313492"/>
            <a:ext cx="2201400" cy="1971900"/>
          </a:xfrm>
          <a:prstGeom prst="rect">
            <a:avLst/>
          </a:prstGeom>
          <a:solidFill>
            <a:srgbClr val="34456E"/>
          </a:solidFill>
          <a:ln cap="flat" cmpd="sng" w="8725">
            <a:solidFill>
              <a:schemeClr val="dk2"/>
            </a:solidFill>
            <a:prstDash val="solid"/>
            <a:round/>
            <a:headEnd len="sm" w="sm" type="none"/>
            <a:tailEnd len="sm" w="sm" type="none"/>
          </a:ln>
        </p:spPr>
        <p:txBody>
          <a:bodyPr anchorCtr="0" anchor="ctr" bIns="83550" lIns="83550" spcFirstLastPara="1" rIns="83550" wrap="square" tIns="83550">
            <a:noAutofit/>
          </a:bodyPr>
          <a:lstStyle/>
          <a:p>
            <a:pPr indent="0" lvl="0" marL="0" rtl="0" algn="ctr">
              <a:spcBef>
                <a:spcPts val="0"/>
              </a:spcBef>
              <a:spcAft>
                <a:spcPts val="0"/>
              </a:spcAft>
              <a:buNone/>
            </a:pPr>
            <a:r>
              <a:t/>
            </a:r>
            <a:endParaRPr sz="1280"/>
          </a:p>
        </p:txBody>
      </p:sp>
      <p:sp>
        <p:nvSpPr>
          <p:cNvPr id="192" name="Google Shape;192;p22"/>
          <p:cNvSpPr/>
          <p:nvPr/>
        </p:nvSpPr>
        <p:spPr>
          <a:xfrm>
            <a:off x="411491" y="308610"/>
            <a:ext cx="8321033"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9973"/>
              </a:buClr>
              <a:buSzPts val="800"/>
              <a:buFont typeface="Calibri"/>
              <a:buNone/>
            </a:pPr>
            <a:r>
              <a:rPr b="1" i="0" lang="en" sz="800" u="none" cap="none" strike="noStrike">
                <a:solidFill>
                  <a:srgbClr val="2E9973"/>
                </a:solidFill>
                <a:latin typeface="Calibri"/>
                <a:ea typeface="Calibri"/>
                <a:cs typeface="Calibri"/>
                <a:sym typeface="Calibri"/>
              </a:rPr>
              <a:t>CONTEXT</a:t>
            </a:r>
            <a:endParaRPr b="0" i="0" sz="800" u="none" cap="none" strike="noStrike">
              <a:solidFill>
                <a:schemeClr val="dk1"/>
              </a:solidFill>
              <a:latin typeface="Calibri"/>
              <a:ea typeface="Calibri"/>
              <a:cs typeface="Calibri"/>
              <a:sym typeface="Calibri"/>
            </a:endParaRPr>
          </a:p>
        </p:txBody>
      </p:sp>
      <p:sp>
        <p:nvSpPr>
          <p:cNvPr id="193" name="Google Shape;193;p22"/>
          <p:cNvSpPr/>
          <p:nvPr/>
        </p:nvSpPr>
        <p:spPr>
          <a:xfrm>
            <a:off x="411491" y="514350"/>
            <a:ext cx="8321033" cy="65151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3203B"/>
              </a:buClr>
              <a:buSzPts val="1800"/>
              <a:buFont typeface="Calibri"/>
              <a:buNone/>
            </a:pPr>
            <a:r>
              <a:rPr b="1" lang="en" sz="2000">
                <a:solidFill>
                  <a:srgbClr val="13203B"/>
                </a:solidFill>
                <a:latin typeface="Calibri"/>
                <a:ea typeface="Calibri"/>
                <a:cs typeface="Calibri"/>
                <a:sym typeface="Calibri"/>
              </a:rPr>
              <a:t>Group-stage advancement determines a team's tournament trajectory</a:t>
            </a:r>
            <a:endParaRPr b="0" i="0" sz="2000" u="none" cap="none" strike="noStrike">
              <a:solidFill>
                <a:schemeClr val="dk1"/>
              </a:solidFill>
              <a:latin typeface="Calibri"/>
              <a:ea typeface="Calibri"/>
              <a:cs typeface="Calibri"/>
              <a:sym typeface="Calibri"/>
            </a:endParaRPr>
          </a:p>
        </p:txBody>
      </p:sp>
      <p:sp>
        <p:nvSpPr>
          <p:cNvPr id="194" name="Google Shape;194;p22"/>
          <p:cNvSpPr/>
          <p:nvPr/>
        </p:nvSpPr>
        <p:spPr>
          <a:xfrm>
            <a:off x="6706362" y="1508347"/>
            <a:ext cx="2142000" cy="1881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lang="en" sz="1234">
                <a:solidFill>
                  <a:srgbClr val="3FAE8A"/>
                </a:solidFill>
                <a:latin typeface="Calibri"/>
                <a:ea typeface="Calibri"/>
                <a:cs typeface="Calibri"/>
                <a:sym typeface="Calibri"/>
              </a:rPr>
              <a:t>WHY IT’S HARD TO FORECAST</a:t>
            </a:r>
            <a:endParaRPr b="1" sz="1234">
              <a:solidFill>
                <a:srgbClr val="3FAE8A"/>
              </a:solidFill>
              <a:latin typeface="Calibri"/>
              <a:ea typeface="Calibri"/>
              <a:cs typeface="Calibri"/>
              <a:sym typeface="Calibri"/>
            </a:endParaRPr>
          </a:p>
        </p:txBody>
      </p:sp>
      <p:sp>
        <p:nvSpPr>
          <p:cNvPr id="195" name="Google Shape;195;p22"/>
          <p:cNvSpPr/>
          <p:nvPr/>
        </p:nvSpPr>
        <p:spPr>
          <a:xfrm>
            <a:off x="411491" y="4800600"/>
            <a:ext cx="48006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592AA"/>
              </a:buClr>
              <a:buSzPts val="700"/>
              <a:buFont typeface="Calibri"/>
              <a:buNone/>
            </a:pPr>
            <a:r>
              <a:rPr b="0" i="0" lang="en" sz="700" u="none" cap="none" strike="noStrike">
                <a:solidFill>
                  <a:srgbClr val="8592AA"/>
                </a:solidFill>
                <a:latin typeface="Calibri"/>
                <a:ea typeface="Calibri"/>
                <a:cs typeface="Calibri"/>
                <a:sym typeface="Calibri"/>
              </a:rPr>
              <a:t>Shiu &amp; Nguyen  |  STAT 418, Tools in Data Science  |  UCLA Summer 2026</a:t>
            </a:r>
            <a:endParaRPr b="0" i="0" sz="700" u="none" cap="none" strike="noStrike">
              <a:solidFill>
                <a:schemeClr val="dk1"/>
              </a:solidFill>
              <a:latin typeface="Calibri"/>
              <a:ea typeface="Calibri"/>
              <a:cs typeface="Calibri"/>
              <a:sym typeface="Calibri"/>
            </a:endParaRPr>
          </a:p>
        </p:txBody>
      </p:sp>
      <p:sp>
        <p:nvSpPr>
          <p:cNvPr id="196" name="Google Shape;196;p22"/>
          <p:cNvSpPr/>
          <p:nvPr/>
        </p:nvSpPr>
        <p:spPr>
          <a:xfrm>
            <a:off x="8458197" y="4800600"/>
            <a:ext cx="411491" cy="2057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592AA"/>
              </a:buClr>
              <a:buSzPts val="800"/>
              <a:buFont typeface="Calibri"/>
              <a:buNone/>
            </a:pPr>
            <a:r>
              <a:rPr b="0" i="0" lang="en" sz="800" u="none" cap="none" strike="noStrike">
                <a:solidFill>
                  <a:srgbClr val="8592AA"/>
                </a:solidFill>
                <a:latin typeface="Calibri"/>
                <a:ea typeface="Calibri"/>
                <a:cs typeface="Calibri"/>
                <a:sym typeface="Calibri"/>
              </a:rPr>
              <a:t>4</a:t>
            </a:r>
            <a:endParaRPr b="0" i="0" sz="800" u="none" cap="none" strike="noStrike">
              <a:solidFill>
                <a:schemeClr val="dk1"/>
              </a:solidFill>
              <a:latin typeface="Calibri"/>
              <a:ea typeface="Calibri"/>
              <a:cs typeface="Calibri"/>
              <a:sym typeface="Calibri"/>
            </a:endParaRPr>
          </a:p>
        </p:txBody>
      </p:sp>
      <p:sp>
        <p:nvSpPr>
          <p:cNvPr id="197" name="Google Shape;197;p22"/>
          <p:cNvSpPr txBox="1"/>
          <p:nvPr/>
        </p:nvSpPr>
        <p:spPr>
          <a:xfrm>
            <a:off x="6476220" y="1743387"/>
            <a:ext cx="2251500" cy="1238100"/>
          </a:xfrm>
          <a:prstGeom prst="rect">
            <a:avLst/>
          </a:prstGeom>
          <a:noFill/>
          <a:ln>
            <a:noFill/>
          </a:ln>
        </p:spPr>
        <p:txBody>
          <a:bodyPr anchorCtr="0" anchor="t" bIns="83550" lIns="83550" spcFirstLastPara="1" rIns="83550" wrap="square" tIns="83550">
            <a:spAutoFit/>
          </a:bodyPr>
          <a:lstStyle/>
          <a:p>
            <a:pPr indent="-185721" lvl="0" marL="313406" rtl="0" algn="l">
              <a:lnSpc>
                <a:spcPct val="80000"/>
              </a:lnSpc>
              <a:spcBef>
                <a:spcPts val="1097"/>
              </a:spcBef>
              <a:spcAft>
                <a:spcPts val="0"/>
              </a:spcAft>
              <a:buClr>
                <a:srgbClr val="E1E5EE"/>
              </a:buClr>
              <a:buSzPts val="1280"/>
              <a:buFont typeface="Calibri"/>
              <a:buChar char="●"/>
            </a:pPr>
            <a:r>
              <a:rPr lang="en" sz="1280">
                <a:solidFill>
                  <a:srgbClr val="E1E5EE"/>
                </a:solidFill>
                <a:latin typeface="Calibri"/>
                <a:ea typeface="Calibri"/>
                <a:cs typeface="Calibri"/>
                <a:sym typeface="Calibri"/>
              </a:rPr>
              <a:t>Tournament occurs every four years </a:t>
            </a:r>
            <a:endParaRPr sz="1280">
              <a:solidFill>
                <a:srgbClr val="E1E5EE"/>
              </a:solidFill>
              <a:latin typeface="Calibri"/>
              <a:ea typeface="Calibri"/>
              <a:cs typeface="Calibri"/>
              <a:sym typeface="Calibri"/>
            </a:endParaRPr>
          </a:p>
          <a:p>
            <a:pPr indent="-185721" lvl="0" marL="313406" rtl="0" algn="l">
              <a:lnSpc>
                <a:spcPct val="80000"/>
              </a:lnSpc>
              <a:spcBef>
                <a:spcPts val="1097"/>
              </a:spcBef>
              <a:spcAft>
                <a:spcPts val="0"/>
              </a:spcAft>
              <a:buClr>
                <a:srgbClr val="E1E5EE"/>
              </a:buClr>
              <a:buSzPts val="1280"/>
              <a:buFont typeface="Calibri"/>
              <a:buChar char="●"/>
            </a:pPr>
            <a:r>
              <a:rPr lang="en" sz="1280">
                <a:solidFill>
                  <a:srgbClr val="E1E5EE"/>
                </a:solidFill>
                <a:latin typeface="Calibri"/>
                <a:ea typeface="Calibri"/>
                <a:cs typeface="Calibri"/>
                <a:sym typeface="Calibri"/>
              </a:rPr>
              <a:t>Only three group matches </a:t>
            </a:r>
            <a:endParaRPr sz="1280">
              <a:solidFill>
                <a:srgbClr val="E1E5EE"/>
              </a:solidFill>
              <a:latin typeface="Calibri"/>
              <a:ea typeface="Calibri"/>
              <a:cs typeface="Calibri"/>
              <a:sym typeface="Calibri"/>
            </a:endParaRPr>
          </a:p>
          <a:p>
            <a:pPr indent="-185721" lvl="0" marL="313406" rtl="0" algn="l">
              <a:lnSpc>
                <a:spcPct val="80000"/>
              </a:lnSpc>
              <a:spcBef>
                <a:spcPts val="1097"/>
              </a:spcBef>
              <a:spcAft>
                <a:spcPts val="0"/>
              </a:spcAft>
              <a:buClr>
                <a:srgbClr val="E1E5EE"/>
              </a:buClr>
              <a:buSzPts val="1280"/>
              <a:buFont typeface="Calibri"/>
              <a:buChar char="●"/>
            </a:pPr>
            <a:r>
              <a:rPr lang="en" sz="1280">
                <a:solidFill>
                  <a:srgbClr val="E1E5EE"/>
                </a:solidFill>
                <a:latin typeface="Calibri"/>
                <a:ea typeface="Calibri"/>
                <a:cs typeface="Calibri"/>
                <a:sym typeface="Calibri"/>
              </a:rPr>
              <a:t>Small samples amplify randomness</a:t>
            </a:r>
            <a:endParaRPr sz="1280">
              <a:solidFill>
                <a:srgbClr val="E1E5EE"/>
              </a:solidFill>
              <a:latin typeface="Calibri"/>
              <a:ea typeface="Calibri"/>
              <a:cs typeface="Calibri"/>
              <a:sym typeface="Calibri"/>
            </a:endParaRPr>
          </a:p>
        </p:txBody>
      </p:sp>
      <p:pic>
        <p:nvPicPr>
          <p:cNvPr id="198" name="Google Shape;198;p22" title="Screenshot 2026-07-26 at 11.36.44 PM.png"/>
          <p:cNvPicPr preferRelativeResize="0"/>
          <p:nvPr/>
        </p:nvPicPr>
        <p:blipFill>
          <a:blip r:embed="rId3">
            <a:alphaModFix/>
          </a:blip>
          <a:stretch>
            <a:fillRect/>
          </a:stretch>
        </p:blipFill>
        <p:spPr>
          <a:xfrm>
            <a:off x="283800" y="1226500"/>
            <a:ext cx="6282500" cy="2522895"/>
          </a:xfrm>
          <a:prstGeom prst="rect">
            <a:avLst/>
          </a:prstGeom>
          <a:noFill/>
          <a:ln>
            <a:noFill/>
          </a:ln>
        </p:spPr>
      </p:pic>
      <p:sp>
        <p:nvSpPr>
          <p:cNvPr id="199" name="Google Shape;199;p22"/>
          <p:cNvSpPr txBox="1"/>
          <p:nvPr/>
        </p:nvSpPr>
        <p:spPr>
          <a:xfrm>
            <a:off x="429206" y="3887029"/>
            <a:ext cx="5814300" cy="346800"/>
          </a:xfrm>
          <a:prstGeom prst="rect">
            <a:avLst/>
          </a:prstGeom>
          <a:noFill/>
          <a:ln>
            <a:noFill/>
          </a:ln>
        </p:spPr>
        <p:txBody>
          <a:bodyPr anchorCtr="0" anchor="t" bIns="85825" lIns="85825" spcFirstLastPara="1" rIns="85825" wrap="square" tIns="85825">
            <a:spAutoFit/>
          </a:bodyPr>
          <a:lstStyle/>
          <a:p>
            <a:pPr indent="0" lvl="0" marL="0" rtl="0" algn="l">
              <a:spcBef>
                <a:spcPts val="0"/>
              </a:spcBef>
              <a:spcAft>
                <a:spcPts val="0"/>
              </a:spcAft>
              <a:buNone/>
            </a:pPr>
            <a:r>
              <a:rPr b="1" lang="en" sz="1127">
                <a:solidFill>
                  <a:srgbClr val="34456E"/>
                </a:solidFill>
                <a:latin typeface="Calibri"/>
                <a:ea typeface="Calibri"/>
                <a:cs typeface="Calibri"/>
                <a:sym typeface="Calibri"/>
              </a:rPr>
              <a:t>OUR PREDICTION TARGET IS TO ELIMINATE ONE-THIRD OF TEAMS : </a:t>
            </a:r>
            <a:endParaRPr b="1" sz="1127">
              <a:solidFill>
                <a:srgbClr val="34456E"/>
              </a:solidFill>
              <a:latin typeface="Calibri"/>
              <a:ea typeface="Calibri"/>
              <a:cs typeface="Calibri"/>
              <a:sym typeface="Calibri"/>
            </a:endParaRPr>
          </a:p>
        </p:txBody>
      </p:sp>
      <p:sp>
        <p:nvSpPr>
          <p:cNvPr id="200" name="Google Shape;200;p22"/>
          <p:cNvSpPr txBox="1"/>
          <p:nvPr/>
        </p:nvSpPr>
        <p:spPr>
          <a:xfrm>
            <a:off x="643328" y="4104446"/>
            <a:ext cx="781500" cy="345900"/>
          </a:xfrm>
          <a:prstGeom prst="rect">
            <a:avLst/>
          </a:prstGeom>
          <a:noFill/>
          <a:ln>
            <a:noFill/>
          </a:ln>
        </p:spPr>
        <p:txBody>
          <a:bodyPr anchorCtr="0" anchor="t" bIns="85825" lIns="85825" spcFirstLastPara="1" rIns="85825" wrap="square" tIns="85825">
            <a:spAutoFit/>
          </a:bodyPr>
          <a:lstStyle/>
          <a:p>
            <a:pPr indent="0" lvl="0" marL="0" rtl="0" algn="l">
              <a:spcBef>
                <a:spcPts val="0"/>
              </a:spcBef>
              <a:spcAft>
                <a:spcPts val="0"/>
              </a:spcAft>
              <a:buNone/>
            </a:pPr>
            <a:r>
              <a:rPr b="1" lang="en" sz="1121">
                <a:solidFill>
                  <a:schemeClr val="dk2"/>
                </a:solidFill>
                <a:latin typeface="Calibri"/>
                <a:ea typeface="Calibri"/>
                <a:cs typeface="Calibri"/>
                <a:sym typeface="Calibri"/>
              </a:rPr>
              <a:t>48 Teams  </a:t>
            </a:r>
            <a:endParaRPr b="1" sz="1121">
              <a:solidFill>
                <a:schemeClr val="dk2"/>
              </a:solidFill>
              <a:latin typeface="Calibri"/>
              <a:ea typeface="Calibri"/>
              <a:cs typeface="Calibri"/>
              <a:sym typeface="Calibri"/>
            </a:endParaRPr>
          </a:p>
        </p:txBody>
      </p:sp>
      <p:sp>
        <p:nvSpPr>
          <p:cNvPr id="201" name="Google Shape;201;p22"/>
          <p:cNvSpPr txBox="1"/>
          <p:nvPr/>
        </p:nvSpPr>
        <p:spPr>
          <a:xfrm>
            <a:off x="1888804" y="4104446"/>
            <a:ext cx="1049400" cy="345900"/>
          </a:xfrm>
          <a:prstGeom prst="rect">
            <a:avLst/>
          </a:prstGeom>
          <a:noFill/>
          <a:ln>
            <a:noFill/>
          </a:ln>
        </p:spPr>
        <p:txBody>
          <a:bodyPr anchorCtr="0" anchor="t" bIns="85825" lIns="85825" spcFirstLastPara="1" rIns="85825" wrap="square" tIns="85825">
            <a:spAutoFit/>
          </a:bodyPr>
          <a:lstStyle/>
          <a:p>
            <a:pPr indent="0" lvl="0" marL="0" rtl="0" algn="l">
              <a:spcBef>
                <a:spcPts val="0"/>
              </a:spcBef>
              <a:spcAft>
                <a:spcPts val="0"/>
              </a:spcAft>
              <a:buNone/>
            </a:pPr>
            <a:r>
              <a:rPr b="1" lang="en" sz="1121">
                <a:solidFill>
                  <a:schemeClr val="dk2"/>
                </a:solidFill>
                <a:latin typeface="Calibri"/>
                <a:ea typeface="Calibri"/>
                <a:cs typeface="Calibri"/>
                <a:sym typeface="Calibri"/>
              </a:rPr>
              <a:t>32 Advance</a:t>
            </a:r>
            <a:endParaRPr b="1" sz="1121">
              <a:solidFill>
                <a:schemeClr val="dk2"/>
              </a:solidFill>
              <a:latin typeface="Calibri"/>
              <a:ea typeface="Calibri"/>
              <a:cs typeface="Calibri"/>
              <a:sym typeface="Calibri"/>
            </a:endParaRPr>
          </a:p>
        </p:txBody>
      </p:sp>
      <p:sp>
        <p:nvSpPr>
          <p:cNvPr id="202" name="Google Shape;202;p22"/>
          <p:cNvSpPr txBox="1"/>
          <p:nvPr/>
        </p:nvSpPr>
        <p:spPr>
          <a:xfrm>
            <a:off x="3334599" y="4104446"/>
            <a:ext cx="1150500" cy="345900"/>
          </a:xfrm>
          <a:prstGeom prst="rect">
            <a:avLst/>
          </a:prstGeom>
          <a:noFill/>
          <a:ln>
            <a:noFill/>
          </a:ln>
        </p:spPr>
        <p:txBody>
          <a:bodyPr anchorCtr="0" anchor="t" bIns="85825" lIns="85825" spcFirstLastPara="1" rIns="85825" wrap="square" tIns="85825">
            <a:spAutoFit/>
          </a:bodyPr>
          <a:lstStyle/>
          <a:p>
            <a:pPr indent="0" lvl="0" marL="0" rtl="0" algn="l">
              <a:spcBef>
                <a:spcPts val="0"/>
              </a:spcBef>
              <a:spcAft>
                <a:spcPts val="0"/>
              </a:spcAft>
              <a:buNone/>
            </a:pPr>
            <a:r>
              <a:rPr b="1" lang="en" sz="1121">
                <a:solidFill>
                  <a:schemeClr val="dk2"/>
                </a:solidFill>
                <a:latin typeface="Calibri"/>
                <a:ea typeface="Calibri"/>
                <a:cs typeface="Calibri"/>
                <a:sym typeface="Calibri"/>
              </a:rPr>
              <a:t>16 Eliminated</a:t>
            </a:r>
            <a:endParaRPr b="1" sz="1121">
              <a:solidFill>
                <a:schemeClr val="dk2"/>
              </a:solidFill>
              <a:latin typeface="Calibri"/>
              <a:ea typeface="Calibri"/>
              <a:cs typeface="Calibri"/>
              <a:sym typeface="Calibri"/>
            </a:endParaRPr>
          </a:p>
        </p:txBody>
      </p:sp>
      <p:cxnSp>
        <p:nvCxnSpPr>
          <p:cNvPr id="203" name="Google Shape;203;p22"/>
          <p:cNvCxnSpPr/>
          <p:nvPr/>
        </p:nvCxnSpPr>
        <p:spPr>
          <a:xfrm flipH="1" rot="10800000">
            <a:off x="1339460" y="4277396"/>
            <a:ext cx="541800" cy="4500"/>
          </a:xfrm>
          <a:prstGeom prst="straightConnector1">
            <a:avLst/>
          </a:prstGeom>
          <a:noFill/>
          <a:ln cap="flat" cmpd="sng" w="17875">
            <a:solidFill>
              <a:schemeClr val="dk2"/>
            </a:solidFill>
            <a:prstDash val="solid"/>
            <a:round/>
            <a:headEnd len="med" w="med" type="none"/>
            <a:tailEnd len="med" w="med" type="triangle"/>
          </a:ln>
        </p:spPr>
      </p:cxnSp>
      <p:cxnSp>
        <p:nvCxnSpPr>
          <p:cNvPr id="204" name="Google Shape;204;p22"/>
          <p:cNvCxnSpPr/>
          <p:nvPr/>
        </p:nvCxnSpPr>
        <p:spPr>
          <a:xfrm flipH="1" rot="10800000">
            <a:off x="2770336" y="4283043"/>
            <a:ext cx="541800" cy="4500"/>
          </a:xfrm>
          <a:prstGeom prst="straightConnector1">
            <a:avLst/>
          </a:prstGeom>
          <a:noFill/>
          <a:ln cap="flat" cmpd="sng" w="17875">
            <a:solidFill>
              <a:schemeClr val="dk2"/>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9" name="Shape 209"/>
        <p:cNvGrpSpPr/>
        <p:nvPr/>
      </p:nvGrpSpPr>
      <p:grpSpPr>
        <a:xfrm>
          <a:off x="0" y="0"/>
          <a:ext cx="0" cy="0"/>
          <a:chOff x="0" y="0"/>
          <a:chExt cx="0" cy="0"/>
        </a:xfrm>
      </p:grpSpPr>
      <p:sp>
        <p:nvSpPr>
          <p:cNvPr id="210" name="Google Shape;210;p23"/>
          <p:cNvSpPr/>
          <p:nvPr/>
        </p:nvSpPr>
        <p:spPr>
          <a:xfrm>
            <a:off x="411491" y="308610"/>
            <a:ext cx="8321033"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9973"/>
              </a:buClr>
              <a:buSzPts val="800"/>
              <a:buFont typeface="Calibri"/>
              <a:buNone/>
            </a:pPr>
            <a:r>
              <a:rPr b="1" i="0" lang="en" sz="800" u="none" cap="none" strike="noStrike">
                <a:solidFill>
                  <a:srgbClr val="2E9973"/>
                </a:solidFill>
                <a:latin typeface="Calibri"/>
                <a:ea typeface="Calibri"/>
                <a:cs typeface="Calibri"/>
                <a:sym typeface="Calibri"/>
              </a:rPr>
              <a:t>CONTEXT</a:t>
            </a:r>
            <a:endParaRPr b="0" i="0" sz="800" u="none" cap="none" strike="noStrike">
              <a:solidFill>
                <a:schemeClr val="dk1"/>
              </a:solidFill>
              <a:latin typeface="Calibri"/>
              <a:ea typeface="Calibri"/>
              <a:cs typeface="Calibri"/>
              <a:sym typeface="Calibri"/>
            </a:endParaRPr>
          </a:p>
        </p:txBody>
      </p:sp>
      <p:sp>
        <p:nvSpPr>
          <p:cNvPr id="211" name="Google Shape;211;p23"/>
          <p:cNvSpPr/>
          <p:nvPr/>
        </p:nvSpPr>
        <p:spPr>
          <a:xfrm>
            <a:off x="411491" y="514350"/>
            <a:ext cx="8321033" cy="65151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3203B"/>
              </a:buClr>
              <a:buSzPts val="1800"/>
              <a:buFont typeface="Calibri"/>
              <a:buNone/>
            </a:pPr>
            <a:r>
              <a:rPr b="1" lang="en" sz="2000">
                <a:solidFill>
                  <a:srgbClr val="13203B"/>
                </a:solidFill>
                <a:latin typeface="Calibri"/>
                <a:ea typeface="Calibri"/>
                <a:cs typeface="Calibri"/>
                <a:sym typeface="Calibri"/>
              </a:rPr>
              <a:t>Our predicted variable </a:t>
            </a:r>
            <a:r>
              <a:rPr b="1" i="0" lang="en" sz="2000" u="none" cap="none" strike="noStrike">
                <a:solidFill>
                  <a:srgbClr val="13203B"/>
                </a:solidFill>
                <a:latin typeface="Calibri"/>
                <a:ea typeface="Calibri"/>
                <a:cs typeface="Calibri"/>
                <a:sym typeface="Calibri"/>
              </a:rPr>
              <a:t>is binary: </a:t>
            </a:r>
            <a:r>
              <a:rPr b="1" lang="en" sz="2000">
                <a:solidFill>
                  <a:srgbClr val="13203B"/>
                </a:solidFill>
                <a:latin typeface="Calibri"/>
                <a:ea typeface="Calibri"/>
                <a:cs typeface="Calibri"/>
                <a:sym typeface="Calibri"/>
              </a:rPr>
              <a:t>Does a team Advance or Not Advance?</a:t>
            </a:r>
            <a:endParaRPr b="0" i="0" sz="2000" u="none" cap="none" strike="noStrike">
              <a:solidFill>
                <a:schemeClr val="dk1"/>
              </a:solidFill>
              <a:latin typeface="Calibri"/>
              <a:ea typeface="Calibri"/>
              <a:cs typeface="Calibri"/>
              <a:sym typeface="Calibri"/>
            </a:endParaRPr>
          </a:p>
        </p:txBody>
      </p:sp>
      <p:sp>
        <p:nvSpPr>
          <p:cNvPr id="212" name="Google Shape;212;p23"/>
          <p:cNvSpPr/>
          <p:nvPr/>
        </p:nvSpPr>
        <p:spPr>
          <a:xfrm>
            <a:off x="411491" y="863937"/>
            <a:ext cx="8321100" cy="6171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13203B"/>
              </a:buClr>
              <a:buSzPts val="1200"/>
              <a:buFont typeface="Calibri"/>
              <a:buNone/>
            </a:pPr>
            <a:r>
              <a:rPr b="0" i="0" lang="en" sz="1350" u="none" cap="none" strike="noStrike">
                <a:solidFill>
                  <a:srgbClr val="13203B"/>
                </a:solidFill>
                <a:latin typeface="Calibri"/>
                <a:ea typeface="Calibri"/>
                <a:cs typeface="Calibri"/>
                <a:sym typeface="Calibri"/>
              </a:rPr>
              <a:t>This study identifies the pre-tournament team characteristics most strongly associated with advancing beyond the FIFA World Cup group stage.</a:t>
            </a:r>
            <a:endParaRPr b="0" i="0" sz="1350" u="none" cap="none" strike="noStrike">
              <a:solidFill>
                <a:schemeClr val="dk1"/>
              </a:solidFill>
              <a:latin typeface="Calibri"/>
              <a:ea typeface="Calibri"/>
              <a:cs typeface="Calibri"/>
              <a:sym typeface="Calibri"/>
            </a:endParaRPr>
          </a:p>
        </p:txBody>
      </p:sp>
      <p:sp>
        <p:nvSpPr>
          <p:cNvPr id="213" name="Google Shape;213;p23"/>
          <p:cNvSpPr/>
          <p:nvPr/>
        </p:nvSpPr>
        <p:spPr>
          <a:xfrm>
            <a:off x="411500" y="1757203"/>
            <a:ext cx="2636400" cy="2357400"/>
          </a:xfrm>
          <a:prstGeom prst="roundRect">
            <a:avLst>
              <a:gd fmla="val 2963" name="adj"/>
            </a:avLst>
          </a:prstGeom>
          <a:solidFill>
            <a:srgbClr val="F3F5F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14" name="Google Shape;214;p23"/>
          <p:cNvSpPr/>
          <p:nvPr/>
        </p:nvSpPr>
        <p:spPr>
          <a:xfrm>
            <a:off x="617236" y="1943363"/>
            <a:ext cx="377100" cy="377100"/>
          </a:xfrm>
          <a:prstGeom prst="ellipse">
            <a:avLst/>
          </a:prstGeom>
          <a:solidFill>
            <a:srgbClr val="2E997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15" name="Google Shape;215;p23"/>
          <p:cNvSpPr/>
          <p:nvPr/>
        </p:nvSpPr>
        <p:spPr>
          <a:xfrm>
            <a:off x="617236" y="1926940"/>
            <a:ext cx="3771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Calibri"/>
              <a:buNone/>
            </a:pPr>
            <a:r>
              <a:rPr b="1" i="0" lang="en" sz="1400" u="none" cap="none" strike="noStrike">
                <a:solidFill>
                  <a:srgbClr val="FFFFFF"/>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216" name="Google Shape;216;p23"/>
          <p:cNvSpPr/>
          <p:nvPr/>
        </p:nvSpPr>
        <p:spPr>
          <a:xfrm>
            <a:off x="617236" y="2400234"/>
            <a:ext cx="2225100" cy="30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3203B"/>
              </a:buClr>
              <a:buSzPts val="1100"/>
              <a:buFont typeface="Calibri"/>
              <a:buNone/>
            </a:pPr>
            <a:r>
              <a:rPr b="1" i="0" lang="en" u="none" cap="none" strike="noStrike">
                <a:solidFill>
                  <a:srgbClr val="13203B"/>
                </a:solidFill>
                <a:latin typeface="Calibri"/>
                <a:ea typeface="Calibri"/>
                <a:cs typeface="Calibri"/>
                <a:sym typeface="Calibri"/>
              </a:rPr>
              <a:t>Not a black box</a:t>
            </a:r>
            <a:endParaRPr b="0" i="0" u="none" cap="none" strike="noStrike">
              <a:solidFill>
                <a:schemeClr val="dk1"/>
              </a:solidFill>
              <a:latin typeface="Calibri"/>
              <a:ea typeface="Calibri"/>
              <a:cs typeface="Calibri"/>
              <a:sym typeface="Calibri"/>
            </a:endParaRPr>
          </a:p>
        </p:txBody>
      </p:sp>
      <p:sp>
        <p:nvSpPr>
          <p:cNvPr id="217" name="Google Shape;217;p23"/>
          <p:cNvSpPr/>
          <p:nvPr/>
        </p:nvSpPr>
        <p:spPr>
          <a:xfrm>
            <a:off x="617236" y="2841669"/>
            <a:ext cx="2225100" cy="7200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50607F"/>
              </a:buClr>
              <a:buSzPts val="900"/>
              <a:buFont typeface="Calibri"/>
              <a:buNone/>
            </a:pPr>
            <a:r>
              <a:rPr b="0" i="0" lang="en" sz="1200" u="none" cap="none" strike="noStrike">
                <a:solidFill>
                  <a:srgbClr val="50607F"/>
                </a:solidFill>
                <a:latin typeface="Calibri"/>
                <a:ea typeface="Calibri"/>
                <a:cs typeface="Calibri"/>
                <a:sym typeface="Calibri"/>
              </a:rPr>
              <a:t>The goal is an interpretable model that quantifies which characteristics matter — not just a prediction engine.</a:t>
            </a:r>
            <a:endParaRPr b="0" i="0" sz="1200" u="none" cap="none" strike="noStrike">
              <a:solidFill>
                <a:schemeClr val="dk1"/>
              </a:solidFill>
              <a:latin typeface="Calibri"/>
              <a:ea typeface="Calibri"/>
              <a:cs typeface="Calibri"/>
              <a:sym typeface="Calibri"/>
            </a:endParaRPr>
          </a:p>
        </p:txBody>
      </p:sp>
      <p:sp>
        <p:nvSpPr>
          <p:cNvPr id="218" name="Google Shape;218;p23"/>
          <p:cNvSpPr/>
          <p:nvPr/>
        </p:nvSpPr>
        <p:spPr>
          <a:xfrm>
            <a:off x="3253750" y="1757350"/>
            <a:ext cx="2636400" cy="2357400"/>
          </a:xfrm>
          <a:prstGeom prst="roundRect">
            <a:avLst>
              <a:gd fmla="val 2963" name="adj"/>
            </a:avLst>
          </a:prstGeom>
          <a:solidFill>
            <a:srgbClr val="F3F5F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19" name="Google Shape;219;p23"/>
          <p:cNvSpPr/>
          <p:nvPr/>
        </p:nvSpPr>
        <p:spPr>
          <a:xfrm>
            <a:off x="3459496" y="1943363"/>
            <a:ext cx="377100" cy="377100"/>
          </a:xfrm>
          <a:prstGeom prst="ellipse">
            <a:avLst/>
          </a:prstGeom>
          <a:solidFill>
            <a:srgbClr val="2E997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20" name="Google Shape;220;p23"/>
          <p:cNvSpPr/>
          <p:nvPr/>
        </p:nvSpPr>
        <p:spPr>
          <a:xfrm>
            <a:off x="3459496" y="1926940"/>
            <a:ext cx="3771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Calibri"/>
              <a:buNone/>
            </a:pPr>
            <a:r>
              <a:rPr b="1" i="0" lang="en" sz="1400" u="none" cap="none" strike="noStrike">
                <a:solidFill>
                  <a:srgbClr val="FFFFFF"/>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221" name="Google Shape;221;p23"/>
          <p:cNvSpPr/>
          <p:nvPr/>
        </p:nvSpPr>
        <p:spPr>
          <a:xfrm>
            <a:off x="3459496" y="2400234"/>
            <a:ext cx="2225100" cy="30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3203B"/>
              </a:buClr>
              <a:buSzPts val="1100"/>
              <a:buFont typeface="Calibri"/>
              <a:buNone/>
            </a:pPr>
            <a:r>
              <a:rPr b="1" i="0" lang="en" u="none" cap="none" strike="noStrike">
                <a:solidFill>
                  <a:srgbClr val="13203B"/>
                </a:solidFill>
                <a:latin typeface="Calibri"/>
                <a:ea typeface="Calibri"/>
                <a:cs typeface="Calibri"/>
                <a:sym typeface="Calibri"/>
              </a:rPr>
              <a:t>Pre-tournament only</a:t>
            </a:r>
            <a:endParaRPr b="0" i="0" u="none" cap="none" strike="noStrike">
              <a:solidFill>
                <a:schemeClr val="dk1"/>
              </a:solidFill>
              <a:latin typeface="Calibri"/>
              <a:ea typeface="Calibri"/>
              <a:cs typeface="Calibri"/>
              <a:sym typeface="Calibri"/>
            </a:endParaRPr>
          </a:p>
        </p:txBody>
      </p:sp>
      <p:sp>
        <p:nvSpPr>
          <p:cNvPr id="222" name="Google Shape;222;p23"/>
          <p:cNvSpPr/>
          <p:nvPr/>
        </p:nvSpPr>
        <p:spPr>
          <a:xfrm>
            <a:off x="3459496" y="2726712"/>
            <a:ext cx="2225100" cy="7200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50607F"/>
              </a:buClr>
              <a:buSzPts val="900"/>
              <a:buFont typeface="Calibri"/>
              <a:buNone/>
            </a:pPr>
            <a:r>
              <a:rPr b="0" i="0" lang="en" sz="1200" u="none" cap="none" strike="noStrike">
                <a:solidFill>
                  <a:srgbClr val="50607F"/>
                </a:solidFill>
                <a:latin typeface="Calibri"/>
                <a:ea typeface="Calibri"/>
                <a:cs typeface="Calibri"/>
                <a:sym typeface="Calibri"/>
              </a:rPr>
              <a:t>Every predictor is knowable before the first match: experience, host status, squad makeup, region.</a:t>
            </a:r>
            <a:endParaRPr b="0" i="0" sz="1200" u="none" cap="none" strike="noStrike">
              <a:solidFill>
                <a:schemeClr val="dk1"/>
              </a:solidFill>
              <a:latin typeface="Calibri"/>
              <a:ea typeface="Calibri"/>
              <a:cs typeface="Calibri"/>
              <a:sym typeface="Calibri"/>
            </a:endParaRPr>
          </a:p>
        </p:txBody>
      </p:sp>
      <p:sp>
        <p:nvSpPr>
          <p:cNvPr id="223" name="Google Shape;223;p23"/>
          <p:cNvSpPr/>
          <p:nvPr/>
        </p:nvSpPr>
        <p:spPr>
          <a:xfrm>
            <a:off x="6096000" y="1757353"/>
            <a:ext cx="2636400" cy="2357400"/>
          </a:xfrm>
          <a:prstGeom prst="roundRect">
            <a:avLst>
              <a:gd fmla="val 2963" name="adj"/>
            </a:avLst>
          </a:prstGeom>
          <a:solidFill>
            <a:srgbClr val="F3F5F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24" name="Google Shape;224;p23"/>
          <p:cNvSpPr/>
          <p:nvPr/>
        </p:nvSpPr>
        <p:spPr>
          <a:xfrm>
            <a:off x="6301756" y="1943363"/>
            <a:ext cx="377100" cy="377100"/>
          </a:xfrm>
          <a:prstGeom prst="ellipse">
            <a:avLst/>
          </a:prstGeom>
          <a:solidFill>
            <a:srgbClr val="2E997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25" name="Google Shape;225;p23"/>
          <p:cNvSpPr/>
          <p:nvPr/>
        </p:nvSpPr>
        <p:spPr>
          <a:xfrm>
            <a:off x="6301756" y="1926940"/>
            <a:ext cx="3771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Calibri"/>
              <a:buNone/>
            </a:pPr>
            <a:r>
              <a:rPr b="1" i="0" lang="en" sz="1400" u="none" cap="none" strike="noStrike">
                <a:solidFill>
                  <a:srgbClr val="FFFFFF"/>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226" name="Google Shape;226;p23"/>
          <p:cNvSpPr/>
          <p:nvPr/>
        </p:nvSpPr>
        <p:spPr>
          <a:xfrm>
            <a:off x="6301756" y="2400234"/>
            <a:ext cx="2225100" cy="30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3203B"/>
              </a:buClr>
              <a:buSzPts val="1100"/>
              <a:buFont typeface="Calibri"/>
              <a:buNone/>
            </a:pPr>
            <a:r>
              <a:rPr b="1" i="0" lang="en" u="none" cap="none" strike="noStrike">
                <a:solidFill>
                  <a:srgbClr val="13203B"/>
                </a:solidFill>
                <a:latin typeface="Calibri"/>
                <a:ea typeface="Calibri"/>
                <a:cs typeface="Calibri"/>
                <a:sym typeface="Calibri"/>
              </a:rPr>
              <a:t>Decision-relevant</a:t>
            </a:r>
            <a:endParaRPr b="0" i="0" u="none" cap="none" strike="noStrike">
              <a:solidFill>
                <a:schemeClr val="dk1"/>
              </a:solidFill>
              <a:latin typeface="Calibri"/>
              <a:ea typeface="Calibri"/>
              <a:cs typeface="Calibri"/>
              <a:sym typeface="Calibri"/>
            </a:endParaRPr>
          </a:p>
        </p:txBody>
      </p:sp>
      <p:sp>
        <p:nvSpPr>
          <p:cNvPr id="227" name="Google Shape;227;p23"/>
          <p:cNvSpPr/>
          <p:nvPr/>
        </p:nvSpPr>
        <p:spPr>
          <a:xfrm>
            <a:off x="6301756" y="2718501"/>
            <a:ext cx="2225100" cy="7200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50607F"/>
              </a:buClr>
              <a:buSzPts val="900"/>
              <a:buFont typeface="Calibri"/>
              <a:buNone/>
            </a:pPr>
            <a:r>
              <a:rPr b="0" i="0" lang="en" sz="1200" u="none" cap="none" strike="noStrike">
                <a:solidFill>
                  <a:srgbClr val="50607F"/>
                </a:solidFill>
                <a:latin typeface="Calibri"/>
                <a:ea typeface="Calibri"/>
                <a:cs typeface="Calibri"/>
                <a:sym typeface="Calibri"/>
              </a:rPr>
              <a:t>Federations, sponsors, and analysts plan around advancement, not final point totals.</a:t>
            </a:r>
            <a:endParaRPr b="0" i="0" sz="1200" u="none" cap="none" strike="noStrike">
              <a:solidFill>
                <a:schemeClr val="dk1"/>
              </a:solidFill>
              <a:latin typeface="Calibri"/>
              <a:ea typeface="Calibri"/>
              <a:cs typeface="Calibri"/>
              <a:sym typeface="Calibri"/>
            </a:endParaRPr>
          </a:p>
        </p:txBody>
      </p:sp>
      <p:sp>
        <p:nvSpPr>
          <p:cNvPr id="228" name="Google Shape;228;p23"/>
          <p:cNvSpPr/>
          <p:nvPr/>
        </p:nvSpPr>
        <p:spPr>
          <a:xfrm>
            <a:off x="411491" y="4800600"/>
            <a:ext cx="4800728"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592AA"/>
              </a:buClr>
              <a:buSzPts val="700"/>
              <a:buFont typeface="Calibri"/>
              <a:buNone/>
            </a:pPr>
            <a:r>
              <a:rPr b="0" i="0" lang="en" sz="700" u="none" cap="none" strike="noStrike">
                <a:solidFill>
                  <a:srgbClr val="8592AA"/>
                </a:solidFill>
                <a:latin typeface="Calibri"/>
                <a:ea typeface="Calibri"/>
                <a:cs typeface="Calibri"/>
                <a:sym typeface="Calibri"/>
              </a:rPr>
              <a:t>Shiu &amp; Nguyen  |  STAT 418, Tools in Data Science  |  UCLA Summer 2026</a:t>
            </a:r>
            <a:endParaRPr b="0" i="0" sz="700" u="none" cap="none" strike="noStrike">
              <a:solidFill>
                <a:schemeClr val="dk1"/>
              </a:solidFill>
              <a:latin typeface="Calibri"/>
              <a:ea typeface="Calibri"/>
              <a:cs typeface="Calibri"/>
              <a:sym typeface="Calibri"/>
            </a:endParaRPr>
          </a:p>
        </p:txBody>
      </p:sp>
      <p:sp>
        <p:nvSpPr>
          <p:cNvPr id="229" name="Google Shape;229;p23"/>
          <p:cNvSpPr/>
          <p:nvPr/>
        </p:nvSpPr>
        <p:spPr>
          <a:xfrm>
            <a:off x="8458197" y="4800600"/>
            <a:ext cx="411491" cy="2057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592AA"/>
              </a:buClr>
              <a:buSzPts val="800"/>
              <a:buFont typeface="Calibri"/>
              <a:buNone/>
            </a:pPr>
            <a:r>
              <a:rPr b="0" i="0" lang="en" sz="800" u="none" cap="none" strike="noStrike">
                <a:solidFill>
                  <a:srgbClr val="8592AA"/>
                </a:solidFill>
                <a:latin typeface="Calibri"/>
                <a:ea typeface="Calibri"/>
                <a:cs typeface="Calibri"/>
                <a:sym typeface="Calibri"/>
              </a:rPr>
              <a:t>5</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03B"/>
        </a:solidFill>
      </p:bgPr>
    </p:bg>
    <p:spTree>
      <p:nvGrpSpPr>
        <p:cNvPr id="234" name="Shape 234"/>
        <p:cNvGrpSpPr/>
        <p:nvPr/>
      </p:nvGrpSpPr>
      <p:grpSpPr>
        <a:xfrm>
          <a:off x="0" y="0"/>
          <a:ext cx="0" cy="0"/>
          <a:chOff x="0" y="0"/>
          <a:chExt cx="0" cy="0"/>
        </a:xfrm>
      </p:grpSpPr>
      <p:sp>
        <p:nvSpPr>
          <p:cNvPr id="235" name="Google Shape;235;p24"/>
          <p:cNvSpPr/>
          <p:nvPr/>
        </p:nvSpPr>
        <p:spPr>
          <a:xfrm>
            <a:off x="5989251" y="-617220"/>
            <a:ext cx="3017600" cy="301752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34456E"/>
              </a:buClr>
              <a:buSzPts val="19500"/>
              <a:buFont typeface="Calibri"/>
              <a:buNone/>
            </a:pPr>
            <a:r>
              <a:rPr b="1" i="0" lang="en" sz="19500" u="none" cap="none" strike="noStrike">
                <a:solidFill>
                  <a:srgbClr val="34456E"/>
                </a:solidFill>
                <a:latin typeface="Calibri"/>
                <a:ea typeface="Calibri"/>
                <a:cs typeface="Calibri"/>
                <a:sym typeface="Calibri"/>
              </a:rPr>
              <a:t>02</a:t>
            </a:r>
            <a:endParaRPr b="0" i="0" sz="19500" u="none" cap="none" strike="noStrike">
              <a:solidFill>
                <a:schemeClr val="dk1"/>
              </a:solidFill>
              <a:latin typeface="Calibri"/>
              <a:ea typeface="Calibri"/>
              <a:cs typeface="Calibri"/>
              <a:sym typeface="Calibri"/>
            </a:endParaRPr>
          </a:p>
        </p:txBody>
      </p:sp>
      <p:sp>
        <p:nvSpPr>
          <p:cNvPr id="236" name="Google Shape;236;p24"/>
          <p:cNvSpPr/>
          <p:nvPr/>
        </p:nvSpPr>
        <p:spPr>
          <a:xfrm>
            <a:off x="411491" y="480060"/>
            <a:ext cx="288044" cy="288036"/>
          </a:xfrm>
          <a:prstGeom prst="ellipse">
            <a:avLst/>
          </a:prstGeom>
          <a:solidFill>
            <a:srgbClr val="2E997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37" name="Google Shape;237;p24"/>
          <p:cNvSpPr/>
          <p:nvPr/>
        </p:nvSpPr>
        <p:spPr>
          <a:xfrm>
            <a:off x="411491" y="480060"/>
            <a:ext cx="288044" cy="2880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238" name="Google Shape;238;p24"/>
          <p:cNvSpPr/>
          <p:nvPr/>
        </p:nvSpPr>
        <p:spPr>
          <a:xfrm>
            <a:off x="809266" y="480060"/>
            <a:ext cx="5486546" cy="2880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FB0C9"/>
              </a:buClr>
              <a:buSzPts val="1000"/>
              <a:buFont typeface="Calibri"/>
              <a:buNone/>
            </a:pPr>
            <a:r>
              <a:rPr b="1" i="0" lang="en" sz="1000" u="none" cap="none" strike="noStrike">
                <a:solidFill>
                  <a:srgbClr val="9FB0C9"/>
                </a:solidFill>
                <a:latin typeface="Calibri"/>
                <a:ea typeface="Calibri"/>
                <a:cs typeface="Calibri"/>
                <a:sym typeface="Calibri"/>
              </a:rPr>
              <a:t>SECTION 2 OF 6  ·  DATA</a:t>
            </a:r>
            <a:endParaRPr b="0" i="0" sz="1000" u="none" cap="none" strike="noStrike">
              <a:solidFill>
                <a:schemeClr val="dk1"/>
              </a:solidFill>
              <a:latin typeface="Calibri"/>
              <a:ea typeface="Calibri"/>
              <a:cs typeface="Calibri"/>
              <a:sym typeface="Calibri"/>
            </a:endParaRPr>
          </a:p>
        </p:txBody>
      </p:sp>
      <p:sp>
        <p:nvSpPr>
          <p:cNvPr id="239" name="Google Shape;239;p24"/>
          <p:cNvSpPr/>
          <p:nvPr/>
        </p:nvSpPr>
        <p:spPr>
          <a:xfrm>
            <a:off x="411491" y="1988820"/>
            <a:ext cx="7269674" cy="144018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FFFFFF"/>
              </a:buClr>
              <a:buSzPts val="2600"/>
              <a:buFont typeface="Calibri"/>
              <a:buNone/>
            </a:pPr>
            <a:r>
              <a:rPr b="1" lang="en" sz="2600">
                <a:solidFill>
                  <a:srgbClr val="FFFFFF"/>
                </a:solidFill>
                <a:latin typeface="Calibri"/>
                <a:ea typeface="Calibri"/>
                <a:cs typeface="Calibri"/>
                <a:sym typeface="Calibri"/>
              </a:rPr>
              <a:t>Data &amp; Methodology</a:t>
            </a:r>
            <a:endParaRPr b="0" i="0" sz="2600" u="none" cap="none" strike="noStrike">
              <a:solidFill>
                <a:schemeClr val="dk1"/>
              </a:solidFill>
              <a:latin typeface="Calibri"/>
              <a:ea typeface="Calibri"/>
              <a:cs typeface="Calibri"/>
              <a:sym typeface="Calibri"/>
            </a:endParaRPr>
          </a:p>
        </p:txBody>
      </p:sp>
      <p:sp>
        <p:nvSpPr>
          <p:cNvPr id="240" name="Google Shape;240;p24"/>
          <p:cNvSpPr/>
          <p:nvPr/>
        </p:nvSpPr>
        <p:spPr>
          <a:xfrm>
            <a:off x="411491" y="2571750"/>
            <a:ext cx="6583800" cy="685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9FB0C9"/>
              </a:buClr>
              <a:buSzPts val="1100"/>
              <a:buFont typeface="Calibri"/>
              <a:buNone/>
            </a:pPr>
            <a:r>
              <a:rPr lang="en" sz="1100">
                <a:solidFill>
                  <a:srgbClr val="9FB0C9"/>
                </a:solidFill>
                <a:latin typeface="Calibri"/>
                <a:ea typeface="Calibri"/>
                <a:cs typeface="Calibri"/>
                <a:sym typeface="Calibri"/>
              </a:rPr>
              <a:t>Predictors were built in </a:t>
            </a:r>
            <a:r>
              <a:rPr b="0" i="0" lang="en" sz="1100" u="none" cap="none" strike="noStrike">
                <a:solidFill>
                  <a:srgbClr val="9FB0C9"/>
                </a:solidFill>
                <a:latin typeface="Calibri"/>
                <a:ea typeface="Calibri"/>
                <a:cs typeface="Calibri"/>
                <a:sym typeface="Calibri"/>
              </a:rPr>
              <a:t>SQL from raw tournament, squad, and player records — with careful handling of missing data, leakage, and scope.</a:t>
            </a:r>
            <a:endParaRPr b="0" i="0" sz="1100" u="none" cap="none" strike="noStrike">
              <a:solidFill>
                <a:schemeClr val="dk1"/>
              </a:solidFill>
              <a:latin typeface="Calibri"/>
              <a:ea typeface="Calibri"/>
              <a:cs typeface="Calibri"/>
              <a:sym typeface="Calibri"/>
            </a:endParaRPr>
          </a:p>
        </p:txBody>
      </p:sp>
      <p:sp>
        <p:nvSpPr>
          <p:cNvPr id="241" name="Google Shape;241;p24"/>
          <p:cNvSpPr/>
          <p:nvPr/>
        </p:nvSpPr>
        <p:spPr>
          <a:xfrm>
            <a:off x="411491" y="4800600"/>
            <a:ext cx="4800728"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4456E"/>
              </a:buClr>
              <a:buSzPts val="700"/>
              <a:buFont typeface="Calibri"/>
              <a:buNone/>
            </a:pPr>
            <a:r>
              <a:rPr b="0" i="0" lang="en" sz="700" u="none" cap="none" strike="noStrike">
                <a:solidFill>
                  <a:srgbClr val="34456E"/>
                </a:solidFill>
                <a:latin typeface="Calibri"/>
                <a:ea typeface="Calibri"/>
                <a:cs typeface="Calibri"/>
                <a:sym typeface="Calibri"/>
              </a:rPr>
              <a:t>Shiu &amp; Nguyen  |  STAT 418, Tools in Data Science  |  UCLA Summer 2026</a:t>
            </a:r>
            <a:endParaRPr b="0" i="0" sz="700" u="none" cap="none" strike="noStrike">
              <a:solidFill>
                <a:schemeClr val="dk1"/>
              </a:solidFill>
              <a:latin typeface="Calibri"/>
              <a:ea typeface="Calibri"/>
              <a:cs typeface="Calibri"/>
              <a:sym typeface="Calibri"/>
            </a:endParaRPr>
          </a:p>
        </p:txBody>
      </p:sp>
      <p:sp>
        <p:nvSpPr>
          <p:cNvPr id="242" name="Google Shape;242;p24"/>
          <p:cNvSpPr/>
          <p:nvPr/>
        </p:nvSpPr>
        <p:spPr>
          <a:xfrm>
            <a:off x="8458197" y="4800600"/>
            <a:ext cx="411491" cy="2057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592AA"/>
              </a:buClr>
              <a:buSzPts val="800"/>
              <a:buFont typeface="Calibri"/>
              <a:buNone/>
            </a:pPr>
            <a:r>
              <a:rPr b="0" i="0" lang="en" sz="800" u="none" cap="none" strike="noStrike">
                <a:solidFill>
                  <a:srgbClr val="8592AA"/>
                </a:solidFill>
                <a:latin typeface="Calibri"/>
                <a:ea typeface="Calibri"/>
                <a:cs typeface="Calibri"/>
                <a:sym typeface="Calibri"/>
              </a:rPr>
              <a:t>6</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7" name="Shape 247"/>
        <p:cNvGrpSpPr/>
        <p:nvPr/>
      </p:nvGrpSpPr>
      <p:grpSpPr>
        <a:xfrm>
          <a:off x="0" y="0"/>
          <a:ext cx="0" cy="0"/>
          <a:chOff x="0" y="0"/>
          <a:chExt cx="0" cy="0"/>
        </a:xfrm>
      </p:grpSpPr>
      <p:sp>
        <p:nvSpPr>
          <p:cNvPr id="248" name="Google Shape;248;p25"/>
          <p:cNvSpPr/>
          <p:nvPr/>
        </p:nvSpPr>
        <p:spPr>
          <a:xfrm>
            <a:off x="411491" y="308610"/>
            <a:ext cx="8321033"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9973"/>
              </a:buClr>
              <a:buSzPts val="800"/>
              <a:buFont typeface="Calibri"/>
              <a:buNone/>
            </a:pPr>
            <a:r>
              <a:rPr b="1" i="0" lang="en" sz="800" u="none" cap="none" strike="noStrike">
                <a:solidFill>
                  <a:srgbClr val="2E9973"/>
                </a:solidFill>
                <a:latin typeface="Calibri"/>
                <a:ea typeface="Calibri"/>
                <a:cs typeface="Calibri"/>
                <a:sym typeface="Calibri"/>
              </a:rPr>
              <a:t>DATA · SOURCE</a:t>
            </a:r>
            <a:endParaRPr b="0" i="0" sz="800" u="none" cap="none" strike="noStrike">
              <a:solidFill>
                <a:schemeClr val="dk1"/>
              </a:solidFill>
              <a:latin typeface="Calibri"/>
              <a:ea typeface="Calibri"/>
              <a:cs typeface="Calibri"/>
              <a:sym typeface="Calibri"/>
            </a:endParaRPr>
          </a:p>
        </p:txBody>
      </p:sp>
      <p:sp>
        <p:nvSpPr>
          <p:cNvPr id="249" name="Google Shape;249;p25"/>
          <p:cNvSpPr/>
          <p:nvPr/>
        </p:nvSpPr>
        <p:spPr>
          <a:xfrm>
            <a:off x="411491" y="514350"/>
            <a:ext cx="8321033" cy="65151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3203B"/>
              </a:buClr>
              <a:buSzPts val="1800"/>
              <a:buFont typeface="Calibri"/>
              <a:buNone/>
            </a:pPr>
            <a:r>
              <a:rPr b="1" lang="en" sz="1800">
                <a:solidFill>
                  <a:srgbClr val="13203B"/>
                </a:solidFill>
                <a:latin typeface="Calibri"/>
                <a:ea typeface="Calibri"/>
                <a:cs typeface="Calibri"/>
                <a:sym typeface="Calibri"/>
              </a:rPr>
              <a:t>Open Source </a:t>
            </a:r>
            <a:r>
              <a:rPr b="1" i="0" lang="en" sz="1800" u="none" cap="none" strike="noStrike">
                <a:solidFill>
                  <a:srgbClr val="13203B"/>
                </a:solidFill>
                <a:latin typeface="Calibri"/>
                <a:ea typeface="Calibri"/>
                <a:cs typeface="Calibri"/>
                <a:sym typeface="Calibri"/>
              </a:rPr>
              <a:t>World Cup history</a:t>
            </a:r>
            <a:endParaRPr b="0" i="0" sz="1800" u="none" cap="none" strike="noStrike">
              <a:solidFill>
                <a:schemeClr val="dk1"/>
              </a:solidFill>
              <a:latin typeface="Calibri"/>
              <a:ea typeface="Calibri"/>
              <a:cs typeface="Calibri"/>
              <a:sym typeface="Calibri"/>
            </a:endParaRPr>
          </a:p>
        </p:txBody>
      </p:sp>
      <p:sp>
        <p:nvSpPr>
          <p:cNvPr id="900" name="Table header band"/>
          <p:cNvSpPr/>
          <p:nvPr/>
        </p:nvSpPr>
        <p:spPr>
          <a:xfrm>
            <a:off x="411491" y="1200610"/>
            <a:ext cx="8318950" cy="342900"/>
          </a:xfrm>
          <a:prstGeom prst="round2SameRect">
            <a:avLst>
              <a:gd fmla="val 26667" name="adj1"/>
              <a:gd fmla="val 0" name="adj2"/>
            </a:avLst>
          </a:prstGeom>
          <a:solidFill>
            <a:srgbClr val="13203B"/>
          </a:solidFill>
          <a:ln>
            <a:noFill/>
          </a:ln>
        </p:spPr>
        <p:txBody>
          <a:bodyPr spcFirstLastPara="1" wrap="square">
            <a:noAutofit/>
          </a:bodyPr>
          <a:lstStyle/>
          <a:p>
            <a:endParaRPr sz="1100"/>
          </a:p>
        </p:txBody>
      </p:sp>
      <p:graphicFrame>
        <p:nvGraphicFramePr>
          <p:cNvPr id="250" name="Google Shape;250;p25"/>
          <p:cNvGraphicFramePr/>
          <p:nvPr/>
        </p:nvGraphicFramePr>
        <p:xfrm>
          <a:off x="411491" y="1200610"/>
          <a:ext cx="3000000" cy="3000000"/>
        </p:xfrm>
        <a:graphic>
          <a:graphicData uri="http://schemas.openxmlformats.org/drawingml/2006/table">
            <a:tbl>
              <a:tblPr>
                <a:noFill/>
                <a:tableStyleId>{94AC92B4-E7F7-47E5-B7FE-79C4C661988F}</a:tableStyleId>
              </a:tblPr>
              <a:tblGrid>
                <a:gridCol w="2468950"/>
                <a:gridCol w="3429075"/>
                <a:gridCol w="2420925"/>
              </a:tblGrid>
              <a:tr h="342900">
                <a:tc>
                  <a:txBody>
                    <a:bodyPr/>
                    <a:lstStyle/>
                    <a:p>
                      <a:pPr indent="0" lvl="0" marL="0" marR="0" rtl="0" algn="l">
                        <a:lnSpc>
                          <a:spcPct val="100000"/>
                        </a:lnSpc>
                        <a:spcBef>
                          <a:spcPts val="0"/>
                        </a:spcBef>
                        <a:spcAft>
                          <a:spcPts val="0"/>
                        </a:spcAft>
                        <a:buClr>
                          <a:srgbClr val="FFFFFF"/>
                        </a:buClr>
                        <a:buSzPts val="800"/>
                        <a:buFont typeface="Calibri"/>
                        <a:buNone/>
                      </a:pPr>
                      <a:r>
                        <a:rPr b="1" lang="en" sz="1200" u="none" cap="none" strike="noStrike">
                          <a:solidFill>
                            <a:srgbClr val="FFFFFF"/>
                          </a:solidFill>
                          <a:latin typeface="Calibri"/>
                          <a:ea typeface="Calibri"/>
                          <a:cs typeface="Calibri"/>
                          <a:sym typeface="Calibri"/>
                        </a:rPr>
                        <a:t>Dataset</a:t>
                      </a:r>
                      <a:endParaRPr sz="1200" u="none" cap="none" strike="noStrike">
                        <a:latin typeface="Calibri"/>
                        <a:ea typeface="Calibri"/>
                        <a:cs typeface="Calibri"/>
                        <a:sym typeface="Calibri"/>
                      </a:endParaRPr>
                    </a:p>
                  </a:txBody>
                  <a:tcPr marT="34300" marB="34300" marR="68600" marL="68600" anchor="ctr">
                    <a:lnL>
                      <a:noFill/>
                    </a:lnL>
                    <a:lnR cap="flat" cmpd="sng" w="9525">
                      <a:solidFill>
                        <a:srgbClr val="E1E5EE"/>
                      </a:solidFill>
                      <a:prstDash val="solid"/>
                      <a:round/>
                      <a:headEnd len="sm" w="sm" type="none"/>
                      <a:tailEnd len="sm" w="sm" type="none"/>
                    </a:lnR>
                    <a:lnT>
                      <a:noFill/>
                    </a:lnT>
                    <a:lnB cap="flat" cmpd="sng" w="9525">
                      <a:solidFill>
                        <a:srgbClr val="E1E5E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FFFF"/>
                        </a:buClr>
                        <a:buSzPts val="800"/>
                        <a:buFont typeface="Calibri"/>
                        <a:buNone/>
                      </a:pPr>
                      <a:r>
                        <a:rPr b="1" lang="en" sz="1200" u="none" cap="none" strike="noStrike">
                          <a:solidFill>
                            <a:srgbClr val="FFFFFF"/>
                          </a:solidFill>
                          <a:latin typeface="Calibri"/>
                          <a:ea typeface="Calibri"/>
                          <a:cs typeface="Calibri"/>
                          <a:sym typeface="Calibri"/>
                        </a:rPr>
                        <a:t>Coverage</a:t>
                      </a:r>
                      <a:endParaRPr sz="1200" u="none" cap="none" strike="noStrike">
                        <a:latin typeface="Calibri"/>
                        <a:ea typeface="Calibri"/>
                        <a:cs typeface="Calibri"/>
                        <a:sym typeface="Calibri"/>
                      </a:endParaRPr>
                    </a:p>
                  </a:txBody>
                  <a:tcPr marT="34300" marB="34300" marR="68600" marL="68600" anchor="ctr">
                    <a:lnL cap="flat" cmpd="sng" w="9525">
                      <a:solidFill>
                        <a:srgbClr val="E1E5EE"/>
                      </a:solidFill>
                      <a:prstDash val="solid"/>
                      <a:round/>
                      <a:headEnd len="sm" w="sm" type="none"/>
                      <a:tailEnd len="sm" w="sm" type="none"/>
                    </a:lnL>
                    <a:lnR cap="flat" cmpd="sng" w="9525">
                      <a:solidFill>
                        <a:srgbClr val="E1E5EE"/>
                      </a:solidFill>
                      <a:prstDash val="solid"/>
                      <a:round/>
                      <a:headEnd len="sm" w="sm" type="none"/>
                      <a:tailEnd len="sm" w="sm" type="none"/>
                    </a:lnR>
                    <a:lnT>
                      <a:noFill/>
                    </a:lnT>
                    <a:lnB cap="flat" cmpd="sng" w="9525">
                      <a:solidFill>
                        <a:srgbClr val="E1E5E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FFFF"/>
                        </a:buClr>
                        <a:buSzPts val="800"/>
                        <a:buFont typeface="Calibri"/>
                        <a:buNone/>
                      </a:pPr>
                      <a:r>
                        <a:rPr b="1" lang="en" sz="1200" u="none" cap="none" strike="noStrike">
                          <a:solidFill>
                            <a:srgbClr val="FFFFFF"/>
                          </a:solidFill>
                          <a:latin typeface="Calibri"/>
                          <a:ea typeface="Calibri"/>
                          <a:cs typeface="Calibri"/>
                          <a:sym typeface="Calibri"/>
                        </a:rPr>
                        <a:t>Role in this study</a:t>
                      </a:r>
                      <a:endParaRPr sz="1200" u="none" cap="none" strike="noStrike">
                        <a:latin typeface="Calibri"/>
                        <a:ea typeface="Calibri"/>
                        <a:cs typeface="Calibri"/>
                        <a:sym typeface="Calibri"/>
                      </a:endParaRPr>
                    </a:p>
                  </a:txBody>
                  <a:tcPr marT="34300" marB="34300" marR="68600" marL="68600" anchor="ctr">
                    <a:lnL cap="flat" cmpd="sng" w="9525">
                      <a:solidFill>
                        <a:srgbClr val="E1E5EE"/>
                      </a:solidFill>
                      <a:prstDash val="solid"/>
                      <a:round/>
                      <a:headEnd len="sm" w="sm" type="none"/>
                      <a:tailEnd len="sm" w="sm" type="none"/>
                    </a:lnL>
                    <a:lnR>
                      <a:noFill/>
                    </a:lnR>
                    <a:lnT>
                      <a:noFill/>
                    </a:lnT>
                    <a:lnB cap="flat" cmpd="sng" w="9525">
                      <a:solidFill>
                        <a:srgbClr val="E1E5EE"/>
                      </a:solidFill>
                      <a:prstDash val="solid"/>
                      <a:round/>
                      <a:headEnd len="sm" w="sm" type="none"/>
                      <a:tailEnd len="sm" w="sm" type="none"/>
                    </a:lnB>
                  </a:tcPr>
                </a:tc>
              </a:tr>
              <a:tr h="857250">
                <a:tc>
                  <a:txBody>
                    <a:bodyPr/>
                    <a:lstStyle/>
                    <a:p>
                      <a:pPr indent="0" lvl="0" marL="0" marR="0" rtl="0" algn="l">
                        <a:lnSpc>
                          <a:spcPct val="100000"/>
                        </a:lnSpc>
                        <a:spcBef>
                          <a:spcPts val="0"/>
                        </a:spcBef>
                        <a:spcAft>
                          <a:spcPts val="0"/>
                        </a:spcAft>
                        <a:buClr>
                          <a:srgbClr val="13203B"/>
                        </a:buClr>
                        <a:buSzPts val="800"/>
                        <a:buFont typeface="Calibri"/>
                        <a:buNone/>
                      </a:pPr>
                      <a:r>
                        <a:rPr b="1" lang="en" sz="1200" u="none" cap="none" strike="noStrike">
                          <a:solidFill>
                            <a:srgbClr val="13203B"/>
                          </a:solidFill>
                          <a:latin typeface="Calibri"/>
                          <a:ea typeface="Calibri"/>
                          <a:cs typeface="Calibri"/>
                          <a:sym typeface="Calibri"/>
                        </a:rPr>
                        <a:t>FIFA World Cup relational database (datahub.io)</a:t>
                      </a:r>
                      <a:endParaRPr sz="1200" u="none" cap="none" strike="noStrike">
                        <a:latin typeface="Calibri"/>
                        <a:ea typeface="Calibri"/>
                        <a:cs typeface="Calibri"/>
                        <a:sym typeface="Calibri"/>
                      </a:endParaRPr>
                    </a:p>
                  </a:txBody>
                  <a:tcPr marT="34300" marB="34300" marR="68600" marL="68600" anchor="ctr">
                    <a:lnL>
                      <a:noFill/>
                    </a:lnL>
                    <a:lnR cap="flat" cmpd="sng" w="9525">
                      <a:solidFill>
                        <a:srgbClr val="E1E5EE"/>
                      </a:solidFill>
                      <a:prstDash val="solid"/>
                      <a:round/>
                      <a:headEnd len="sm" w="sm" type="none"/>
                      <a:tailEnd len="sm" w="sm" type="none"/>
                    </a:lnR>
                    <a:lnT cap="flat" cmpd="sng" w="9525">
                      <a:solidFill>
                        <a:srgbClr val="E1E5EE"/>
                      </a:solidFill>
                      <a:prstDash val="solid"/>
                      <a:round/>
                      <a:headEnd len="sm" w="sm" type="none"/>
                      <a:tailEnd len="sm" w="sm" type="none"/>
                    </a:lnT>
                    <a:lnB>
                      <a:noFill/>
                    </a:lnB>
                  </a:tcPr>
                </a:tc>
                <a:tc>
                  <a:txBody>
                    <a:bodyPr/>
                    <a:lstStyle/>
                    <a:p>
                      <a:pPr indent="0" lvl="0" marL="0" marR="0" rtl="0" algn="l">
                        <a:lnSpc>
                          <a:spcPct val="100000"/>
                        </a:lnSpc>
                        <a:spcBef>
                          <a:spcPts val="0"/>
                        </a:spcBef>
                        <a:spcAft>
                          <a:spcPts val="0"/>
                        </a:spcAft>
                        <a:buClr>
                          <a:srgbClr val="13203B"/>
                        </a:buClr>
                        <a:buSzPts val="800"/>
                        <a:buFont typeface="Calibri"/>
                        <a:buNone/>
                      </a:pPr>
                      <a:r>
                        <a:rPr lang="en" sz="1200" u="none" cap="none" strike="noStrike">
                          <a:solidFill>
                            <a:srgbClr val="13203B"/>
                          </a:solidFill>
                          <a:latin typeface="Calibri"/>
                          <a:ea typeface="Calibri"/>
                          <a:cs typeface="Calibri"/>
                          <a:sym typeface="Calibri"/>
                        </a:rPr>
                        <a:t>38 linked CSV tables — tournaments, teams, squads, players, matches, bookings, hosts, managers — back to 1930</a:t>
                      </a:r>
                      <a:endParaRPr sz="1200" u="none" cap="none" strike="noStrike">
                        <a:latin typeface="Calibri"/>
                        <a:ea typeface="Calibri"/>
                        <a:cs typeface="Calibri"/>
                        <a:sym typeface="Calibri"/>
                      </a:endParaRPr>
                    </a:p>
                  </a:txBody>
                  <a:tcPr marT="34300" marB="34300" marR="68600" marL="68600" anchor="ctr">
                    <a:lnL cap="flat" cmpd="sng" w="9525">
                      <a:solidFill>
                        <a:srgbClr val="E1E5EE"/>
                      </a:solidFill>
                      <a:prstDash val="solid"/>
                      <a:round/>
                      <a:headEnd len="sm" w="sm" type="none"/>
                      <a:tailEnd len="sm" w="sm" type="none"/>
                    </a:lnL>
                    <a:lnR cap="flat" cmpd="sng" w="9525">
                      <a:solidFill>
                        <a:srgbClr val="E1E5EE"/>
                      </a:solidFill>
                      <a:prstDash val="solid"/>
                      <a:round/>
                      <a:headEnd len="sm" w="sm" type="none"/>
                      <a:tailEnd len="sm" w="sm" type="none"/>
                    </a:lnR>
                    <a:lnT cap="flat" cmpd="sng" w="9525">
                      <a:solidFill>
                        <a:srgbClr val="E1E5EE"/>
                      </a:solidFill>
                      <a:prstDash val="solid"/>
                      <a:round/>
                      <a:headEnd len="sm" w="sm" type="none"/>
                      <a:tailEnd len="sm" w="sm" type="none"/>
                    </a:lnT>
                    <a:lnB>
                      <a:noFill/>
                    </a:lnB>
                  </a:tcPr>
                </a:tc>
                <a:tc>
                  <a:txBody>
                    <a:bodyPr/>
                    <a:lstStyle/>
                    <a:p>
                      <a:pPr indent="0" lvl="0" marL="0" marR="0" rtl="0" algn="l">
                        <a:lnSpc>
                          <a:spcPct val="100000"/>
                        </a:lnSpc>
                        <a:spcBef>
                          <a:spcPts val="0"/>
                        </a:spcBef>
                        <a:spcAft>
                          <a:spcPts val="0"/>
                        </a:spcAft>
                        <a:buClr>
                          <a:srgbClr val="13203B"/>
                        </a:buClr>
                        <a:buSzPts val="800"/>
                        <a:buFont typeface="Calibri"/>
                        <a:buNone/>
                      </a:pPr>
                      <a:r>
                        <a:rPr lang="en" sz="1200" u="none" cap="none" strike="noStrike">
                          <a:solidFill>
                            <a:srgbClr val="13203B"/>
                          </a:solidFill>
                          <a:latin typeface="Calibri"/>
                          <a:ea typeface="Calibri"/>
                          <a:cs typeface="Calibri"/>
                          <a:sym typeface="Calibri"/>
                        </a:rPr>
                        <a:t>Joined via SQL (sqldf</a:t>
                      </a:r>
                      <a:r>
                        <a:rPr lang="en" sz="1200">
                          <a:solidFill>
                            <a:srgbClr val="13203B"/>
                          </a:solidFill>
                          <a:latin typeface="Calibri"/>
                          <a:ea typeface="Calibri"/>
                          <a:cs typeface="Calibri"/>
                          <a:sym typeface="Calibri"/>
                        </a:rPr>
                        <a:t> in R</a:t>
                      </a:r>
                      <a:r>
                        <a:rPr lang="en" sz="1200" u="none" cap="none" strike="noStrike">
                          <a:solidFill>
                            <a:srgbClr val="13203B"/>
                          </a:solidFill>
                          <a:latin typeface="Calibri"/>
                          <a:ea typeface="Calibri"/>
                          <a:cs typeface="Calibri"/>
                          <a:sym typeface="Calibri"/>
                        </a:rPr>
                        <a:t>) into</a:t>
                      </a:r>
                      <a:r>
                        <a:rPr lang="en" sz="1200">
                          <a:solidFill>
                            <a:srgbClr val="13203B"/>
                          </a:solidFill>
                          <a:latin typeface="Calibri"/>
                          <a:ea typeface="Calibri"/>
                          <a:cs typeface="Calibri"/>
                          <a:sym typeface="Calibri"/>
                        </a:rPr>
                        <a:t> one main </a:t>
                      </a:r>
                      <a:r>
                        <a:rPr lang="en" sz="1200">
                          <a:solidFill>
                            <a:srgbClr val="13203B"/>
                          </a:solidFill>
                          <a:latin typeface="Calibri"/>
                          <a:ea typeface="Calibri"/>
                          <a:cs typeface="Calibri"/>
                          <a:sym typeface="Calibri"/>
                        </a:rPr>
                        <a:t>data frame</a:t>
                      </a:r>
                      <a:r>
                        <a:rPr lang="en" sz="1200">
                          <a:solidFill>
                            <a:srgbClr val="13203B"/>
                          </a:solidFill>
                          <a:latin typeface="Calibri"/>
                          <a:ea typeface="Calibri"/>
                          <a:cs typeface="Calibri"/>
                          <a:sym typeface="Calibri"/>
                        </a:rPr>
                        <a:t> for analysis</a:t>
                      </a:r>
                      <a:endParaRPr sz="1200" u="none" cap="none" strike="noStrike">
                        <a:latin typeface="Calibri"/>
                        <a:ea typeface="Calibri"/>
                        <a:cs typeface="Calibri"/>
                        <a:sym typeface="Calibri"/>
                      </a:endParaRPr>
                    </a:p>
                  </a:txBody>
                  <a:tcPr marT="34300" marB="34300" marR="68600" marL="68600" anchor="ctr">
                    <a:lnL cap="flat" cmpd="sng" w="9525">
                      <a:solidFill>
                        <a:srgbClr val="E1E5EE"/>
                      </a:solidFill>
                      <a:prstDash val="solid"/>
                      <a:round/>
                      <a:headEnd len="sm" w="sm" type="none"/>
                      <a:tailEnd len="sm" w="sm" type="none"/>
                    </a:lnL>
                    <a:lnR>
                      <a:noFill/>
                    </a:lnR>
                    <a:lnT cap="flat" cmpd="sng" w="9525">
                      <a:solidFill>
                        <a:srgbClr val="E1E5EE"/>
                      </a:solidFill>
                      <a:prstDash val="solid"/>
                      <a:round/>
                      <a:headEnd len="sm" w="sm" type="none"/>
                      <a:tailEnd len="sm" w="sm" type="none"/>
                    </a:lnT>
                    <a:lnB>
                      <a:noFill/>
                    </a:lnB>
                  </a:tcPr>
                </a:tc>
              </a:tr>
            </a:tbl>
          </a:graphicData>
        </a:graphic>
      </p:graphicFrame>
      <p:sp>
        <p:nvSpPr>
          <p:cNvPr id="901" name="Table rounded outline"/>
          <p:cNvSpPr/>
          <p:nvPr/>
        </p:nvSpPr>
        <p:spPr>
          <a:xfrm>
            <a:off x="411491" y="1200610"/>
            <a:ext cx="8318950" cy="1200150"/>
          </a:xfrm>
          <a:prstGeom prst="roundRect">
            <a:avLst>
              <a:gd fmla="val 7619" name="adj"/>
            </a:avLst>
          </a:prstGeom>
          <a:noFill/>
          <a:ln cap="flat" cmpd="sng" w="9525">
            <a:solidFill>
              <a:srgbClr val="E1E5EE"/>
            </a:solidFill>
            <a:prstDash val="solid"/>
            <a:round/>
            <a:headEnd len="sm" type="none" w="sm"/>
            <a:tailEnd len="sm" type="none" w="sm"/>
          </a:ln>
        </p:spPr>
        <p:txBody>
          <a:bodyPr spcFirstLastPara="1" wrap="square">
            <a:noAutofit/>
          </a:bodyPr>
          <a:lstStyle/>
          <a:p>
            <a:endParaRPr sz="1100"/>
          </a:p>
        </p:txBody>
      </p:sp>
      <p:sp>
        <p:nvSpPr>
          <p:cNvPr id="251" name="Google Shape;251;p25"/>
          <p:cNvSpPr/>
          <p:nvPr/>
        </p:nvSpPr>
        <p:spPr>
          <a:xfrm>
            <a:off x="411500" y="2628975"/>
            <a:ext cx="8321100" cy="1917900"/>
          </a:xfrm>
          <a:prstGeom prst="roundRect">
            <a:avLst>
              <a:gd fmla="val 4706" name="adj"/>
            </a:avLst>
          </a:prstGeom>
          <a:solidFill>
            <a:srgbClr val="F3F5F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52" name="Google Shape;252;p25"/>
          <p:cNvSpPr/>
          <p:nvPr/>
        </p:nvSpPr>
        <p:spPr>
          <a:xfrm>
            <a:off x="582946" y="3067891"/>
            <a:ext cx="79782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9973"/>
              </a:buClr>
              <a:buSzPts val="800"/>
              <a:buFont typeface="Calibri"/>
              <a:buNone/>
            </a:pPr>
            <a:r>
              <a:rPr b="1" i="0" lang="en" sz="1100" u="none" cap="none" strike="noStrike">
                <a:solidFill>
                  <a:srgbClr val="2E9973"/>
                </a:solidFill>
                <a:latin typeface="Calibri"/>
                <a:ea typeface="Calibri"/>
                <a:cs typeface="Calibri"/>
                <a:sym typeface="Calibri"/>
              </a:rPr>
              <a:t>SCOPE OF THE PRIMARY MODEL</a:t>
            </a:r>
            <a:endParaRPr b="0" i="0" sz="1100" u="none" cap="none" strike="noStrike">
              <a:solidFill>
                <a:schemeClr val="dk1"/>
              </a:solidFill>
              <a:latin typeface="Calibri"/>
              <a:ea typeface="Calibri"/>
              <a:cs typeface="Calibri"/>
              <a:sym typeface="Calibri"/>
            </a:endParaRPr>
          </a:p>
        </p:txBody>
      </p:sp>
      <p:sp>
        <p:nvSpPr>
          <p:cNvPr id="253" name="Google Shape;253;p25"/>
          <p:cNvSpPr/>
          <p:nvPr/>
        </p:nvSpPr>
        <p:spPr>
          <a:xfrm>
            <a:off x="582950" y="3171019"/>
            <a:ext cx="7978200" cy="10893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50607F"/>
              </a:buClr>
              <a:buSzPts val="900"/>
              <a:buFont typeface="Calibri"/>
              <a:buNone/>
            </a:pPr>
            <a:r>
              <a:rPr b="0" i="0" lang="en" sz="1200" u="none" cap="none" strike="noStrike">
                <a:solidFill>
                  <a:srgbClr val="50607F"/>
                </a:solidFill>
                <a:latin typeface="Calibri"/>
                <a:ea typeface="Calibri"/>
                <a:cs typeface="Calibri"/>
                <a:sym typeface="Calibri"/>
              </a:rPr>
              <a:t>The unit of analysis is a single team's group-stage campaign in a single men's FIFA World Cup. After restricting to men's tournaments from 1970 onward (see next slide), the modeling table contains 366 team-campaigns.</a:t>
            </a:r>
            <a:endParaRPr b="0" i="0" sz="1200" u="none" cap="none" strike="noStrike">
              <a:solidFill>
                <a:srgbClr val="50607F"/>
              </a:solidFill>
              <a:latin typeface="Calibri"/>
              <a:ea typeface="Calibri"/>
              <a:cs typeface="Calibri"/>
              <a:sym typeface="Calibri"/>
            </a:endParaRPr>
          </a:p>
          <a:p>
            <a:pPr indent="0" lvl="0" marL="0" marR="0" rtl="0" algn="l">
              <a:lnSpc>
                <a:spcPct val="130000"/>
              </a:lnSpc>
              <a:spcBef>
                <a:spcPts val="0"/>
              </a:spcBef>
              <a:spcAft>
                <a:spcPts val="0"/>
              </a:spcAft>
              <a:buClr>
                <a:srgbClr val="50607F"/>
              </a:buClr>
              <a:buSzPts val="900"/>
              <a:buFont typeface="Calibri"/>
              <a:buNone/>
            </a:pPr>
            <a:r>
              <a:t/>
            </a:r>
            <a:endParaRPr sz="1200">
              <a:solidFill>
                <a:srgbClr val="50607F"/>
              </a:solidFill>
              <a:latin typeface="Calibri"/>
              <a:ea typeface="Calibri"/>
              <a:cs typeface="Calibri"/>
              <a:sym typeface="Calibri"/>
            </a:endParaRPr>
          </a:p>
          <a:p>
            <a:pPr indent="0" lvl="0" marL="0" marR="0" rtl="0" algn="l">
              <a:lnSpc>
                <a:spcPct val="130000"/>
              </a:lnSpc>
              <a:spcBef>
                <a:spcPts val="0"/>
              </a:spcBef>
              <a:spcAft>
                <a:spcPts val="0"/>
              </a:spcAft>
              <a:buClr>
                <a:srgbClr val="50607F"/>
              </a:buClr>
              <a:buSzPts val="900"/>
              <a:buFont typeface="Calibri"/>
              <a:buNone/>
            </a:pPr>
            <a:r>
              <a:rPr lang="en" sz="1200">
                <a:solidFill>
                  <a:srgbClr val="50607F"/>
                </a:solidFill>
                <a:latin typeface="Calibri"/>
                <a:ea typeface="Calibri"/>
                <a:cs typeface="Calibri"/>
                <a:sym typeface="Calibri"/>
              </a:rPr>
              <a:t>Formula: </a:t>
            </a:r>
            <a:r>
              <a:rPr lang="en" sz="1200">
                <a:solidFill>
                  <a:srgbClr val="2E9973"/>
                </a:solidFill>
                <a:latin typeface="Calibri"/>
                <a:ea typeface="Calibri"/>
                <a:cs typeface="Calibri"/>
                <a:sym typeface="Calibri"/>
              </a:rPr>
              <a:t>advanced = prior_tournaments + is_host + conf + other covariates</a:t>
            </a:r>
            <a:endParaRPr sz="1200">
              <a:solidFill>
                <a:srgbClr val="2E9973"/>
              </a:solidFill>
              <a:latin typeface="Calibri"/>
              <a:ea typeface="Calibri"/>
              <a:cs typeface="Calibri"/>
              <a:sym typeface="Calibri"/>
            </a:endParaRPr>
          </a:p>
        </p:txBody>
      </p:sp>
      <p:sp>
        <p:nvSpPr>
          <p:cNvPr id="254" name="Google Shape;254;p25"/>
          <p:cNvSpPr/>
          <p:nvPr/>
        </p:nvSpPr>
        <p:spPr>
          <a:xfrm>
            <a:off x="411491" y="4800600"/>
            <a:ext cx="4800728"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592AA"/>
              </a:buClr>
              <a:buSzPts val="700"/>
              <a:buFont typeface="Calibri"/>
              <a:buNone/>
            </a:pPr>
            <a:r>
              <a:rPr b="0" i="0" lang="en" sz="700" u="none" cap="none" strike="noStrike">
                <a:solidFill>
                  <a:srgbClr val="8592AA"/>
                </a:solidFill>
                <a:latin typeface="Calibri"/>
                <a:ea typeface="Calibri"/>
                <a:cs typeface="Calibri"/>
                <a:sym typeface="Calibri"/>
              </a:rPr>
              <a:t>Shiu &amp; Nguyen  |  STAT 418, Tools in Data Science  |  UCLA Summer 2026</a:t>
            </a:r>
            <a:endParaRPr b="0" i="0" sz="700" u="none" cap="none" strike="noStrike">
              <a:solidFill>
                <a:schemeClr val="dk1"/>
              </a:solidFill>
              <a:latin typeface="Calibri"/>
              <a:ea typeface="Calibri"/>
              <a:cs typeface="Calibri"/>
              <a:sym typeface="Calibri"/>
            </a:endParaRPr>
          </a:p>
        </p:txBody>
      </p:sp>
      <p:sp>
        <p:nvSpPr>
          <p:cNvPr id="255" name="Google Shape;255;p25"/>
          <p:cNvSpPr/>
          <p:nvPr/>
        </p:nvSpPr>
        <p:spPr>
          <a:xfrm>
            <a:off x="8458197" y="4800600"/>
            <a:ext cx="411491" cy="2057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592AA"/>
              </a:buClr>
              <a:buSzPts val="800"/>
              <a:buFont typeface="Calibri"/>
              <a:buNone/>
            </a:pPr>
            <a:r>
              <a:rPr b="0" i="0" lang="en" sz="800" u="none" cap="none" strike="noStrike">
                <a:solidFill>
                  <a:srgbClr val="8592AA"/>
                </a:solidFill>
                <a:latin typeface="Calibri"/>
                <a:ea typeface="Calibri"/>
                <a:cs typeface="Calibri"/>
                <a:sym typeface="Calibri"/>
              </a:rPr>
              <a:t>7</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0" name="Shape 260"/>
        <p:cNvGrpSpPr/>
        <p:nvPr/>
      </p:nvGrpSpPr>
      <p:grpSpPr>
        <a:xfrm>
          <a:off x="0" y="0"/>
          <a:ext cx="0" cy="0"/>
          <a:chOff x="0" y="0"/>
          <a:chExt cx="0" cy="0"/>
        </a:xfrm>
      </p:grpSpPr>
      <p:sp>
        <p:nvSpPr>
          <p:cNvPr id="261" name="Google Shape;261;p26"/>
          <p:cNvSpPr/>
          <p:nvPr/>
        </p:nvSpPr>
        <p:spPr>
          <a:xfrm>
            <a:off x="411491" y="308610"/>
            <a:ext cx="8321033"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9973"/>
              </a:buClr>
              <a:buSzPts val="800"/>
              <a:buFont typeface="Calibri"/>
              <a:buNone/>
            </a:pPr>
            <a:r>
              <a:rPr b="1" i="0" lang="en" sz="800" u="none" cap="none" strike="noStrike">
                <a:solidFill>
                  <a:srgbClr val="2E9973"/>
                </a:solidFill>
                <a:latin typeface="Calibri"/>
                <a:ea typeface="Calibri"/>
                <a:cs typeface="Calibri"/>
                <a:sym typeface="Calibri"/>
              </a:rPr>
              <a:t>DATA · FEATURE ENGINEERING</a:t>
            </a:r>
            <a:endParaRPr b="0" i="0" sz="800" u="none" cap="none" strike="noStrike">
              <a:solidFill>
                <a:schemeClr val="dk1"/>
              </a:solidFill>
              <a:latin typeface="Calibri"/>
              <a:ea typeface="Calibri"/>
              <a:cs typeface="Calibri"/>
              <a:sym typeface="Calibri"/>
            </a:endParaRPr>
          </a:p>
        </p:txBody>
      </p:sp>
      <p:sp>
        <p:nvSpPr>
          <p:cNvPr id="262" name="Google Shape;262;p26"/>
          <p:cNvSpPr/>
          <p:nvPr/>
        </p:nvSpPr>
        <p:spPr>
          <a:xfrm>
            <a:off x="411491" y="514575"/>
            <a:ext cx="8321100" cy="6516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3203B"/>
              </a:buClr>
              <a:buSzPts val="1800"/>
              <a:buFont typeface="Calibri"/>
              <a:buNone/>
            </a:pPr>
            <a:r>
              <a:rPr b="1" lang="en" sz="2000">
                <a:solidFill>
                  <a:srgbClr val="13203B"/>
                </a:solidFill>
                <a:latin typeface="Calibri"/>
                <a:ea typeface="Calibri"/>
                <a:cs typeface="Calibri"/>
                <a:sym typeface="Calibri"/>
              </a:rPr>
              <a:t>Five</a:t>
            </a:r>
            <a:r>
              <a:rPr b="1" i="0" lang="en" sz="2000" u="none" cap="none" strike="noStrike">
                <a:solidFill>
                  <a:srgbClr val="13203B"/>
                </a:solidFill>
                <a:latin typeface="Calibri"/>
                <a:ea typeface="Calibri"/>
                <a:cs typeface="Calibri"/>
                <a:sym typeface="Calibri"/>
              </a:rPr>
              <a:t> </a:t>
            </a:r>
            <a:r>
              <a:rPr b="1" lang="en" sz="2000">
                <a:solidFill>
                  <a:srgbClr val="13203B"/>
                </a:solidFill>
                <a:latin typeface="Calibri"/>
                <a:ea typeface="Calibri"/>
                <a:cs typeface="Calibri"/>
                <a:sym typeface="Calibri"/>
              </a:rPr>
              <a:t>p</a:t>
            </a:r>
            <a:r>
              <a:rPr b="1" i="0" lang="en" sz="2000" u="none" cap="none" strike="noStrike">
                <a:solidFill>
                  <a:srgbClr val="13203B"/>
                </a:solidFill>
                <a:latin typeface="Calibri"/>
                <a:ea typeface="Calibri"/>
                <a:cs typeface="Calibri"/>
                <a:sym typeface="Calibri"/>
              </a:rPr>
              <a:t>redictor blocks translate raw tables into modeling-ready features</a:t>
            </a:r>
            <a:endParaRPr b="0" i="0" sz="2000" u="none" cap="none" strike="noStrike">
              <a:solidFill>
                <a:schemeClr val="dk1"/>
              </a:solidFill>
              <a:latin typeface="Calibri"/>
              <a:ea typeface="Calibri"/>
              <a:cs typeface="Calibri"/>
              <a:sym typeface="Calibri"/>
            </a:endParaRPr>
          </a:p>
        </p:txBody>
      </p:sp>
      <p:sp>
        <p:nvSpPr>
          <p:cNvPr id="900" name="Table header band"/>
          <p:cNvSpPr/>
          <p:nvPr/>
        </p:nvSpPr>
        <p:spPr>
          <a:xfrm>
            <a:off x="411491" y="1166320"/>
            <a:ext cx="8318925" cy="329175"/>
          </a:xfrm>
          <a:prstGeom prst="round2SameRect">
            <a:avLst>
              <a:gd fmla="val 27779" name="adj1"/>
              <a:gd fmla="val 0" name="adj2"/>
            </a:avLst>
          </a:prstGeom>
          <a:solidFill>
            <a:srgbClr val="13203B"/>
          </a:solidFill>
          <a:ln>
            <a:noFill/>
          </a:ln>
        </p:spPr>
        <p:txBody>
          <a:bodyPr spcFirstLastPara="1" wrap="square">
            <a:noAutofit/>
          </a:bodyPr>
          <a:lstStyle/>
          <a:p>
            <a:endParaRPr sz="1100"/>
          </a:p>
        </p:txBody>
      </p:sp>
      <p:graphicFrame>
        <p:nvGraphicFramePr>
          <p:cNvPr id="263" name="Google Shape;263;p26"/>
          <p:cNvGraphicFramePr/>
          <p:nvPr/>
        </p:nvGraphicFramePr>
        <p:xfrm>
          <a:off x="411491" y="1166320"/>
          <a:ext cx="3000000" cy="3000000"/>
        </p:xfrm>
        <a:graphic>
          <a:graphicData uri="http://schemas.openxmlformats.org/drawingml/2006/table">
            <a:tbl>
              <a:tblPr>
                <a:noFill/>
                <a:tableStyleId>{94AC92B4-E7F7-47E5-B7FE-79C4C661988F}</a:tableStyleId>
              </a:tblPr>
              <a:tblGrid>
                <a:gridCol w="1920275"/>
                <a:gridCol w="5143625"/>
                <a:gridCol w="1255025"/>
              </a:tblGrid>
              <a:tr h="329175">
                <a:tc>
                  <a:txBody>
                    <a:bodyPr/>
                    <a:lstStyle/>
                    <a:p>
                      <a:pPr indent="0" lvl="0" marL="0" marR="0" rtl="0" algn="l">
                        <a:lnSpc>
                          <a:spcPct val="100000"/>
                        </a:lnSpc>
                        <a:spcBef>
                          <a:spcPts val="0"/>
                        </a:spcBef>
                        <a:spcAft>
                          <a:spcPts val="0"/>
                        </a:spcAft>
                        <a:buClr>
                          <a:srgbClr val="FFFFFF"/>
                        </a:buClr>
                        <a:buSzPts val="800"/>
                        <a:buFont typeface="Calibri"/>
                        <a:buNone/>
                      </a:pPr>
                      <a:r>
                        <a:rPr b="1" lang="en" sz="1100" u="none" cap="none" strike="noStrike">
                          <a:solidFill>
                            <a:srgbClr val="FFFFFF"/>
                          </a:solidFill>
                          <a:latin typeface="Calibri"/>
                          <a:ea typeface="Calibri"/>
                          <a:cs typeface="Calibri"/>
                          <a:sym typeface="Calibri"/>
                        </a:rPr>
                        <a:t>Variable</a:t>
                      </a:r>
                      <a:endParaRPr sz="1100" u="none" cap="none" strike="noStrike">
                        <a:latin typeface="Calibri"/>
                        <a:ea typeface="Calibri"/>
                        <a:cs typeface="Calibri"/>
                        <a:sym typeface="Calibri"/>
                      </a:endParaRPr>
                    </a:p>
                  </a:txBody>
                  <a:tcPr marT="34300" marB="34300" marR="68600" marL="68600" anchor="ctr">
                    <a:lnL>
                      <a:noFill/>
                    </a:lnL>
                    <a:lnR cap="flat" cmpd="sng" w="9525">
                      <a:solidFill>
                        <a:srgbClr val="E1E5EE"/>
                      </a:solidFill>
                      <a:prstDash val="solid"/>
                      <a:round/>
                      <a:headEnd len="sm" w="sm" type="none"/>
                      <a:tailEnd len="sm" w="sm" type="none"/>
                    </a:lnR>
                    <a:lnT>
                      <a:noFill/>
                    </a:lnT>
                    <a:lnB cap="flat" cmpd="sng" w="9525">
                      <a:solidFill>
                        <a:srgbClr val="E1E5E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FFFF"/>
                        </a:buClr>
                        <a:buSzPts val="800"/>
                        <a:buFont typeface="Calibri"/>
                        <a:buNone/>
                      </a:pPr>
                      <a:r>
                        <a:rPr b="1" lang="en" sz="1100" u="none" cap="none" strike="noStrike">
                          <a:solidFill>
                            <a:srgbClr val="FFFFFF"/>
                          </a:solidFill>
                          <a:latin typeface="Calibri"/>
                          <a:ea typeface="Calibri"/>
                          <a:cs typeface="Calibri"/>
                          <a:sym typeface="Calibri"/>
                        </a:rPr>
                        <a:t>Description</a:t>
                      </a:r>
                      <a:endParaRPr sz="1100" u="none" cap="none" strike="noStrike">
                        <a:latin typeface="Calibri"/>
                        <a:ea typeface="Calibri"/>
                        <a:cs typeface="Calibri"/>
                        <a:sym typeface="Calibri"/>
                      </a:endParaRPr>
                    </a:p>
                  </a:txBody>
                  <a:tcPr marT="34300" marB="34300" marR="68600" marL="68600" anchor="ctr">
                    <a:lnL cap="flat" cmpd="sng" w="9525">
                      <a:solidFill>
                        <a:srgbClr val="E1E5EE"/>
                      </a:solidFill>
                      <a:prstDash val="solid"/>
                      <a:round/>
                      <a:headEnd len="sm" w="sm" type="none"/>
                      <a:tailEnd len="sm" w="sm" type="none"/>
                    </a:lnL>
                    <a:lnR cap="flat" cmpd="sng" w="9525">
                      <a:solidFill>
                        <a:srgbClr val="E1E5EE"/>
                      </a:solidFill>
                      <a:prstDash val="solid"/>
                      <a:round/>
                      <a:headEnd len="sm" w="sm" type="none"/>
                      <a:tailEnd len="sm" w="sm" type="none"/>
                    </a:lnR>
                    <a:lnT>
                      <a:noFill/>
                    </a:lnT>
                    <a:lnB cap="flat" cmpd="sng" w="9525">
                      <a:solidFill>
                        <a:srgbClr val="E1E5E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FFFF"/>
                        </a:buClr>
                        <a:buSzPts val="800"/>
                        <a:buFont typeface="Calibri"/>
                        <a:buNone/>
                      </a:pPr>
                      <a:r>
                        <a:rPr b="1" lang="en" sz="1100" u="none" cap="none" strike="noStrike">
                          <a:solidFill>
                            <a:srgbClr val="FFFFFF"/>
                          </a:solidFill>
                          <a:latin typeface="Calibri"/>
                          <a:ea typeface="Calibri"/>
                          <a:cs typeface="Calibri"/>
                          <a:sym typeface="Calibri"/>
                        </a:rPr>
                        <a:t>Type</a:t>
                      </a:r>
                      <a:endParaRPr sz="1100" u="none" cap="none" strike="noStrike">
                        <a:latin typeface="Calibri"/>
                        <a:ea typeface="Calibri"/>
                        <a:cs typeface="Calibri"/>
                        <a:sym typeface="Calibri"/>
                      </a:endParaRPr>
                    </a:p>
                  </a:txBody>
                  <a:tcPr marT="34300" marB="34300" marR="68600" marL="68600" anchor="ctr">
                    <a:lnL cap="flat" cmpd="sng" w="9525">
                      <a:solidFill>
                        <a:srgbClr val="E1E5EE"/>
                      </a:solidFill>
                      <a:prstDash val="solid"/>
                      <a:round/>
                      <a:headEnd len="sm" w="sm" type="none"/>
                      <a:tailEnd len="sm" w="sm" type="none"/>
                    </a:lnL>
                    <a:lnR>
                      <a:noFill/>
                    </a:lnR>
                    <a:lnT>
                      <a:noFill/>
                    </a:lnT>
                    <a:lnB cap="flat" cmpd="sng" w="9525">
                      <a:solidFill>
                        <a:srgbClr val="E1E5EE"/>
                      </a:solidFill>
                      <a:prstDash val="solid"/>
                      <a:round/>
                      <a:headEnd len="sm" w="sm" type="none"/>
                      <a:tailEnd len="sm" w="sm" type="none"/>
                    </a:lnB>
                  </a:tcPr>
                </a:tc>
              </a:tr>
              <a:tr h="329175">
                <a:tc>
                  <a:txBody>
                    <a:bodyPr/>
                    <a:lstStyle/>
                    <a:p>
                      <a:pPr indent="0" lvl="0" marL="0" marR="0" rtl="0" algn="l">
                        <a:lnSpc>
                          <a:spcPct val="100000"/>
                        </a:lnSpc>
                        <a:spcBef>
                          <a:spcPts val="0"/>
                        </a:spcBef>
                        <a:spcAft>
                          <a:spcPts val="0"/>
                        </a:spcAft>
                        <a:buNone/>
                      </a:pPr>
                      <a:r>
                        <a:rPr lang="en" sz="1000">
                          <a:solidFill>
                            <a:srgbClr val="13203B"/>
                          </a:solidFill>
                          <a:latin typeface="Calibri"/>
                          <a:ea typeface="Calibri"/>
                          <a:cs typeface="Calibri"/>
                          <a:sym typeface="Calibri"/>
                        </a:rPr>
                        <a:t>Prior Tournaments</a:t>
                      </a:r>
                      <a:endParaRPr sz="1000" u="none" cap="none" strike="noStrike">
                        <a:solidFill>
                          <a:srgbClr val="13203B"/>
                        </a:solidFill>
                        <a:latin typeface="Calibri"/>
                        <a:ea typeface="Calibri"/>
                        <a:cs typeface="Calibri"/>
                        <a:sym typeface="Calibri"/>
                      </a:endParaRPr>
                    </a:p>
                  </a:txBody>
                  <a:tcPr marT="34300" marB="34300" marR="68600" marL="68600" anchor="ctr">
                    <a:lnL>
                      <a:noFill/>
                    </a:lnL>
                    <a:lnR cap="flat" cmpd="sng" w="9525">
                      <a:solidFill>
                        <a:srgbClr val="E1E5EE"/>
                      </a:solidFill>
                      <a:prstDash val="solid"/>
                      <a:round/>
                      <a:headEnd len="sm" w="sm" type="none"/>
                      <a:tailEnd len="sm" w="sm" type="none"/>
                    </a:lnR>
                    <a:lnT cap="flat" cmpd="sng" w="9525">
                      <a:solidFill>
                        <a:srgbClr val="E1E5EE"/>
                      </a:solidFill>
                      <a:prstDash val="solid"/>
                      <a:round/>
                      <a:headEnd len="sm" w="sm" type="none"/>
                      <a:tailEnd len="sm" w="sm" type="none"/>
                    </a:lnT>
                    <a:lnB cap="flat" cmpd="sng" w="9525">
                      <a:solidFill>
                        <a:srgbClr val="E1E5E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100">
                          <a:solidFill>
                            <a:srgbClr val="13203B"/>
                          </a:solidFill>
                          <a:latin typeface="Calibri"/>
                          <a:ea typeface="Calibri"/>
                          <a:cs typeface="Calibri"/>
                          <a:sym typeface="Calibri"/>
                        </a:rPr>
                        <a:t>Cumulative World Cup appearances for a nation</a:t>
                      </a:r>
                      <a:endParaRPr sz="1100" u="none" cap="none" strike="noStrike">
                        <a:solidFill>
                          <a:srgbClr val="13203B"/>
                        </a:solidFill>
                        <a:latin typeface="Calibri"/>
                        <a:ea typeface="Calibri"/>
                        <a:cs typeface="Calibri"/>
                        <a:sym typeface="Calibri"/>
                      </a:endParaRPr>
                    </a:p>
                  </a:txBody>
                  <a:tcPr marT="34300" marB="34300" marR="68600" marL="68600" anchor="ctr">
                    <a:lnL cap="flat" cmpd="sng" w="9525">
                      <a:solidFill>
                        <a:srgbClr val="E1E5EE"/>
                      </a:solidFill>
                      <a:prstDash val="solid"/>
                      <a:round/>
                      <a:headEnd len="sm" w="sm" type="none"/>
                      <a:tailEnd len="sm" w="sm" type="none"/>
                    </a:lnL>
                    <a:lnR cap="flat" cmpd="sng" w="9525">
                      <a:solidFill>
                        <a:srgbClr val="E1E5EE"/>
                      </a:solidFill>
                      <a:prstDash val="solid"/>
                      <a:round/>
                      <a:headEnd len="sm" w="sm" type="none"/>
                      <a:tailEnd len="sm" w="sm" type="none"/>
                    </a:lnR>
                    <a:lnT cap="flat" cmpd="sng" w="9525">
                      <a:solidFill>
                        <a:srgbClr val="E1E5EE"/>
                      </a:solidFill>
                      <a:prstDash val="solid"/>
                      <a:round/>
                      <a:headEnd len="sm" w="sm" type="none"/>
                      <a:tailEnd len="sm" w="sm" type="none"/>
                    </a:lnT>
                    <a:lnB cap="flat" cmpd="sng" w="9525">
                      <a:solidFill>
                        <a:srgbClr val="E1E5E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 sz="1100">
                          <a:solidFill>
                            <a:srgbClr val="13203B"/>
                          </a:solidFill>
                          <a:latin typeface="Calibri"/>
                          <a:ea typeface="Calibri"/>
                          <a:cs typeface="Calibri"/>
                          <a:sym typeface="Calibri"/>
                        </a:rPr>
                        <a:t>Numeric</a:t>
                      </a:r>
                      <a:endParaRPr sz="1100" u="none" cap="none" strike="noStrike">
                        <a:solidFill>
                          <a:srgbClr val="13203B"/>
                        </a:solidFill>
                        <a:latin typeface="Calibri"/>
                        <a:ea typeface="Calibri"/>
                        <a:cs typeface="Calibri"/>
                        <a:sym typeface="Calibri"/>
                      </a:endParaRPr>
                    </a:p>
                  </a:txBody>
                  <a:tcPr marT="34300" marB="34300" marR="68600" marL="68600" anchor="ctr">
                    <a:lnL cap="flat" cmpd="sng" w="9525">
                      <a:solidFill>
                        <a:srgbClr val="E1E5EE"/>
                      </a:solidFill>
                      <a:prstDash val="solid"/>
                      <a:round/>
                      <a:headEnd len="sm" w="sm" type="none"/>
                      <a:tailEnd len="sm" w="sm" type="none"/>
                    </a:lnL>
                    <a:lnR>
                      <a:noFill/>
                    </a:lnR>
                    <a:lnT cap="flat" cmpd="sng" w="9525">
                      <a:solidFill>
                        <a:srgbClr val="E1E5EE"/>
                      </a:solidFill>
                      <a:prstDash val="solid"/>
                      <a:round/>
                      <a:headEnd len="sm" w="sm" type="none"/>
                      <a:tailEnd len="sm" w="sm" type="none"/>
                    </a:lnT>
                    <a:lnB cap="flat" cmpd="sng" w="9525">
                      <a:solidFill>
                        <a:srgbClr val="E1E5EE"/>
                      </a:solidFill>
                      <a:prstDash val="solid"/>
                      <a:round/>
                      <a:headEnd len="sm" w="sm" type="none"/>
                      <a:tailEnd len="sm" w="sm" type="none"/>
                    </a:lnB>
                  </a:tcPr>
                </a:tc>
              </a:tr>
              <a:tr h="329175">
                <a:tc>
                  <a:txBody>
                    <a:bodyPr/>
                    <a:lstStyle/>
                    <a:p>
                      <a:pPr indent="0" lvl="0" marL="0" marR="0" rtl="0" algn="l">
                        <a:lnSpc>
                          <a:spcPct val="100000"/>
                        </a:lnSpc>
                        <a:spcBef>
                          <a:spcPts val="0"/>
                        </a:spcBef>
                        <a:spcAft>
                          <a:spcPts val="0"/>
                        </a:spcAft>
                        <a:buClr>
                          <a:srgbClr val="13203B"/>
                        </a:buClr>
                        <a:buSzPts val="800"/>
                        <a:buFont typeface="Calibri"/>
                        <a:buNone/>
                      </a:pPr>
                      <a:r>
                        <a:rPr lang="en" sz="1000" u="none" cap="none" strike="noStrike">
                          <a:solidFill>
                            <a:srgbClr val="13203B"/>
                          </a:solidFill>
                          <a:latin typeface="Calibri"/>
                          <a:ea typeface="Calibri"/>
                          <a:cs typeface="Calibri"/>
                          <a:sym typeface="Calibri"/>
                        </a:rPr>
                        <a:t>Squad </a:t>
                      </a:r>
                      <a:r>
                        <a:rPr lang="en" sz="1000">
                          <a:solidFill>
                            <a:srgbClr val="13203B"/>
                          </a:solidFill>
                          <a:latin typeface="Calibri"/>
                          <a:ea typeface="Calibri"/>
                          <a:cs typeface="Calibri"/>
                          <a:sym typeface="Calibri"/>
                        </a:rPr>
                        <a:t>C</a:t>
                      </a:r>
                      <a:r>
                        <a:rPr lang="en" sz="1000" u="none" cap="none" strike="noStrike">
                          <a:solidFill>
                            <a:srgbClr val="13203B"/>
                          </a:solidFill>
                          <a:latin typeface="Calibri"/>
                          <a:ea typeface="Calibri"/>
                          <a:cs typeface="Calibri"/>
                          <a:sym typeface="Calibri"/>
                        </a:rPr>
                        <a:t>omposition</a:t>
                      </a:r>
                      <a:endParaRPr sz="1000" u="none" cap="none" strike="noStrike">
                        <a:latin typeface="Calibri"/>
                        <a:ea typeface="Calibri"/>
                        <a:cs typeface="Calibri"/>
                        <a:sym typeface="Calibri"/>
                      </a:endParaRPr>
                    </a:p>
                  </a:txBody>
                  <a:tcPr marT="34300" marB="34300" marR="68600" marL="68600" anchor="ctr">
                    <a:lnL>
                      <a:noFill/>
                    </a:lnL>
                    <a:lnR cap="flat" cmpd="sng" w="9525">
                      <a:solidFill>
                        <a:srgbClr val="E1E5EE"/>
                      </a:solidFill>
                      <a:prstDash val="solid"/>
                      <a:round/>
                      <a:headEnd len="sm" w="sm" type="none"/>
                      <a:tailEnd len="sm" w="sm" type="none"/>
                    </a:lnR>
                    <a:lnT cap="flat" cmpd="sng" w="9525">
                      <a:solidFill>
                        <a:srgbClr val="E1E5EE"/>
                      </a:solidFill>
                      <a:prstDash val="solid"/>
                      <a:round/>
                      <a:headEnd len="sm" w="sm" type="none"/>
                      <a:tailEnd len="sm" w="sm" type="none"/>
                    </a:lnT>
                    <a:lnB cap="flat" cmpd="sng" w="9525">
                      <a:solidFill>
                        <a:srgbClr val="E1E5E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3203B"/>
                        </a:buClr>
                        <a:buSzPts val="800"/>
                        <a:buFont typeface="Calibri"/>
                        <a:buNone/>
                      </a:pPr>
                      <a:r>
                        <a:rPr lang="en" sz="1100" u="none" cap="none" strike="noStrike">
                          <a:solidFill>
                            <a:srgbClr val="13203B"/>
                          </a:solidFill>
                          <a:latin typeface="Calibri"/>
                          <a:ea typeface="Calibri"/>
                          <a:cs typeface="Calibri"/>
                          <a:sym typeface="Calibri"/>
                        </a:rPr>
                        <a:t>Average squad age, squad size, forward/defender share</a:t>
                      </a:r>
                      <a:endParaRPr sz="1100" u="none" cap="none" strike="noStrike">
                        <a:latin typeface="Calibri"/>
                        <a:ea typeface="Calibri"/>
                        <a:cs typeface="Calibri"/>
                        <a:sym typeface="Calibri"/>
                      </a:endParaRPr>
                    </a:p>
                  </a:txBody>
                  <a:tcPr marT="34300" marB="34300" marR="68600" marL="68600" anchor="ctr">
                    <a:lnL cap="flat" cmpd="sng" w="9525">
                      <a:solidFill>
                        <a:srgbClr val="E1E5EE"/>
                      </a:solidFill>
                      <a:prstDash val="solid"/>
                      <a:round/>
                      <a:headEnd len="sm" w="sm" type="none"/>
                      <a:tailEnd len="sm" w="sm" type="none"/>
                    </a:lnL>
                    <a:lnR cap="flat" cmpd="sng" w="9525">
                      <a:solidFill>
                        <a:srgbClr val="E1E5EE"/>
                      </a:solidFill>
                      <a:prstDash val="solid"/>
                      <a:round/>
                      <a:headEnd len="sm" w="sm" type="none"/>
                      <a:tailEnd len="sm" w="sm" type="none"/>
                    </a:lnR>
                    <a:lnT cap="flat" cmpd="sng" w="9525">
                      <a:solidFill>
                        <a:srgbClr val="E1E5EE"/>
                      </a:solidFill>
                      <a:prstDash val="solid"/>
                      <a:round/>
                      <a:headEnd len="sm" w="sm" type="none"/>
                      <a:tailEnd len="sm" w="sm" type="none"/>
                    </a:lnT>
                    <a:lnB cap="flat" cmpd="sng" w="9525">
                      <a:solidFill>
                        <a:srgbClr val="E1E5E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3203B"/>
                        </a:buClr>
                        <a:buSzPts val="800"/>
                        <a:buFont typeface="Calibri"/>
                        <a:buNone/>
                      </a:pPr>
                      <a:r>
                        <a:rPr lang="en" sz="1100" u="none" cap="none" strike="noStrike">
                          <a:solidFill>
                            <a:srgbClr val="13203B"/>
                          </a:solidFill>
                          <a:latin typeface="Calibri"/>
                          <a:ea typeface="Calibri"/>
                          <a:cs typeface="Calibri"/>
                          <a:sym typeface="Calibri"/>
                        </a:rPr>
                        <a:t>Numeric</a:t>
                      </a:r>
                      <a:endParaRPr sz="1100" u="none" cap="none" strike="noStrike">
                        <a:latin typeface="Calibri"/>
                        <a:ea typeface="Calibri"/>
                        <a:cs typeface="Calibri"/>
                        <a:sym typeface="Calibri"/>
                      </a:endParaRPr>
                    </a:p>
                  </a:txBody>
                  <a:tcPr marT="34300" marB="34300" marR="68600" marL="68600" anchor="ctr">
                    <a:lnL cap="flat" cmpd="sng" w="9525">
                      <a:solidFill>
                        <a:srgbClr val="E1E5EE"/>
                      </a:solidFill>
                      <a:prstDash val="solid"/>
                      <a:round/>
                      <a:headEnd len="sm" w="sm" type="none"/>
                      <a:tailEnd len="sm" w="sm" type="none"/>
                    </a:lnL>
                    <a:lnR>
                      <a:noFill/>
                    </a:lnR>
                    <a:lnT cap="flat" cmpd="sng" w="9525">
                      <a:solidFill>
                        <a:srgbClr val="E1E5EE"/>
                      </a:solidFill>
                      <a:prstDash val="solid"/>
                      <a:round/>
                      <a:headEnd len="sm" w="sm" type="none"/>
                      <a:tailEnd len="sm" w="sm" type="none"/>
                    </a:lnT>
                    <a:lnB cap="flat" cmpd="sng" w="9525">
                      <a:solidFill>
                        <a:srgbClr val="E1E5EE"/>
                      </a:solidFill>
                      <a:prstDash val="solid"/>
                      <a:round/>
                      <a:headEnd len="sm" w="sm" type="none"/>
                      <a:tailEnd len="sm" w="sm" type="none"/>
                    </a:lnB>
                  </a:tcPr>
                </a:tc>
              </a:tr>
              <a:tr h="329175">
                <a:tc>
                  <a:txBody>
                    <a:bodyPr/>
                    <a:lstStyle/>
                    <a:p>
                      <a:pPr indent="0" lvl="0" marL="0" marR="0" rtl="0" algn="l">
                        <a:lnSpc>
                          <a:spcPct val="100000"/>
                        </a:lnSpc>
                        <a:spcBef>
                          <a:spcPts val="0"/>
                        </a:spcBef>
                        <a:spcAft>
                          <a:spcPts val="0"/>
                        </a:spcAft>
                        <a:buClr>
                          <a:srgbClr val="13203B"/>
                        </a:buClr>
                        <a:buSzPts val="800"/>
                        <a:buFont typeface="Calibri"/>
                        <a:buNone/>
                      </a:pPr>
                      <a:r>
                        <a:rPr lang="en" sz="1000" u="none" cap="none" strike="noStrike">
                          <a:solidFill>
                            <a:srgbClr val="13203B"/>
                          </a:solidFill>
                          <a:latin typeface="Calibri"/>
                          <a:ea typeface="Calibri"/>
                          <a:cs typeface="Calibri"/>
                          <a:sym typeface="Calibri"/>
                        </a:rPr>
                        <a:t>Squad WC </a:t>
                      </a:r>
                      <a:r>
                        <a:rPr lang="en" sz="1000">
                          <a:solidFill>
                            <a:srgbClr val="13203B"/>
                          </a:solidFill>
                          <a:latin typeface="Calibri"/>
                          <a:ea typeface="Calibri"/>
                          <a:cs typeface="Calibri"/>
                          <a:sym typeface="Calibri"/>
                        </a:rPr>
                        <a:t>E</a:t>
                      </a:r>
                      <a:r>
                        <a:rPr lang="en" sz="1000" u="none" cap="none" strike="noStrike">
                          <a:solidFill>
                            <a:srgbClr val="13203B"/>
                          </a:solidFill>
                          <a:latin typeface="Calibri"/>
                          <a:ea typeface="Calibri"/>
                          <a:cs typeface="Calibri"/>
                          <a:sym typeface="Calibri"/>
                        </a:rPr>
                        <a:t>xperience</a:t>
                      </a:r>
                      <a:endParaRPr sz="1000" u="none" cap="none" strike="noStrike">
                        <a:latin typeface="Calibri"/>
                        <a:ea typeface="Calibri"/>
                        <a:cs typeface="Calibri"/>
                        <a:sym typeface="Calibri"/>
                      </a:endParaRPr>
                    </a:p>
                  </a:txBody>
                  <a:tcPr marT="34300" marB="34300" marR="68600" marL="68600" anchor="ctr">
                    <a:lnL>
                      <a:noFill/>
                    </a:lnL>
                    <a:lnR cap="flat" cmpd="sng" w="9525">
                      <a:solidFill>
                        <a:srgbClr val="E1E5EE"/>
                      </a:solidFill>
                      <a:prstDash val="solid"/>
                      <a:round/>
                      <a:headEnd len="sm" w="sm" type="none"/>
                      <a:tailEnd len="sm" w="sm" type="none"/>
                    </a:lnR>
                    <a:lnT cap="flat" cmpd="sng" w="9525">
                      <a:solidFill>
                        <a:srgbClr val="E1E5EE"/>
                      </a:solidFill>
                      <a:prstDash val="solid"/>
                      <a:round/>
                      <a:headEnd len="sm" w="sm" type="none"/>
                      <a:tailEnd len="sm" w="sm" type="none"/>
                    </a:lnT>
                    <a:lnB cap="flat" cmpd="sng" w="9525">
                      <a:solidFill>
                        <a:srgbClr val="E1E5E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3203B"/>
                        </a:buClr>
                        <a:buSzPts val="800"/>
                        <a:buFont typeface="Calibri"/>
                        <a:buNone/>
                      </a:pPr>
                      <a:r>
                        <a:rPr lang="en" sz="1100" u="none" cap="none" strike="noStrike">
                          <a:solidFill>
                            <a:srgbClr val="13203B"/>
                          </a:solidFill>
                          <a:latin typeface="Calibri"/>
                          <a:ea typeface="Calibri"/>
                          <a:cs typeface="Calibri"/>
                          <a:sym typeface="Calibri"/>
                        </a:rPr>
                        <a:t>Mean prior World Cup appearances per player (avg_prior_wc)</a:t>
                      </a:r>
                      <a:endParaRPr sz="1100" u="none" cap="none" strike="noStrike">
                        <a:latin typeface="Calibri"/>
                        <a:ea typeface="Calibri"/>
                        <a:cs typeface="Calibri"/>
                        <a:sym typeface="Calibri"/>
                      </a:endParaRPr>
                    </a:p>
                  </a:txBody>
                  <a:tcPr marT="34300" marB="34300" marR="68600" marL="68600" anchor="ctr">
                    <a:lnL cap="flat" cmpd="sng" w="9525">
                      <a:solidFill>
                        <a:srgbClr val="E1E5EE"/>
                      </a:solidFill>
                      <a:prstDash val="solid"/>
                      <a:round/>
                      <a:headEnd len="sm" w="sm" type="none"/>
                      <a:tailEnd len="sm" w="sm" type="none"/>
                    </a:lnL>
                    <a:lnR cap="flat" cmpd="sng" w="9525">
                      <a:solidFill>
                        <a:srgbClr val="E1E5EE"/>
                      </a:solidFill>
                      <a:prstDash val="solid"/>
                      <a:round/>
                      <a:headEnd len="sm" w="sm" type="none"/>
                      <a:tailEnd len="sm" w="sm" type="none"/>
                    </a:lnR>
                    <a:lnT cap="flat" cmpd="sng" w="9525">
                      <a:solidFill>
                        <a:srgbClr val="E1E5EE"/>
                      </a:solidFill>
                      <a:prstDash val="solid"/>
                      <a:round/>
                      <a:headEnd len="sm" w="sm" type="none"/>
                      <a:tailEnd len="sm" w="sm" type="none"/>
                    </a:lnT>
                    <a:lnB cap="flat" cmpd="sng" w="9525">
                      <a:solidFill>
                        <a:srgbClr val="E1E5E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3203B"/>
                        </a:buClr>
                        <a:buSzPts val="800"/>
                        <a:buFont typeface="Calibri"/>
                        <a:buNone/>
                      </a:pPr>
                      <a:r>
                        <a:rPr lang="en" sz="1100" u="none" cap="none" strike="noStrike">
                          <a:solidFill>
                            <a:srgbClr val="13203B"/>
                          </a:solidFill>
                          <a:latin typeface="Calibri"/>
                          <a:ea typeface="Calibri"/>
                          <a:cs typeface="Calibri"/>
                          <a:sym typeface="Calibri"/>
                        </a:rPr>
                        <a:t>Numeric</a:t>
                      </a:r>
                      <a:endParaRPr sz="1100" u="none" cap="none" strike="noStrike">
                        <a:latin typeface="Calibri"/>
                        <a:ea typeface="Calibri"/>
                        <a:cs typeface="Calibri"/>
                        <a:sym typeface="Calibri"/>
                      </a:endParaRPr>
                    </a:p>
                  </a:txBody>
                  <a:tcPr marT="34300" marB="34300" marR="68600" marL="68600" anchor="ctr">
                    <a:lnL cap="flat" cmpd="sng" w="9525">
                      <a:solidFill>
                        <a:srgbClr val="E1E5EE"/>
                      </a:solidFill>
                      <a:prstDash val="solid"/>
                      <a:round/>
                      <a:headEnd len="sm" w="sm" type="none"/>
                      <a:tailEnd len="sm" w="sm" type="none"/>
                    </a:lnL>
                    <a:lnR>
                      <a:noFill/>
                    </a:lnR>
                    <a:lnT cap="flat" cmpd="sng" w="9525">
                      <a:solidFill>
                        <a:srgbClr val="E1E5EE"/>
                      </a:solidFill>
                      <a:prstDash val="solid"/>
                      <a:round/>
                      <a:headEnd len="sm" w="sm" type="none"/>
                      <a:tailEnd len="sm" w="sm" type="none"/>
                    </a:lnT>
                    <a:lnB cap="flat" cmpd="sng" w="9525">
                      <a:solidFill>
                        <a:srgbClr val="E1E5EE"/>
                      </a:solidFill>
                      <a:prstDash val="solid"/>
                      <a:round/>
                      <a:headEnd len="sm" w="sm" type="none"/>
                      <a:tailEnd len="sm" w="sm" type="none"/>
                    </a:lnB>
                  </a:tcPr>
                </a:tc>
              </a:tr>
              <a:tr h="329175">
                <a:tc>
                  <a:txBody>
                    <a:bodyPr/>
                    <a:lstStyle/>
                    <a:p>
                      <a:pPr indent="0" lvl="0" marL="0" marR="0" rtl="0" algn="l">
                        <a:lnSpc>
                          <a:spcPct val="100000"/>
                        </a:lnSpc>
                        <a:spcBef>
                          <a:spcPts val="0"/>
                        </a:spcBef>
                        <a:spcAft>
                          <a:spcPts val="0"/>
                        </a:spcAft>
                        <a:buClr>
                          <a:srgbClr val="13203B"/>
                        </a:buClr>
                        <a:buSzPts val="800"/>
                        <a:buFont typeface="Calibri"/>
                        <a:buNone/>
                      </a:pPr>
                      <a:r>
                        <a:rPr lang="en" sz="1000" u="none" cap="none" strike="noStrike">
                          <a:solidFill>
                            <a:srgbClr val="13203B"/>
                          </a:solidFill>
                          <a:latin typeface="Calibri"/>
                          <a:ea typeface="Calibri"/>
                          <a:cs typeface="Calibri"/>
                          <a:sym typeface="Calibri"/>
                        </a:rPr>
                        <a:t>Team </a:t>
                      </a:r>
                      <a:r>
                        <a:rPr lang="en" sz="1000">
                          <a:solidFill>
                            <a:srgbClr val="13203B"/>
                          </a:solidFill>
                          <a:latin typeface="Calibri"/>
                          <a:ea typeface="Calibri"/>
                          <a:cs typeface="Calibri"/>
                          <a:sym typeface="Calibri"/>
                        </a:rPr>
                        <a:t>Ex</a:t>
                      </a:r>
                      <a:r>
                        <a:rPr lang="en" sz="1000" u="none" cap="none" strike="noStrike">
                          <a:solidFill>
                            <a:srgbClr val="13203B"/>
                          </a:solidFill>
                          <a:latin typeface="Calibri"/>
                          <a:ea typeface="Calibri"/>
                          <a:cs typeface="Calibri"/>
                          <a:sym typeface="Calibri"/>
                        </a:rPr>
                        <a:t>perience</a:t>
                      </a:r>
                      <a:endParaRPr sz="1000" u="none" cap="none" strike="noStrike">
                        <a:solidFill>
                          <a:srgbClr val="13203B"/>
                        </a:solidFill>
                        <a:latin typeface="Calibri"/>
                        <a:ea typeface="Calibri"/>
                        <a:cs typeface="Calibri"/>
                        <a:sym typeface="Calibri"/>
                      </a:endParaRPr>
                    </a:p>
                  </a:txBody>
                  <a:tcPr marT="34300" marB="34300" marR="68600" marL="68600" anchor="ctr">
                    <a:lnL>
                      <a:noFill/>
                    </a:lnL>
                    <a:lnR cap="flat" cmpd="sng" w="9525">
                      <a:solidFill>
                        <a:srgbClr val="E1E5EE"/>
                      </a:solidFill>
                      <a:prstDash val="solid"/>
                      <a:round/>
                      <a:headEnd len="sm" w="sm" type="none"/>
                      <a:tailEnd len="sm" w="sm" type="none"/>
                    </a:lnR>
                    <a:lnT cap="flat" cmpd="sng" w="9525">
                      <a:solidFill>
                        <a:srgbClr val="E1E5EE"/>
                      </a:solidFill>
                      <a:prstDash val="solid"/>
                      <a:round/>
                      <a:headEnd len="sm" w="sm" type="none"/>
                      <a:tailEnd len="sm" w="sm" type="none"/>
                    </a:lnT>
                    <a:lnB cap="flat" cmpd="sng" w="9525">
                      <a:solidFill>
                        <a:srgbClr val="E1E5E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3203B"/>
                        </a:buClr>
                        <a:buSzPts val="800"/>
                        <a:buFont typeface="Calibri"/>
                        <a:buNone/>
                      </a:pPr>
                      <a:r>
                        <a:rPr lang="en" sz="1100" u="none" cap="none" strike="noStrike">
                          <a:solidFill>
                            <a:srgbClr val="13203B"/>
                          </a:solidFill>
                          <a:latin typeface="Calibri"/>
                          <a:ea typeface="Calibri"/>
                          <a:cs typeface="Calibri"/>
                          <a:sym typeface="Calibri"/>
                        </a:rPr>
                        <a:t>Prior FIFA World Cup appearances for the team</a:t>
                      </a:r>
                      <a:endParaRPr sz="1100" u="none" cap="none" strike="noStrike">
                        <a:solidFill>
                          <a:srgbClr val="13203B"/>
                        </a:solidFill>
                        <a:latin typeface="Calibri"/>
                        <a:ea typeface="Calibri"/>
                        <a:cs typeface="Calibri"/>
                        <a:sym typeface="Calibri"/>
                      </a:endParaRPr>
                    </a:p>
                  </a:txBody>
                  <a:tcPr marT="34300" marB="34300" marR="68600" marL="68600" anchor="ctr">
                    <a:lnL cap="flat" cmpd="sng" w="9525">
                      <a:solidFill>
                        <a:srgbClr val="E1E5EE"/>
                      </a:solidFill>
                      <a:prstDash val="solid"/>
                      <a:round/>
                      <a:headEnd len="sm" w="sm" type="none"/>
                      <a:tailEnd len="sm" w="sm" type="none"/>
                    </a:lnL>
                    <a:lnR cap="flat" cmpd="sng" w="9525">
                      <a:solidFill>
                        <a:srgbClr val="E1E5EE"/>
                      </a:solidFill>
                      <a:prstDash val="solid"/>
                      <a:round/>
                      <a:headEnd len="sm" w="sm" type="none"/>
                      <a:tailEnd len="sm" w="sm" type="none"/>
                    </a:lnR>
                    <a:lnT cap="flat" cmpd="sng" w="9525">
                      <a:solidFill>
                        <a:srgbClr val="E1E5EE"/>
                      </a:solidFill>
                      <a:prstDash val="solid"/>
                      <a:round/>
                      <a:headEnd len="sm" w="sm" type="none"/>
                      <a:tailEnd len="sm" w="sm" type="none"/>
                    </a:lnT>
                    <a:lnB cap="flat" cmpd="sng" w="9525">
                      <a:solidFill>
                        <a:srgbClr val="E1E5E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3203B"/>
                        </a:buClr>
                        <a:buSzPts val="800"/>
                        <a:buFont typeface="Calibri"/>
                        <a:buNone/>
                      </a:pPr>
                      <a:r>
                        <a:rPr lang="en" sz="1100" u="none" cap="none" strike="noStrike">
                          <a:solidFill>
                            <a:srgbClr val="13203B"/>
                          </a:solidFill>
                          <a:latin typeface="Calibri"/>
                          <a:ea typeface="Calibri"/>
                          <a:cs typeface="Calibri"/>
                          <a:sym typeface="Calibri"/>
                        </a:rPr>
                        <a:t>Numeric</a:t>
                      </a:r>
                      <a:endParaRPr sz="1100" u="none" cap="none" strike="noStrike">
                        <a:solidFill>
                          <a:srgbClr val="13203B"/>
                        </a:solidFill>
                        <a:latin typeface="Calibri"/>
                        <a:ea typeface="Calibri"/>
                        <a:cs typeface="Calibri"/>
                        <a:sym typeface="Calibri"/>
                      </a:endParaRPr>
                    </a:p>
                  </a:txBody>
                  <a:tcPr marT="34300" marB="34300" marR="68600" marL="68600" anchor="ctr">
                    <a:lnL cap="flat" cmpd="sng" w="9525">
                      <a:solidFill>
                        <a:srgbClr val="E1E5EE"/>
                      </a:solidFill>
                      <a:prstDash val="solid"/>
                      <a:round/>
                      <a:headEnd len="sm" w="sm" type="none"/>
                      <a:tailEnd len="sm" w="sm" type="none"/>
                    </a:lnL>
                    <a:lnR>
                      <a:noFill/>
                    </a:lnR>
                    <a:lnT cap="flat" cmpd="sng" w="9525">
                      <a:solidFill>
                        <a:srgbClr val="E1E5EE"/>
                      </a:solidFill>
                      <a:prstDash val="solid"/>
                      <a:round/>
                      <a:headEnd len="sm" w="sm" type="none"/>
                      <a:tailEnd len="sm" w="sm" type="none"/>
                    </a:lnT>
                    <a:lnB cap="flat" cmpd="sng" w="9525">
                      <a:solidFill>
                        <a:srgbClr val="E1E5EE"/>
                      </a:solidFill>
                      <a:prstDash val="solid"/>
                      <a:round/>
                      <a:headEnd len="sm" w="sm" type="none"/>
                      <a:tailEnd len="sm" w="sm" type="none"/>
                    </a:lnB>
                  </a:tcPr>
                </a:tc>
              </a:tr>
              <a:tr h="329175">
                <a:tc>
                  <a:txBody>
                    <a:bodyPr/>
                    <a:lstStyle/>
                    <a:p>
                      <a:pPr indent="0" lvl="0" marL="0" marR="0" rtl="0" algn="l">
                        <a:lnSpc>
                          <a:spcPct val="100000"/>
                        </a:lnSpc>
                        <a:spcBef>
                          <a:spcPts val="0"/>
                        </a:spcBef>
                        <a:spcAft>
                          <a:spcPts val="0"/>
                        </a:spcAft>
                        <a:buClr>
                          <a:srgbClr val="13203B"/>
                        </a:buClr>
                        <a:buSzPts val="800"/>
                        <a:buFont typeface="Calibri"/>
                        <a:buNone/>
                      </a:pPr>
                      <a:r>
                        <a:rPr lang="en" sz="1000" u="none" cap="none" strike="noStrike">
                          <a:solidFill>
                            <a:srgbClr val="13203B"/>
                          </a:solidFill>
                          <a:latin typeface="Calibri"/>
                          <a:ea typeface="Calibri"/>
                          <a:cs typeface="Calibri"/>
                          <a:sym typeface="Calibri"/>
                        </a:rPr>
                        <a:t>Host </a:t>
                      </a:r>
                      <a:r>
                        <a:rPr lang="en" sz="1000">
                          <a:solidFill>
                            <a:srgbClr val="13203B"/>
                          </a:solidFill>
                          <a:latin typeface="Calibri"/>
                          <a:ea typeface="Calibri"/>
                          <a:cs typeface="Calibri"/>
                          <a:sym typeface="Calibri"/>
                        </a:rPr>
                        <a:t>N</a:t>
                      </a:r>
                      <a:r>
                        <a:rPr lang="en" sz="1000" u="none" cap="none" strike="noStrike">
                          <a:solidFill>
                            <a:srgbClr val="13203B"/>
                          </a:solidFill>
                          <a:latin typeface="Calibri"/>
                          <a:ea typeface="Calibri"/>
                          <a:cs typeface="Calibri"/>
                          <a:sym typeface="Calibri"/>
                        </a:rPr>
                        <a:t>ation </a:t>
                      </a:r>
                      <a:endParaRPr sz="1000" u="none" cap="none" strike="noStrike">
                        <a:latin typeface="Calibri"/>
                        <a:ea typeface="Calibri"/>
                        <a:cs typeface="Calibri"/>
                        <a:sym typeface="Calibri"/>
                      </a:endParaRPr>
                    </a:p>
                  </a:txBody>
                  <a:tcPr marT="34300" marB="34300" marR="68600" marL="68600" anchor="ctr">
                    <a:lnL>
                      <a:noFill/>
                    </a:lnL>
                    <a:lnR cap="flat" cmpd="sng" w="9525">
                      <a:solidFill>
                        <a:srgbClr val="E1E5EE"/>
                      </a:solidFill>
                      <a:prstDash val="solid"/>
                      <a:round/>
                      <a:headEnd len="sm" w="sm" type="none"/>
                      <a:tailEnd len="sm" w="sm" type="none"/>
                    </a:lnR>
                    <a:lnT cap="flat" cmpd="sng" w="9525">
                      <a:solidFill>
                        <a:srgbClr val="E1E5EE"/>
                      </a:solidFill>
                      <a:prstDash val="solid"/>
                      <a:round/>
                      <a:headEnd len="sm" w="sm" type="none"/>
                      <a:tailEnd len="sm" w="sm" type="none"/>
                    </a:lnT>
                    <a:lnB cap="flat" cmpd="sng" w="9525">
                      <a:solidFill>
                        <a:srgbClr val="E1E5E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3203B"/>
                        </a:buClr>
                        <a:buSzPts val="800"/>
                        <a:buFont typeface="Calibri"/>
                        <a:buNone/>
                      </a:pPr>
                      <a:r>
                        <a:rPr lang="en" sz="1100" u="none" cap="none" strike="noStrike">
                          <a:solidFill>
                            <a:srgbClr val="13203B"/>
                          </a:solidFill>
                          <a:latin typeface="Calibri"/>
                          <a:ea typeface="Calibri"/>
                          <a:cs typeface="Calibri"/>
                          <a:sym typeface="Calibri"/>
                        </a:rPr>
                        <a:t>1 if the team is playing in its home country</a:t>
                      </a:r>
                      <a:endParaRPr sz="1100" u="none" cap="none" strike="noStrike">
                        <a:latin typeface="Calibri"/>
                        <a:ea typeface="Calibri"/>
                        <a:cs typeface="Calibri"/>
                        <a:sym typeface="Calibri"/>
                      </a:endParaRPr>
                    </a:p>
                  </a:txBody>
                  <a:tcPr marT="34300" marB="34300" marR="68600" marL="68600" anchor="ctr">
                    <a:lnL cap="flat" cmpd="sng" w="9525">
                      <a:solidFill>
                        <a:srgbClr val="E1E5EE"/>
                      </a:solidFill>
                      <a:prstDash val="solid"/>
                      <a:round/>
                      <a:headEnd len="sm" w="sm" type="none"/>
                      <a:tailEnd len="sm" w="sm" type="none"/>
                    </a:lnL>
                    <a:lnR cap="flat" cmpd="sng" w="9525">
                      <a:solidFill>
                        <a:srgbClr val="E1E5EE"/>
                      </a:solidFill>
                      <a:prstDash val="solid"/>
                      <a:round/>
                      <a:headEnd len="sm" w="sm" type="none"/>
                      <a:tailEnd len="sm" w="sm" type="none"/>
                    </a:lnR>
                    <a:lnT cap="flat" cmpd="sng" w="9525">
                      <a:solidFill>
                        <a:srgbClr val="E1E5EE"/>
                      </a:solidFill>
                      <a:prstDash val="solid"/>
                      <a:round/>
                      <a:headEnd len="sm" w="sm" type="none"/>
                      <a:tailEnd len="sm" w="sm" type="none"/>
                    </a:lnT>
                    <a:lnB cap="flat" cmpd="sng" w="9525">
                      <a:solidFill>
                        <a:srgbClr val="E1E5E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3203B"/>
                        </a:buClr>
                        <a:buSzPts val="800"/>
                        <a:buFont typeface="Calibri"/>
                        <a:buNone/>
                      </a:pPr>
                      <a:r>
                        <a:rPr lang="en" sz="1100" u="none" cap="none" strike="noStrike">
                          <a:solidFill>
                            <a:srgbClr val="13203B"/>
                          </a:solidFill>
                          <a:latin typeface="Calibri"/>
                          <a:ea typeface="Calibri"/>
                          <a:cs typeface="Calibri"/>
                          <a:sym typeface="Calibri"/>
                        </a:rPr>
                        <a:t>Binary</a:t>
                      </a:r>
                      <a:endParaRPr sz="1100" u="none" cap="none" strike="noStrike">
                        <a:latin typeface="Calibri"/>
                        <a:ea typeface="Calibri"/>
                        <a:cs typeface="Calibri"/>
                        <a:sym typeface="Calibri"/>
                      </a:endParaRPr>
                    </a:p>
                  </a:txBody>
                  <a:tcPr marT="34300" marB="34300" marR="68600" marL="68600" anchor="ctr">
                    <a:lnL cap="flat" cmpd="sng" w="9525">
                      <a:solidFill>
                        <a:srgbClr val="E1E5EE"/>
                      </a:solidFill>
                      <a:prstDash val="solid"/>
                      <a:round/>
                      <a:headEnd len="sm" w="sm" type="none"/>
                      <a:tailEnd len="sm" w="sm" type="none"/>
                    </a:lnL>
                    <a:lnR>
                      <a:noFill/>
                    </a:lnR>
                    <a:lnT cap="flat" cmpd="sng" w="9525">
                      <a:solidFill>
                        <a:srgbClr val="E1E5EE"/>
                      </a:solidFill>
                      <a:prstDash val="solid"/>
                      <a:round/>
                      <a:headEnd len="sm" w="sm" type="none"/>
                      <a:tailEnd len="sm" w="sm" type="none"/>
                    </a:lnT>
                    <a:lnB cap="flat" cmpd="sng" w="9525">
                      <a:solidFill>
                        <a:srgbClr val="E1E5EE"/>
                      </a:solidFill>
                      <a:prstDash val="solid"/>
                      <a:round/>
                      <a:headEnd len="sm" w="sm" type="none"/>
                      <a:tailEnd len="sm" w="sm" type="none"/>
                    </a:lnB>
                  </a:tcPr>
                </a:tc>
              </a:tr>
              <a:tr h="329175">
                <a:tc>
                  <a:txBody>
                    <a:bodyPr/>
                    <a:lstStyle/>
                    <a:p>
                      <a:pPr indent="0" lvl="0" marL="0" marR="0" rtl="0" algn="l">
                        <a:lnSpc>
                          <a:spcPct val="100000"/>
                        </a:lnSpc>
                        <a:spcBef>
                          <a:spcPts val="0"/>
                        </a:spcBef>
                        <a:spcAft>
                          <a:spcPts val="0"/>
                        </a:spcAft>
                        <a:buClr>
                          <a:srgbClr val="13203B"/>
                        </a:buClr>
                        <a:buSzPts val="800"/>
                        <a:buFont typeface="Calibri"/>
                        <a:buNone/>
                      </a:pPr>
                      <a:r>
                        <a:rPr lang="en" sz="1000" u="none" cap="none" strike="noStrike">
                          <a:solidFill>
                            <a:srgbClr val="13203B"/>
                          </a:solidFill>
                          <a:latin typeface="Calibri"/>
                          <a:ea typeface="Calibri"/>
                          <a:cs typeface="Calibri"/>
                          <a:sym typeface="Calibri"/>
                        </a:rPr>
                        <a:t>Foreign </a:t>
                      </a:r>
                      <a:r>
                        <a:rPr lang="en" sz="1000">
                          <a:solidFill>
                            <a:srgbClr val="13203B"/>
                          </a:solidFill>
                          <a:latin typeface="Calibri"/>
                          <a:ea typeface="Calibri"/>
                          <a:cs typeface="Calibri"/>
                          <a:sym typeface="Calibri"/>
                        </a:rPr>
                        <a:t>M</a:t>
                      </a:r>
                      <a:r>
                        <a:rPr lang="en" sz="1000" u="none" cap="none" strike="noStrike">
                          <a:solidFill>
                            <a:srgbClr val="13203B"/>
                          </a:solidFill>
                          <a:latin typeface="Calibri"/>
                          <a:ea typeface="Calibri"/>
                          <a:cs typeface="Calibri"/>
                          <a:sym typeface="Calibri"/>
                        </a:rPr>
                        <a:t>anager </a:t>
                      </a:r>
                      <a:endParaRPr sz="1000" u="none" cap="none" strike="noStrike">
                        <a:latin typeface="Calibri"/>
                        <a:ea typeface="Calibri"/>
                        <a:cs typeface="Calibri"/>
                        <a:sym typeface="Calibri"/>
                      </a:endParaRPr>
                    </a:p>
                  </a:txBody>
                  <a:tcPr marT="34300" marB="34300" marR="68600" marL="68600" anchor="ctr">
                    <a:lnL>
                      <a:noFill/>
                    </a:lnL>
                    <a:lnR cap="flat" cmpd="sng" w="9525">
                      <a:solidFill>
                        <a:srgbClr val="E1E5EE"/>
                      </a:solidFill>
                      <a:prstDash val="solid"/>
                      <a:round/>
                      <a:headEnd len="sm" w="sm" type="none"/>
                      <a:tailEnd len="sm" w="sm" type="none"/>
                    </a:lnR>
                    <a:lnT cap="flat" cmpd="sng" w="9525">
                      <a:solidFill>
                        <a:srgbClr val="E1E5EE"/>
                      </a:solidFill>
                      <a:prstDash val="solid"/>
                      <a:round/>
                      <a:headEnd len="sm" w="sm" type="none"/>
                      <a:tailEnd len="sm" w="sm" type="none"/>
                    </a:lnT>
                    <a:lnB>
                      <a:noFill/>
                    </a:lnB>
                  </a:tcPr>
                </a:tc>
                <a:tc>
                  <a:txBody>
                    <a:bodyPr/>
                    <a:lstStyle/>
                    <a:p>
                      <a:pPr indent="0" lvl="0" marL="0" marR="0" rtl="0" algn="l">
                        <a:lnSpc>
                          <a:spcPct val="100000"/>
                        </a:lnSpc>
                        <a:spcBef>
                          <a:spcPts val="0"/>
                        </a:spcBef>
                        <a:spcAft>
                          <a:spcPts val="0"/>
                        </a:spcAft>
                        <a:buClr>
                          <a:srgbClr val="13203B"/>
                        </a:buClr>
                        <a:buSzPts val="800"/>
                        <a:buFont typeface="Calibri"/>
                        <a:buNone/>
                      </a:pPr>
                      <a:r>
                        <a:rPr lang="en" sz="1100" u="none" cap="none" strike="noStrike">
                          <a:solidFill>
                            <a:srgbClr val="13203B"/>
                          </a:solidFill>
                          <a:latin typeface="Calibri"/>
                          <a:ea typeface="Calibri"/>
                          <a:cs typeface="Calibri"/>
                          <a:sym typeface="Calibri"/>
                        </a:rPr>
                        <a:t>1 if the head coach's nationality differs from the team's</a:t>
                      </a:r>
                      <a:endParaRPr sz="1100" u="none" cap="none" strike="noStrike">
                        <a:latin typeface="Calibri"/>
                        <a:ea typeface="Calibri"/>
                        <a:cs typeface="Calibri"/>
                        <a:sym typeface="Calibri"/>
                      </a:endParaRPr>
                    </a:p>
                  </a:txBody>
                  <a:tcPr marT="34300" marB="34300" marR="68600" marL="68600" anchor="ctr">
                    <a:lnL cap="flat" cmpd="sng" w="9525">
                      <a:solidFill>
                        <a:srgbClr val="E1E5EE"/>
                      </a:solidFill>
                      <a:prstDash val="solid"/>
                      <a:round/>
                      <a:headEnd len="sm" w="sm" type="none"/>
                      <a:tailEnd len="sm" w="sm" type="none"/>
                    </a:lnL>
                    <a:lnR cap="flat" cmpd="sng" w="9525">
                      <a:solidFill>
                        <a:srgbClr val="E1E5EE"/>
                      </a:solidFill>
                      <a:prstDash val="solid"/>
                      <a:round/>
                      <a:headEnd len="sm" w="sm" type="none"/>
                      <a:tailEnd len="sm" w="sm" type="none"/>
                    </a:lnR>
                    <a:lnT cap="flat" cmpd="sng" w="9525">
                      <a:solidFill>
                        <a:srgbClr val="E1E5EE"/>
                      </a:solidFill>
                      <a:prstDash val="solid"/>
                      <a:round/>
                      <a:headEnd len="sm" w="sm" type="none"/>
                      <a:tailEnd len="sm" w="sm" type="none"/>
                    </a:lnT>
                    <a:lnB>
                      <a:noFill/>
                    </a:lnB>
                  </a:tcPr>
                </a:tc>
                <a:tc>
                  <a:txBody>
                    <a:bodyPr/>
                    <a:lstStyle/>
                    <a:p>
                      <a:pPr indent="0" lvl="0" marL="0" marR="0" rtl="0" algn="l">
                        <a:lnSpc>
                          <a:spcPct val="100000"/>
                        </a:lnSpc>
                        <a:spcBef>
                          <a:spcPts val="0"/>
                        </a:spcBef>
                        <a:spcAft>
                          <a:spcPts val="0"/>
                        </a:spcAft>
                        <a:buClr>
                          <a:srgbClr val="13203B"/>
                        </a:buClr>
                        <a:buSzPts val="800"/>
                        <a:buFont typeface="Calibri"/>
                        <a:buNone/>
                      </a:pPr>
                      <a:r>
                        <a:rPr lang="en" sz="1100" u="none" cap="none" strike="noStrike">
                          <a:solidFill>
                            <a:srgbClr val="13203B"/>
                          </a:solidFill>
                          <a:latin typeface="Calibri"/>
                          <a:ea typeface="Calibri"/>
                          <a:cs typeface="Calibri"/>
                          <a:sym typeface="Calibri"/>
                        </a:rPr>
                        <a:t>Binary</a:t>
                      </a:r>
                      <a:endParaRPr sz="1100" u="none" cap="none" strike="noStrike">
                        <a:latin typeface="Calibri"/>
                        <a:ea typeface="Calibri"/>
                        <a:cs typeface="Calibri"/>
                        <a:sym typeface="Calibri"/>
                      </a:endParaRPr>
                    </a:p>
                  </a:txBody>
                  <a:tcPr marT="34300" marB="34300" marR="68600" marL="68600" anchor="ctr">
                    <a:lnL cap="flat" cmpd="sng" w="9525">
                      <a:solidFill>
                        <a:srgbClr val="E1E5EE"/>
                      </a:solidFill>
                      <a:prstDash val="solid"/>
                      <a:round/>
                      <a:headEnd len="sm" w="sm" type="none"/>
                      <a:tailEnd len="sm" w="sm" type="none"/>
                    </a:lnL>
                    <a:lnR>
                      <a:noFill/>
                    </a:lnR>
                    <a:lnT cap="flat" cmpd="sng" w="9525">
                      <a:solidFill>
                        <a:srgbClr val="E1E5EE"/>
                      </a:solidFill>
                      <a:prstDash val="solid"/>
                      <a:round/>
                      <a:headEnd len="sm" w="sm" type="none"/>
                      <a:tailEnd len="sm" w="sm" type="none"/>
                    </a:lnT>
                    <a:lnB>
                      <a:noFill/>
                    </a:lnB>
                  </a:tcPr>
                </a:tc>
              </a:tr>
            </a:tbl>
          </a:graphicData>
        </a:graphic>
      </p:graphicFrame>
      <p:sp>
        <p:nvSpPr>
          <p:cNvPr id="901" name="Table rounded outline"/>
          <p:cNvSpPr/>
          <p:nvPr/>
        </p:nvSpPr>
        <p:spPr>
          <a:xfrm>
            <a:off x="411491" y="1166320"/>
            <a:ext cx="8318925" cy="2304225"/>
          </a:xfrm>
          <a:prstGeom prst="roundRect">
            <a:avLst>
              <a:gd fmla="val 3968" name="adj"/>
            </a:avLst>
          </a:prstGeom>
          <a:noFill/>
          <a:ln cap="flat" cmpd="sng" w="9525">
            <a:solidFill>
              <a:srgbClr val="E1E5EE"/>
            </a:solidFill>
            <a:prstDash val="solid"/>
            <a:round/>
            <a:headEnd len="sm" type="none" w="sm"/>
            <a:tailEnd len="sm" type="none" w="sm"/>
          </a:ln>
        </p:spPr>
        <p:txBody>
          <a:bodyPr spcFirstLastPara="1" wrap="square">
            <a:noAutofit/>
          </a:bodyPr>
          <a:lstStyle/>
          <a:p>
            <a:endParaRPr sz="1100"/>
          </a:p>
        </p:txBody>
      </p:sp>
      <p:sp>
        <p:nvSpPr>
          <p:cNvPr id="264" name="Google Shape;264;p26"/>
          <p:cNvSpPr/>
          <p:nvPr/>
        </p:nvSpPr>
        <p:spPr>
          <a:xfrm>
            <a:off x="411491" y="4800600"/>
            <a:ext cx="4800728"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592AA"/>
              </a:buClr>
              <a:buSzPts val="700"/>
              <a:buFont typeface="Calibri"/>
              <a:buNone/>
            </a:pPr>
            <a:r>
              <a:rPr b="0" i="0" lang="en" sz="700" u="none" cap="none" strike="noStrike">
                <a:solidFill>
                  <a:srgbClr val="8592AA"/>
                </a:solidFill>
                <a:latin typeface="Calibri"/>
                <a:ea typeface="Calibri"/>
                <a:cs typeface="Calibri"/>
                <a:sym typeface="Calibri"/>
              </a:rPr>
              <a:t>Shiu &amp; Nguyen  |  STAT 418, Tools in Data Science  |  UCLA Summer 2026</a:t>
            </a:r>
            <a:endParaRPr b="0" i="0" sz="700" u="none" cap="none" strike="noStrike">
              <a:solidFill>
                <a:schemeClr val="dk1"/>
              </a:solidFill>
              <a:latin typeface="Calibri"/>
              <a:ea typeface="Calibri"/>
              <a:cs typeface="Calibri"/>
              <a:sym typeface="Calibri"/>
            </a:endParaRPr>
          </a:p>
        </p:txBody>
      </p:sp>
      <p:sp>
        <p:nvSpPr>
          <p:cNvPr id="265" name="Google Shape;265;p26"/>
          <p:cNvSpPr/>
          <p:nvPr/>
        </p:nvSpPr>
        <p:spPr>
          <a:xfrm>
            <a:off x="8458197" y="4800600"/>
            <a:ext cx="411491" cy="2057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592AA"/>
              </a:buClr>
              <a:buSzPts val="800"/>
              <a:buFont typeface="Calibri"/>
              <a:buNone/>
            </a:pPr>
            <a:r>
              <a:rPr b="0" i="0" lang="en" sz="800" u="none" cap="none" strike="noStrike">
                <a:solidFill>
                  <a:srgbClr val="8592AA"/>
                </a:solidFill>
                <a:latin typeface="Calibri"/>
                <a:ea typeface="Calibri"/>
                <a:cs typeface="Calibri"/>
                <a:sym typeface="Calibri"/>
              </a:rPr>
              <a:t>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0" name="Shape 270"/>
        <p:cNvGrpSpPr/>
        <p:nvPr/>
      </p:nvGrpSpPr>
      <p:grpSpPr>
        <a:xfrm>
          <a:off x="0" y="0"/>
          <a:ext cx="0" cy="0"/>
          <a:chOff x="0" y="0"/>
          <a:chExt cx="0" cy="0"/>
        </a:xfrm>
      </p:grpSpPr>
      <p:sp>
        <p:nvSpPr>
          <p:cNvPr id="271" name="Google Shape;271;p27"/>
          <p:cNvSpPr/>
          <p:nvPr/>
        </p:nvSpPr>
        <p:spPr>
          <a:xfrm>
            <a:off x="411491" y="308610"/>
            <a:ext cx="8321033"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9973"/>
              </a:buClr>
              <a:buSzPts val="800"/>
              <a:buFont typeface="Calibri"/>
              <a:buNone/>
            </a:pPr>
            <a:r>
              <a:rPr b="1" i="0" lang="en" sz="800" u="none" cap="none" strike="noStrike">
                <a:solidFill>
                  <a:srgbClr val="2E9973"/>
                </a:solidFill>
                <a:latin typeface="Calibri"/>
                <a:ea typeface="Calibri"/>
                <a:cs typeface="Calibri"/>
                <a:sym typeface="Calibri"/>
              </a:rPr>
              <a:t>DATA · CLEANING &amp; SCOPE</a:t>
            </a:r>
            <a:endParaRPr b="0" i="0" sz="800" u="none" cap="none" strike="noStrike">
              <a:solidFill>
                <a:schemeClr val="dk1"/>
              </a:solidFill>
              <a:latin typeface="Calibri"/>
              <a:ea typeface="Calibri"/>
              <a:cs typeface="Calibri"/>
              <a:sym typeface="Calibri"/>
            </a:endParaRPr>
          </a:p>
        </p:txBody>
      </p:sp>
      <p:sp>
        <p:nvSpPr>
          <p:cNvPr id="272" name="Google Shape;272;p27"/>
          <p:cNvSpPr/>
          <p:nvPr/>
        </p:nvSpPr>
        <p:spPr>
          <a:xfrm>
            <a:off x="411491" y="514350"/>
            <a:ext cx="8321033" cy="65151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3203B"/>
              </a:buClr>
              <a:buSzPts val="1800"/>
              <a:buFont typeface="Calibri"/>
              <a:buNone/>
            </a:pPr>
            <a:r>
              <a:rPr b="1" i="0" lang="en" sz="2000" u="none" cap="none" strike="noStrike">
                <a:solidFill>
                  <a:srgbClr val="13203B"/>
                </a:solidFill>
                <a:latin typeface="Calibri"/>
                <a:ea typeface="Calibri"/>
                <a:cs typeface="Calibri"/>
                <a:sym typeface="Calibri"/>
              </a:rPr>
              <a:t>Five scope decisions keep the comparison fair and the estimates stable</a:t>
            </a:r>
            <a:endParaRPr b="0" i="0" sz="2000" u="none" cap="none" strike="noStrike">
              <a:solidFill>
                <a:schemeClr val="dk1"/>
              </a:solidFill>
              <a:latin typeface="Calibri"/>
              <a:ea typeface="Calibri"/>
              <a:cs typeface="Calibri"/>
              <a:sym typeface="Calibri"/>
            </a:endParaRPr>
          </a:p>
        </p:txBody>
      </p:sp>
      <p:sp>
        <p:nvSpPr>
          <p:cNvPr id="273" name="Google Shape;273;p27"/>
          <p:cNvSpPr/>
          <p:nvPr/>
        </p:nvSpPr>
        <p:spPr>
          <a:xfrm>
            <a:off x="411500" y="1061027"/>
            <a:ext cx="2636400" cy="1683300"/>
          </a:xfrm>
          <a:prstGeom prst="roundRect">
            <a:avLst>
              <a:gd fmla="val 4571" name="adj"/>
            </a:avLst>
          </a:prstGeom>
          <a:solidFill>
            <a:srgbClr val="F3F5F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74" name="Google Shape;274;p27"/>
          <p:cNvSpPr/>
          <p:nvPr/>
        </p:nvSpPr>
        <p:spPr>
          <a:xfrm>
            <a:off x="582946" y="1339215"/>
            <a:ext cx="308700" cy="308700"/>
          </a:xfrm>
          <a:prstGeom prst="ellipse">
            <a:avLst/>
          </a:prstGeom>
          <a:solidFill>
            <a:srgbClr val="2E997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75" name="Google Shape;275;p27"/>
          <p:cNvSpPr/>
          <p:nvPr/>
        </p:nvSpPr>
        <p:spPr>
          <a:xfrm>
            <a:off x="582946" y="1331004"/>
            <a:ext cx="308700" cy="308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276" name="Google Shape;276;p27"/>
          <p:cNvSpPr/>
          <p:nvPr/>
        </p:nvSpPr>
        <p:spPr>
          <a:xfrm>
            <a:off x="592861" y="1674043"/>
            <a:ext cx="22935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3203B"/>
              </a:buClr>
              <a:buSzPts val="1000"/>
              <a:buFont typeface="Calibri"/>
              <a:buNone/>
            </a:pPr>
            <a:r>
              <a:rPr b="1" i="0" lang="en" sz="1200" u="none" cap="none" strike="noStrike">
                <a:solidFill>
                  <a:srgbClr val="13203B"/>
                </a:solidFill>
                <a:latin typeface="Calibri"/>
                <a:ea typeface="Calibri"/>
                <a:cs typeface="Calibri"/>
                <a:sym typeface="Calibri"/>
              </a:rPr>
              <a:t>1970 onward</a:t>
            </a:r>
            <a:endParaRPr b="0" i="0" sz="1200" u="none" cap="none" strike="noStrike">
              <a:solidFill>
                <a:schemeClr val="dk1"/>
              </a:solidFill>
              <a:latin typeface="Calibri"/>
              <a:ea typeface="Calibri"/>
              <a:cs typeface="Calibri"/>
              <a:sym typeface="Calibri"/>
            </a:endParaRPr>
          </a:p>
        </p:txBody>
      </p:sp>
      <p:sp>
        <p:nvSpPr>
          <p:cNvPr id="277" name="Google Shape;277;p27"/>
          <p:cNvSpPr/>
          <p:nvPr/>
        </p:nvSpPr>
        <p:spPr>
          <a:xfrm>
            <a:off x="582950" y="2013900"/>
            <a:ext cx="2293500" cy="3771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0607F"/>
              </a:buClr>
              <a:buSzPts val="700"/>
              <a:buFont typeface="Calibri"/>
              <a:buNone/>
            </a:pPr>
            <a:r>
              <a:rPr lang="en" sz="1000">
                <a:solidFill>
                  <a:srgbClr val="50607F"/>
                </a:solidFill>
                <a:latin typeface="Calibri"/>
                <a:ea typeface="Calibri"/>
                <a:cs typeface="Calibri"/>
                <a:sym typeface="Calibri"/>
              </a:rPr>
              <a:t>The format and qualification rules for the World Cup have changed over time; 1970 and onward provides a more stable baseline</a:t>
            </a:r>
            <a:endParaRPr b="0" i="0" sz="1000" u="none" cap="none" strike="noStrike">
              <a:solidFill>
                <a:schemeClr val="dk1"/>
              </a:solidFill>
              <a:latin typeface="Calibri"/>
              <a:ea typeface="Calibri"/>
              <a:cs typeface="Calibri"/>
              <a:sym typeface="Calibri"/>
            </a:endParaRPr>
          </a:p>
        </p:txBody>
      </p:sp>
      <p:sp>
        <p:nvSpPr>
          <p:cNvPr id="278" name="Google Shape;278;p27"/>
          <p:cNvSpPr/>
          <p:nvPr/>
        </p:nvSpPr>
        <p:spPr>
          <a:xfrm>
            <a:off x="3253750" y="1061025"/>
            <a:ext cx="2636400" cy="1640400"/>
          </a:xfrm>
          <a:prstGeom prst="roundRect">
            <a:avLst>
              <a:gd fmla="val 4571" name="adj"/>
            </a:avLst>
          </a:prstGeom>
          <a:solidFill>
            <a:srgbClr val="F3F5F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79" name="Google Shape;279;p27"/>
          <p:cNvSpPr/>
          <p:nvPr/>
        </p:nvSpPr>
        <p:spPr>
          <a:xfrm>
            <a:off x="3425205" y="1339215"/>
            <a:ext cx="308700" cy="308700"/>
          </a:xfrm>
          <a:prstGeom prst="ellipse">
            <a:avLst/>
          </a:prstGeom>
          <a:solidFill>
            <a:srgbClr val="2E997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80" name="Google Shape;280;p27"/>
          <p:cNvSpPr/>
          <p:nvPr/>
        </p:nvSpPr>
        <p:spPr>
          <a:xfrm>
            <a:off x="3425205" y="1331004"/>
            <a:ext cx="308700" cy="308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281" name="Google Shape;281;p27"/>
          <p:cNvSpPr/>
          <p:nvPr/>
        </p:nvSpPr>
        <p:spPr>
          <a:xfrm>
            <a:off x="3431508" y="1668948"/>
            <a:ext cx="22935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3203B"/>
              </a:buClr>
              <a:buSzPts val="1000"/>
              <a:buFont typeface="Calibri"/>
              <a:buNone/>
            </a:pPr>
            <a:r>
              <a:rPr b="1" i="0" lang="en" sz="1200" u="none" cap="none" strike="noStrike">
                <a:solidFill>
                  <a:srgbClr val="13203B"/>
                </a:solidFill>
                <a:latin typeface="Calibri"/>
                <a:ea typeface="Calibri"/>
                <a:cs typeface="Calibri"/>
                <a:sym typeface="Calibri"/>
              </a:rPr>
              <a:t>Men's tournaments only</a:t>
            </a:r>
            <a:endParaRPr b="0" i="0" sz="1200" u="none" cap="none" strike="noStrike">
              <a:solidFill>
                <a:schemeClr val="dk1"/>
              </a:solidFill>
              <a:latin typeface="Calibri"/>
              <a:ea typeface="Calibri"/>
              <a:cs typeface="Calibri"/>
              <a:sym typeface="Calibri"/>
            </a:endParaRPr>
          </a:p>
        </p:txBody>
      </p:sp>
      <p:sp>
        <p:nvSpPr>
          <p:cNvPr id="282" name="Google Shape;282;p27"/>
          <p:cNvSpPr/>
          <p:nvPr/>
        </p:nvSpPr>
        <p:spPr>
          <a:xfrm>
            <a:off x="3425205" y="2087814"/>
            <a:ext cx="2293500" cy="3771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0607F"/>
              </a:buClr>
              <a:buSzPts val="700"/>
              <a:buFont typeface="Calibri"/>
              <a:buNone/>
            </a:pPr>
            <a:r>
              <a:rPr b="0" i="0" lang="en" sz="1000" u="none" cap="none" strike="noStrike">
                <a:solidFill>
                  <a:srgbClr val="50607F"/>
                </a:solidFill>
                <a:latin typeface="Calibri"/>
                <a:ea typeface="Calibri"/>
                <a:cs typeface="Calibri"/>
                <a:sym typeface="Calibri"/>
              </a:rPr>
              <a:t>Men's and women's World Cups are separate competitions with different histories and formats; mixing them would break comparability.</a:t>
            </a:r>
            <a:endParaRPr b="0" i="0" sz="1000" u="none" cap="none" strike="noStrike">
              <a:solidFill>
                <a:schemeClr val="dk1"/>
              </a:solidFill>
              <a:latin typeface="Calibri"/>
              <a:ea typeface="Calibri"/>
              <a:cs typeface="Calibri"/>
              <a:sym typeface="Calibri"/>
            </a:endParaRPr>
          </a:p>
        </p:txBody>
      </p:sp>
      <p:sp>
        <p:nvSpPr>
          <p:cNvPr id="283" name="Google Shape;283;p27"/>
          <p:cNvSpPr/>
          <p:nvPr/>
        </p:nvSpPr>
        <p:spPr>
          <a:xfrm>
            <a:off x="6096000" y="1036371"/>
            <a:ext cx="2636400" cy="1640400"/>
          </a:xfrm>
          <a:prstGeom prst="roundRect">
            <a:avLst>
              <a:gd fmla="val 4571" name="adj"/>
            </a:avLst>
          </a:prstGeom>
          <a:solidFill>
            <a:srgbClr val="F3F5F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84" name="Google Shape;284;p27"/>
          <p:cNvSpPr/>
          <p:nvPr/>
        </p:nvSpPr>
        <p:spPr>
          <a:xfrm>
            <a:off x="6267465" y="1339215"/>
            <a:ext cx="308700" cy="308700"/>
          </a:xfrm>
          <a:prstGeom prst="ellipse">
            <a:avLst/>
          </a:prstGeom>
          <a:solidFill>
            <a:srgbClr val="2E997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85" name="Google Shape;285;p27"/>
          <p:cNvSpPr/>
          <p:nvPr/>
        </p:nvSpPr>
        <p:spPr>
          <a:xfrm>
            <a:off x="6267465" y="1331004"/>
            <a:ext cx="308700" cy="308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286" name="Google Shape;286;p27"/>
          <p:cNvSpPr/>
          <p:nvPr/>
        </p:nvSpPr>
        <p:spPr>
          <a:xfrm>
            <a:off x="6258243" y="1674060"/>
            <a:ext cx="22935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3203B"/>
              </a:buClr>
              <a:buSzPts val="1000"/>
              <a:buFont typeface="Calibri"/>
              <a:buNone/>
            </a:pPr>
            <a:r>
              <a:rPr b="1" i="0" lang="en" sz="1200" u="none" cap="none" strike="noStrike">
                <a:solidFill>
                  <a:srgbClr val="13203B"/>
                </a:solidFill>
                <a:latin typeface="Calibri"/>
                <a:ea typeface="Calibri"/>
                <a:cs typeface="Calibri"/>
                <a:sym typeface="Calibri"/>
              </a:rPr>
              <a:t>Zeros where zero is correct</a:t>
            </a:r>
            <a:endParaRPr b="0" i="0" sz="1200" u="none" cap="none" strike="noStrike">
              <a:solidFill>
                <a:schemeClr val="dk1"/>
              </a:solidFill>
              <a:latin typeface="Calibri"/>
              <a:ea typeface="Calibri"/>
              <a:cs typeface="Calibri"/>
              <a:sym typeface="Calibri"/>
            </a:endParaRPr>
          </a:p>
        </p:txBody>
      </p:sp>
      <p:sp>
        <p:nvSpPr>
          <p:cNvPr id="287" name="Google Shape;287;p27"/>
          <p:cNvSpPr/>
          <p:nvPr/>
        </p:nvSpPr>
        <p:spPr>
          <a:xfrm>
            <a:off x="6267465" y="2013913"/>
            <a:ext cx="2293500" cy="3771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0607F"/>
              </a:buClr>
              <a:buSzPts val="700"/>
              <a:buFont typeface="Calibri"/>
              <a:buNone/>
            </a:pPr>
            <a:r>
              <a:rPr b="0" i="0" lang="en" sz="1000" u="none" cap="none" strike="noStrike">
                <a:solidFill>
                  <a:srgbClr val="50607F"/>
                </a:solidFill>
                <a:latin typeface="Calibri"/>
                <a:ea typeface="Calibri"/>
                <a:cs typeface="Calibri"/>
                <a:sym typeface="Calibri"/>
              </a:rPr>
              <a:t>Missing card, host, or manager values are coalesced to 0 only where a legitimate zero is the right reading.</a:t>
            </a:r>
            <a:endParaRPr b="0" i="0" sz="1000" u="none" cap="none" strike="noStrike">
              <a:solidFill>
                <a:schemeClr val="dk1"/>
              </a:solidFill>
              <a:latin typeface="Calibri"/>
              <a:ea typeface="Calibri"/>
              <a:cs typeface="Calibri"/>
              <a:sym typeface="Calibri"/>
            </a:endParaRPr>
          </a:p>
        </p:txBody>
      </p:sp>
      <p:sp>
        <p:nvSpPr>
          <p:cNvPr id="288" name="Google Shape;288;p27"/>
          <p:cNvSpPr/>
          <p:nvPr/>
        </p:nvSpPr>
        <p:spPr>
          <a:xfrm>
            <a:off x="411500" y="2876017"/>
            <a:ext cx="2636400" cy="1365000"/>
          </a:xfrm>
          <a:prstGeom prst="roundRect">
            <a:avLst>
              <a:gd fmla="val 4571" name="adj"/>
            </a:avLst>
          </a:prstGeom>
          <a:solidFill>
            <a:srgbClr val="F3F5F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89" name="Google Shape;289;p27"/>
          <p:cNvSpPr/>
          <p:nvPr/>
        </p:nvSpPr>
        <p:spPr>
          <a:xfrm>
            <a:off x="582946" y="3039263"/>
            <a:ext cx="308700" cy="308700"/>
          </a:xfrm>
          <a:prstGeom prst="ellipse">
            <a:avLst/>
          </a:prstGeom>
          <a:solidFill>
            <a:srgbClr val="2E997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90" name="Google Shape;290;p27"/>
          <p:cNvSpPr/>
          <p:nvPr/>
        </p:nvSpPr>
        <p:spPr>
          <a:xfrm>
            <a:off x="582960" y="3037837"/>
            <a:ext cx="308700" cy="308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291" name="Google Shape;291;p27"/>
          <p:cNvSpPr/>
          <p:nvPr/>
        </p:nvSpPr>
        <p:spPr>
          <a:xfrm>
            <a:off x="582946" y="3358975"/>
            <a:ext cx="22935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3203B"/>
              </a:buClr>
              <a:buSzPts val="1000"/>
              <a:buFont typeface="Calibri"/>
              <a:buNone/>
            </a:pPr>
            <a:r>
              <a:rPr b="1" i="0" lang="en" sz="1200" u="none" cap="none" strike="noStrike">
                <a:solidFill>
                  <a:srgbClr val="13203B"/>
                </a:solidFill>
                <a:latin typeface="Calibri"/>
                <a:ea typeface="Calibri"/>
                <a:cs typeface="Calibri"/>
                <a:sym typeface="Calibri"/>
              </a:rPr>
              <a:t>Outcome leakage removed</a:t>
            </a:r>
            <a:endParaRPr b="0" i="0" sz="1200" u="none" cap="none" strike="noStrike">
              <a:solidFill>
                <a:schemeClr val="dk1"/>
              </a:solidFill>
              <a:latin typeface="Calibri"/>
              <a:ea typeface="Calibri"/>
              <a:cs typeface="Calibri"/>
              <a:sym typeface="Calibri"/>
            </a:endParaRPr>
          </a:p>
        </p:txBody>
      </p:sp>
      <p:sp>
        <p:nvSpPr>
          <p:cNvPr id="292" name="Google Shape;292;p27"/>
          <p:cNvSpPr/>
          <p:nvPr/>
        </p:nvSpPr>
        <p:spPr>
          <a:xfrm>
            <a:off x="582946" y="3689328"/>
            <a:ext cx="2293500" cy="3771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0607F"/>
              </a:buClr>
              <a:buSzPts val="700"/>
              <a:buFont typeface="Calibri"/>
              <a:buNone/>
            </a:pPr>
            <a:r>
              <a:rPr b="0" i="0" lang="en" sz="1000" u="none" cap="none" strike="noStrike">
                <a:solidFill>
                  <a:srgbClr val="50607F"/>
                </a:solidFill>
                <a:latin typeface="Calibri"/>
                <a:ea typeface="Calibri"/>
                <a:cs typeface="Calibri"/>
                <a:sym typeface="Calibri"/>
              </a:rPr>
              <a:t>Wins, draws, losses, goals, goal difference, and points are excluded — each directly encodes the outcome being predicted.</a:t>
            </a:r>
            <a:endParaRPr b="0" i="0" sz="1000" u="none" cap="none" strike="noStrike">
              <a:solidFill>
                <a:schemeClr val="dk1"/>
              </a:solidFill>
              <a:latin typeface="Calibri"/>
              <a:ea typeface="Calibri"/>
              <a:cs typeface="Calibri"/>
              <a:sym typeface="Calibri"/>
            </a:endParaRPr>
          </a:p>
        </p:txBody>
      </p:sp>
      <p:sp>
        <p:nvSpPr>
          <p:cNvPr id="293" name="Google Shape;293;p27"/>
          <p:cNvSpPr/>
          <p:nvPr/>
        </p:nvSpPr>
        <p:spPr>
          <a:xfrm>
            <a:off x="3253750" y="2876017"/>
            <a:ext cx="2636400" cy="1365000"/>
          </a:xfrm>
          <a:prstGeom prst="roundRect">
            <a:avLst>
              <a:gd fmla="val 4571" name="adj"/>
            </a:avLst>
          </a:prstGeom>
          <a:solidFill>
            <a:srgbClr val="F3F5F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94" name="Google Shape;294;p27"/>
          <p:cNvSpPr/>
          <p:nvPr/>
        </p:nvSpPr>
        <p:spPr>
          <a:xfrm>
            <a:off x="3425205" y="3031052"/>
            <a:ext cx="308700" cy="308700"/>
          </a:xfrm>
          <a:prstGeom prst="ellipse">
            <a:avLst/>
          </a:prstGeom>
          <a:solidFill>
            <a:srgbClr val="2E997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95" name="Google Shape;295;p27"/>
          <p:cNvSpPr/>
          <p:nvPr/>
        </p:nvSpPr>
        <p:spPr>
          <a:xfrm>
            <a:off x="3425205" y="3041034"/>
            <a:ext cx="308700" cy="308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296" name="Google Shape;296;p27"/>
          <p:cNvSpPr/>
          <p:nvPr/>
        </p:nvSpPr>
        <p:spPr>
          <a:xfrm>
            <a:off x="3425205" y="3358975"/>
            <a:ext cx="22935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3203B"/>
              </a:buClr>
              <a:buSzPts val="1000"/>
              <a:buFont typeface="Calibri"/>
              <a:buNone/>
            </a:pPr>
            <a:r>
              <a:rPr b="1" i="0" lang="en" sz="1200" u="none" cap="none" strike="noStrike">
                <a:solidFill>
                  <a:srgbClr val="13203B"/>
                </a:solidFill>
                <a:latin typeface="Calibri"/>
                <a:ea typeface="Calibri"/>
                <a:cs typeface="Calibri"/>
                <a:sym typeface="Calibri"/>
              </a:rPr>
              <a:t>Collinear predictors dropped</a:t>
            </a:r>
            <a:endParaRPr b="0" i="0" sz="1200" u="none" cap="none" strike="noStrike">
              <a:solidFill>
                <a:schemeClr val="dk1"/>
              </a:solidFill>
              <a:latin typeface="Calibri"/>
              <a:ea typeface="Calibri"/>
              <a:cs typeface="Calibri"/>
              <a:sym typeface="Calibri"/>
            </a:endParaRPr>
          </a:p>
        </p:txBody>
      </p:sp>
      <p:sp>
        <p:nvSpPr>
          <p:cNvPr id="297" name="Google Shape;297;p27"/>
          <p:cNvSpPr/>
          <p:nvPr/>
        </p:nvSpPr>
        <p:spPr>
          <a:xfrm>
            <a:off x="3425205" y="3689328"/>
            <a:ext cx="2293500" cy="3771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0607F"/>
              </a:buClr>
              <a:buSzPts val="700"/>
              <a:buFont typeface="Calibri"/>
              <a:buNone/>
            </a:pPr>
            <a:r>
              <a:rPr b="0" i="0" lang="en" sz="1000" u="none" cap="none" strike="noStrike">
                <a:solidFill>
                  <a:srgbClr val="50607F"/>
                </a:solidFill>
                <a:latin typeface="Calibri"/>
                <a:ea typeface="Calibri"/>
                <a:cs typeface="Calibri"/>
                <a:sym typeface="Calibri"/>
              </a:rPr>
              <a:t>Redundant measures are removed to keep coefficients stable and interpretable.</a:t>
            </a:r>
            <a:endParaRPr b="0" i="0" sz="1000" u="none" cap="none" strike="noStrike">
              <a:solidFill>
                <a:schemeClr val="dk1"/>
              </a:solidFill>
              <a:latin typeface="Calibri"/>
              <a:ea typeface="Calibri"/>
              <a:cs typeface="Calibri"/>
              <a:sym typeface="Calibri"/>
            </a:endParaRPr>
          </a:p>
        </p:txBody>
      </p:sp>
      <p:sp>
        <p:nvSpPr>
          <p:cNvPr id="298" name="Google Shape;298;p27"/>
          <p:cNvSpPr/>
          <p:nvPr/>
        </p:nvSpPr>
        <p:spPr>
          <a:xfrm>
            <a:off x="411491" y="4800600"/>
            <a:ext cx="4800728"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592AA"/>
              </a:buClr>
              <a:buSzPts val="700"/>
              <a:buFont typeface="Calibri"/>
              <a:buNone/>
            </a:pPr>
            <a:r>
              <a:rPr b="0" i="0" lang="en" sz="700" u="none" cap="none" strike="noStrike">
                <a:solidFill>
                  <a:srgbClr val="8592AA"/>
                </a:solidFill>
                <a:latin typeface="Calibri"/>
                <a:ea typeface="Calibri"/>
                <a:cs typeface="Calibri"/>
                <a:sym typeface="Calibri"/>
              </a:rPr>
              <a:t>Shiu &amp; Nguyen  |  STAT 418, Tools in Data Science  |  UCLA Summer 2026</a:t>
            </a:r>
            <a:endParaRPr b="0" i="0" sz="700" u="none" cap="none" strike="noStrike">
              <a:solidFill>
                <a:schemeClr val="dk1"/>
              </a:solidFill>
              <a:latin typeface="Calibri"/>
              <a:ea typeface="Calibri"/>
              <a:cs typeface="Calibri"/>
              <a:sym typeface="Calibri"/>
            </a:endParaRPr>
          </a:p>
        </p:txBody>
      </p:sp>
      <p:sp>
        <p:nvSpPr>
          <p:cNvPr id="299" name="Google Shape;299;p27"/>
          <p:cNvSpPr/>
          <p:nvPr/>
        </p:nvSpPr>
        <p:spPr>
          <a:xfrm>
            <a:off x="8458197" y="4800600"/>
            <a:ext cx="411491" cy="2057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592AA"/>
              </a:buClr>
              <a:buSzPts val="800"/>
              <a:buFont typeface="Calibri"/>
              <a:buNone/>
            </a:pPr>
            <a:r>
              <a:rPr b="0" i="0" lang="en" sz="800" u="none" cap="none" strike="noStrike">
                <a:solidFill>
                  <a:srgbClr val="8592AA"/>
                </a:solidFill>
                <a:latin typeface="Calibri"/>
                <a:ea typeface="Calibri"/>
                <a:cs typeface="Calibri"/>
                <a:sym typeface="Calibri"/>
              </a:rPr>
              <a:t>9</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03B"/>
        </a:solidFill>
      </p:bgPr>
    </p:bg>
    <p:spTree>
      <p:nvGrpSpPr>
        <p:cNvPr id="304" name="Shape 304"/>
        <p:cNvGrpSpPr/>
        <p:nvPr/>
      </p:nvGrpSpPr>
      <p:grpSpPr>
        <a:xfrm>
          <a:off x="0" y="0"/>
          <a:ext cx="0" cy="0"/>
          <a:chOff x="0" y="0"/>
          <a:chExt cx="0" cy="0"/>
        </a:xfrm>
      </p:grpSpPr>
      <p:sp>
        <p:nvSpPr>
          <p:cNvPr id="305" name="Google Shape;305;p28"/>
          <p:cNvSpPr/>
          <p:nvPr/>
        </p:nvSpPr>
        <p:spPr>
          <a:xfrm>
            <a:off x="5989251" y="-617220"/>
            <a:ext cx="3017600" cy="301752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34456E"/>
              </a:buClr>
              <a:buSzPts val="19500"/>
              <a:buFont typeface="Calibri"/>
              <a:buNone/>
            </a:pPr>
            <a:r>
              <a:rPr b="1" i="0" lang="en" sz="19500" u="none" cap="none" strike="noStrike">
                <a:solidFill>
                  <a:srgbClr val="34456E"/>
                </a:solidFill>
                <a:latin typeface="Calibri"/>
                <a:ea typeface="Calibri"/>
                <a:cs typeface="Calibri"/>
                <a:sym typeface="Calibri"/>
              </a:rPr>
              <a:t>03</a:t>
            </a:r>
            <a:endParaRPr b="0" i="0" sz="19500" u="none" cap="none" strike="noStrike">
              <a:solidFill>
                <a:schemeClr val="dk1"/>
              </a:solidFill>
              <a:latin typeface="Calibri"/>
              <a:ea typeface="Calibri"/>
              <a:cs typeface="Calibri"/>
              <a:sym typeface="Calibri"/>
            </a:endParaRPr>
          </a:p>
        </p:txBody>
      </p:sp>
      <p:sp>
        <p:nvSpPr>
          <p:cNvPr id="306" name="Google Shape;306;p28"/>
          <p:cNvSpPr/>
          <p:nvPr/>
        </p:nvSpPr>
        <p:spPr>
          <a:xfrm>
            <a:off x="411491" y="480060"/>
            <a:ext cx="288044" cy="288036"/>
          </a:xfrm>
          <a:prstGeom prst="ellipse">
            <a:avLst/>
          </a:prstGeom>
          <a:solidFill>
            <a:srgbClr val="2E997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07" name="Google Shape;307;p28"/>
          <p:cNvSpPr/>
          <p:nvPr/>
        </p:nvSpPr>
        <p:spPr>
          <a:xfrm>
            <a:off x="411491" y="480060"/>
            <a:ext cx="288044" cy="2880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308" name="Google Shape;308;p28"/>
          <p:cNvSpPr/>
          <p:nvPr/>
        </p:nvSpPr>
        <p:spPr>
          <a:xfrm>
            <a:off x="809266" y="480060"/>
            <a:ext cx="5486546" cy="2880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FB0C9"/>
              </a:buClr>
              <a:buSzPts val="1000"/>
              <a:buFont typeface="Calibri"/>
              <a:buNone/>
            </a:pPr>
            <a:r>
              <a:rPr b="1" i="0" lang="en" sz="1000" u="none" cap="none" strike="noStrike">
                <a:solidFill>
                  <a:srgbClr val="9FB0C9"/>
                </a:solidFill>
                <a:latin typeface="Calibri"/>
                <a:ea typeface="Calibri"/>
                <a:cs typeface="Calibri"/>
                <a:sym typeface="Calibri"/>
              </a:rPr>
              <a:t>SECTION 3 OF 6  ·  EDA</a:t>
            </a:r>
            <a:endParaRPr b="0" i="0" sz="1000" u="none" cap="none" strike="noStrike">
              <a:solidFill>
                <a:schemeClr val="dk1"/>
              </a:solidFill>
              <a:latin typeface="Calibri"/>
              <a:ea typeface="Calibri"/>
              <a:cs typeface="Calibri"/>
              <a:sym typeface="Calibri"/>
            </a:endParaRPr>
          </a:p>
        </p:txBody>
      </p:sp>
      <p:sp>
        <p:nvSpPr>
          <p:cNvPr id="309" name="Google Shape;309;p28"/>
          <p:cNvSpPr/>
          <p:nvPr/>
        </p:nvSpPr>
        <p:spPr>
          <a:xfrm>
            <a:off x="411491" y="1988820"/>
            <a:ext cx="7269674" cy="144018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FFFFFF"/>
              </a:buClr>
              <a:buSzPts val="2600"/>
              <a:buFont typeface="Calibri"/>
              <a:buNone/>
            </a:pPr>
            <a:r>
              <a:rPr b="1" lang="en" sz="2600">
                <a:solidFill>
                  <a:srgbClr val="FFFFFF"/>
                </a:solidFill>
                <a:latin typeface="Calibri"/>
                <a:ea typeface="Calibri"/>
                <a:cs typeface="Calibri"/>
                <a:sym typeface="Calibri"/>
              </a:rPr>
              <a:t>Exploratory analysis reveals consistent patterns before formal modeling</a:t>
            </a:r>
            <a:endParaRPr b="0" i="0" sz="2600" u="none" cap="none" strike="noStrike">
              <a:solidFill>
                <a:schemeClr val="dk1"/>
              </a:solidFill>
              <a:latin typeface="Calibri"/>
              <a:ea typeface="Calibri"/>
              <a:cs typeface="Calibri"/>
              <a:sym typeface="Calibri"/>
            </a:endParaRPr>
          </a:p>
        </p:txBody>
      </p:sp>
      <p:sp>
        <p:nvSpPr>
          <p:cNvPr id="310" name="Google Shape;310;p28"/>
          <p:cNvSpPr/>
          <p:nvPr/>
        </p:nvSpPr>
        <p:spPr>
          <a:xfrm>
            <a:off x="411491" y="3429000"/>
            <a:ext cx="6583856" cy="685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9FB0C9"/>
              </a:buClr>
              <a:buSzPts val="1100"/>
              <a:buFont typeface="Calibri"/>
              <a:buNone/>
            </a:pPr>
            <a:r>
              <a:rPr lang="en" sz="1100">
                <a:solidFill>
                  <a:srgbClr val="9FB0C9"/>
                </a:solidFill>
                <a:latin typeface="Calibri"/>
                <a:ea typeface="Calibri"/>
                <a:cs typeface="Calibri"/>
                <a:sym typeface="Calibri"/>
              </a:rPr>
              <a:t>Regional affiliation, tournament experience, and host status each exhibit distinct relationships with group-stage advancement before formal modeling.</a:t>
            </a:r>
            <a:endParaRPr b="0" i="0" sz="1100" u="none" cap="none" strike="noStrike">
              <a:solidFill>
                <a:schemeClr val="dk1"/>
              </a:solidFill>
              <a:latin typeface="Calibri"/>
              <a:ea typeface="Calibri"/>
              <a:cs typeface="Calibri"/>
              <a:sym typeface="Calibri"/>
            </a:endParaRPr>
          </a:p>
        </p:txBody>
      </p:sp>
      <p:sp>
        <p:nvSpPr>
          <p:cNvPr id="311" name="Google Shape;311;p28"/>
          <p:cNvSpPr/>
          <p:nvPr/>
        </p:nvSpPr>
        <p:spPr>
          <a:xfrm>
            <a:off x="411491" y="4800600"/>
            <a:ext cx="4800728"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4456E"/>
              </a:buClr>
              <a:buSzPts val="700"/>
              <a:buFont typeface="Calibri"/>
              <a:buNone/>
            </a:pPr>
            <a:r>
              <a:rPr b="0" i="0" lang="en" sz="700" u="none" cap="none" strike="noStrike">
                <a:solidFill>
                  <a:srgbClr val="34456E"/>
                </a:solidFill>
                <a:latin typeface="Calibri"/>
                <a:ea typeface="Calibri"/>
                <a:cs typeface="Calibri"/>
                <a:sym typeface="Calibri"/>
              </a:rPr>
              <a:t>Shiu &amp; Nguyen  |  STAT 418, Tools in Data Science  |  UCLA Summer 2026</a:t>
            </a:r>
            <a:endParaRPr b="0" i="0" sz="700" u="none" cap="none" strike="noStrike">
              <a:solidFill>
                <a:schemeClr val="dk1"/>
              </a:solidFill>
              <a:latin typeface="Calibri"/>
              <a:ea typeface="Calibri"/>
              <a:cs typeface="Calibri"/>
              <a:sym typeface="Calibri"/>
            </a:endParaRPr>
          </a:p>
        </p:txBody>
      </p:sp>
      <p:sp>
        <p:nvSpPr>
          <p:cNvPr id="312" name="Google Shape;312;p28"/>
          <p:cNvSpPr/>
          <p:nvPr/>
        </p:nvSpPr>
        <p:spPr>
          <a:xfrm>
            <a:off x="8458197" y="4800600"/>
            <a:ext cx="411491" cy="2057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592AA"/>
              </a:buClr>
              <a:buSzPts val="800"/>
              <a:buFont typeface="Calibri"/>
              <a:buNone/>
            </a:pPr>
            <a:r>
              <a:rPr b="0" i="0" lang="en" sz="800" u="none" cap="none" strike="noStrike">
                <a:solidFill>
                  <a:srgbClr val="8592AA"/>
                </a:solidFill>
                <a:latin typeface="Calibri"/>
                <a:ea typeface="Calibri"/>
                <a:cs typeface="Calibri"/>
                <a:sym typeface="Calibri"/>
              </a:rPr>
              <a:t>10</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9"/>
          <p:cNvSpPr/>
          <p:nvPr/>
        </p:nvSpPr>
        <p:spPr>
          <a:xfrm>
            <a:off x="411491" y="308610"/>
            <a:ext cx="83211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9973"/>
              </a:buClr>
              <a:buSzPts val="800"/>
              <a:buFont typeface="Calibri"/>
              <a:buNone/>
            </a:pPr>
            <a:r>
              <a:rPr b="1" i="0" lang="en" sz="800" u="none" cap="none" strike="noStrike">
                <a:solidFill>
                  <a:srgbClr val="2E9973"/>
                </a:solidFill>
                <a:latin typeface="Calibri"/>
                <a:ea typeface="Calibri"/>
                <a:cs typeface="Calibri"/>
                <a:sym typeface="Calibri"/>
              </a:rPr>
              <a:t>EDA</a:t>
            </a:r>
            <a:endParaRPr b="0" i="0" sz="800" u="none" cap="none" strike="noStrike">
              <a:solidFill>
                <a:schemeClr val="dk1"/>
              </a:solidFill>
              <a:latin typeface="Calibri"/>
              <a:ea typeface="Calibri"/>
              <a:cs typeface="Calibri"/>
              <a:sym typeface="Calibri"/>
            </a:endParaRPr>
          </a:p>
        </p:txBody>
      </p:sp>
      <p:sp>
        <p:nvSpPr>
          <p:cNvPr id="318" name="Google Shape;318;p29"/>
          <p:cNvSpPr/>
          <p:nvPr/>
        </p:nvSpPr>
        <p:spPr>
          <a:xfrm>
            <a:off x="5673950" y="1256275"/>
            <a:ext cx="2643900" cy="1658700"/>
          </a:xfrm>
          <a:prstGeom prst="roundRect">
            <a:avLst>
              <a:gd fmla="val 3137" name="adj"/>
            </a:avLst>
          </a:prstGeom>
          <a:solidFill>
            <a:srgbClr val="F3F5F9"/>
          </a:solidFill>
          <a:ln>
            <a:noFill/>
          </a:ln>
        </p:spPr>
        <p:txBody>
          <a:bodyPr anchorCtr="0" anchor="ctr" bIns="70300" lIns="70300" spcFirstLastPara="1" rIns="70300" wrap="square" tIns="70300">
            <a:noAutofit/>
          </a:bodyPr>
          <a:lstStyle/>
          <a:p>
            <a:pPr indent="0" lvl="0" marL="0" marR="0" rtl="0" algn="l">
              <a:lnSpc>
                <a:spcPct val="100000"/>
              </a:lnSpc>
              <a:spcBef>
                <a:spcPts val="0"/>
              </a:spcBef>
              <a:spcAft>
                <a:spcPts val="0"/>
              </a:spcAft>
              <a:buClr>
                <a:srgbClr val="000000"/>
              </a:buClr>
              <a:buSzPts val="1128"/>
              <a:buFont typeface="Arial"/>
              <a:buNone/>
            </a:pPr>
            <a:r>
              <a:t/>
            </a:r>
            <a:endParaRPr b="0" i="0" sz="1128" u="none" cap="none" strike="noStrike">
              <a:solidFill>
                <a:srgbClr val="000000"/>
              </a:solidFill>
              <a:latin typeface="Arial"/>
              <a:ea typeface="Arial"/>
              <a:cs typeface="Arial"/>
              <a:sym typeface="Arial"/>
            </a:endParaRPr>
          </a:p>
        </p:txBody>
      </p:sp>
      <p:sp>
        <p:nvSpPr>
          <p:cNvPr id="319" name="Google Shape;319;p29"/>
          <p:cNvSpPr/>
          <p:nvPr/>
        </p:nvSpPr>
        <p:spPr>
          <a:xfrm>
            <a:off x="6057358" y="1463203"/>
            <a:ext cx="2414700" cy="23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9973"/>
              </a:buClr>
              <a:buSzPts val="820"/>
              <a:buFont typeface="Calibri"/>
              <a:buNone/>
            </a:pPr>
            <a:r>
              <a:rPr b="1" i="0" lang="en" sz="1333" u="none" cap="none" strike="noStrike">
                <a:solidFill>
                  <a:srgbClr val="2E9973"/>
                </a:solidFill>
                <a:latin typeface="Calibri"/>
                <a:ea typeface="Calibri"/>
                <a:cs typeface="Calibri"/>
                <a:sym typeface="Calibri"/>
              </a:rPr>
              <a:t>WHAT THE DATA SHOWS</a:t>
            </a:r>
            <a:endParaRPr b="0" i="0" sz="1333" u="none" cap="none" strike="noStrike">
              <a:solidFill>
                <a:schemeClr val="dk1"/>
              </a:solidFill>
              <a:latin typeface="Calibri"/>
              <a:ea typeface="Calibri"/>
              <a:cs typeface="Calibri"/>
              <a:sym typeface="Calibri"/>
            </a:endParaRPr>
          </a:p>
        </p:txBody>
      </p:sp>
      <p:sp>
        <p:nvSpPr>
          <p:cNvPr id="320" name="Google Shape;320;p29"/>
          <p:cNvSpPr/>
          <p:nvPr/>
        </p:nvSpPr>
        <p:spPr>
          <a:xfrm>
            <a:off x="411491" y="514575"/>
            <a:ext cx="8321100" cy="6516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3203B"/>
              </a:buClr>
              <a:buSzPts val="1800"/>
              <a:buFont typeface="Calibri"/>
              <a:buNone/>
            </a:pPr>
            <a:r>
              <a:rPr b="1" lang="en" sz="2000">
                <a:solidFill>
                  <a:srgbClr val="13203B"/>
                </a:solidFill>
                <a:latin typeface="Calibri"/>
                <a:ea typeface="Calibri"/>
                <a:cs typeface="Calibri"/>
                <a:sym typeface="Calibri"/>
              </a:rPr>
              <a:t>Host nations exhibit substantially higher advancement rates</a:t>
            </a:r>
            <a:endParaRPr b="0" i="0" sz="2000" u="none" cap="none" strike="noStrike">
              <a:solidFill>
                <a:schemeClr val="dk1"/>
              </a:solidFill>
              <a:latin typeface="Calibri"/>
              <a:ea typeface="Calibri"/>
              <a:cs typeface="Calibri"/>
              <a:sym typeface="Calibri"/>
            </a:endParaRPr>
          </a:p>
        </p:txBody>
      </p:sp>
      <p:sp>
        <p:nvSpPr>
          <p:cNvPr id="321" name="Google Shape;321;p29"/>
          <p:cNvSpPr/>
          <p:nvPr/>
        </p:nvSpPr>
        <p:spPr>
          <a:xfrm>
            <a:off x="5810639" y="2261003"/>
            <a:ext cx="2286600" cy="915900"/>
          </a:xfrm>
          <a:prstGeom prst="rect">
            <a:avLst/>
          </a:prstGeom>
          <a:noFill/>
          <a:ln>
            <a:noFill/>
          </a:ln>
        </p:spPr>
        <p:txBody>
          <a:bodyPr anchorCtr="0" anchor="ctr" bIns="0" lIns="0" spcFirstLastPara="1" rIns="0" wrap="square" tIns="0">
            <a:noAutofit/>
          </a:bodyPr>
          <a:lstStyle/>
          <a:p>
            <a:pPr indent="-188780" lvl="0" marL="234347" rtl="0" algn="l">
              <a:lnSpc>
                <a:spcPct val="115000"/>
              </a:lnSpc>
              <a:spcBef>
                <a:spcPts val="1230"/>
              </a:spcBef>
              <a:spcAft>
                <a:spcPts val="0"/>
              </a:spcAft>
              <a:buClr>
                <a:schemeClr val="dk1"/>
              </a:buClr>
              <a:buSzPts val="1128"/>
              <a:buFont typeface="Calibri"/>
              <a:buChar char="●"/>
            </a:pPr>
            <a:r>
              <a:rPr b="1" lang="en" sz="1128">
                <a:solidFill>
                  <a:schemeClr val="dk1"/>
                </a:solidFill>
                <a:latin typeface="Calibri"/>
                <a:ea typeface="Calibri"/>
                <a:cs typeface="Calibri"/>
                <a:sym typeface="Calibri"/>
              </a:rPr>
              <a:t>87% of host nations advance, compared with 52% of non-hosts.</a:t>
            </a:r>
            <a:endParaRPr b="1" sz="1128">
              <a:solidFill>
                <a:schemeClr val="dk1"/>
              </a:solidFill>
              <a:latin typeface="Calibri"/>
              <a:ea typeface="Calibri"/>
              <a:cs typeface="Calibri"/>
              <a:sym typeface="Calibri"/>
            </a:endParaRPr>
          </a:p>
          <a:p>
            <a:pPr indent="-188780" lvl="0" marL="234347" rtl="0" algn="l">
              <a:lnSpc>
                <a:spcPct val="115000"/>
              </a:lnSpc>
              <a:spcBef>
                <a:spcPts val="0"/>
              </a:spcBef>
              <a:spcAft>
                <a:spcPts val="0"/>
              </a:spcAft>
              <a:buClr>
                <a:schemeClr val="dk1"/>
              </a:buClr>
              <a:buSzPts val="1128"/>
              <a:buFont typeface="Calibri"/>
              <a:buChar char="●"/>
            </a:pPr>
            <a:r>
              <a:rPr lang="en" sz="1128">
                <a:solidFill>
                  <a:schemeClr val="dk1"/>
                </a:solidFill>
                <a:latin typeface="Calibri"/>
                <a:ea typeface="Calibri"/>
                <a:cs typeface="Calibri"/>
                <a:sym typeface="Calibri"/>
              </a:rPr>
              <a:t>The difference suggests a meaningful home-field advantage.</a:t>
            </a:r>
            <a:endParaRPr sz="1128">
              <a:solidFill>
                <a:schemeClr val="dk1"/>
              </a:solidFill>
              <a:latin typeface="Calibri"/>
              <a:ea typeface="Calibri"/>
              <a:cs typeface="Calibri"/>
              <a:sym typeface="Calibri"/>
            </a:endParaRPr>
          </a:p>
          <a:p>
            <a:pPr indent="0" lvl="0" marL="234347" rtl="0" algn="l">
              <a:lnSpc>
                <a:spcPct val="115000"/>
              </a:lnSpc>
              <a:spcBef>
                <a:spcPts val="1230"/>
              </a:spcBef>
              <a:spcAft>
                <a:spcPts val="0"/>
              </a:spcAft>
              <a:buNone/>
            </a:pPr>
            <a:r>
              <a:t/>
            </a:r>
            <a:endParaRPr sz="1128">
              <a:solidFill>
                <a:schemeClr val="dk1"/>
              </a:solidFill>
              <a:latin typeface="Calibri"/>
              <a:ea typeface="Calibri"/>
              <a:cs typeface="Calibri"/>
              <a:sym typeface="Calibri"/>
            </a:endParaRPr>
          </a:p>
          <a:p>
            <a:pPr indent="0" lvl="0" marL="234347" rtl="0" algn="l">
              <a:lnSpc>
                <a:spcPct val="115000"/>
              </a:lnSpc>
              <a:spcBef>
                <a:spcPts val="1230"/>
              </a:spcBef>
              <a:spcAft>
                <a:spcPts val="0"/>
              </a:spcAft>
              <a:buNone/>
            </a:pPr>
            <a:r>
              <a:t/>
            </a:r>
            <a:endParaRPr b="1" sz="1128">
              <a:solidFill>
                <a:schemeClr val="dk1"/>
              </a:solidFill>
              <a:latin typeface="Calibri"/>
              <a:ea typeface="Calibri"/>
              <a:cs typeface="Calibri"/>
              <a:sym typeface="Calibri"/>
            </a:endParaRPr>
          </a:p>
          <a:p>
            <a:pPr indent="0" lvl="0" marL="0" marR="0" rtl="0" algn="l">
              <a:lnSpc>
                <a:spcPct val="125000"/>
              </a:lnSpc>
              <a:spcBef>
                <a:spcPts val="1230"/>
              </a:spcBef>
              <a:spcAft>
                <a:spcPts val="0"/>
              </a:spcAft>
              <a:buClr>
                <a:srgbClr val="13203B"/>
              </a:buClr>
              <a:buSzPts val="923"/>
              <a:buFont typeface="Calibri"/>
              <a:buNone/>
            </a:pPr>
            <a:r>
              <a:t/>
            </a:r>
            <a:endParaRPr sz="923">
              <a:solidFill>
                <a:srgbClr val="13203B"/>
              </a:solidFill>
              <a:latin typeface="Calibri"/>
              <a:ea typeface="Calibri"/>
              <a:cs typeface="Calibri"/>
              <a:sym typeface="Calibri"/>
            </a:endParaRPr>
          </a:p>
        </p:txBody>
      </p:sp>
      <p:pic>
        <p:nvPicPr>
          <p:cNvPr id="322" name="Google Shape;322;p29" title="Screenshot 2026-07-27 at 11.31.23 AM.png"/>
          <p:cNvPicPr preferRelativeResize="0"/>
          <p:nvPr/>
        </p:nvPicPr>
        <p:blipFill>
          <a:blip r:embed="rId3">
            <a:alphaModFix/>
          </a:blip>
          <a:stretch>
            <a:fillRect/>
          </a:stretch>
        </p:blipFill>
        <p:spPr>
          <a:xfrm>
            <a:off x="406950" y="1244450"/>
            <a:ext cx="4478726" cy="2614826"/>
          </a:xfrm>
          <a:prstGeom prst="rect">
            <a:avLst/>
          </a:prstGeom>
          <a:noFill/>
          <a:ln>
            <a:noFill/>
          </a:ln>
        </p:spPr>
      </p:pic>
      <p:sp>
        <p:nvSpPr>
          <p:cNvPr id="323" name="Google Shape;323;p29"/>
          <p:cNvSpPr/>
          <p:nvPr/>
        </p:nvSpPr>
        <p:spPr>
          <a:xfrm>
            <a:off x="411491" y="4800600"/>
            <a:ext cx="48006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592AA"/>
              </a:buClr>
              <a:buSzPts val="700"/>
              <a:buFont typeface="Calibri"/>
              <a:buNone/>
            </a:pPr>
            <a:r>
              <a:rPr b="0" i="0" lang="en" sz="700" u="none" cap="none" strike="noStrike">
                <a:solidFill>
                  <a:srgbClr val="8592AA"/>
                </a:solidFill>
                <a:latin typeface="Calibri"/>
                <a:ea typeface="Calibri"/>
                <a:cs typeface="Calibri"/>
                <a:sym typeface="Calibri"/>
              </a:rPr>
              <a:t>Shiu &amp; Nguyen  |  STAT 418, Tools in Data Science  |  UCLA Summer 2026</a:t>
            </a:r>
            <a:endParaRPr b="0" i="0" sz="700" u="none" cap="none" strike="noStrike">
              <a:solidFill>
                <a:schemeClr val="dk1"/>
              </a:solidFill>
              <a:latin typeface="Calibri"/>
              <a:ea typeface="Calibri"/>
              <a:cs typeface="Calibri"/>
              <a:sym typeface="Calibri"/>
            </a:endParaRPr>
          </a:p>
        </p:txBody>
      </p:sp>
      <p:sp>
        <p:nvSpPr>
          <p:cNvPr id="324" name="Google Shape;324;p29"/>
          <p:cNvSpPr txBox="1"/>
          <p:nvPr/>
        </p:nvSpPr>
        <p:spPr>
          <a:xfrm>
            <a:off x="329391" y="4299175"/>
            <a:ext cx="77184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50">
                <a:solidFill>
                  <a:schemeClr val="dk2"/>
                </a:solidFill>
                <a:latin typeface="Calibri"/>
                <a:ea typeface="Calibri"/>
                <a:cs typeface="Calibri"/>
                <a:sym typeface="Calibri"/>
              </a:rPr>
              <a:t>These differences are descriptive; Logistic regression tests whether they persist after accounting for experience, host status, and other team characteristics.</a:t>
            </a:r>
            <a:endParaRPr i="1" sz="1150">
              <a:solidFill>
                <a:schemeClr val="dk2"/>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0"/>
          <p:cNvSpPr/>
          <p:nvPr/>
        </p:nvSpPr>
        <p:spPr>
          <a:xfrm>
            <a:off x="411491" y="514575"/>
            <a:ext cx="8321100" cy="6516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3203B"/>
              </a:buClr>
              <a:buSzPts val="1800"/>
              <a:buFont typeface="Calibri"/>
              <a:buNone/>
            </a:pPr>
            <a:r>
              <a:rPr b="1" lang="en" sz="2000">
                <a:solidFill>
                  <a:srgbClr val="13203B"/>
                </a:solidFill>
                <a:latin typeface="Calibri"/>
                <a:ea typeface="Calibri"/>
                <a:cs typeface="Calibri"/>
                <a:sym typeface="Calibri"/>
              </a:rPr>
              <a:t>Experienced teams advance 3x more than new teams </a:t>
            </a:r>
            <a:endParaRPr b="0" i="0" sz="2000" u="none" cap="none" strike="noStrike">
              <a:solidFill>
                <a:schemeClr val="dk1"/>
              </a:solidFill>
              <a:latin typeface="Calibri"/>
              <a:ea typeface="Calibri"/>
              <a:cs typeface="Calibri"/>
              <a:sym typeface="Calibri"/>
            </a:endParaRPr>
          </a:p>
        </p:txBody>
      </p:sp>
      <p:sp>
        <p:nvSpPr>
          <p:cNvPr id="330" name="Google Shape;330;p30"/>
          <p:cNvSpPr/>
          <p:nvPr/>
        </p:nvSpPr>
        <p:spPr>
          <a:xfrm>
            <a:off x="411491" y="4800600"/>
            <a:ext cx="48006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592AA"/>
              </a:buClr>
              <a:buSzPts val="700"/>
              <a:buFont typeface="Calibri"/>
              <a:buNone/>
            </a:pPr>
            <a:r>
              <a:rPr b="0" i="0" lang="en" sz="700" u="none" cap="none" strike="noStrike">
                <a:solidFill>
                  <a:srgbClr val="8592AA"/>
                </a:solidFill>
                <a:latin typeface="Calibri"/>
                <a:ea typeface="Calibri"/>
                <a:cs typeface="Calibri"/>
                <a:sym typeface="Calibri"/>
              </a:rPr>
              <a:t>Shiu &amp; Nguyen  |  STAT 418, Tools in Data Science  |  UCLA Summer 2026</a:t>
            </a:r>
            <a:endParaRPr b="0" i="0" sz="700" u="none" cap="none" strike="noStrike">
              <a:solidFill>
                <a:schemeClr val="dk1"/>
              </a:solidFill>
              <a:latin typeface="Calibri"/>
              <a:ea typeface="Calibri"/>
              <a:cs typeface="Calibri"/>
              <a:sym typeface="Calibri"/>
            </a:endParaRPr>
          </a:p>
        </p:txBody>
      </p:sp>
      <p:sp>
        <p:nvSpPr>
          <p:cNvPr id="331" name="Google Shape;331;p30"/>
          <p:cNvSpPr/>
          <p:nvPr/>
        </p:nvSpPr>
        <p:spPr>
          <a:xfrm>
            <a:off x="5000650" y="1198750"/>
            <a:ext cx="3213000" cy="1677900"/>
          </a:xfrm>
          <a:prstGeom prst="roundRect">
            <a:avLst>
              <a:gd fmla="val 3137" name="adj"/>
            </a:avLst>
          </a:prstGeom>
          <a:solidFill>
            <a:srgbClr val="F3F5F9"/>
          </a:solidFill>
          <a:ln>
            <a:noFill/>
          </a:ln>
        </p:spPr>
        <p:txBody>
          <a:bodyPr anchorCtr="0" anchor="ctr" bIns="70300" lIns="70300" spcFirstLastPara="1" rIns="70300" wrap="square" tIns="70300">
            <a:noAutofit/>
          </a:bodyPr>
          <a:lstStyle/>
          <a:p>
            <a:pPr indent="0" lvl="0" marL="0" marR="0" rtl="0" algn="l">
              <a:lnSpc>
                <a:spcPct val="100000"/>
              </a:lnSpc>
              <a:spcBef>
                <a:spcPts val="0"/>
              </a:spcBef>
              <a:spcAft>
                <a:spcPts val="0"/>
              </a:spcAft>
              <a:buClr>
                <a:srgbClr val="000000"/>
              </a:buClr>
              <a:buSzPts val="1128"/>
              <a:buFont typeface="Arial"/>
              <a:buNone/>
            </a:pPr>
            <a:r>
              <a:t/>
            </a:r>
            <a:endParaRPr b="0" i="0" sz="1128" u="none" cap="none" strike="noStrike">
              <a:solidFill>
                <a:srgbClr val="000000"/>
              </a:solidFill>
              <a:latin typeface="Arial"/>
              <a:ea typeface="Arial"/>
              <a:cs typeface="Arial"/>
              <a:sym typeface="Arial"/>
            </a:endParaRPr>
          </a:p>
        </p:txBody>
      </p:sp>
      <p:sp>
        <p:nvSpPr>
          <p:cNvPr id="332" name="Google Shape;332;p30"/>
          <p:cNvSpPr/>
          <p:nvPr/>
        </p:nvSpPr>
        <p:spPr>
          <a:xfrm>
            <a:off x="5439053" y="1326591"/>
            <a:ext cx="2934600" cy="16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9973"/>
              </a:buClr>
              <a:buSzPts val="820"/>
              <a:buFont typeface="Calibri"/>
              <a:buNone/>
            </a:pPr>
            <a:r>
              <a:rPr b="1" i="0" lang="en" sz="1200" u="none" cap="none" strike="noStrike">
                <a:solidFill>
                  <a:srgbClr val="2E9973"/>
                </a:solidFill>
                <a:latin typeface="Calibri"/>
                <a:ea typeface="Calibri"/>
                <a:cs typeface="Calibri"/>
                <a:sym typeface="Calibri"/>
              </a:rPr>
              <a:t>WHAT THE DATA SHOWS</a:t>
            </a:r>
            <a:endParaRPr b="0" i="0" sz="1200" u="none" cap="none" strike="noStrike">
              <a:solidFill>
                <a:schemeClr val="dk1"/>
              </a:solidFill>
              <a:latin typeface="Calibri"/>
              <a:ea typeface="Calibri"/>
              <a:cs typeface="Calibri"/>
              <a:sym typeface="Calibri"/>
            </a:endParaRPr>
          </a:p>
        </p:txBody>
      </p:sp>
      <p:sp>
        <p:nvSpPr>
          <p:cNvPr id="333" name="Google Shape;333;p30"/>
          <p:cNvSpPr/>
          <p:nvPr/>
        </p:nvSpPr>
        <p:spPr>
          <a:xfrm>
            <a:off x="5188479" y="2165317"/>
            <a:ext cx="2778900" cy="638100"/>
          </a:xfrm>
          <a:prstGeom prst="rect">
            <a:avLst/>
          </a:prstGeom>
          <a:noFill/>
          <a:ln>
            <a:noFill/>
          </a:ln>
        </p:spPr>
        <p:txBody>
          <a:bodyPr anchorCtr="0" anchor="ctr" bIns="0" lIns="0" spcFirstLastPara="1" rIns="0" wrap="square" tIns="0">
            <a:noAutofit/>
          </a:bodyPr>
          <a:lstStyle/>
          <a:p>
            <a:pPr indent="-188780" lvl="0" marL="234347" rtl="0" algn="l">
              <a:lnSpc>
                <a:spcPct val="115000"/>
              </a:lnSpc>
              <a:spcBef>
                <a:spcPts val="1230"/>
              </a:spcBef>
              <a:spcAft>
                <a:spcPts val="0"/>
              </a:spcAft>
              <a:buClr>
                <a:schemeClr val="dk1"/>
              </a:buClr>
              <a:buSzPts val="1128"/>
              <a:buFont typeface="Calibri"/>
              <a:buChar char="●"/>
            </a:pPr>
            <a:r>
              <a:rPr b="1" lang="en" sz="1128">
                <a:solidFill>
                  <a:schemeClr val="dk1"/>
                </a:solidFill>
                <a:latin typeface="Calibri"/>
                <a:ea typeface="Calibri"/>
                <a:cs typeface="Calibri"/>
                <a:sym typeface="Calibri"/>
              </a:rPr>
              <a:t>Experienced teams tend to advance more often than first-time participants.</a:t>
            </a:r>
            <a:endParaRPr b="1" sz="1128">
              <a:solidFill>
                <a:schemeClr val="dk1"/>
              </a:solidFill>
              <a:latin typeface="Calibri"/>
              <a:ea typeface="Calibri"/>
              <a:cs typeface="Calibri"/>
              <a:sym typeface="Calibri"/>
            </a:endParaRPr>
          </a:p>
          <a:p>
            <a:pPr indent="-188780" lvl="0" marL="234347" rtl="0" algn="l">
              <a:lnSpc>
                <a:spcPct val="115000"/>
              </a:lnSpc>
              <a:spcBef>
                <a:spcPts val="0"/>
              </a:spcBef>
              <a:spcAft>
                <a:spcPts val="0"/>
              </a:spcAft>
              <a:buClr>
                <a:schemeClr val="dk1"/>
              </a:buClr>
              <a:buSzPts val="1128"/>
              <a:buFont typeface="Calibri"/>
              <a:buChar char="●"/>
            </a:pPr>
            <a:r>
              <a:rPr lang="en" sz="1128">
                <a:solidFill>
                  <a:schemeClr val="dk1"/>
                </a:solidFill>
                <a:latin typeface="Calibri"/>
                <a:ea typeface="Calibri"/>
                <a:cs typeface="Calibri"/>
                <a:sym typeface="Calibri"/>
              </a:rPr>
              <a:t>Advancement rates rise from 28% (debut teams) to 76% (6+ appearances).</a:t>
            </a:r>
            <a:endParaRPr sz="1128">
              <a:solidFill>
                <a:schemeClr val="dk1"/>
              </a:solidFill>
              <a:latin typeface="Calibri"/>
              <a:ea typeface="Calibri"/>
              <a:cs typeface="Calibri"/>
              <a:sym typeface="Calibri"/>
            </a:endParaRPr>
          </a:p>
          <a:p>
            <a:pPr indent="-188780" lvl="0" marL="234347" rtl="0" algn="l">
              <a:lnSpc>
                <a:spcPct val="115000"/>
              </a:lnSpc>
              <a:spcBef>
                <a:spcPts val="0"/>
              </a:spcBef>
              <a:spcAft>
                <a:spcPts val="0"/>
              </a:spcAft>
              <a:buClr>
                <a:schemeClr val="dk1"/>
              </a:buClr>
              <a:buSzPts val="1128"/>
              <a:buFont typeface="Calibri"/>
              <a:buChar char="●"/>
            </a:pPr>
            <a:r>
              <a:rPr i="1" lang="en" sz="1128">
                <a:solidFill>
                  <a:schemeClr val="dk1"/>
                </a:solidFill>
                <a:latin typeface="Calibri"/>
                <a:ea typeface="Calibri"/>
                <a:cs typeface="Calibri"/>
                <a:sym typeface="Calibri"/>
              </a:rPr>
              <a:t>6+ appearances hints that experience may partly reflect team quality.</a:t>
            </a:r>
            <a:endParaRPr i="1" sz="1128">
              <a:solidFill>
                <a:schemeClr val="dk1"/>
              </a:solidFill>
              <a:latin typeface="Calibri"/>
              <a:ea typeface="Calibri"/>
              <a:cs typeface="Calibri"/>
              <a:sym typeface="Calibri"/>
            </a:endParaRPr>
          </a:p>
          <a:p>
            <a:pPr indent="0" lvl="0" marL="234347" rtl="0" algn="l">
              <a:lnSpc>
                <a:spcPct val="115000"/>
              </a:lnSpc>
              <a:spcBef>
                <a:spcPts val="1230"/>
              </a:spcBef>
              <a:spcAft>
                <a:spcPts val="0"/>
              </a:spcAft>
              <a:buNone/>
            </a:pPr>
            <a:r>
              <a:t/>
            </a:r>
            <a:endParaRPr b="1" sz="1128">
              <a:solidFill>
                <a:schemeClr val="dk1"/>
              </a:solidFill>
              <a:latin typeface="Calibri"/>
              <a:ea typeface="Calibri"/>
              <a:cs typeface="Calibri"/>
              <a:sym typeface="Calibri"/>
            </a:endParaRPr>
          </a:p>
          <a:p>
            <a:pPr indent="0" lvl="0" marL="0" marR="0" rtl="0" algn="l">
              <a:lnSpc>
                <a:spcPct val="125000"/>
              </a:lnSpc>
              <a:spcBef>
                <a:spcPts val="1230"/>
              </a:spcBef>
              <a:spcAft>
                <a:spcPts val="0"/>
              </a:spcAft>
              <a:buClr>
                <a:srgbClr val="13203B"/>
              </a:buClr>
              <a:buSzPts val="923"/>
              <a:buFont typeface="Calibri"/>
              <a:buNone/>
            </a:pPr>
            <a:r>
              <a:t/>
            </a:r>
            <a:endParaRPr sz="923">
              <a:solidFill>
                <a:srgbClr val="13203B"/>
              </a:solidFill>
              <a:latin typeface="Calibri"/>
              <a:ea typeface="Calibri"/>
              <a:cs typeface="Calibri"/>
              <a:sym typeface="Calibri"/>
            </a:endParaRPr>
          </a:p>
        </p:txBody>
      </p:sp>
      <p:sp>
        <p:nvSpPr>
          <p:cNvPr id="334" name="Google Shape;334;p30"/>
          <p:cNvSpPr/>
          <p:nvPr/>
        </p:nvSpPr>
        <p:spPr>
          <a:xfrm>
            <a:off x="411491" y="308610"/>
            <a:ext cx="83211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9973"/>
              </a:buClr>
              <a:buSzPts val="800"/>
              <a:buFont typeface="Calibri"/>
              <a:buNone/>
            </a:pPr>
            <a:r>
              <a:rPr b="1" i="0" lang="en" sz="800" u="none" cap="none" strike="noStrike">
                <a:solidFill>
                  <a:srgbClr val="2E9973"/>
                </a:solidFill>
                <a:latin typeface="Calibri"/>
                <a:ea typeface="Calibri"/>
                <a:cs typeface="Calibri"/>
                <a:sym typeface="Calibri"/>
              </a:rPr>
              <a:t>EDA</a:t>
            </a:r>
            <a:endParaRPr b="0" i="0" sz="800" u="none" cap="none" strike="noStrike">
              <a:solidFill>
                <a:schemeClr val="dk1"/>
              </a:solidFill>
              <a:latin typeface="Calibri"/>
              <a:ea typeface="Calibri"/>
              <a:cs typeface="Calibri"/>
              <a:sym typeface="Calibri"/>
            </a:endParaRPr>
          </a:p>
        </p:txBody>
      </p:sp>
      <p:pic>
        <p:nvPicPr>
          <p:cNvPr id="335" name="Google Shape;335;p30" title="Screenshot 2026-07-27 at 11.53.39 AM.png"/>
          <p:cNvPicPr preferRelativeResize="0"/>
          <p:nvPr/>
        </p:nvPicPr>
        <p:blipFill rotWithShape="1">
          <a:blip r:embed="rId3">
            <a:alphaModFix/>
          </a:blip>
          <a:srcRect b="0" l="0" r="0" t="3994"/>
          <a:stretch/>
        </p:blipFill>
        <p:spPr>
          <a:xfrm>
            <a:off x="817500" y="1108425"/>
            <a:ext cx="3353800" cy="3428949"/>
          </a:xfrm>
          <a:prstGeom prst="rect">
            <a:avLst/>
          </a:prstGeom>
          <a:noFill/>
          <a:ln>
            <a:noFill/>
          </a:ln>
        </p:spPr>
      </p:pic>
      <p:pic>
        <p:nvPicPr>
          <p:cNvPr id="336" name="Google Shape;336;p30" title="Screenshot 2026-07-27 at 11.58.39 AM.png"/>
          <p:cNvPicPr preferRelativeResize="0"/>
          <p:nvPr/>
        </p:nvPicPr>
        <p:blipFill>
          <a:blip r:embed="rId4">
            <a:alphaModFix/>
          </a:blip>
          <a:stretch>
            <a:fillRect/>
          </a:stretch>
        </p:blipFill>
        <p:spPr>
          <a:xfrm>
            <a:off x="5179200" y="3068550"/>
            <a:ext cx="2855900" cy="13355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0" name="Shape 340"/>
        <p:cNvGrpSpPr/>
        <p:nvPr/>
      </p:nvGrpSpPr>
      <p:grpSpPr>
        <a:xfrm>
          <a:off x="0" y="0"/>
          <a:ext cx="0" cy="0"/>
          <a:chOff x="0" y="0"/>
          <a:chExt cx="0" cy="0"/>
        </a:xfrm>
      </p:grpSpPr>
      <p:sp>
        <p:nvSpPr>
          <p:cNvPr id="341" name="Google Shape;341;p31"/>
          <p:cNvSpPr/>
          <p:nvPr/>
        </p:nvSpPr>
        <p:spPr>
          <a:xfrm>
            <a:off x="411491" y="308610"/>
            <a:ext cx="8321033"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9973"/>
              </a:buClr>
              <a:buSzPts val="800"/>
              <a:buFont typeface="Calibri"/>
              <a:buNone/>
            </a:pPr>
            <a:r>
              <a:rPr b="1" i="0" lang="en" sz="800" u="none" cap="none" strike="noStrike">
                <a:solidFill>
                  <a:srgbClr val="2E9973"/>
                </a:solidFill>
                <a:latin typeface="Calibri"/>
                <a:ea typeface="Calibri"/>
                <a:cs typeface="Calibri"/>
                <a:sym typeface="Calibri"/>
              </a:rPr>
              <a:t>EDA</a:t>
            </a:r>
            <a:endParaRPr b="0" i="0" sz="800" u="none" cap="none" strike="noStrike">
              <a:solidFill>
                <a:schemeClr val="dk1"/>
              </a:solidFill>
              <a:latin typeface="Calibri"/>
              <a:ea typeface="Calibri"/>
              <a:cs typeface="Calibri"/>
              <a:sym typeface="Calibri"/>
            </a:endParaRPr>
          </a:p>
        </p:txBody>
      </p:sp>
      <p:sp>
        <p:nvSpPr>
          <p:cNvPr id="342" name="Google Shape;342;p31"/>
          <p:cNvSpPr/>
          <p:nvPr/>
        </p:nvSpPr>
        <p:spPr>
          <a:xfrm>
            <a:off x="411491" y="514350"/>
            <a:ext cx="8321033" cy="65151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3203B"/>
              </a:buClr>
              <a:buSzPts val="1800"/>
              <a:buFont typeface="Calibri"/>
              <a:buNone/>
            </a:pPr>
            <a:r>
              <a:rPr b="1" lang="en" sz="2000">
                <a:solidFill>
                  <a:srgbClr val="13203B"/>
                </a:solidFill>
                <a:latin typeface="Calibri"/>
                <a:ea typeface="Calibri"/>
                <a:cs typeface="Calibri"/>
                <a:sym typeface="Calibri"/>
              </a:rPr>
              <a:t>Regional differences in advancement are evident before modeling</a:t>
            </a:r>
            <a:endParaRPr b="0" i="0" sz="2000" u="none" cap="none" strike="noStrike">
              <a:solidFill>
                <a:schemeClr val="dk1"/>
              </a:solidFill>
              <a:latin typeface="Calibri"/>
              <a:ea typeface="Calibri"/>
              <a:cs typeface="Calibri"/>
              <a:sym typeface="Calibri"/>
            </a:endParaRPr>
          </a:p>
        </p:txBody>
      </p:sp>
      <p:sp>
        <p:nvSpPr>
          <p:cNvPr id="343" name="Google Shape;343;p31"/>
          <p:cNvSpPr/>
          <p:nvPr/>
        </p:nvSpPr>
        <p:spPr>
          <a:xfrm>
            <a:off x="5980450" y="1303323"/>
            <a:ext cx="2627700" cy="1652400"/>
          </a:xfrm>
          <a:prstGeom prst="roundRect">
            <a:avLst>
              <a:gd fmla="val 3137" name="adj"/>
            </a:avLst>
          </a:prstGeom>
          <a:solidFill>
            <a:srgbClr val="F3F5F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44" name="Google Shape;344;p31"/>
          <p:cNvSpPr/>
          <p:nvPr/>
        </p:nvSpPr>
        <p:spPr>
          <a:xfrm>
            <a:off x="6071954" y="1454218"/>
            <a:ext cx="25602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9973"/>
              </a:buClr>
              <a:buSzPts val="800"/>
              <a:buFont typeface="Calibri"/>
              <a:buNone/>
            </a:pPr>
            <a:r>
              <a:rPr b="1" i="0" lang="en" sz="1100" u="none" cap="none" strike="noStrike">
                <a:solidFill>
                  <a:srgbClr val="2E9973"/>
                </a:solidFill>
                <a:latin typeface="Calibri"/>
                <a:ea typeface="Calibri"/>
                <a:cs typeface="Calibri"/>
                <a:sym typeface="Calibri"/>
              </a:rPr>
              <a:t>WHAT THE DATA SHOWS</a:t>
            </a:r>
            <a:endParaRPr b="0" i="0" sz="1100" u="none" cap="none" strike="noStrike">
              <a:solidFill>
                <a:schemeClr val="dk1"/>
              </a:solidFill>
              <a:latin typeface="Calibri"/>
              <a:ea typeface="Calibri"/>
              <a:cs typeface="Calibri"/>
              <a:sym typeface="Calibri"/>
            </a:endParaRPr>
          </a:p>
        </p:txBody>
      </p:sp>
      <p:sp>
        <p:nvSpPr>
          <p:cNvPr id="345" name="Google Shape;345;p31"/>
          <p:cNvSpPr/>
          <p:nvPr/>
        </p:nvSpPr>
        <p:spPr>
          <a:xfrm>
            <a:off x="6071950" y="1756100"/>
            <a:ext cx="2444700" cy="1089600"/>
          </a:xfrm>
          <a:prstGeom prst="rect">
            <a:avLst/>
          </a:prstGeom>
          <a:noFill/>
          <a:ln>
            <a:noFill/>
          </a:ln>
        </p:spPr>
        <p:txBody>
          <a:bodyPr anchorCtr="0" anchor="ctr" bIns="0" lIns="0" spcFirstLastPara="1" rIns="0" wrap="square" tIns="0">
            <a:noAutofit/>
          </a:bodyPr>
          <a:lstStyle/>
          <a:p>
            <a:pPr indent="-184150" lvl="0" marL="228600" rtl="0" algn="l">
              <a:lnSpc>
                <a:spcPct val="12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 American (</a:t>
            </a:r>
            <a:r>
              <a:rPr lang="en" sz="1100">
                <a:solidFill>
                  <a:schemeClr val="dk1"/>
                </a:solidFill>
                <a:latin typeface="Calibri"/>
                <a:ea typeface="Calibri"/>
                <a:cs typeface="Calibri"/>
                <a:sym typeface="Calibri"/>
              </a:rPr>
              <a:t>CONMEBOL) &amp; European (UEFA) teams advance substantially more often than other confederations.</a:t>
            </a:r>
            <a:endParaRPr sz="1100">
              <a:solidFill>
                <a:schemeClr val="dk1"/>
              </a:solidFill>
              <a:latin typeface="Calibri"/>
              <a:ea typeface="Calibri"/>
              <a:cs typeface="Calibri"/>
              <a:sym typeface="Calibri"/>
            </a:endParaRPr>
          </a:p>
          <a:p>
            <a:pPr indent="-184150" lvl="0" marL="228600" rtl="0" algn="l">
              <a:lnSpc>
                <a:spcPct val="12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Asian and African teams consistently struggle to qualify.</a:t>
            </a:r>
            <a:endParaRPr sz="1100">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13203B"/>
              </a:buClr>
              <a:buSzPts val="900"/>
              <a:buFont typeface="Calibri"/>
              <a:buNone/>
            </a:pPr>
            <a:r>
              <a:t/>
            </a:r>
            <a:endParaRPr sz="900">
              <a:solidFill>
                <a:srgbClr val="13203B"/>
              </a:solidFill>
              <a:latin typeface="Calibri"/>
              <a:ea typeface="Calibri"/>
              <a:cs typeface="Calibri"/>
              <a:sym typeface="Calibri"/>
            </a:endParaRPr>
          </a:p>
        </p:txBody>
      </p:sp>
      <p:sp>
        <p:nvSpPr>
          <p:cNvPr id="346" name="Google Shape;346;p31"/>
          <p:cNvSpPr/>
          <p:nvPr/>
        </p:nvSpPr>
        <p:spPr>
          <a:xfrm>
            <a:off x="411491" y="4800600"/>
            <a:ext cx="4800728"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592AA"/>
              </a:buClr>
              <a:buSzPts val="700"/>
              <a:buFont typeface="Calibri"/>
              <a:buNone/>
            </a:pPr>
            <a:r>
              <a:rPr b="0" i="0" lang="en" sz="700" u="none" cap="none" strike="noStrike">
                <a:solidFill>
                  <a:srgbClr val="8592AA"/>
                </a:solidFill>
                <a:latin typeface="Calibri"/>
                <a:ea typeface="Calibri"/>
                <a:cs typeface="Calibri"/>
                <a:sym typeface="Calibri"/>
              </a:rPr>
              <a:t>Shiu &amp; Nguyen  |  STAT 418, Tools in Data Science  |  UCLA Summer 2026</a:t>
            </a:r>
            <a:endParaRPr b="0" i="0" sz="700" u="none" cap="none" strike="noStrike">
              <a:solidFill>
                <a:schemeClr val="dk1"/>
              </a:solidFill>
              <a:latin typeface="Calibri"/>
              <a:ea typeface="Calibri"/>
              <a:cs typeface="Calibri"/>
              <a:sym typeface="Calibri"/>
            </a:endParaRPr>
          </a:p>
        </p:txBody>
      </p:sp>
      <p:sp>
        <p:nvSpPr>
          <p:cNvPr id="347" name="Google Shape;347;p31"/>
          <p:cNvSpPr/>
          <p:nvPr/>
        </p:nvSpPr>
        <p:spPr>
          <a:xfrm>
            <a:off x="8458197" y="4800600"/>
            <a:ext cx="411491" cy="2057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592AA"/>
              </a:buClr>
              <a:buSzPts val="800"/>
              <a:buFont typeface="Calibri"/>
              <a:buNone/>
            </a:pPr>
            <a:r>
              <a:rPr b="0" i="0" lang="en" sz="800" u="none" cap="none" strike="noStrike">
                <a:solidFill>
                  <a:srgbClr val="8592AA"/>
                </a:solidFill>
                <a:latin typeface="Calibri"/>
                <a:ea typeface="Calibri"/>
                <a:cs typeface="Calibri"/>
                <a:sym typeface="Calibri"/>
              </a:rPr>
              <a:t>12</a:t>
            </a:r>
            <a:endParaRPr b="0" i="0" sz="800" u="none" cap="none" strike="noStrike">
              <a:solidFill>
                <a:schemeClr val="dk1"/>
              </a:solidFill>
              <a:latin typeface="Calibri"/>
              <a:ea typeface="Calibri"/>
              <a:cs typeface="Calibri"/>
              <a:sym typeface="Calibri"/>
            </a:endParaRPr>
          </a:p>
        </p:txBody>
      </p:sp>
      <p:pic>
        <p:nvPicPr>
          <p:cNvPr id="348" name="Google Shape;348;p31" title="Screenshot 2026-07-27 at 12.13.23 PM.png"/>
          <p:cNvPicPr preferRelativeResize="0"/>
          <p:nvPr/>
        </p:nvPicPr>
        <p:blipFill>
          <a:blip r:embed="rId3">
            <a:alphaModFix/>
          </a:blip>
          <a:stretch>
            <a:fillRect/>
          </a:stretch>
        </p:blipFill>
        <p:spPr>
          <a:xfrm>
            <a:off x="235843" y="1162238"/>
            <a:ext cx="5398375" cy="308763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03B"/>
        </a:solidFill>
      </p:bgPr>
    </p:bg>
    <p:spTree>
      <p:nvGrpSpPr>
        <p:cNvPr id="353" name="Shape 353"/>
        <p:cNvGrpSpPr/>
        <p:nvPr/>
      </p:nvGrpSpPr>
      <p:grpSpPr>
        <a:xfrm>
          <a:off x="0" y="0"/>
          <a:ext cx="0" cy="0"/>
          <a:chOff x="0" y="0"/>
          <a:chExt cx="0" cy="0"/>
        </a:xfrm>
      </p:grpSpPr>
      <p:sp>
        <p:nvSpPr>
          <p:cNvPr id="354" name="Google Shape;354;p32"/>
          <p:cNvSpPr/>
          <p:nvPr/>
        </p:nvSpPr>
        <p:spPr>
          <a:xfrm>
            <a:off x="5989091" y="-617220"/>
            <a:ext cx="3017400" cy="30174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 sz="19500" u="none" cap="none" strike="noStrike">
                <a:solidFill>
                  <a:srgbClr val="34456E"/>
                </a:solidFill>
                <a:latin typeface="Calibri"/>
                <a:ea typeface="Calibri"/>
                <a:cs typeface="Calibri"/>
                <a:sym typeface="Calibri"/>
              </a:rPr>
              <a:t>04</a:t>
            </a:r>
            <a:endParaRPr b="0" i="0" sz="19500" u="none" cap="none" strike="noStrike">
              <a:solidFill>
                <a:srgbClr val="000000"/>
              </a:solidFill>
              <a:latin typeface="Calibri"/>
              <a:ea typeface="Calibri"/>
              <a:cs typeface="Calibri"/>
              <a:sym typeface="Calibri"/>
            </a:endParaRPr>
          </a:p>
        </p:txBody>
      </p:sp>
      <p:sp>
        <p:nvSpPr>
          <p:cNvPr id="355" name="Google Shape;355;p32"/>
          <p:cNvSpPr/>
          <p:nvPr/>
        </p:nvSpPr>
        <p:spPr>
          <a:xfrm>
            <a:off x="411480" y="480060"/>
            <a:ext cx="288000" cy="288000"/>
          </a:xfrm>
          <a:prstGeom prst="ellipse">
            <a:avLst/>
          </a:prstGeom>
          <a:solidFill>
            <a:srgbClr val="2E9973"/>
          </a:solidFill>
          <a:ln>
            <a:noFill/>
          </a:ln>
        </p:spPr>
        <p:txBody>
          <a:bodyPr anchorCtr="0" anchor="ctr" bIns="68550" lIns="68550" spcFirstLastPara="1" rIns="68550" wrap="square" tIns="68550">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356" name="Google Shape;356;p32"/>
          <p:cNvSpPr/>
          <p:nvPr/>
        </p:nvSpPr>
        <p:spPr>
          <a:xfrm>
            <a:off x="411480" y="480060"/>
            <a:ext cx="288000" cy="288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 sz="1200" u="none" cap="none" strike="noStrike">
                <a:solidFill>
                  <a:srgbClr val="FFFFFF"/>
                </a:solidFill>
                <a:latin typeface="Calibri"/>
                <a:ea typeface="Calibri"/>
                <a:cs typeface="Calibri"/>
                <a:sym typeface="Calibri"/>
              </a:rPr>
              <a:t>4</a:t>
            </a:r>
            <a:endParaRPr b="0" i="0" sz="1200" u="none" cap="none" strike="noStrike">
              <a:solidFill>
                <a:srgbClr val="000000"/>
              </a:solidFill>
              <a:latin typeface="Calibri"/>
              <a:ea typeface="Calibri"/>
              <a:cs typeface="Calibri"/>
              <a:sym typeface="Calibri"/>
            </a:endParaRPr>
          </a:p>
        </p:txBody>
      </p:sp>
      <p:sp>
        <p:nvSpPr>
          <p:cNvPr id="357" name="Google Shape;357;p32"/>
          <p:cNvSpPr/>
          <p:nvPr/>
        </p:nvSpPr>
        <p:spPr>
          <a:xfrm>
            <a:off x="809244" y="480060"/>
            <a:ext cx="5486400" cy="28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 sz="1000" u="none" cap="none" strike="noStrike">
                <a:solidFill>
                  <a:srgbClr val="9FB0C9"/>
                </a:solidFill>
                <a:latin typeface="Calibri"/>
                <a:ea typeface="Calibri"/>
                <a:cs typeface="Calibri"/>
                <a:sym typeface="Calibri"/>
              </a:rPr>
              <a:t>SECTION 4 OF 6  ·  MODELING</a:t>
            </a:r>
            <a:endParaRPr b="0" i="0" sz="1000" u="none" cap="none" strike="noStrike">
              <a:solidFill>
                <a:srgbClr val="000000"/>
              </a:solidFill>
              <a:latin typeface="Calibri"/>
              <a:ea typeface="Calibri"/>
              <a:cs typeface="Calibri"/>
              <a:sym typeface="Calibri"/>
            </a:endParaRPr>
          </a:p>
        </p:txBody>
      </p:sp>
      <p:sp>
        <p:nvSpPr>
          <p:cNvPr id="358" name="Google Shape;358;p32"/>
          <p:cNvSpPr/>
          <p:nvPr/>
        </p:nvSpPr>
        <p:spPr>
          <a:xfrm>
            <a:off x="411480" y="1988820"/>
            <a:ext cx="7269600" cy="14403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None/>
            </a:pPr>
            <a:r>
              <a:rPr b="1" i="0" lang="en" sz="2550" u="none" cap="none" strike="noStrike">
                <a:solidFill>
                  <a:srgbClr val="FFFFFF"/>
                </a:solidFill>
                <a:latin typeface="Calibri"/>
                <a:ea typeface="Calibri"/>
                <a:cs typeface="Calibri"/>
                <a:sym typeface="Calibri"/>
              </a:rPr>
              <a:t>The objective is a forecast: predict who advances using only what is known before kickoff</a:t>
            </a:r>
            <a:endParaRPr b="0" i="0" sz="2550" u="none" cap="none" strike="noStrike">
              <a:solidFill>
                <a:srgbClr val="000000"/>
              </a:solidFill>
              <a:latin typeface="Calibri"/>
              <a:ea typeface="Calibri"/>
              <a:cs typeface="Calibri"/>
              <a:sym typeface="Calibri"/>
            </a:endParaRPr>
          </a:p>
        </p:txBody>
      </p:sp>
      <p:sp>
        <p:nvSpPr>
          <p:cNvPr id="359" name="Google Shape;359;p32"/>
          <p:cNvSpPr/>
          <p:nvPr/>
        </p:nvSpPr>
        <p:spPr>
          <a:xfrm>
            <a:off x="411480" y="3429000"/>
            <a:ext cx="6583800" cy="685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0" i="0" lang="en" sz="1125" u="none" cap="none" strike="noStrike">
                <a:solidFill>
                  <a:srgbClr val="9FB0C9"/>
                </a:solidFill>
                <a:latin typeface="Calibri"/>
                <a:ea typeface="Calibri"/>
                <a:cs typeface="Calibri"/>
                <a:sym typeface="Calibri"/>
              </a:rPr>
              <a:t>A locked-in, pre-tournament model does the forecasting; an independent variable search confirms it leans on the same drivers — and it is validated on unseen tournaments.</a:t>
            </a:r>
            <a:endParaRPr b="0" i="0" sz="1125" u="none" cap="none" strike="noStrike">
              <a:solidFill>
                <a:srgbClr val="000000"/>
              </a:solidFill>
              <a:latin typeface="Calibri"/>
              <a:ea typeface="Calibri"/>
              <a:cs typeface="Calibri"/>
              <a:sym typeface="Calibri"/>
            </a:endParaRPr>
          </a:p>
        </p:txBody>
      </p:sp>
      <p:sp>
        <p:nvSpPr>
          <p:cNvPr id="360" name="Google Shape;360;p32"/>
          <p:cNvSpPr/>
          <p:nvPr/>
        </p:nvSpPr>
        <p:spPr>
          <a:xfrm>
            <a:off x="411480" y="4800600"/>
            <a:ext cx="48006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 sz="675" u="none" cap="none" strike="noStrike">
                <a:solidFill>
                  <a:srgbClr val="34456E"/>
                </a:solidFill>
                <a:latin typeface="Calibri"/>
                <a:ea typeface="Calibri"/>
                <a:cs typeface="Calibri"/>
                <a:sym typeface="Calibri"/>
              </a:rPr>
              <a:t>Shiu &amp; Nguyen  |  STAT 418, Tools in Data Science  |  UCLA Summer 2026</a:t>
            </a:r>
            <a:endParaRPr b="0" i="0" sz="675" u="none" cap="none" strike="noStrike">
              <a:solidFill>
                <a:srgbClr val="000000"/>
              </a:solidFill>
              <a:latin typeface="Calibri"/>
              <a:ea typeface="Calibri"/>
              <a:cs typeface="Calibri"/>
              <a:sym typeface="Calibri"/>
            </a:endParaRPr>
          </a:p>
        </p:txBody>
      </p:sp>
      <p:sp>
        <p:nvSpPr>
          <p:cNvPr id="361" name="Google Shape;361;p32"/>
          <p:cNvSpPr/>
          <p:nvPr/>
        </p:nvSpPr>
        <p:spPr>
          <a:xfrm>
            <a:off x="8457971" y="4800600"/>
            <a:ext cx="411600" cy="2058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 sz="750" u="none" cap="none" strike="noStrike">
                <a:solidFill>
                  <a:srgbClr val="8592AA"/>
                </a:solidFill>
                <a:latin typeface="Calibri"/>
                <a:ea typeface="Calibri"/>
                <a:cs typeface="Calibri"/>
                <a:sym typeface="Calibri"/>
              </a:rPr>
              <a:t>14</a:t>
            </a:r>
            <a:endParaRPr b="0" i="0" sz="750" u="none" cap="none" strike="noStrike">
              <a:solidFill>
                <a:srgbClr val="0000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6" name="Shape 366"/>
        <p:cNvGrpSpPr/>
        <p:nvPr/>
      </p:nvGrpSpPr>
      <p:grpSpPr>
        <a:xfrm>
          <a:off x="0" y="0"/>
          <a:ext cx="0" cy="0"/>
          <a:chOff x="0" y="0"/>
          <a:chExt cx="0" cy="0"/>
        </a:xfrm>
      </p:grpSpPr>
      <p:sp>
        <p:nvSpPr>
          <p:cNvPr id="367" name="Google Shape;367;p33"/>
          <p:cNvSpPr/>
          <p:nvPr/>
        </p:nvSpPr>
        <p:spPr>
          <a:xfrm>
            <a:off x="411491" y="308610"/>
            <a:ext cx="8321033"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9973"/>
              </a:buClr>
              <a:buSzPts val="800"/>
              <a:buFont typeface="Calibri"/>
              <a:buNone/>
            </a:pPr>
            <a:r>
              <a:rPr b="1" i="0" lang="en" sz="800" u="none" cap="none" strike="noStrike">
                <a:solidFill>
                  <a:srgbClr val="2E9973"/>
                </a:solidFill>
                <a:latin typeface="Calibri"/>
                <a:ea typeface="Calibri"/>
                <a:cs typeface="Calibri"/>
                <a:sym typeface="Calibri"/>
              </a:rPr>
              <a:t>MODELING · APPROACH</a:t>
            </a:r>
            <a:endParaRPr b="0" i="0" sz="800" u="none" cap="none" strike="noStrike">
              <a:solidFill>
                <a:schemeClr val="dk1"/>
              </a:solidFill>
              <a:latin typeface="Calibri"/>
              <a:ea typeface="Calibri"/>
              <a:cs typeface="Calibri"/>
              <a:sym typeface="Calibri"/>
            </a:endParaRPr>
          </a:p>
        </p:txBody>
      </p:sp>
      <p:sp>
        <p:nvSpPr>
          <p:cNvPr id="368" name="Google Shape;368;p33"/>
          <p:cNvSpPr/>
          <p:nvPr/>
        </p:nvSpPr>
        <p:spPr>
          <a:xfrm>
            <a:off x="411491" y="514350"/>
            <a:ext cx="8321033" cy="65151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3203B"/>
              </a:buClr>
              <a:buSzPts val="1800"/>
              <a:buFont typeface="Calibri"/>
              <a:buNone/>
            </a:pPr>
            <a:r>
              <a:rPr b="1" i="0" lang="en" sz="1800" u="none" cap="none" strike="noStrike">
                <a:solidFill>
                  <a:srgbClr val="13203B"/>
                </a:solidFill>
                <a:latin typeface="Calibri"/>
                <a:ea typeface="Calibri"/>
                <a:cs typeface="Calibri"/>
                <a:sym typeface="Calibri"/>
              </a:rPr>
              <a:t>Logistic regression was chosen for interpretability over Poisson and ordinal alternatives</a:t>
            </a:r>
            <a:endParaRPr b="0" i="0" sz="1800" u="none" cap="none" strike="noStrike">
              <a:solidFill>
                <a:schemeClr val="dk1"/>
              </a:solidFill>
              <a:latin typeface="Calibri"/>
              <a:ea typeface="Calibri"/>
              <a:cs typeface="Calibri"/>
              <a:sym typeface="Calibri"/>
            </a:endParaRPr>
          </a:p>
        </p:txBody>
      </p:sp>
      <p:sp>
        <p:nvSpPr>
          <p:cNvPr id="369" name="Google Shape;369;p33"/>
          <p:cNvSpPr/>
          <p:nvPr/>
        </p:nvSpPr>
        <p:spPr>
          <a:xfrm>
            <a:off x="411491" y="1199165"/>
            <a:ext cx="8321100" cy="809100"/>
          </a:xfrm>
          <a:prstGeom prst="roundRect">
            <a:avLst>
              <a:gd fmla="val 6780" name="adj"/>
            </a:avLst>
          </a:prstGeom>
          <a:solidFill>
            <a:srgbClr val="F3F5F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70" name="Google Shape;370;p33"/>
          <p:cNvSpPr/>
          <p:nvPr/>
        </p:nvSpPr>
        <p:spPr>
          <a:xfrm>
            <a:off x="617236" y="1322609"/>
            <a:ext cx="21945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3203B"/>
              </a:buClr>
              <a:buSzPts val="1100"/>
              <a:buFont typeface="Calibri"/>
              <a:buNone/>
            </a:pPr>
            <a:r>
              <a:rPr b="1" i="0" lang="en" sz="1300" u="none" cap="none" strike="noStrike">
                <a:solidFill>
                  <a:srgbClr val="13203B"/>
                </a:solidFill>
                <a:latin typeface="Calibri"/>
                <a:ea typeface="Calibri"/>
                <a:cs typeface="Calibri"/>
                <a:sym typeface="Calibri"/>
              </a:rPr>
              <a:t>Poisson regression</a:t>
            </a:r>
            <a:endParaRPr b="0" i="0" sz="1300" u="none" cap="none" strike="noStrike">
              <a:solidFill>
                <a:schemeClr val="dk1"/>
              </a:solidFill>
              <a:latin typeface="Calibri"/>
              <a:ea typeface="Calibri"/>
              <a:cs typeface="Calibri"/>
              <a:sym typeface="Calibri"/>
            </a:endParaRPr>
          </a:p>
        </p:txBody>
      </p:sp>
      <p:sp>
        <p:nvSpPr>
          <p:cNvPr id="371" name="Google Shape;371;p33"/>
          <p:cNvSpPr/>
          <p:nvPr/>
        </p:nvSpPr>
        <p:spPr>
          <a:xfrm>
            <a:off x="617236" y="1624361"/>
            <a:ext cx="21945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9973"/>
              </a:buClr>
              <a:buSzPts val="800"/>
              <a:buFont typeface="Calibri"/>
              <a:buNone/>
            </a:pPr>
            <a:r>
              <a:rPr b="1" i="0" lang="en" sz="1000" u="none" cap="none" strike="noStrike">
                <a:solidFill>
                  <a:srgbClr val="C0392B"/>
                </a:solidFill>
                <a:latin typeface="Calibri"/>
                <a:ea typeface="Calibri"/>
                <a:cs typeface="Calibri"/>
                <a:sym typeface="Calibri"/>
              </a:rPr>
              <a:t>REJECTED</a:t>
            </a:r>
            <a:endParaRPr b="0" i="0" sz="1000" u="none" cap="none" strike="noStrike">
              <a:solidFill>
                <a:srgbClr val="C0392B"/>
              </a:solidFill>
              <a:latin typeface="Calibri"/>
              <a:ea typeface="Calibri"/>
              <a:cs typeface="Calibri"/>
              <a:sym typeface="Calibri"/>
            </a:endParaRPr>
          </a:p>
        </p:txBody>
      </p:sp>
      <p:sp>
        <p:nvSpPr>
          <p:cNvPr id="372" name="Google Shape;372;p33"/>
          <p:cNvSpPr/>
          <p:nvPr/>
        </p:nvSpPr>
        <p:spPr>
          <a:xfrm>
            <a:off x="2949019" y="1322609"/>
            <a:ext cx="5577900" cy="603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0607F"/>
              </a:buClr>
              <a:buSzPts val="900"/>
              <a:buFont typeface="Calibri"/>
              <a:buNone/>
            </a:pPr>
            <a:r>
              <a:rPr b="0" i="0" lang="en" sz="1100" u="none" cap="none" strike="noStrike">
                <a:solidFill>
                  <a:srgbClr val="50607F"/>
                </a:solidFill>
                <a:latin typeface="Calibri"/>
                <a:ea typeface="Calibri"/>
                <a:cs typeface="Calibri"/>
                <a:sym typeface="Calibri"/>
              </a:rPr>
              <a:t>Group-stage points aren't evenly spaced (8 points is impossible) and don't extend to infinity — a poor fit for a bounded, irregular outcome.</a:t>
            </a:r>
            <a:endParaRPr b="0" i="0" sz="1100" u="none" cap="none" strike="noStrike">
              <a:solidFill>
                <a:schemeClr val="dk1"/>
              </a:solidFill>
              <a:latin typeface="Calibri"/>
              <a:ea typeface="Calibri"/>
              <a:cs typeface="Calibri"/>
              <a:sym typeface="Calibri"/>
            </a:endParaRPr>
          </a:p>
        </p:txBody>
      </p:sp>
      <p:sp>
        <p:nvSpPr>
          <p:cNvPr id="373" name="Google Shape;373;p33"/>
          <p:cNvSpPr/>
          <p:nvPr/>
        </p:nvSpPr>
        <p:spPr>
          <a:xfrm>
            <a:off x="411491" y="2118137"/>
            <a:ext cx="8321100" cy="809100"/>
          </a:xfrm>
          <a:prstGeom prst="roundRect">
            <a:avLst>
              <a:gd fmla="val 6780" name="adj"/>
            </a:avLst>
          </a:prstGeom>
          <a:solidFill>
            <a:srgbClr val="F3F5F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74" name="Google Shape;374;p33"/>
          <p:cNvSpPr/>
          <p:nvPr/>
        </p:nvSpPr>
        <p:spPr>
          <a:xfrm>
            <a:off x="617236" y="2241581"/>
            <a:ext cx="21945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3203B"/>
              </a:buClr>
              <a:buSzPts val="1100"/>
              <a:buFont typeface="Calibri"/>
              <a:buNone/>
            </a:pPr>
            <a:r>
              <a:rPr b="1" i="0" lang="en" sz="1300" u="none" cap="none" strike="noStrike">
                <a:solidFill>
                  <a:srgbClr val="13203B"/>
                </a:solidFill>
                <a:latin typeface="Calibri"/>
                <a:ea typeface="Calibri"/>
                <a:cs typeface="Calibri"/>
                <a:sym typeface="Calibri"/>
              </a:rPr>
              <a:t>Ordinal regression</a:t>
            </a:r>
            <a:endParaRPr b="0" i="0" sz="1300" u="none" cap="none" strike="noStrike">
              <a:solidFill>
                <a:schemeClr val="dk1"/>
              </a:solidFill>
              <a:latin typeface="Calibri"/>
              <a:ea typeface="Calibri"/>
              <a:cs typeface="Calibri"/>
              <a:sym typeface="Calibri"/>
            </a:endParaRPr>
          </a:p>
        </p:txBody>
      </p:sp>
      <p:sp>
        <p:nvSpPr>
          <p:cNvPr id="375" name="Google Shape;375;p33"/>
          <p:cNvSpPr/>
          <p:nvPr/>
        </p:nvSpPr>
        <p:spPr>
          <a:xfrm>
            <a:off x="617236" y="2543333"/>
            <a:ext cx="21945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9973"/>
              </a:buClr>
              <a:buSzPts val="800"/>
              <a:buFont typeface="Calibri"/>
              <a:buNone/>
            </a:pPr>
            <a:r>
              <a:rPr b="1" i="0" lang="en" sz="1000" u="none" cap="none" strike="noStrike">
                <a:solidFill>
                  <a:srgbClr val="8592AA"/>
                </a:solidFill>
                <a:latin typeface="Calibri"/>
                <a:ea typeface="Calibri"/>
                <a:cs typeface="Calibri"/>
                <a:sym typeface="Calibri"/>
              </a:rPr>
              <a:t>CONSIDERED</a:t>
            </a:r>
            <a:endParaRPr b="0" i="0" sz="1000" u="none" cap="none" strike="noStrike">
              <a:solidFill>
                <a:srgbClr val="8592AA"/>
              </a:solidFill>
              <a:latin typeface="Calibri"/>
              <a:ea typeface="Calibri"/>
              <a:cs typeface="Calibri"/>
              <a:sym typeface="Calibri"/>
            </a:endParaRPr>
          </a:p>
        </p:txBody>
      </p:sp>
      <p:sp>
        <p:nvSpPr>
          <p:cNvPr id="376" name="Google Shape;376;p33"/>
          <p:cNvSpPr/>
          <p:nvPr/>
        </p:nvSpPr>
        <p:spPr>
          <a:xfrm>
            <a:off x="2949019" y="2241581"/>
            <a:ext cx="5577900" cy="603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0607F"/>
              </a:buClr>
              <a:buSzPts val="900"/>
              <a:buFont typeface="Calibri"/>
              <a:buNone/>
            </a:pPr>
            <a:r>
              <a:rPr b="0" i="0" lang="en" sz="1100" u="none" cap="none" strike="noStrike">
                <a:solidFill>
                  <a:srgbClr val="50607F"/>
                </a:solidFill>
                <a:latin typeface="Calibri"/>
                <a:ea typeface="Calibri"/>
                <a:cs typeface="Calibri"/>
                <a:sym typeface="Calibri"/>
              </a:rPr>
              <a:t>Preserves an ordered notion of “degree” of success without assuming numeric distance, but is harder to interpret and communicate.</a:t>
            </a:r>
            <a:endParaRPr b="0" i="0" sz="1100" u="none" cap="none" strike="noStrike">
              <a:solidFill>
                <a:schemeClr val="dk1"/>
              </a:solidFill>
              <a:latin typeface="Calibri"/>
              <a:ea typeface="Calibri"/>
              <a:cs typeface="Calibri"/>
              <a:sym typeface="Calibri"/>
            </a:endParaRPr>
          </a:p>
        </p:txBody>
      </p:sp>
      <p:sp>
        <p:nvSpPr>
          <p:cNvPr id="377" name="Google Shape;377;p33"/>
          <p:cNvSpPr/>
          <p:nvPr/>
        </p:nvSpPr>
        <p:spPr>
          <a:xfrm>
            <a:off x="411491" y="3037109"/>
            <a:ext cx="8321100" cy="809100"/>
          </a:xfrm>
          <a:prstGeom prst="roundRect">
            <a:avLst>
              <a:gd fmla="val 6780" name="adj"/>
            </a:avLst>
          </a:prstGeom>
          <a:solidFill>
            <a:srgbClr val="13203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378" name="Google Shape;378;p33"/>
          <p:cNvSpPr/>
          <p:nvPr/>
        </p:nvSpPr>
        <p:spPr>
          <a:xfrm>
            <a:off x="617236" y="3160553"/>
            <a:ext cx="21945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1" i="0" lang="en" sz="1300" u="none" cap="none" strike="noStrike">
                <a:solidFill>
                  <a:srgbClr val="FFFFFF"/>
                </a:solidFill>
                <a:latin typeface="Calibri"/>
                <a:ea typeface="Calibri"/>
                <a:cs typeface="Calibri"/>
                <a:sym typeface="Calibri"/>
              </a:rPr>
              <a:t>Logistic regression</a:t>
            </a:r>
            <a:endParaRPr b="0" i="0" sz="1300" u="none" cap="none" strike="noStrike">
              <a:solidFill>
                <a:schemeClr val="dk1"/>
              </a:solidFill>
              <a:latin typeface="Calibri"/>
              <a:ea typeface="Calibri"/>
              <a:cs typeface="Calibri"/>
              <a:sym typeface="Calibri"/>
            </a:endParaRPr>
          </a:p>
        </p:txBody>
      </p:sp>
      <p:sp>
        <p:nvSpPr>
          <p:cNvPr id="379" name="Google Shape;379;p33"/>
          <p:cNvSpPr/>
          <p:nvPr/>
        </p:nvSpPr>
        <p:spPr>
          <a:xfrm>
            <a:off x="617236" y="3462305"/>
            <a:ext cx="21945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AE8A"/>
              </a:buClr>
              <a:buSzPts val="800"/>
              <a:buFont typeface="Calibri"/>
              <a:buNone/>
            </a:pPr>
            <a:r>
              <a:rPr b="1" i="0" lang="en" sz="1000" u="none" cap="none" strike="noStrike">
                <a:solidFill>
                  <a:srgbClr val="3FAE8A"/>
                </a:solidFill>
                <a:latin typeface="Calibri"/>
                <a:ea typeface="Calibri"/>
                <a:cs typeface="Calibri"/>
                <a:sym typeface="Calibri"/>
              </a:rPr>
              <a:t>SELECTED</a:t>
            </a:r>
            <a:endParaRPr b="0" i="0" sz="1000" u="none" cap="none" strike="noStrike">
              <a:solidFill>
                <a:schemeClr val="dk1"/>
              </a:solidFill>
              <a:latin typeface="Calibri"/>
              <a:ea typeface="Calibri"/>
              <a:cs typeface="Calibri"/>
              <a:sym typeface="Calibri"/>
            </a:endParaRPr>
          </a:p>
        </p:txBody>
      </p:sp>
      <p:sp>
        <p:nvSpPr>
          <p:cNvPr id="380" name="Google Shape;380;p33"/>
          <p:cNvSpPr/>
          <p:nvPr/>
        </p:nvSpPr>
        <p:spPr>
          <a:xfrm>
            <a:off x="2949025" y="3160565"/>
            <a:ext cx="5451000" cy="603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9FB0C9"/>
              </a:buClr>
              <a:buSzPts val="900"/>
              <a:buFont typeface="Calibri"/>
              <a:buNone/>
            </a:pPr>
            <a:r>
              <a:rPr b="0" i="0" lang="en" sz="1100" u="none" cap="none" strike="noStrike">
                <a:solidFill>
                  <a:srgbClr val="9FB0C9"/>
                </a:solidFill>
                <a:latin typeface="Calibri"/>
                <a:ea typeface="Calibri"/>
                <a:cs typeface="Calibri"/>
                <a:sym typeface="Calibri"/>
              </a:rPr>
              <a:t>The outcome was simplified to a binary advanced / not-advanced flag — easier to interpret, and it matches how </a:t>
            </a:r>
            <a:r>
              <a:rPr lang="en" sz="1100">
                <a:solidFill>
                  <a:srgbClr val="9FB0C9"/>
                </a:solidFill>
                <a:latin typeface="Calibri"/>
                <a:ea typeface="Calibri"/>
                <a:cs typeface="Calibri"/>
                <a:sym typeface="Calibri"/>
              </a:rPr>
              <a:t>viewers </a:t>
            </a:r>
            <a:r>
              <a:rPr b="0" i="0" lang="en" sz="1100" u="none" cap="none" strike="noStrike">
                <a:solidFill>
                  <a:srgbClr val="9FB0C9"/>
                </a:solidFill>
                <a:latin typeface="Calibri"/>
                <a:ea typeface="Calibri"/>
                <a:cs typeface="Calibri"/>
                <a:sym typeface="Calibri"/>
              </a:rPr>
              <a:t>actually think about results.</a:t>
            </a:r>
            <a:endParaRPr b="0" i="0" sz="1100" u="none" cap="none" strike="noStrike">
              <a:solidFill>
                <a:schemeClr val="dk1"/>
              </a:solidFill>
              <a:latin typeface="Calibri"/>
              <a:ea typeface="Calibri"/>
              <a:cs typeface="Calibri"/>
              <a:sym typeface="Calibri"/>
            </a:endParaRPr>
          </a:p>
        </p:txBody>
      </p:sp>
      <p:sp>
        <p:nvSpPr>
          <p:cNvPr id="381" name="Google Shape;381;p33"/>
          <p:cNvSpPr/>
          <p:nvPr/>
        </p:nvSpPr>
        <p:spPr>
          <a:xfrm>
            <a:off x="411528" y="4367532"/>
            <a:ext cx="8321100" cy="24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0607F"/>
              </a:buClr>
              <a:buSzPts val="800"/>
              <a:buFont typeface="Calibri"/>
              <a:buNone/>
            </a:pPr>
            <a:r>
              <a:rPr b="0" i="1" lang="en" sz="1100" u="none" cap="none" strike="noStrike">
                <a:solidFill>
                  <a:srgbClr val="50607F"/>
                </a:solidFill>
                <a:latin typeface="Calibri"/>
                <a:ea typeface="Calibri"/>
                <a:cs typeface="Calibri"/>
                <a:sym typeface="Calibri"/>
              </a:rPr>
              <a:t>Trade-off accepted: a binary outcome can't distinguish a dominant group-stage run from a narrow squeak-through — but people ultimately care whether a team advances, not by how much.</a:t>
            </a:r>
            <a:endParaRPr b="0" i="0" sz="1100" u="none" cap="none" strike="noStrike">
              <a:solidFill>
                <a:schemeClr val="dk1"/>
              </a:solidFill>
              <a:latin typeface="Calibri"/>
              <a:ea typeface="Calibri"/>
              <a:cs typeface="Calibri"/>
              <a:sym typeface="Calibri"/>
            </a:endParaRPr>
          </a:p>
        </p:txBody>
      </p:sp>
      <p:sp>
        <p:nvSpPr>
          <p:cNvPr id="382" name="Google Shape;382;p33"/>
          <p:cNvSpPr/>
          <p:nvPr/>
        </p:nvSpPr>
        <p:spPr>
          <a:xfrm>
            <a:off x="411491" y="4800600"/>
            <a:ext cx="4800728"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592AA"/>
              </a:buClr>
              <a:buSzPts val="700"/>
              <a:buFont typeface="Calibri"/>
              <a:buNone/>
            </a:pPr>
            <a:r>
              <a:rPr b="0" i="0" lang="en" sz="700" u="none" cap="none" strike="noStrike">
                <a:solidFill>
                  <a:srgbClr val="8592AA"/>
                </a:solidFill>
                <a:latin typeface="Calibri"/>
                <a:ea typeface="Calibri"/>
                <a:cs typeface="Calibri"/>
                <a:sym typeface="Calibri"/>
              </a:rPr>
              <a:t>Shiu &amp; Nguyen  |  STAT 418, Tools in Data Science  |  UCLA Summer 2026</a:t>
            </a:r>
            <a:endParaRPr b="0" i="0" sz="700" u="none" cap="none" strike="noStrike">
              <a:solidFill>
                <a:schemeClr val="dk1"/>
              </a:solidFill>
              <a:latin typeface="Calibri"/>
              <a:ea typeface="Calibri"/>
              <a:cs typeface="Calibri"/>
              <a:sym typeface="Calibri"/>
            </a:endParaRPr>
          </a:p>
        </p:txBody>
      </p:sp>
      <p:sp>
        <p:nvSpPr>
          <p:cNvPr id="383" name="Google Shape;383;p33"/>
          <p:cNvSpPr/>
          <p:nvPr/>
        </p:nvSpPr>
        <p:spPr>
          <a:xfrm>
            <a:off x="8458197" y="4800600"/>
            <a:ext cx="411491" cy="2057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592AA"/>
              </a:buClr>
              <a:buSzPts val="800"/>
              <a:buFont typeface="Calibri"/>
              <a:buNone/>
            </a:pPr>
            <a:r>
              <a:rPr b="0" i="0" lang="en" sz="800" u="none" cap="none" strike="noStrike">
                <a:solidFill>
                  <a:srgbClr val="8592AA"/>
                </a:solidFill>
                <a:latin typeface="Calibri"/>
                <a:ea typeface="Calibri"/>
                <a:cs typeface="Calibri"/>
                <a:sym typeface="Calibri"/>
              </a:rPr>
              <a:t>14</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8" name="Shape 388"/>
        <p:cNvGrpSpPr/>
        <p:nvPr/>
      </p:nvGrpSpPr>
      <p:grpSpPr>
        <a:xfrm>
          <a:off x="0" y="0"/>
          <a:ext cx="0" cy="0"/>
          <a:chOff x="0" y="0"/>
          <a:chExt cx="0" cy="0"/>
        </a:xfrm>
      </p:grpSpPr>
      <p:sp>
        <p:nvSpPr>
          <p:cNvPr id="389" name="Google Shape;389;p34"/>
          <p:cNvSpPr/>
          <p:nvPr/>
        </p:nvSpPr>
        <p:spPr>
          <a:xfrm>
            <a:off x="411491" y="308610"/>
            <a:ext cx="8321033"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9973"/>
              </a:buClr>
              <a:buSzPts val="800"/>
              <a:buFont typeface="Calibri"/>
              <a:buNone/>
            </a:pPr>
            <a:r>
              <a:rPr b="1" i="0" lang="en" sz="800" u="none" cap="none" strike="noStrike">
                <a:solidFill>
                  <a:srgbClr val="2E9973"/>
                </a:solidFill>
                <a:latin typeface="Calibri"/>
                <a:ea typeface="Calibri"/>
                <a:cs typeface="Calibri"/>
                <a:sym typeface="Calibri"/>
              </a:rPr>
              <a:t>MODELING · SPECIFICATION</a:t>
            </a:r>
            <a:endParaRPr b="0" i="0" sz="800" u="none" cap="none" strike="noStrike">
              <a:solidFill>
                <a:schemeClr val="dk1"/>
              </a:solidFill>
              <a:latin typeface="Calibri"/>
              <a:ea typeface="Calibri"/>
              <a:cs typeface="Calibri"/>
              <a:sym typeface="Calibri"/>
            </a:endParaRPr>
          </a:p>
        </p:txBody>
      </p:sp>
      <p:sp>
        <p:nvSpPr>
          <p:cNvPr id="390" name="Google Shape;390;p34"/>
          <p:cNvSpPr/>
          <p:nvPr/>
        </p:nvSpPr>
        <p:spPr>
          <a:xfrm>
            <a:off x="411491" y="514350"/>
            <a:ext cx="8321033" cy="65151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3203B"/>
              </a:buClr>
              <a:buSzPts val="1800"/>
              <a:buFont typeface="Calibri"/>
              <a:buNone/>
            </a:pPr>
            <a:r>
              <a:rPr b="1" i="0" lang="en" sz="1800" u="none" cap="none" strike="noStrike">
                <a:solidFill>
                  <a:srgbClr val="13203B"/>
                </a:solidFill>
                <a:latin typeface="Calibri"/>
                <a:ea typeface="Calibri"/>
                <a:cs typeface="Calibri"/>
                <a:sym typeface="Calibri"/>
              </a:rPr>
              <a:t>Model 1 </a:t>
            </a:r>
            <a:r>
              <a:rPr b="1" lang="en" sz="1800">
                <a:solidFill>
                  <a:srgbClr val="13203B"/>
                </a:solidFill>
                <a:latin typeface="Calibri"/>
                <a:ea typeface="Calibri"/>
                <a:cs typeface="Calibri"/>
                <a:sym typeface="Calibri"/>
              </a:rPr>
              <a:t>forecasts results</a:t>
            </a:r>
            <a:r>
              <a:rPr b="1" i="0" lang="en" sz="1800" u="none" cap="none" strike="noStrike">
                <a:solidFill>
                  <a:srgbClr val="13203B"/>
                </a:solidFill>
                <a:latin typeface="Calibri"/>
                <a:ea typeface="Calibri"/>
                <a:cs typeface="Calibri"/>
                <a:sym typeface="Calibri"/>
              </a:rPr>
              <a:t>; Model 2 stress-tests it </a:t>
            </a:r>
            <a:r>
              <a:rPr b="1" lang="en" sz="1800">
                <a:solidFill>
                  <a:srgbClr val="13203B"/>
                </a:solidFill>
                <a:latin typeface="Calibri"/>
                <a:ea typeface="Calibri"/>
                <a:cs typeface="Calibri"/>
                <a:sym typeface="Calibri"/>
              </a:rPr>
              <a:t>separately</a:t>
            </a:r>
            <a:endParaRPr b="0" i="0" sz="1800" u="none" cap="none" strike="noStrike">
              <a:solidFill>
                <a:schemeClr val="dk1"/>
              </a:solidFill>
              <a:latin typeface="Calibri"/>
              <a:ea typeface="Calibri"/>
              <a:cs typeface="Calibri"/>
              <a:sym typeface="Calibri"/>
            </a:endParaRPr>
          </a:p>
        </p:txBody>
      </p:sp>
      <p:sp>
        <p:nvSpPr>
          <p:cNvPr id="900" name="Table header band"/>
          <p:cNvSpPr/>
          <p:nvPr/>
        </p:nvSpPr>
        <p:spPr>
          <a:xfrm>
            <a:off x="411491" y="1116573"/>
            <a:ext cx="8088975" cy="530050"/>
          </a:xfrm>
          <a:prstGeom prst="round2SameRect">
            <a:avLst>
              <a:gd fmla="val 17251" name="adj1"/>
              <a:gd fmla="val 0" name="adj2"/>
            </a:avLst>
          </a:prstGeom>
          <a:solidFill>
            <a:srgbClr val="13203B"/>
          </a:solidFill>
          <a:ln>
            <a:noFill/>
          </a:ln>
        </p:spPr>
        <p:txBody>
          <a:bodyPr spcFirstLastPara="1" wrap="square">
            <a:noAutofit/>
          </a:bodyPr>
          <a:lstStyle/>
          <a:p>
            <a:endParaRPr sz="1100"/>
          </a:p>
        </p:txBody>
      </p:sp>
      <p:sp>
        <p:nvSpPr>
          <p:cNvPr id="901" name="Table label column"/>
          <p:cNvSpPr/>
          <p:nvPr/>
        </p:nvSpPr>
        <p:spPr>
          <a:xfrm rot="10800000">
            <a:off x="411491" y="1646623"/>
            <a:ext cx="1163425" cy="2319900"/>
          </a:xfrm>
          <a:prstGeom prst="round1Rect">
            <a:avLst>
              <a:gd fmla="val 7860" name="adj"/>
            </a:avLst>
          </a:prstGeom>
          <a:solidFill>
            <a:srgbClr val="F3F5F9"/>
          </a:solidFill>
          <a:ln>
            <a:noFill/>
          </a:ln>
        </p:spPr>
        <p:txBody>
          <a:bodyPr spcFirstLastPara="1" wrap="square">
            <a:noAutofit/>
          </a:bodyPr>
          <a:lstStyle/>
          <a:p>
            <a:endParaRPr sz="1100"/>
          </a:p>
        </p:txBody>
      </p:sp>
      <p:graphicFrame>
        <p:nvGraphicFramePr>
          <p:cNvPr id="391" name="Google Shape;391;p34"/>
          <p:cNvGraphicFramePr/>
          <p:nvPr/>
        </p:nvGraphicFramePr>
        <p:xfrm>
          <a:off x="411491" y="1116573"/>
          <a:ext cx="3000000" cy="3000000"/>
        </p:xfrm>
        <a:graphic>
          <a:graphicData uri="http://schemas.openxmlformats.org/drawingml/2006/table">
            <a:tbl>
              <a:tblPr>
                <a:noFill/>
                <a:tableStyleId>{94AC92B4-E7F7-47E5-B7FE-79C4C661988F}</a:tableStyleId>
              </a:tblPr>
              <a:tblGrid>
                <a:gridCol w="1163425"/>
                <a:gridCol w="3297900"/>
                <a:gridCol w="3627650"/>
              </a:tblGrid>
              <a:tr h="530050">
                <a:tc>
                  <a:txBody>
                    <a:bodyPr/>
                    <a:lstStyle/>
                    <a:p>
                      <a:pPr indent="0" lvl="0" marL="0" marR="0" rtl="0" algn="l">
                        <a:lnSpc>
                          <a:spcPct val="100000"/>
                        </a:lnSpc>
                        <a:spcBef>
                          <a:spcPts val="0"/>
                        </a:spcBef>
                        <a:spcAft>
                          <a:spcPts val="0"/>
                        </a:spcAft>
                        <a:buClr>
                          <a:schemeClr val="dk1"/>
                        </a:buClr>
                        <a:buSzPts val="800"/>
                        <a:buFont typeface="Calibri"/>
                        <a:buNone/>
                      </a:pPr>
                      <a:r>
                        <a:t/>
                      </a:r>
                      <a:endParaRPr sz="1100" u="none" cap="none" strike="noStrike">
                        <a:latin typeface="Calibri"/>
                        <a:ea typeface="Calibri"/>
                        <a:cs typeface="Calibri"/>
                        <a:sym typeface="Calibri"/>
                      </a:endParaRPr>
                    </a:p>
                  </a:txBody>
                  <a:tcPr marT="34300" marB="34300" marR="68600" marL="68600" anchor="ctr">
                    <a:lnL>
                      <a:noFill/>
                    </a:lnL>
                    <a:lnR cap="flat" cmpd="sng" w="9525">
                      <a:solidFill>
                        <a:srgbClr val="E1E5EE"/>
                      </a:solidFill>
                      <a:prstDash val="solid"/>
                      <a:round/>
                      <a:headEnd len="sm" w="sm" type="none"/>
                      <a:tailEnd len="sm" w="sm" type="none"/>
                    </a:lnR>
                    <a:lnT>
                      <a:noFill/>
                    </a:lnT>
                    <a:lnB cap="flat" cmpd="sng" w="9525">
                      <a:solidFill>
                        <a:srgbClr val="E1E5E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FFFF"/>
                        </a:buClr>
                        <a:buSzPts val="800"/>
                        <a:buFont typeface="Calibri"/>
                        <a:buNone/>
                      </a:pPr>
                      <a:r>
                        <a:rPr b="1" lang="en" sz="1100" u="none" cap="none" strike="noStrike">
                          <a:solidFill>
                            <a:srgbClr val="FFFFFF"/>
                          </a:solidFill>
                          <a:latin typeface="Calibri"/>
                          <a:ea typeface="Calibri"/>
                          <a:cs typeface="Calibri"/>
                          <a:sym typeface="Calibri"/>
                        </a:rPr>
                        <a:t>Model 1 — </a:t>
                      </a:r>
                      <a:r>
                        <a:rPr b="1" lang="en" sz="1100">
                          <a:solidFill>
                            <a:srgbClr val="FFFFFF"/>
                          </a:solidFill>
                          <a:latin typeface="Calibri"/>
                          <a:ea typeface="Calibri"/>
                          <a:cs typeface="Calibri"/>
                          <a:sym typeface="Calibri"/>
                        </a:rPr>
                        <a:t>Forecasting spec</a:t>
                      </a:r>
                      <a:endParaRPr sz="1100" u="none" cap="none" strike="noStrike">
                        <a:latin typeface="Calibri"/>
                        <a:ea typeface="Calibri"/>
                        <a:cs typeface="Calibri"/>
                        <a:sym typeface="Calibri"/>
                      </a:endParaRPr>
                    </a:p>
                  </a:txBody>
                  <a:tcPr marT="34300" marB="34300" marR="68600" marL="68600" anchor="ctr">
                    <a:lnL cap="flat" cmpd="sng" w="9525">
                      <a:solidFill>
                        <a:srgbClr val="E1E5EE"/>
                      </a:solidFill>
                      <a:prstDash val="solid"/>
                      <a:round/>
                      <a:headEnd len="sm" w="sm" type="none"/>
                      <a:tailEnd len="sm" w="sm" type="none"/>
                    </a:lnL>
                    <a:lnR cap="flat" cmpd="sng" w="9525">
                      <a:solidFill>
                        <a:srgbClr val="E1E5EE"/>
                      </a:solidFill>
                      <a:prstDash val="solid"/>
                      <a:round/>
                      <a:headEnd len="sm" w="sm" type="none"/>
                      <a:tailEnd len="sm" w="sm" type="none"/>
                    </a:lnR>
                    <a:lnT>
                      <a:noFill/>
                    </a:lnT>
                    <a:lnB cap="flat" cmpd="sng" w="9525">
                      <a:solidFill>
                        <a:srgbClr val="E1E5E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FFFF"/>
                        </a:buClr>
                        <a:buSzPts val="800"/>
                        <a:buFont typeface="Calibri"/>
                        <a:buNone/>
                      </a:pPr>
                      <a:r>
                        <a:rPr b="1" lang="en" sz="1100" u="none" cap="none" strike="noStrike">
                          <a:solidFill>
                            <a:srgbClr val="FFFFFF"/>
                          </a:solidFill>
                          <a:latin typeface="Calibri"/>
                          <a:ea typeface="Calibri"/>
                          <a:cs typeface="Calibri"/>
                          <a:sym typeface="Calibri"/>
                        </a:rPr>
                        <a:t>Model 2 — </a:t>
                      </a:r>
                      <a:r>
                        <a:rPr b="1" lang="en" sz="1100">
                          <a:solidFill>
                            <a:srgbClr val="FFFFFF"/>
                          </a:solidFill>
                          <a:latin typeface="Calibri"/>
                          <a:ea typeface="Calibri"/>
                          <a:cs typeface="Calibri"/>
                          <a:sym typeface="Calibri"/>
                        </a:rPr>
                        <a:t>Robustness check</a:t>
                      </a:r>
                      <a:endParaRPr sz="1100" u="none" cap="none" strike="noStrike">
                        <a:latin typeface="Calibri"/>
                        <a:ea typeface="Calibri"/>
                        <a:cs typeface="Calibri"/>
                        <a:sym typeface="Calibri"/>
                      </a:endParaRPr>
                    </a:p>
                  </a:txBody>
                  <a:tcPr marT="34300" marB="34300" marR="68600" marL="68600" anchor="ctr">
                    <a:lnL cap="flat" cmpd="sng" w="9525">
                      <a:solidFill>
                        <a:srgbClr val="E1E5EE"/>
                      </a:solidFill>
                      <a:prstDash val="solid"/>
                      <a:round/>
                      <a:headEnd len="sm" w="sm" type="none"/>
                      <a:tailEnd len="sm" w="sm" type="none"/>
                    </a:lnL>
                    <a:lnR>
                      <a:noFill/>
                    </a:lnR>
                    <a:lnT>
                      <a:noFill/>
                    </a:lnT>
                    <a:lnB cap="flat" cmpd="sng" w="9525">
                      <a:solidFill>
                        <a:srgbClr val="E1E5EE"/>
                      </a:solidFill>
                      <a:prstDash val="solid"/>
                      <a:round/>
                      <a:headEnd len="sm" w="sm" type="none"/>
                      <a:tailEnd len="sm" w="sm" type="none"/>
                    </a:lnB>
                  </a:tcPr>
                </a:tc>
              </a:tr>
              <a:tr h="646525">
                <a:tc>
                  <a:txBody>
                    <a:bodyPr/>
                    <a:lstStyle/>
                    <a:p>
                      <a:pPr indent="0" lvl="0" marL="0" marR="0" rtl="0" algn="l">
                        <a:lnSpc>
                          <a:spcPct val="100000"/>
                        </a:lnSpc>
                        <a:spcBef>
                          <a:spcPts val="0"/>
                        </a:spcBef>
                        <a:spcAft>
                          <a:spcPts val="0"/>
                        </a:spcAft>
                        <a:buClr>
                          <a:srgbClr val="13203B"/>
                        </a:buClr>
                        <a:buSzPts val="800"/>
                        <a:buFont typeface="Calibri"/>
                        <a:buNone/>
                      </a:pPr>
                      <a:r>
                        <a:rPr b="1" lang="en" sz="1100" u="none" cap="none" strike="noStrike">
                          <a:solidFill>
                            <a:srgbClr val="13203B"/>
                          </a:solidFill>
                          <a:latin typeface="Calibri"/>
                          <a:ea typeface="Calibri"/>
                          <a:cs typeface="Calibri"/>
                          <a:sym typeface="Calibri"/>
                        </a:rPr>
                        <a:t>Specification</a:t>
                      </a:r>
                      <a:endParaRPr sz="1100" u="none" cap="none" strike="noStrike">
                        <a:latin typeface="Calibri"/>
                        <a:ea typeface="Calibri"/>
                        <a:cs typeface="Calibri"/>
                        <a:sym typeface="Calibri"/>
                      </a:endParaRPr>
                    </a:p>
                  </a:txBody>
                  <a:tcPr marT="34300" marB="34300" marR="68600" marL="68600" anchor="ctr">
                    <a:lnL>
                      <a:noFill/>
                    </a:lnL>
                    <a:lnR cap="flat" cmpd="sng" w="9525">
                      <a:solidFill>
                        <a:srgbClr val="E1E5EE"/>
                      </a:solidFill>
                      <a:prstDash val="solid"/>
                      <a:round/>
                      <a:headEnd len="sm" w="sm" type="none"/>
                      <a:tailEnd len="sm" w="sm" type="none"/>
                    </a:lnR>
                    <a:lnT cap="flat" cmpd="sng" w="9525">
                      <a:solidFill>
                        <a:srgbClr val="E1E5EE"/>
                      </a:solidFill>
                      <a:prstDash val="solid"/>
                      <a:round/>
                      <a:headEnd len="sm" w="sm" type="none"/>
                      <a:tailEnd len="sm" w="sm" type="none"/>
                    </a:lnT>
                    <a:lnB cap="flat" cmpd="sng" w="9525">
                      <a:solidFill>
                        <a:srgbClr val="E1E5EE"/>
                      </a:solidFill>
                      <a:prstDash val="solid"/>
                      <a:round/>
                      <a:headEnd len="sm" w="sm" type="none"/>
                      <a:tailEnd len="sm" w="sm" type="none"/>
                    </a:lnB>
                  </a:tcPr>
                </a:tc>
                <a:tc>
                  <a:txBody>
                    <a:bodyPr/>
                    <a:lstStyle/>
                    <a:p>
                      <a:pPr indent="0" lvl="0" marL="0" rtl="0" algn="l">
                        <a:spcBef>
                          <a:spcPts val="0"/>
                        </a:spcBef>
                        <a:spcAft>
                          <a:spcPts val="0"/>
                        </a:spcAft>
                        <a:buClr>
                          <a:srgbClr val="13203B"/>
                        </a:buClr>
                        <a:buSzPts val="800"/>
                        <a:buFont typeface="Calibri"/>
                        <a:buNone/>
                      </a:pPr>
                      <a:r>
                        <a:rPr lang="en" sz="1100">
                          <a:solidFill>
                            <a:srgbClr val="13203B"/>
                          </a:solidFill>
                          <a:latin typeface="Calibri"/>
                          <a:ea typeface="Calibri"/>
                          <a:cs typeface="Calibri"/>
                          <a:sym typeface="Calibri"/>
                        </a:rPr>
                        <a:t>Fixed in advance and knowable before kickoff: experience, squad composition, host status, foreign manager, confederation</a:t>
                      </a:r>
                      <a:endParaRPr sz="1100">
                        <a:solidFill>
                          <a:srgbClr val="13203B"/>
                        </a:solidFill>
                        <a:latin typeface="Calibri"/>
                        <a:ea typeface="Calibri"/>
                        <a:cs typeface="Calibri"/>
                        <a:sym typeface="Calibri"/>
                      </a:endParaRPr>
                    </a:p>
                  </a:txBody>
                  <a:tcPr marT="34300" marB="34300" marR="68600" marL="68600" anchor="ctr">
                    <a:lnL cap="flat" cmpd="sng" w="9525">
                      <a:solidFill>
                        <a:srgbClr val="E1E5EE"/>
                      </a:solidFill>
                      <a:prstDash val="solid"/>
                      <a:round/>
                      <a:headEnd len="sm" w="sm" type="none"/>
                      <a:tailEnd len="sm" w="sm" type="none"/>
                    </a:lnL>
                    <a:lnR cap="flat" cmpd="sng" w="9525">
                      <a:solidFill>
                        <a:srgbClr val="E1E5EE"/>
                      </a:solidFill>
                      <a:prstDash val="solid"/>
                      <a:round/>
                      <a:headEnd len="sm" w="sm" type="none"/>
                      <a:tailEnd len="sm" w="sm" type="none"/>
                    </a:lnR>
                    <a:lnT cap="flat" cmpd="sng" w="9525">
                      <a:solidFill>
                        <a:srgbClr val="E1E5EE"/>
                      </a:solidFill>
                      <a:prstDash val="solid"/>
                      <a:round/>
                      <a:headEnd len="sm" w="sm" type="none"/>
                      <a:tailEnd len="sm" w="sm" type="none"/>
                    </a:lnT>
                    <a:lnB cap="flat" cmpd="sng" w="9525">
                      <a:solidFill>
                        <a:srgbClr val="E1E5E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3203B"/>
                        </a:buClr>
                        <a:buSzPts val="800"/>
                        <a:buFont typeface="Calibri"/>
                        <a:buNone/>
                      </a:pPr>
                      <a:r>
                        <a:rPr lang="en" sz="1100" u="none" cap="none" strike="noStrike">
                          <a:solidFill>
                            <a:srgbClr val="13203B"/>
                          </a:solidFill>
                          <a:latin typeface="Calibri"/>
                          <a:ea typeface="Calibri"/>
                          <a:cs typeface="Calibri"/>
                          <a:sym typeface="Calibri"/>
                        </a:rPr>
                        <a:t>Stepwise AIC search over a wider candidate pool, including squad size and total cards</a:t>
                      </a:r>
                      <a:endParaRPr sz="1100" u="none" cap="none" strike="noStrike">
                        <a:latin typeface="Calibri"/>
                        <a:ea typeface="Calibri"/>
                        <a:cs typeface="Calibri"/>
                        <a:sym typeface="Calibri"/>
                      </a:endParaRPr>
                    </a:p>
                  </a:txBody>
                  <a:tcPr marT="34300" marB="34300" marR="68600" marL="68600" anchor="ctr">
                    <a:lnL cap="flat" cmpd="sng" w="9525">
                      <a:solidFill>
                        <a:srgbClr val="E1E5EE"/>
                      </a:solidFill>
                      <a:prstDash val="solid"/>
                      <a:round/>
                      <a:headEnd len="sm" w="sm" type="none"/>
                      <a:tailEnd len="sm" w="sm" type="none"/>
                    </a:lnL>
                    <a:lnR>
                      <a:noFill/>
                    </a:lnR>
                    <a:lnT cap="flat" cmpd="sng" w="9525">
                      <a:solidFill>
                        <a:srgbClr val="E1E5EE"/>
                      </a:solidFill>
                      <a:prstDash val="solid"/>
                      <a:round/>
                      <a:headEnd len="sm" w="sm" type="none"/>
                      <a:tailEnd len="sm" w="sm" type="none"/>
                    </a:lnT>
                    <a:lnB cap="flat" cmpd="sng" w="9525">
                      <a:solidFill>
                        <a:srgbClr val="E1E5EE"/>
                      </a:solidFill>
                      <a:prstDash val="solid"/>
                      <a:round/>
                      <a:headEnd len="sm" w="sm" type="none"/>
                      <a:tailEnd len="sm" w="sm" type="none"/>
                    </a:lnB>
                  </a:tcPr>
                </a:tc>
              </a:tr>
              <a:tr h="532450">
                <a:tc>
                  <a:txBody>
                    <a:bodyPr/>
                    <a:lstStyle/>
                    <a:p>
                      <a:pPr indent="0" lvl="0" marL="0" marR="0" rtl="0" algn="l">
                        <a:lnSpc>
                          <a:spcPct val="100000"/>
                        </a:lnSpc>
                        <a:spcBef>
                          <a:spcPts val="0"/>
                        </a:spcBef>
                        <a:spcAft>
                          <a:spcPts val="0"/>
                        </a:spcAft>
                        <a:buClr>
                          <a:srgbClr val="13203B"/>
                        </a:buClr>
                        <a:buSzPts val="800"/>
                        <a:buFont typeface="Calibri"/>
                        <a:buNone/>
                      </a:pPr>
                      <a:r>
                        <a:rPr b="1" lang="en" sz="1100" u="none" cap="none" strike="noStrike">
                          <a:solidFill>
                            <a:srgbClr val="13203B"/>
                          </a:solidFill>
                          <a:latin typeface="Calibri"/>
                          <a:ea typeface="Calibri"/>
                          <a:cs typeface="Calibri"/>
                          <a:sym typeface="Calibri"/>
                        </a:rPr>
                        <a:t>Purpose</a:t>
                      </a:r>
                      <a:endParaRPr sz="1100" u="none" cap="none" strike="noStrike">
                        <a:latin typeface="Calibri"/>
                        <a:ea typeface="Calibri"/>
                        <a:cs typeface="Calibri"/>
                        <a:sym typeface="Calibri"/>
                      </a:endParaRPr>
                    </a:p>
                  </a:txBody>
                  <a:tcPr marT="34300" marB="34300" marR="68600" marL="68600" anchor="ctr">
                    <a:lnL>
                      <a:noFill/>
                    </a:lnL>
                    <a:lnR cap="flat" cmpd="sng" w="9525">
                      <a:solidFill>
                        <a:srgbClr val="E1E5EE"/>
                      </a:solidFill>
                      <a:prstDash val="solid"/>
                      <a:round/>
                      <a:headEnd len="sm" w="sm" type="none"/>
                      <a:tailEnd len="sm" w="sm" type="none"/>
                    </a:lnR>
                    <a:lnT cap="flat" cmpd="sng" w="9525">
                      <a:solidFill>
                        <a:srgbClr val="E1E5EE"/>
                      </a:solidFill>
                      <a:prstDash val="solid"/>
                      <a:round/>
                      <a:headEnd len="sm" w="sm" type="none"/>
                      <a:tailEnd len="sm" w="sm" type="none"/>
                    </a:lnT>
                    <a:lnB cap="flat" cmpd="sng" w="9525">
                      <a:solidFill>
                        <a:srgbClr val="E1E5EE"/>
                      </a:solidFill>
                      <a:prstDash val="solid"/>
                      <a:round/>
                      <a:headEnd len="sm" w="sm" type="none"/>
                      <a:tailEnd len="sm" w="sm" type="none"/>
                    </a:lnB>
                  </a:tcPr>
                </a:tc>
                <a:tc>
                  <a:txBody>
                    <a:bodyPr/>
                    <a:lstStyle/>
                    <a:p>
                      <a:pPr indent="0" lvl="0" marL="0" rtl="0" algn="l">
                        <a:spcBef>
                          <a:spcPts val="0"/>
                        </a:spcBef>
                        <a:spcAft>
                          <a:spcPts val="0"/>
                        </a:spcAft>
                        <a:buClr>
                          <a:srgbClr val="13203B"/>
                        </a:buClr>
                        <a:buSzPts val="800"/>
                        <a:buFont typeface="Calibri"/>
                        <a:buNone/>
                      </a:pPr>
                      <a:r>
                        <a:rPr lang="en" sz="1100">
                          <a:solidFill>
                            <a:srgbClr val="13203B"/>
                          </a:solidFill>
                          <a:latin typeface="Calibri"/>
                          <a:ea typeface="Calibri"/>
                          <a:cs typeface="Calibri"/>
                          <a:sym typeface="Calibri"/>
                        </a:rPr>
                        <a:t>Forecasting — scores a team before a ball is played; also yields valid significance claims</a:t>
                      </a:r>
                      <a:endParaRPr sz="1100">
                        <a:solidFill>
                          <a:srgbClr val="13203B"/>
                        </a:solidFill>
                        <a:latin typeface="Calibri"/>
                        <a:ea typeface="Calibri"/>
                        <a:cs typeface="Calibri"/>
                        <a:sym typeface="Calibri"/>
                      </a:endParaRPr>
                    </a:p>
                  </a:txBody>
                  <a:tcPr marT="34300" marB="34300" marR="68600" marL="68600" anchor="ctr">
                    <a:lnL cap="flat" cmpd="sng" w="9525">
                      <a:solidFill>
                        <a:srgbClr val="E1E5EE"/>
                      </a:solidFill>
                      <a:prstDash val="solid"/>
                      <a:round/>
                      <a:headEnd len="sm" w="sm" type="none"/>
                      <a:tailEnd len="sm" w="sm" type="none"/>
                    </a:lnL>
                    <a:lnR cap="flat" cmpd="sng" w="9525">
                      <a:solidFill>
                        <a:srgbClr val="E1E5EE"/>
                      </a:solidFill>
                      <a:prstDash val="solid"/>
                      <a:round/>
                      <a:headEnd len="sm" w="sm" type="none"/>
                      <a:tailEnd len="sm" w="sm" type="none"/>
                    </a:lnR>
                    <a:lnT cap="flat" cmpd="sng" w="9525">
                      <a:solidFill>
                        <a:srgbClr val="E1E5EE"/>
                      </a:solidFill>
                      <a:prstDash val="solid"/>
                      <a:round/>
                      <a:headEnd len="sm" w="sm" type="none"/>
                      <a:tailEnd len="sm" w="sm" type="none"/>
                    </a:lnT>
                    <a:lnB cap="flat" cmpd="sng" w="9525">
                      <a:solidFill>
                        <a:srgbClr val="E1E5E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3203B"/>
                        </a:buClr>
                        <a:buSzPts val="800"/>
                        <a:buFont typeface="Calibri"/>
                        <a:buNone/>
                      </a:pPr>
                      <a:r>
                        <a:rPr lang="en" sz="1100" u="none" cap="none" strike="noStrike">
                          <a:solidFill>
                            <a:srgbClr val="13203B"/>
                          </a:solidFill>
                          <a:latin typeface="Calibri"/>
                          <a:ea typeface="Calibri"/>
                          <a:cs typeface="Calibri"/>
                          <a:sym typeface="Calibri"/>
                        </a:rPr>
                        <a:t>Predictive / sanity check — an independent read on which factors matter</a:t>
                      </a:r>
                      <a:endParaRPr sz="1100" u="none" cap="none" strike="noStrike">
                        <a:latin typeface="Calibri"/>
                        <a:ea typeface="Calibri"/>
                        <a:cs typeface="Calibri"/>
                        <a:sym typeface="Calibri"/>
                      </a:endParaRPr>
                    </a:p>
                  </a:txBody>
                  <a:tcPr marT="34300" marB="34300" marR="68600" marL="68600" anchor="ctr">
                    <a:lnL cap="flat" cmpd="sng" w="9525">
                      <a:solidFill>
                        <a:srgbClr val="E1E5EE"/>
                      </a:solidFill>
                      <a:prstDash val="solid"/>
                      <a:round/>
                      <a:headEnd len="sm" w="sm" type="none"/>
                      <a:tailEnd len="sm" w="sm" type="none"/>
                    </a:lnL>
                    <a:lnR>
                      <a:noFill/>
                    </a:lnR>
                    <a:lnT cap="flat" cmpd="sng" w="9525">
                      <a:solidFill>
                        <a:srgbClr val="E1E5EE"/>
                      </a:solidFill>
                      <a:prstDash val="solid"/>
                      <a:round/>
                      <a:headEnd len="sm" w="sm" type="none"/>
                      <a:tailEnd len="sm" w="sm" type="none"/>
                    </a:lnT>
                    <a:lnB cap="flat" cmpd="sng" w="9525">
                      <a:solidFill>
                        <a:srgbClr val="E1E5EE"/>
                      </a:solidFill>
                      <a:prstDash val="solid"/>
                      <a:round/>
                      <a:headEnd len="sm" w="sm" type="none"/>
                      <a:tailEnd len="sm" w="sm" type="none"/>
                    </a:lnB>
                  </a:tcPr>
                </a:tc>
              </a:tr>
              <a:tr h="684550">
                <a:tc>
                  <a:txBody>
                    <a:bodyPr/>
                    <a:lstStyle/>
                    <a:p>
                      <a:pPr indent="0" lvl="0" marL="0" marR="0" rtl="0" algn="l">
                        <a:lnSpc>
                          <a:spcPct val="100000"/>
                        </a:lnSpc>
                        <a:spcBef>
                          <a:spcPts val="0"/>
                        </a:spcBef>
                        <a:spcAft>
                          <a:spcPts val="0"/>
                        </a:spcAft>
                        <a:buClr>
                          <a:srgbClr val="13203B"/>
                        </a:buClr>
                        <a:buSzPts val="800"/>
                        <a:buFont typeface="Calibri"/>
                        <a:buNone/>
                      </a:pPr>
                      <a:r>
                        <a:rPr b="1" lang="en" sz="1100">
                          <a:solidFill>
                            <a:srgbClr val="13203B"/>
                          </a:solidFill>
                          <a:latin typeface="Calibri"/>
                          <a:ea typeface="Calibri"/>
                          <a:cs typeface="Calibri"/>
                          <a:sym typeface="Calibri"/>
                        </a:rPr>
                        <a:t>Potential Issues</a:t>
                      </a:r>
                      <a:endParaRPr sz="1100" u="none" cap="none" strike="noStrike">
                        <a:latin typeface="Calibri"/>
                        <a:ea typeface="Calibri"/>
                        <a:cs typeface="Calibri"/>
                        <a:sym typeface="Calibri"/>
                      </a:endParaRPr>
                    </a:p>
                  </a:txBody>
                  <a:tcPr marT="34300" marB="34300" marR="68600" marL="68600" anchor="ctr">
                    <a:lnL>
                      <a:noFill/>
                    </a:lnL>
                    <a:lnR cap="flat" cmpd="sng" w="9525">
                      <a:solidFill>
                        <a:srgbClr val="E1E5EE"/>
                      </a:solidFill>
                      <a:prstDash val="solid"/>
                      <a:round/>
                      <a:headEnd len="sm" w="sm" type="none"/>
                      <a:tailEnd len="sm" w="sm" type="none"/>
                    </a:lnR>
                    <a:lnT cap="flat" cmpd="sng" w="9525">
                      <a:solidFill>
                        <a:srgbClr val="E1E5EE"/>
                      </a:solidFill>
                      <a:prstDash val="solid"/>
                      <a:round/>
                      <a:headEnd len="sm" w="sm" type="none"/>
                      <a:tailEnd len="sm" w="sm" type="none"/>
                    </a:lnT>
                    <a:lnB cap="flat" cmpd="sng" w="9525">
                      <a:solidFill>
                        <a:srgbClr val="E1E5E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3203B"/>
                        </a:buClr>
                        <a:buSzPts val="800"/>
                        <a:buFont typeface="Calibri"/>
                        <a:buNone/>
                      </a:pPr>
                      <a:r>
                        <a:rPr lang="en" sz="1100">
                          <a:solidFill>
                            <a:srgbClr val="13203B"/>
                          </a:solidFill>
                          <a:latin typeface="Calibri"/>
                          <a:ea typeface="Calibri"/>
                          <a:cs typeface="Calibri"/>
                          <a:sym typeface="Calibri"/>
                        </a:rPr>
                        <a:t>Nations recur across tournaments, may be issues with </a:t>
                      </a:r>
                      <a:r>
                        <a:rPr lang="en" sz="1100">
                          <a:solidFill>
                            <a:srgbClr val="13203B"/>
                          </a:solidFill>
                          <a:latin typeface="Calibri"/>
                          <a:ea typeface="Calibri"/>
                          <a:cs typeface="Calibri"/>
                          <a:sym typeface="Calibri"/>
                        </a:rPr>
                        <a:t>independence</a:t>
                      </a:r>
                      <a:r>
                        <a:rPr lang="en" sz="1100">
                          <a:solidFill>
                            <a:srgbClr val="13203B"/>
                          </a:solidFill>
                          <a:latin typeface="Calibri"/>
                          <a:ea typeface="Calibri"/>
                          <a:cs typeface="Calibri"/>
                          <a:sym typeface="Calibri"/>
                        </a:rPr>
                        <a:t> of observations</a:t>
                      </a:r>
                      <a:endParaRPr sz="1100" u="none" cap="none" strike="noStrike">
                        <a:latin typeface="Calibri"/>
                        <a:ea typeface="Calibri"/>
                        <a:cs typeface="Calibri"/>
                        <a:sym typeface="Calibri"/>
                      </a:endParaRPr>
                    </a:p>
                  </a:txBody>
                  <a:tcPr marT="34300" marB="34300" marR="68600" marL="68600" anchor="ctr">
                    <a:lnL cap="flat" cmpd="sng" w="9525">
                      <a:solidFill>
                        <a:srgbClr val="E1E5EE"/>
                      </a:solidFill>
                      <a:prstDash val="solid"/>
                      <a:round/>
                      <a:headEnd len="sm" w="sm" type="none"/>
                      <a:tailEnd len="sm" w="sm" type="none"/>
                    </a:lnL>
                    <a:lnR cap="flat" cmpd="sng" w="9525">
                      <a:solidFill>
                        <a:srgbClr val="E1E5EE"/>
                      </a:solidFill>
                      <a:prstDash val="solid"/>
                      <a:round/>
                      <a:headEnd len="sm" w="sm" type="none"/>
                      <a:tailEnd len="sm" w="sm" type="none"/>
                    </a:lnR>
                    <a:lnT cap="flat" cmpd="sng" w="9525">
                      <a:solidFill>
                        <a:srgbClr val="E1E5EE"/>
                      </a:solidFill>
                      <a:prstDash val="solid"/>
                      <a:round/>
                      <a:headEnd len="sm" w="sm" type="none"/>
                      <a:tailEnd len="sm" w="sm" type="none"/>
                    </a:lnT>
                    <a:lnB cap="flat" cmpd="sng" w="9525">
                      <a:solidFill>
                        <a:srgbClr val="E1E5E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3203B"/>
                        </a:buClr>
                        <a:buSzPts val="800"/>
                        <a:buFont typeface="Calibri"/>
                        <a:buNone/>
                      </a:pPr>
                      <a:r>
                        <a:rPr lang="en" sz="1100" u="none" cap="none" strike="noStrike">
                          <a:solidFill>
                            <a:srgbClr val="13203B"/>
                          </a:solidFill>
                          <a:latin typeface="Calibri"/>
                          <a:ea typeface="Calibri"/>
                          <a:cs typeface="Calibri"/>
                          <a:sym typeface="Calibri"/>
                        </a:rPr>
                        <a:t>P-values run optimistic (searching many combinations flatters the best one) — not cited for significance claims</a:t>
                      </a:r>
                      <a:endParaRPr sz="1100" u="none" cap="none" strike="noStrike">
                        <a:latin typeface="Calibri"/>
                        <a:ea typeface="Calibri"/>
                        <a:cs typeface="Calibri"/>
                        <a:sym typeface="Calibri"/>
                      </a:endParaRPr>
                    </a:p>
                  </a:txBody>
                  <a:tcPr marT="34300" marB="34300" marR="68600" marL="68600" anchor="ctr">
                    <a:lnL cap="flat" cmpd="sng" w="9525">
                      <a:solidFill>
                        <a:srgbClr val="E1E5EE"/>
                      </a:solidFill>
                      <a:prstDash val="solid"/>
                      <a:round/>
                      <a:headEnd len="sm" w="sm" type="none"/>
                      <a:tailEnd len="sm" w="sm" type="none"/>
                    </a:lnL>
                    <a:lnR>
                      <a:noFill/>
                    </a:lnR>
                    <a:lnT cap="flat" cmpd="sng" w="9525">
                      <a:solidFill>
                        <a:srgbClr val="E1E5EE"/>
                      </a:solidFill>
                      <a:prstDash val="solid"/>
                      <a:round/>
                      <a:headEnd len="sm" w="sm" type="none"/>
                      <a:tailEnd len="sm" w="sm" type="none"/>
                    </a:lnT>
                    <a:lnB cap="flat" cmpd="sng" w="9525">
                      <a:solidFill>
                        <a:srgbClr val="E1E5EE"/>
                      </a:solidFill>
                      <a:prstDash val="solid"/>
                      <a:round/>
                      <a:headEnd len="sm" w="sm" type="none"/>
                      <a:tailEnd len="sm" w="sm" type="none"/>
                    </a:lnB>
                  </a:tcPr>
                </a:tc>
              </a:tr>
              <a:tr h="456375">
                <a:tc>
                  <a:txBody>
                    <a:bodyPr/>
                    <a:lstStyle/>
                    <a:p>
                      <a:pPr indent="0" lvl="0" marL="0" marR="0" rtl="0" algn="l">
                        <a:lnSpc>
                          <a:spcPct val="100000"/>
                        </a:lnSpc>
                        <a:spcBef>
                          <a:spcPts val="0"/>
                        </a:spcBef>
                        <a:spcAft>
                          <a:spcPts val="0"/>
                        </a:spcAft>
                        <a:buClr>
                          <a:srgbClr val="13203B"/>
                        </a:buClr>
                        <a:buSzPts val="800"/>
                        <a:buFont typeface="Calibri"/>
                        <a:buNone/>
                      </a:pPr>
                      <a:r>
                        <a:rPr b="1" lang="en" sz="1100" u="none" cap="none" strike="noStrike">
                          <a:solidFill>
                            <a:srgbClr val="13203B"/>
                          </a:solidFill>
                          <a:latin typeface="Calibri"/>
                          <a:ea typeface="Calibri"/>
                          <a:cs typeface="Calibri"/>
                          <a:sym typeface="Calibri"/>
                        </a:rPr>
                        <a:t>Result</a:t>
                      </a:r>
                      <a:endParaRPr sz="1100" u="none" cap="none" strike="noStrike">
                        <a:latin typeface="Calibri"/>
                        <a:ea typeface="Calibri"/>
                        <a:cs typeface="Calibri"/>
                        <a:sym typeface="Calibri"/>
                      </a:endParaRPr>
                    </a:p>
                  </a:txBody>
                  <a:tcPr marT="34300" marB="34300" marR="68600" marL="68600" anchor="ctr">
                    <a:lnL>
                      <a:noFill/>
                    </a:lnL>
                    <a:lnR cap="flat" cmpd="sng" w="9525">
                      <a:solidFill>
                        <a:srgbClr val="E1E5EE"/>
                      </a:solidFill>
                      <a:prstDash val="solid"/>
                      <a:round/>
                      <a:headEnd len="sm" w="sm" type="none"/>
                      <a:tailEnd len="sm" w="sm" type="none"/>
                    </a:lnR>
                    <a:lnT cap="flat" cmpd="sng" w="9525">
                      <a:solidFill>
                        <a:srgbClr val="E1E5EE"/>
                      </a:solidFill>
                      <a:prstDash val="solid"/>
                      <a:round/>
                      <a:headEnd len="sm" w="sm" type="none"/>
                      <a:tailEnd len="sm" w="sm" type="none"/>
                    </a:lnT>
                    <a:lnB>
                      <a:noFill/>
                    </a:lnB>
                  </a:tcPr>
                </a:tc>
                <a:tc>
                  <a:txBody>
                    <a:bodyPr/>
                    <a:lstStyle/>
                    <a:p>
                      <a:pPr indent="0" lvl="0" marL="0" marR="0" rtl="0" algn="l">
                        <a:lnSpc>
                          <a:spcPct val="100000"/>
                        </a:lnSpc>
                        <a:spcBef>
                          <a:spcPts val="0"/>
                        </a:spcBef>
                        <a:spcAft>
                          <a:spcPts val="0"/>
                        </a:spcAft>
                        <a:buClr>
                          <a:srgbClr val="2E9973"/>
                        </a:buClr>
                        <a:buSzPts val="800"/>
                        <a:buFont typeface="Calibri"/>
                        <a:buNone/>
                      </a:pPr>
                      <a:r>
                        <a:rPr b="1" lang="en" sz="1100" u="none" cap="none" strike="noStrike">
                          <a:solidFill>
                            <a:srgbClr val="2E9973"/>
                          </a:solidFill>
                          <a:latin typeface="Calibri"/>
                          <a:ea typeface="Calibri"/>
                          <a:cs typeface="Calibri"/>
                          <a:sym typeface="Calibri"/>
                        </a:rPr>
                        <a:t>Experience, hosting, and region are statistically reliable predictors</a:t>
                      </a:r>
                      <a:endParaRPr sz="1100" u="none" cap="none" strike="noStrike">
                        <a:latin typeface="Calibri"/>
                        <a:ea typeface="Calibri"/>
                        <a:cs typeface="Calibri"/>
                        <a:sym typeface="Calibri"/>
                      </a:endParaRPr>
                    </a:p>
                  </a:txBody>
                  <a:tcPr marT="34300" marB="34300" marR="68600" marL="68600" anchor="ctr">
                    <a:lnL cap="flat" cmpd="sng" w="9525">
                      <a:solidFill>
                        <a:srgbClr val="E1E5EE"/>
                      </a:solidFill>
                      <a:prstDash val="solid"/>
                      <a:round/>
                      <a:headEnd len="sm" w="sm" type="none"/>
                      <a:tailEnd len="sm" w="sm" type="none"/>
                    </a:lnL>
                    <a:lnR cap="flat" cmpd="sng" w="9525">
                      <a:solidFill>
                        <a:srgbClr val="E1E5EE"/>
                      </a:solidFill>
                      <a:prstDash val="solid"/>
                      <a:round/>
                      <a:headEnd len="sm" w="sm" type="none"/>
                      <a:tailEnd len="sm" w="sm" type="none"/>
                    </a:lnR>
                    <a:lnT cap="flat" cmpd="sng" w="9525">
                      <a:solidFill>
                        <a:srgbClr val="E1E5EE"/>
                      </a:solidFill>
                      <a:prstDash val="solid"/>
                      <a:round/>
                      <a:headEnd len="sm" w="sm" type="none"/>
                      <a:tailEnd len="sm" w="sm" type="none"/>
                    </a:lnT>
                    <a:lnB>
                      <a:noFill/>
                    </a:lnB>
                  </a:tcPr>
                </a:tc>
                <a:tc>
                  <a:txBody>
                    <a:bodyPr/>
                    <a:lstStyle/>
                    <a:p>
                      <a:pPr indent="0" lvl="0" marL="0" marR="0" rtl="0" algn="l">
                        <a:lnSpc>
                          <a:spcPct val="100000"/>
                        </a:lnSpc>
                        <a:spcBef>
                          <a:spcPts val="0"/>
                        </a:spcBef>
                        <a:spcAft>
                          <a:spcPts val="0"/>
                        </a:spcAft>
                        <a:buClr>
                          <a:srgbClr val="2E9973"/>
                        </a:buClr>
                        <a:buSzPts val="800"/>
                        <a:buFont typeface="Calibri"/>
                        <a:buNone/>
                      </a:pPr>
                      <a:r>
                        <a:rPr b="1" lang="en" sz="1100" u="none" cap="none" strike="noStrike">
                          <a:solidFill>
                            <a:srgbClr val="2E9973"/>
                          </a:solidFill>
                          <a:latin typeface="Calibri"/>
                          <a:ea typeface="Calibri"/>
                          <a:cs typeface="Calibri"/>
                          <a:sym typeface="Calibri"/>
                        </a:rPr>
                        <a:t>Independently selects the same three headline drivers</a:t>
                      </a:r>
                      <a:endParaRPr sz="1100" u="none" cap="none" strike="noStrike">
                        <a:latin typeface="Calibri"/>
                        <a:ea typeface="Calibri"/>
                        <a:cs typeface="Calibri"/>
                        <a:sym typeface="Calibri"/>
                      </a:endParaRPr>
                    </a:p>
                  </a:txBody>
                  <a:tcPr marT="34300" marB="34300" marR="68600" marL="68600" anchor="ctr">
                    <a:lnL cap="flat" cmpd="sng" w="9525">
                      <a:solidFill>
                        <a:srgbClr val="E1E5EE"/>
                      </a:solidFill>
                      <a:prstDash val="solid"/>
                      <a:round/>
                      <a:headEnd len="sm" w="sm" type="none"/>
                      <a:tailEnd len="sm" w="sm" type="none"/>
                    </a:lnL>
                    <a:lnR>
                      <a:noFill/>
                    </a:lnR>
                    <a:lnT cap="flat" cmpd="sng" w="9525">
                      <a:solidFill>
                        <a:srgbClr val="E1E5EE"/>
                      </a:solidFill>
                      <a:prstDash val="solid"/>
                      <a:round/>
                      <a:headEnd len="sm" w="sm" type="none"/>
                      <a:tailEnd len="sm" w="sm" type="none"/>
                    </a:lnT>
                    <a:lnB>
                      <a:noFill/>
                    </a:lnB>
                  </a:tcPr>
                </a:tc>
              </a:tr>
            </a:tbl>
          </a:graphicData>
        </a:graphic>
      </p:graphicFrame>
      <p:sp>
        <p:nvSpPr>
          <p:cNvPr id="902" name="Table rounded outline"/>
          <p:cNvSpPr/>
          <p:nvPr/>
        </p:nvSpPr>
        <p:spPr>
          <a:xfrm>
            <a:off x="411491" y="1116573"/>
            <a:ext cx="8088975" cy="2849950"/>
          </a:xfrm>
          <a:prstGeom prst="roundRect">
            <a:avLst>
              <a:gd fmla="val 3208" name="adj"/>
            </a:avLst>
          </a:prstGeom>
          <a:noFill/>
          <a:ln cap="flat" cmpd="sng" w="9525">
            <a:solidFill>
              <a:srgbClr val="E1E5EE"/>
            </a:solidFill>
            <a:prstDash val="solid"/>
            <a:round/>
            <a:headEnd len="sm" type="none" w="sm"/>
            <a:tailEnd len="sm" type="none" w="sm"/>
          </a:ln>
        </p:spPr>
        <p:txBody>
          <a:bodyPr spcFirstLastPara="1" wrap="square">
            <a:noAutofit/>
          </a:bodyPr>
          <a:lstStyle/>
          <a:p>
            <a:endParaRPr sz="1100"/>
          </a:p>
        </p:txBody>
      </p:sp>
      <p:sp>
        <p:nvSpPr>
          <p:cNvPr id="392" name="Google Shape;392;p34"/>
          <p:cNvSpPr/>
          <p:nvPr/>
        </p:nvSpPr>
        <p:spPr>
          <a:xfrm>
            <a:off x="411491" y="4332620"/>
            <a:ext cx="8321100" cy="3429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0607F"/>
              </a:buClr>
              <a:buSzPts val="800"/>
              <a:buFont typeface="Calibri"/>
              <a:buNone/>
            </a:pPr>
            <a:r>
              <a:rPr b="0" i="1" lang="en" sz="1100" u="none" cap="none" strike="noStrike">
                <a:solidFill>
                  <a:srgbClr val="50607F"/>
                </a:solidFill>
                <a:latin typeface="Calibri"/>
                <a:ea typeface="Calibri"/>
                <a:cs typeface="Calibri"/>
                <a:sym typeface="Calibri"/>
              </a:rPr>
              <a:t>Both were also validated out-of-sample: fit on tournaments before 2010, scored against 2010–2022 and the </a:t>
            </a:r>
            <a:r>
              <a:rPr i="1" lang="en" sz="1100">
                <a:solidFill>
                  <a:srgbClr val="50607F"/>
                </a:solidFill>
                <a:latin typeface="Calibri"/>
                <a:ea typeface="Calibri"/>
                <a:cs typeface="Calibri"/>
                <a:sym typeface="Calibri"/>
              </a:rPr>
              <a:t>completed 2026 field</a:t>
            </a:r>
            <a:endParaRPr b="0" i="0" sz="1100" u="none" cap="none" strike="noStrike">
              <a:solidFill>
                <a:schemeClr val="dk1"/>
              </a:solidFill>
              <a:latin typeface="Calibri"/>
              <a:ea typeface="Calibri"/>
              <a:cs typeface="Calibri"/>
              <a:sym typeface="Calibri"/>
            </a:endParaRPr>
          </a:p>
        </p:txBody>
      </p:sp>
      <p:sp>
        <p:nvSpPr>
          <p:cNvPr id="393" name="Google Shape;393;p34"/>
          <p:cNvSpPr/>
          <p:nvPr/>
        </p:nvSpPr>
        <p:spPr>
          <a:xfrm>
            <a:off x="411491" y="4800600"/>
            <a:ext cx="4800728"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592AA"/>
              </a:buClr>
              <a:buSzPts val="700"/>
              <a:buFont typeface="Calibri"/>
              <a:buNone/>
            </a:pPr>
            <a:r>
              <a:rPr b="0" i="0" lang="en" sz="700" u="none" cap="none" strike="noStrike">
                <a:solidFill>
                  <a:srgbClr val="8592AA"/>
                </a:solidFill>
                <a:latin typeface="Calibri"/>
                <a:ea typeface="Calibri"/>
                <a:cs typeface="Calibri"/>
                <a:sym typeface="Calibri"/>
              </a:rPr>
              <a:t>Shiu &amp; Nguyen  |  STAT 418, Tools in Data Science  |  UCLA Summer 2026</a:t>
            </a:r>
            <a:endParaRPr b="0" i="0" sz="700" u="none" cap="none" strike="noStrike">
              <a:solidFill>
                <a:schemeClr val="dk1"/>
              </a:solidFill>
              <a:latin typeface="Calibri"/>
              <a:ea typeface="Calibri"/>
              <a:cs typeface="Calibri"/>
              <a:sym typeface="Calibri"/>
            </a:endParaRPr>
          </a:p>
        </p:txBody>
      </p:sp>
      <p:sp>
        <p:nvSpPr>
          <p:cNvPr id="394" name="Google Shape;394;p34"/>
          <p:cNvSpPr/>
          <p:nvPr/>
        </p:nvSpPr>
        <p:spPr>
          <a:xfrm>
            <a:off x="8458197" y="4800600"/>
            <a:ext cx="411491" cy="2057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592AA"/>
              </a:buClr>
              <a:buSzPts val="800"/>
              <a:buFont typeface="Calibri"/>
              <a:buNone/>
            </a:pPr>
            <a:r>
              <a:rPr b="0" i="0" lang="en" sz="800" u="none" cap="none" strike="noStrike">
                <a:solidFill>
                  <a:srgbClr val="8592AA"/>
                </a:solidFill>
                <a:latin typeface="Calibri"/>
                <a:ea typeface="Calibri"/>
                <a:cs typeface="Calibri"/>
                <a:sym typeface="Calibri"/>
              </a:rPr>
              <a:t>15</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03B"/>
        </a:solidFill>
      </p:bgPr>
    </p:bg>
    <p:spTree>
      <p:nvGrpSpPr>
        <p:cNvPr id="399" name="Shape 399"/>
        <p:cNvGrpSpPr/>
        <p:nvPr/>
      </p:nvGrpSpPr>
      <p:grpSpPr>
        <a:xfrm>
          <a:off x="0" y="0"/>
          <a:ext cx="0" cy="0"/>
          <a:chOff x="0" y="0"/>
          <a:chExt cx="0" cy="0"/>
        </a:xfrm>
      </p:grpSpPr>
      <p:sp>
        <p:nvSpPr>
          <p:cNvPr id="400" name="Google Shape;400;p35"/>
          <p:cNvSpPr/>
          <p:nvPr/>
        </p:nvSpPr>
        <p:spPr>
          <a:xfrm>
            <a:off x="5989251" y="-617220"/>
            <a:ext cx="3017600" cy="301752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34456E"/>
              </a:buClr>
              <a:buSzPts val="19500"/>
              <a:buFont typeface="Calibri"/>
              <a:buNone/>
            </a:pPr>
            <a:r>
              <a:rPr b="1" i="0" lang="en" sz="19500" u="none" cap="none" strike="noStrike">
                <a:solidFill>
                  <a:srgbClr val="34456E"/>
                </a:solidFill>
                <a:latin typeface="Calibri"/>
                <a:ea typeface="Calibri"/>
                <a:cs typeface="Calibri"/>
                <a:sym typeface="Calibri"/>
              </a:rPr>
              <a:t>05</a:t>
            </a:r>
            <a:endParaRPr b="0" i="0" sz="19500" u="none" cap="none" strike="noStrike">
              <a:solidFill>
                <a:schemeClr val="dk1"/>
              </a:solidFill>
              <a:latin typeface="Calibri"/>
              <a:ea typeface="Calibri"/>
              <a:cs typeface="Calibri"/>
              <a:sym typeface="Calibri"/>
            </a:endParaRPr>
          </a:p>
        </p:txBody>
      </p:sp>
      <p:sp>
        <p:nvSpPr>
          <p:cNvPr id="401" name="Google Shape;401;p35"/>
          <p:cNvSpPr/>
          <p:nvPr/>
        </p:nvSpPr>
        <p:spPr>
          <a:xfrm>
            <a:off x="411491" y="480060"/>
            <a:ext cx="288044" cy="288036"/>
          </a:xfrm>
          <a:prstGeom prst="ellipse">
            <a:avLst/>
          </a:prstGeom>
          <a:solidFill>
            <a:srgbClr val="2E997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02" name="Google Shape;402;p35"/>
          <p:cNvSpPr/>
          <p:nvPr/>
        </p:nvSpPr>
        <p:spPr>
          <a:xfrm>
            <a:off x="411491" y="480060"/>
            <a:ext cx="288044" cy="2880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5</a:t>
            </a:r>
            <a:endParaRPr b="0" i="0" sz="1200" u="none" cap="none" strike="noStrike">
              <a:solidFill>
                <a:schemeClr val="dk1"/>
              </a:solidFill>
              <a:latin typeface="Calibri"/>
              <a:ea typeface="Calibri"/>
              <a:cs typeface="Calibri"/>
              <a:sym typeface="Calibri"/>
            </a:endParaRPr>
          </a:p>
        </p:txBody>
      </p:sp>
      <p:sp>
        <p:nvSpPr>
          <p:cNvPr id="403" name="Google Shape;403;p35"/>
          <p:cNvSpPr/>
          <p:nvPr/>
        </p:nvSpPr>
        <p:spPr>
          <a:xfrm>
            <a:off x="809266" y="480060"/>
            <a:ext cx="5486546" cy="2880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FB0C9"/>
              </a:buClr>
              <a:buSzPts val="1000"/>
              <a:buFont typeface="Calibri"/>
              <a:buNone/>
            </a:pPr>
            <a:r>
              <a:rPr b="1" i="0" lang="en" sz="1000" u="none" cap="none" strike="noStrike">
                <a:solidFill>
                  <a:srgbClr val="9FB0C9"/>
                </a:solidFill>
                <a:latin typeface="Calibri"/>
                <a:ea typeface="Calibri"/>
                <a:cs typeface="Calibri"/>
                <a:sym typeface="Calibri"/>
              </a:rPr>
              <a:t>SECTION 5 OF 6  ·  RESULTS</a:t>
            </a:r>
            <a:endParaRPr b="0" i="0" sz="1000" u="none" cap="none" strike="noStrike">
              <a:solidFill>
                <a:schemeClr val="dk1"/>
              </a:solidFill>
              <a:latin typeface="Calibri"/>
              <a:ea typeface="Calibri"/>
              <a:cs typeface="Calibri"/>
              <a:sym typeface="Calibri"/>
            </a:endParaRPr>
          </a:p>
        </p:txBody>
      </p:sp>
      <p:sp>
        <p:nvSpPr>
          <p:cNvPr id="404" name="Google Shape;404;p35"/>
          <p:cNvSpPr/>
          <p:nvPr/>
        </p:nvSpPr>
        <p:spPr>
          <a:xfrm>
            <a:off x="411491" y="1988820"/>
            <a:ext cx="7269674" cy="144018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FFFFFF"/>
              </a:buClr>
              <a:buSzPts val="2600"/>
              <a:buFont typeface="Calibri"/>
              <a:buNone/>
            </a:pPr>
            <a:r>
              <a:rPr b="1" i="0" lang="en" sz="2600" u="none" cap="none" strike="noStrike">
                <a:solidFill>
                  <a:srgbClr val="FFFFFF"/>
                </a:solidFill>
                <a:latin typeface="Calibri"/>
                <a:ea typeface="Calibri"/>
                <a:cs typeface="Calibri"/>
                <a:sym typeface="Calibri"/>
              </a:rPr>
              <a:t>Three factors reliably predict group-stage advancement — hosting matters most</a:t>
            </a:r>
            <a:endParaRPr b="0" i="0" sz="2600" u="none" cap="none" strike="noStrike">
              <a:solidFill>
                <a:schemeClr val="dk1"/>
              </a:solidFill>
              <a:latin typeface="Calibri"/>
              <a:ea typeface="Calibri"/>
              <a:cs typeface="Calibri"/>
              <a:sym typeface="Calibri"/>
            </a:endParaRPr>
          </a:p>
        </p:txBody>
      </p:sp>
      <p:sp>
        <p:nvSpPr>
          <p:cNvPr id="405" name="Google Shape;405;p35"/>
          <p:cNvSpPr/>
          <p:nvPr/>
        </p:nvSpPr>
        <p:spPr>
          <a:xfrm>
            <a:off x="411491" y="3429000"/>
            <a:ext cx="6583856" cy="685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9FB0C9"/>
              </a:buClr>
              <a:buSzPts val="1100"/>
              <a:buFont typeface="Calibri"/>
              <a:buNone/>
            </a:pPr>
            <a:r>
              <a:rPr b="0" i="0" lang="en" sz="1100" u="none" cap="none" strike="noStrike">
                <a:solidFill>
                  <a:srgbClr val="9FB0C9"/>
                </a:solidFill>
                <a:latin typeface="Calibri"/>
                <a:ea typeface="Calibri"/>
                <a:cs typeface="Calibri"/>
                <a:sym typeface="Calibri"/>
              </a:rPr>
              <a:t>Tournament experience, host status, and regional strength move the needle. Squad age, position mix, and coach nationality do not.</a:t>
            </a:r>
            <a:endParaRPr b="0" i="0" sz="1100" u="none" cap="none" strike="noStrike">
              <a:solidFill>
                <a:schemeClr val="dk1"/>
              </a:solidFill>
              <a:latin typeface="Calibri"/>
              <a:ea typeface="Calibri"/>
              <a:cs typeface="Calibri"/>
              <a:sym typeface="Calibri"/>
            </a:endParaRPr>
          </a:p>
        </p:txBody>
      </p:sp>
      <p:sp>
        <p:nvSpPr>
          <p:cNvPr id="406" name="Google Shape;406;p35"/>
          <p:cNvSpPr/>
          <p:nvPr/>
        </p:nvSpPr>
        <p:spPr>
          <a:xfrm>
            <a:off x="411491" y="4800600"/>
            <a:ext cx="4800728"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4456E"/>
              </a:buClr>
              <a:buSzPts val="700"/>
              <a:buFont typeface="Calibri"/>
              <a:buNone/>
            </a:pPr>
            <a:r>
              <a:rPr b="0" i="0" lang="en" sz="700" u="none" cap="none" strike="noStrike">
                <a:solidFill>
                  <a:srgbClr val="34456E"/>
                </a:solidFill>
                <a:latin typeface="Calibri"/>
                <a:ea typeface="Calibri"/>
                <a:cs typeface="Calibri"/>
                <a:sym typeface="Calibri"/>
              </a:rPr>
              <a:t>Shiu &amp; Nguyen  |  STAT 418, Tools in Data Science  |  UCLA Summer 2026</a:t>
            </a:r>
            <a:endParaRPr b="0" i="0" sz="700" u="none" cap="none" strike="noStrike">
              <a:solidFill>
                <a:schemeClr val="dk1"/>
              </a:solidFill>
              <a:latin typeface="Calibri"/>
              <a:ea typeface="Calibri"/>
              <a:cs typeface="Calibri"/>
              <a:sym typeface="Calibri"/>
            </a:endParaRPr>
          </a:p>
        </p:txBody>
      </p:sp>
      <p:sp>
        <p:nvSpPr>
          <p:cNvPr id="407" name="Google Shape;407;p35"/>
          <p:cNvSpPr/>
          <p:nvPr/>
        </p:nvSpPr>
        <p:spPr>
          <a:xfrm>
            <a:off x="8458197" y="4800600"/>
            <a:ext cx="411491" cy="2057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592AA"/>
              </a:buClr>
              <a:buSzPts val="800"/>
              <a:buFont typeface="Calibri"/>
              <a:buNone/>
            </a:pPr>
            <a:r>
              <a:rPr b="0" i="0" lang="en" sz="800" u="none" cap="none" strike="noStrike">
                <a:solidFill>
                  <a:srgbClr val="8592AA"/>
                </a:solidFill>
                <a:latin typeface="Calibri"/>
                <a:ea typeface="Calibri"/>
                <a:cs typeface="Calibri"/>
                <a:sym typeface="Calibri"/>
              </a:rPr>
              <a:t>16</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03B"/>
        </a:solidFill>
      </p:bgPr>
    </p:bg>
    <p:spTree>
      <p:nvGrpSpPr>
        <p:cNvPr id="412" name="Shape 412"/>
        <p:cNvGrpSpPr/>
        <p:nvPr/>
      </p:nvGrpSpPr>
      <p:grpSpPr>
        <a:xfrm>
          <a:off x="0" y="0"/>
          <a:ext cx="0" cy="0"/>
          <a:chOff x="0" y="0"/>
          <a:chExt cx="0" cy="0"/>
        </a:xfrm>
      </p:grpSpPr>
      <p:sp>
        <p:nvSpPr>
          <p:cNvPr id="413" name="Google Shape;413;p36"/>
          <p:cNvSpPr/>
          <p:nvPr/>
        </p:nvSpPr>
        <p:spPr>
          <a:xfrm>
            <a:off x="411491" y="342900"/>
            <a:ext cx="8321033" cy="24003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FB0C9"/>
              </a:buClr>
              <a:buSzPts val="800"/>
              <a:buFont typeface="Calibri"/>
              <a:buNone/>
            </a:pPr>
            <a:r>
              <a:rPr b="1" i="0" lang="en" sz="800" u="none" cap="none" strike="noStrike">
                <a:solidFill>
                  <a:srgbClr val="9FB0C9"/>
                </a:solidFill>
                <a:latin typeface="Calibri"/>
                <a:ea typeface="Calibri"/>
                <a:cs typeface="Calibri"/>
                <a:sym typeface="Calibri"/>
              </a:rPr>
              <a:t>KEY TAKEAWAYS</a:t>
            </a:r>
            <a:endParaRPr b="0" i="0" sz="800" u="none" cap="none" strike="noStrike">
              <a:solidFill>
                <a:schemeClr val="dk1"/>
              </a:solidFill>
              <a:latin typeface="Calibri"/>
              <a:ea typeface="Calibri"/>
              <a:cs typeface="Calibri"/>
              <a:sym typeface="Calibri"/>
            </a:endParaRPr>
          </a:p>
        </p:txBody>
      </p:sp>
      <p:sp>
        <p:nvSpPr>
          <p:cNvPr id="414" name="Google Shape;414;p36"/>
          <p:cNvSpPr/>
          <p:nvPr/>
        </p:nvSpPr>
        <p:spPr>
          <a:xfrm>
            <a:off x="411491" y="634635"/>
            <a:ext cx="8321033"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100"/>
              <a:buFont typeface="Calibri"/>
              <a:buNone/>
            </a:pPr>
            <a:r>
              <a:rPr b="1" i="0" lang="en" sz="2100" u="none" cap="none" strike="noStrike">
                <a:solidFill>
                  <a:srgbClr val="FFFFFF"/>
                </a:solidFill>
                <a:latin typeface="Calibri"/>
                <a:ea typeface="Calibri"/>
                <a:cs typeface="Calibri"/>
                <a:sym typeface="Calibri"/>
              </a:rPr>
              <a:t>Three factors drive group-stage advancement</a:t>
            </a:r>
            <a:endParaRPr b="0" i="0" sz="2100" u="none" cap="none" strike="noStrike">
              <a:solidFill>
                <a:schemeClr val="dk1"/>
              </a:solidFill>
              <a:latin typeface="Calibri"/>
              <a:ea typeface="Calibri"/>
              <a:cs typeface="Calibri"/>
              <a:sym typeface="Calibri"/>
            </a:endParaRPr>
          </a:p>
        </p:txBody>
      </p:sp>
      <p:sp>
        <p:nvSpPr>
          <p:cNvPr id="415" name="Google Shape;415;p36"/>
          <p:cNvSpPr/>
          <p:nvPr/>
        </p:nvSpPr>
        <p:spPr>
          <a:xfrm>
            <a:off x="411491" y="1200150"/>
            <a:ext cx="8321033" cy="1062990"/>
          </a:xfrm>
          <a:prstGeom prst="roundRect">
            <a:avLst>
              <a:gd fmla="val 5161" name="adj"/>
            </a:avLst>
          </a:prstGeom>
          <a:solidFill>
            <a:srgbClr val="1E315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16" name="Google Shape;416;p36"/>
          <p:cNvSpPr/>
          <p:nvPr/>
        </p:nvSpPr>
        <p:spPr>
          <a:xfrm>
            <a:off x="411491" y="1200150"/>
            <a:ext cx="54865" cy="1062990"/>
          </a:xfrm>
          <a:prstGeom prst="rect">
            <a:avLst/>
          </a:prstGeom>
          <a:solidFill>
            <a:srgbClr val="3FAE8A"/>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17" name="Google Shape;417;p36"/>
          <p:cNvSpPr/>
          <p:nvPr/>
        </p:nvSpPr>
        <p:spPr>
          <a:xfrm>
            <a:off x="651527" y="1323594"/>
            <a:ext cx="78409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AE8A"/>
              </a:buClr>
              <a:buSzPts val="1200"/>
              <a:buFont typeface="Calibri"/>
              <a:buNone/>
            </a:pPr>
            <a:r>
              <a:rPr b="1" i="0" lang="en" sz="1500" u="none" cap="none" strike="noStrike">
                <a:solidFill>
                  <a:srgbClr val="3FAE8A"/>
                </a:solidFill>
                <a:latin typeface="Calibri"/>
                <a:ea typeface="Calibri"/>
                <a:cs typeface="Calibri"/>
                <a:sym typeface="Calibri"/>
              </a:rPr>
              <a:t>Tournament experience compounds</a:t>
            </a:r>
            <a:endParaRPr b="0" i="0" sz="1500" u="none" cap="none" strike="noStrike">
              <a:solidFill>
                <a:schemeClr val="dk1"/>
              </a:solidFill>
              <a:latin typeface="Calibri"/>
              <a:ea typeface="Calibri"/>
              <a:cs typeface="Calibri"/>
              <a:sym typeface="Calibri"/>
            </a:endParaRPr>
          </a:p>
        </p:txBody>
      </p:sp>
      <p:sp>
        <p:nvSpPr>
          <p:cNvPr id="418" name="Google Shape;418;p36"/>
          <p:cNvSpPr/>
          <p:nvPr/>
        </p:nvSpPr>
        <p:spPr>
          <a:xfrm>
            <a:off x="651527" y="1625346"/>
            <a:ext cx="7840960" cy="54864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FFFFFF"/>
              </a:buClr>
              <a:buSzPts val="900"/>
              <a:buFont typeface="Calibri"/>
              <a:buNone/>
            </a:pPr>
            <a:r>
              <a:rPr b="0" i="0" lang="en" sz="1300" u="none" cap="none" strike="noStrike">
                <a:solidFill>
                  <a:srgbClr val="FFFFFF"/>
                </a:solidFill>
                <a:latin typeface="Calibri"/>
                <a:ea typeface="Calibri"/>
                <a:cs typeface="Calibri"/>
                <a:sym typeface="Calibri"/>
              </a:rPr>
              <a:t>Each additional prior World Cup appearance raises a team's odds of advancing by roughly 22% (p &lt; .001)</a:t>
            </a:r>
            <a:endParaRPr b="0" i="0" sz="1300" u="none" cap="none" strike="noStrike">
              <a:solidFill>
                <a:schemeClr val="dk1"/>
              </a:solidFill>
              <a:latin typeface="Calibri"/>
              <a:ea typeface="Calibri"/>
              <a:cs typeface="Calibri"/>
              <a:sym typeface="Calibri"/>
            </a:endParaRPr>
          </a:p>
        </p:txBody>
      </p:sp>
      <p:sp>
        <p:nvSpPr>
          <p:cNvPr id="419" name="Google Shape;419;p36"/>
          <p:cNvSpPr/>
          <p:nvPr/>
        </p:nvSpPr>
        <p:spPr>
          <a:xfrm>
            <a:off x="411491" y="2414016"/>
            <a:ext cx="8321033" cy="1062990"/>
          </a:xfrm>
          <a:prstGeom prst="roundRect">
            <a:avLst>
              <a:gd fmla="val 5161" name="adj"/>
            </a:avLst>
          </a:prstGeom>
          <a:solidFill>
            <a:srgbClr val="1E315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20" name="Google Shape;420;p36"/>
          <p:cNvSpPr/>
          <p:nvPr/>
        </p:nvSpPr>
        <p:spPr>
          <a:xfrm>
            <a:off x="411491" y="2414016"/>
            <a:ext cx="54865" cy="1062990"/>
          </a:xfrm>
          <a:prstGeom prst="rect">
            <a:avLst/>
          </a:prstGeom>
          <a:solidFill>
            <a:srgbClr val="3FAE8A"/>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21" name="Google Shape;421;p36"/>
          <p:cNvSpPr/>
          <p:nvPr/>
        </p:nvSpPr>
        <p:spPr>
          <a:xfrm>
            <a:off x="651527" y="2537460"/>
            <a:ext cx="78409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AE8A"/>
              </a:buClr>
              <a:buSzPts val="1200"/>
              <a:buFont typeface="Calibri"/>
              <a:buNone/>
            </a:pPr>
            <a:r>
              <a:rPr b="1" i="0" lang="en" sz="1500" u="none" cap="none" strike="noStrike">
                <a:solidFill>
                  <a:srgbClr val="3FAE8A"/>
                </a:solidFill>
                <a:latin typeface="Calibri"/>
                <a:ea typeface="Calibri"/>
                <a:cs typeface="Calibri"/>
                <a:sym typeface="Calibri"/>
              </a:rPr>
              <a:t>Hosting is the single largest effect</a:t>
            </a:r>
            <a:endParaRPr b="0" i="0" sz="1500" u="none" cap="none" strike="noStrike">
              <a:solidFill>
                <a:schemeClr val="dk1"/>
              </a:solidFill>
              <a:latin typeface="Calibri"/>
              <a:ea typeface="Calibri"/>
              <a:cs typeface="Calibri"/>
              <a:sym typeface="Calibri"/>
            </a:endParaRPr>
          </a:p>
        </p:txBody>
      </p:sp>
      <p:sp>
        <p:nvSpPr>
          <p:cNvPr id="422" name="Google Shape;422;p36"/>
          <p:cNvSpPr/>
          <p:nvPr/>
        </p:nvSpPr>
        <p:spPr>
          <a:xfrm>
            <a:off x="651527" y="2839212"/>
            <a:ext cx="7840960" cy="54864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FFFFFF"/>
              </a:buClr>
              <a:buSzPts val="900"/>
              <a:buFont typeface="Calibri"/>
              <a:buNone/>
            </a:pPr>
            <a:r>
              <a:rPr b="0" i="0" lang="en" sz="1300" u="none" cap="none" strike="noStrike">
                <a:solidFill>
                  <a:srgbClr val="FFFFFF"/>
                </a:solidFill>
                <a:latin typeface="Calibri"/>
                <a:ea typeface="Calibri"/>
                <a:cs typeface="Calibri"/>
                <a:sym typeface="Calibri"/>
              </a:rPr>
              <a:t>Host nations advance at roughly eight times the odds of a comparable non-host (p ≈ .002)</a:t>
            </a:r>
            <a:endParaRPr b="0" i="0" sz="1300" u="none" cap="none" strike="noStrike">
              <a:solidFill>
                <a:schemeClr val="dk1"/>
              </a:solidFill>
              <a:latin typeface="Calibri"/>
              <a:ea typeface="Calibri"/>
              <a:cs typeface="Calibri"/>
              <a:sym typeface="Calibri"/>
            </a:endParaRPr>
          </a:p>
        </p:txBody>
      </p:sp>
      <p:sp>
        <p:nvSpPr>
          <p:cNvPr id="423" name="Google Shape;423;p36"/>
          <p:cNvSpPr/>
          <p:nvPr/>
        </p:nvSpPr>
        <p:spPr>
          <a:xfrm>
            <a:off x="411491" y="3627882"/>
            <a:ext cx="8321033" cy="1062990"/>
          </a:xfrm>
          <a:prstGeom prst="roundRect">
            <a:avLst>
              <a:gd fmla="val 5161" name="adj"/>
            </a:avLst>
          </a:prstGeom>
          <a:solidFill>
            <a:srgbClr val="1E315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24" name="Google Shape;424;p36"/>
          <p:cNvSpPr/>
          <p:nvPr/>
        </p:nvSpPr>
        <p:spPr>
          <a:xfrm>
            <a:off x="411491" y="3627882"/>
            <a:ext cx="54865" cy="1062990"/>
          </a:xfrm>
          <a:prstGeom prst="rect">
            <a:avLst/>
          </a:prstGeom>
          <a:solidFill>
            <a:srgbClr val="3FAE8A"/>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25" name="Google Shape;425;p36"/>
          <p:cNvSpPr/>
          <p:nvPr/>
        </p:nvSpPr>
        <p:spPr>
          <a:xfrm>
            <a:off x="651527" y="3751326"/>
            <a:ext cx="78409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AE8A"/>
              </a:buClr>
              <a:buSzPts val="1200"/>
              <a:buFont typeface="Calibri"/>
              <a:buNone/>
            </a:pPr>
            <a:r>
              <a:rPr b="1" i="0" lang="en" sz="1500" u="none" cap="none" strike="noStrike">
                <a:solidFill>
                  <a:srgbClr val="3FAE8A"/>
                </a:solidFill>
                <a:latin typeface="Calibri"/>
                <a:ea typeface="Calibri"/>
                <a:cs typeface="Calibri"/>
                <a:sym typeface="Calibri"/>
              </a:rPr>
              <a:t>Regional gaps persist after controlling for quality</a:t>
            </a:r>
            <a:endParaRPr b="0" i="0" sz="1500" u="none" cap="none" strike="noStrike">
              <a:solidFill>
                <a:schemeClr val="dk1"/>
              </a:solidFill>
              <a:latin typeface="Calibri"/>
              <a:ea typeface="Calibri"/>
              <a:cs typeface="Calibri"/>
              <a:sym typeface="Calibri"/>
            </a:endParaRPr>
          </a:p>
        </p:txBody>
      </p:sp>
      <p:sp>
        <p:nvSpPr>
          <p:cNvPr id="426" name="Google Shape;426;p36"/>
          <p:cNvSpPr/>
          <p:nvPr/>
        </p:nvSpPr>
        <p:spPr>
          <a:xfrm>
            <a:off x="651527" y="4053078"/>
            <a:ext cx="7840960" cy="54864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FFFFFF"/>
              </a:buClr>
              <a:buSzPts val="900"/>
              <a:buFont typeface="Calibri"/>
              <a:buNone/>
            </a:pPr>
            <a:r>
              <a:rPr b="0" i="0" lang="en" sz="1300" u="none" cap="none" strike="noStrike">
                <a:solidFill>
                  <a:srgbClr val="FFFFFF"/>
                </a:solidFill>
                <a:latin typeface="Calibri"/>
                <a:ea typeface="Calibri"/>
                <a:cs typeface="Calibri"/>
                <a:sym typeface="Calibri"/>
              </a:rPr>
              <a:t>AFC, CAF, and CONCACAF teams advance at roughly one-fifth to one-third the odds of UEFA teams (each p &lt; .03). C</a:t>
            </a:r>
            <a:r>
              <a:rPr b="0" i="0" lang="en" sz="1300" u="none" cap="none" strike="noStrike">
                <a:solidFill>
                  <a:srgbClr val="FFFFFF"/>
                </a:solidFill>
                <a:latin typeface="Calibri"/>
                <a:ea typeface="Calibri"/>
                <a:cs typeface="Calibri"/>
                <a:sym typeface="Calibri"/>
              </a:rPr>
              <a:t>ONMEBOL performs on par with UEFA.</a:t>
            </a:r>
            <a:endParaRPr b="0" i="0" sz="1300" u="none" cap="none" strike="noStrike">
              <a:solidFill>
                <a:schemeClr val="dk1"/>
              </a:solidFill>
              <a:latin typeface="Calibri"/>
              <a:ea typeface="Calibri"/>
              <a:cs typeface="Calibri"/>
              <a:sym typeface="Calibri"/>
            </a:endParaRPr>
          </a:p>
        </p:txBody>
      </p:sp>
      <p:sp>
        <p:nvSpPr>
          <p:cNvPr id="427" name="Google Shape;427;p36"/>
          <p:cNvSpPr/>
          <p:nvPr/>
        </p:nvSpPr>
        <p:spPr>
          <a:xfrm>
            <a:off x="411491" y="4800600"/>
            <a:ext cx="4800728"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4456E"/>
              </a:buClr>
              <a:buSzPts val="700"/>
              <a:buFont typeface="Calibri"/>
              <a:buNone/>
            </a:pPr>
            <a:r>
              <a:rPr b="0" i="0" lang="en" sz="700" u="none" cap="none" strike="noStrike">
                <a:solidFill>
                  <a:srgbClr val="34456E"/>
                </a:solidFill>
                <a:latin typeface="Calibri"/>
                <a:ea typeface="Calibri"/>
                <a:cs typeface="Calibri"/>
                <a:sym typeface="Calibri"/>
              </a:rPr>
              <a:t>Shiu &amp; Nguyen  |  STAT 418, Tools in Data Science  |  UCLA Summer 2026</a:t>
            </a:r>
            <a:endParaRPr b="0" i="0" sz="700" u="none" cap="none" strike="noStrike">
              <a:solidFill>
                <a:schemeClr val="dk1"/>
              </a:solidFill>
              <a:latin typeface="Calibri"/>
              <a:ea typeface="Calibri"/>
              <a:cs typeface="Calibri"/>
              <a:sym typeface="Calibri"/>
            </a:endParaRPr>
          </a:p>
        </p:txBody>
      </p:sp>
      <p:sp>
        <p:nvSpPr>
          <p:cNvPr id="428" name="Google Shape;428;p36"/>
          <p:cNvSpPr/>
          <p:nvPr/>
        </p:nvSpPr>
        <p:spPr>
          <a:xfrm>
            <a:off x="8458197" y="4800600"/>
            <a:ext cx="411491" cy="2057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592AA"/>
              </a:buClr>
              <a:buSzPts val="800"/>
              <a:buFont typeface="Calibri"/>
              <a:buNone/>
            </a:pPr>
            <a:r>
              <a:rPr b="0" i="0" lang="en" sz="800" u="none" cap="none" strike="noStrike">
                <a:solidFill>
                  <a:srgbClr val="8592AA"/>
                </a:solidFill>
                <a:latin typeface="Calibri"/>
                <a:ea typeface="Calibri"/>
                <a:cs typeface="Calibri"/>
                <a:sym typeface="Calibri"/>
              </a:rPr>
              <a:t>17</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3" name="Shape 433"/>
        <p:cNvGrpSpPr/>
        <p:nvPr/>
      </p:nvGrpSpPr>
      <p:grpSpPr>
        <a:xfrm>
          <a:off x="0" y="0"/>
          <a:ext cx="0" cy="0"/>
          <a:chOff x="0" y="0"/>
          <a:chExt cx="0" cy="0"/>
        </a:xfrm>
      </p:grpSpPr>
      <p:sp>
        <p:nvSpPr>
          <p:cNvPr id="434" name="Google Shape;434;p37"/>
          <p:cNvSpPr/>
          <p:nvPr/>
        </p:nvSpPr>
        <p:spPr>
          <a:xfrm>
            <a:off x="411491" y="308610"/>
            <a:ext cx="8321033"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9973"/>
              </a:buClr>
              <a:buSzPts val="800"/>
              <a:buFont typeface="Calibri"/>
              <a:buNone/>
            </a:pPr>
            <a:r>
              <a:rPr b="1" i="0" lang="en" sz="800" u="none" cap="none" strike="noStrike">
                <a:solidFill>
                  <a:srgbClr val="2E9973"/>
                </a:solidFill>
                <a:latin typeface="Calibri"/>
                <a:ea typeface="Calibri"/>
                <a:cs typeface="Calibri"/>
                <a:sym typeface="Calibri"/>
              </a:rPr>
              <a:t>RESULTS</a:t>
            </a:r>
            <a:endParaRPr b="0" i="0" sz="800" u="none" cap="none" strike="noStrike">
              <a:solidFill>
                <a:schemeClr val="dk1"/>
              </a:solidFill>
              <a:latin typeface="Calibri"/>
              <a:ea typeface="Calibri"/>
              <a:cs typeface="Calibri"/>
              <a:sym typeface="Calibri"/>
            </a:endParaRPr>
          </a:p>
        </p:txBody>
      </p:sp>
      <p:sp>
        <p:nvSpPr>
          <p:cNvPr id="435" name="Google Shape;435;p37"/>
          <p:cNvSpPr/>
          <p:nvPr/>
        </p:nvSpPr>
        <p:spPr>
          <a:xfrm>
            <a:off x="411491" y="514350"/>
            <a:ext cx="8321033" cy="65151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3203B"/>
              </a:buClr>
              <a:buSzPts val="1800"/>
              <a:buFont typeface="Calibri"/>
              <a:buNone/>
            </a:pPr>
            <a:r>
              <a:rPr b="1" lang="en" sz="2000">
                <a:solidFill>
                  <a:srgbClr val="13203B"/>
                </a:solidFill>
                <a:latin typeface="Calibri"/>
                <a:ea typeface="Calibri"/>
                <a:cs typeface="Calibri"/>
                <a:sym typeface="Calibri"/>
              </a:rPr>
              <a:t>Experience, hosting, and region emerge as the strongest independent predictors</a:t>
            </a:r>
            <a:endParaRPr b="0" i="0" sz="2000" u="none" cap="none" strike="noStrike">
              <a:solidFill>
                <a:schemeClr val="dk1"/>
              </a:solidFill>
              <a:latin typeface="Calibri"/>
              <a:ea typeface="Calibri"/>
              <a:cs typeface="Calibri"/>
              <a:sym typeface="Calibri"/>
            </a:endParaRPr>
          </a:p>
        </p:txBody>
      </p:sp>
      <p:pic>
        <p:nvPicPr>
          <p:cNvPr descr="/sessions/vibrant-modest-knuth/mnt/outputs/deck/odds_ratio_sig.png" id="436" name="Google Shape;436;p37"/>
          <p:cNvPicPr preferRelativeResize="0"/>
          <p:nvPr/>
        </p:nvPicPr>
        <p:blipFill rotWithShape="1">
          <a:blip r:embed="rId3">
            <a:alphaModFix/>
          </a:blip>
          <a:srcRect b="0" l="0" r="0" t="0"/>
          <a:stretch/>
        </p:blipFill>
        <p:spPr>
          <a:xfrm>
            <a:off x="411500" y="1303025"/>
            <a:ext cx="5212075" cy="3456424"/>
          </a:xfrm>
          <a:prstGeom prst="rect">
            <a:avLst/>
          </a:prstGeom>
          <a:noFill/>
          <a:ln>
            <a:noFill/>
          </a:ln>
        </p:spPr>
      </p:pic>
      <p:sp>
        <p:nvSpPr>
          <p:cNvPr id="437" name="Google Shape;437;p37"/>
          <p:cNvSpPr/>
          <p:nvPr/>
        </p:nvSpPr>
        <p:spPr>
          <a:xfrm>
            <a:off x="5829450" y="1303025"/>
            <a:ext cx="2903100" cy="3270600"/>
          </a:xfrm>
          <a:prstGeom prst="roundRect">
            <a:avLst>
              <a:gd fmla="val 3137" name="adj"/>
            </a:avLst>
          </a:prstGeom>
          <a:solidFill>
            <a:srgbClr val="F3F5F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438" name="Google Shape;438;p37"/>
          <p:cNvSpPr/>
          <p:nvPr/>
        </p:nvSpPr>
        <p:spPr>
          <a:xfrm>
            <a:off x="6074811" y="1440180"/>
            <a:ext cx="25602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9973"/>
              </a:buClr>
              <a:buSzPts val="800"/>
              <a:buFont typeface="Calibri"/>
              <a:buNone/>
            </a:pPr>
            <a:r>
              <a:rPr b="1" lang="en" sz="1200">
                <a:solidFill>
                  <a:srgbClr val="2E9973"/>
                </a:solidFill>
                <a:latin typeface="Calibri"/>
                <a:ea typeface="Calibri"/>
                <a:cs typeface="Calibri"/>
                <a:sym typeface="Calibri"/>
              </a:rPr>
              <a:t>WHAT THE MODEL SHOWS</a:t>
            </a:r>
            <a:endParaRPr b="0" i="0" sz="1200" u="none" cap="none" strike="noStrike">
              <a:solidFill>
                <a:schemeClr val="dk1"/>
              </a:solidFill>
              <a:latin typeface="Calibri"/>
              <a:ea typeface="Calibri"/>
              <a:cs typeface="Calibri"/>
              <a:sym typeface="Calibri"/>
            </a:endParaRPr>
          </a:p>
        </p:txBody>
      </p:sp>
      <p:sp>
        <p:nvSpPr>
          <p:cNvPr id="439" name="Google Shape;439;p37"/>
          <p:cNvSpPr/>
          <p:nvPr/>
        </p:nvSpPr>
        <p:spPr>
          <a:xfrm>
            <a:off x="6035225" y="2728442"/>
            <a:ext cx="2526000" cy="788700"/>
          </a:xfrm>
          <a:prstGeom prst="rect">
            <a:avLst/>
          </a:prstGeom>
          <a:noFill/>
          <a:ln>
            <a:noFill/>
          </a:ln>
        </p:spPr>
        <p:txBody>
          <a:bodyPr anchorCtr="0" anchor="ctr" bIns="0" lIns="0" spcFirstLastPara="1" rIns="0" wrap="square" tIns="0">
            <a:noAutofit/>
          </a:bodyPr>
          <a:lstStyle/>
          <a:p>
            <a:pPr indent="-184150" lvl="0" marL="228600" rtl="0" algn="l">
              <a:lnSpc>
                <a:spcPct val="100000"/>
              </a:lnSpc>
              <a:spcBef>
                <a:spcPts val="0"/>
              </a:spcBef>
              <a:spcAft>
                <a:spcPts val="0"/>
              </a:spcAft>
              <a:buClr>
                <a:schemeClr val="dk1"/>
              </a:buClr>
              <a:buSzPts val="1100"/>
              <a:buFont typeface="Calibri"/>
              <a:buChar char="●"/>
            </a:pPr>
            <a:r>
              <a:rPr b="1" lang="en" sz="1100">
                <a:solidFill>
                  <a:schemeClr val="dk1"/>
                </a:solidFill>
                <a:latin typeface="Calibri"/>
                <a:ea typeface="Calibri"/>
                <a:cs typeface="Calibri"/>
                <a:sym typeface="Calibri"/>
              </a:rPr>
              <a:t>Host nations have the largest competitive advantage</a:t>
            </a:r>
            <a:r>
              <a:rPr lang="en" sz="1100">
                <a:solidFill>
                  <a:schemeClr val="dk1"/>
                </a:solidFill>
                <a:latin typeface="Calibri"/>
                <a:ea typeface="Calibri"/>
                <a:cs typeface="Calibri"/>
                <a:sym typeface="Calibri"/>
              </a:rPr>
              <a:t>, with substantially higher odds of advancing than non-hosts.</a:t>
            </a:r>
            <a:endParaRPr sz="1100">
              <a:solidFill>
                <a:schemeClr val="dk1"/>
              </a:solidFill>
              <a:latin typeface="Calibri"/>
              <a:ea typeface="Calibri"/>
              <a:cs typeface="Calibri"/>
              <a:sym typeface="Calibri"/>
            </a:endParaRPr>
          </a:p>
          <a:p>
            <a:pPr indent="-184150" lvl="0" marL="228600" rtl="0" algn="l">
              <a:lnSpc>
                <a:spcPct val="100000"/>
              </a:lnSpc>
              <a:spcBef>
                <a:spcPts val="1000"/>
              </a:spcBef>
              <a:spcAft>
                <a:spcPts val="0"/>
              </a:spcAft>
              <a:buClr>
                <a:schemeClr val="dk1"/>
              </a:buClr>
              <a:buSzPts val="1100"/>
              <a:buFont typeface="Calibri"/>
              <a:buChar char="●"/>
            </a:pPr>
            <a:r>
              <a:rPr b="1" lang="en" sz="1100">
                <a:solidFill>
                  <a:schemeClr val="dk1"/>
                </a:solidFill>
                <a:latin typeface="Calibri"/>
                <a:ea typeface="Calibri"/>
                <a:cs typeface="Calibri"/>
                <a:sym typeface="Calibri"/>
              </a:rPr>
              <a:t>Prior World Cup experience increases the likelihood of advancement</a:t>
            </a:r>
            <a:r>
              <a:rPr lang="en" sz="1100">
                <a:solidFill>
                  <a:schemeClr val="dk1"/>
                </a:solidFill>
                <a:latin typeface="Calibri"/>
                <a:ea typeface="Calibri"/>
                <a:cs typeface="Calibri"/>
                <a:sym typeface="Calibri"/>
              </a:rPr>
              <a:t>, even after accounting for region and squad characteristics.</a:t>
            </a:r>
            <a:endParaRPr sz="1100">
              <a:solidFill>
                <a:schemeClr val="dk1"/>
              </a:solidFill>
              <a:latin typeface="Calibri"/>
              <a:ea typeface="Calibri"/>
              <a:cs typeface="Calibri"/>
              <a:sym typeface="Calibri"/>
            </a:endParaRPr>
          </a:p>
          <a:p>
            <a:pPr indent="-184150" lvl="0" marL="228600" rtl="0" algn="l">
              <a:lnSpc>
                <a:spcPct val="100000"/>
              </a:lnSpc>
              <a:spcBef>
                <a:spcPts val="1000"/>
              </a:spcBef>
              <a:spcAft>
                <a:spcPts val="0"/>
              </a:spcAft>
              <a:buClr>
                <a:schemeClr val="dk1"/>
              </a:buClr>
              <a:buSzPts val="1100"/>
              <a:buFont typeface="Calibri"/>
              <a:buChar char="●"/>
            </a:pPr>
            <a:r>
              <a:rPr b="1" lang="en" sz="1100">
                <a:solidFill>
                  <a:schemeClr val="dk1"/>
                </a:solidFill>
                <a:latin typeface="Calibri"/>
                <a:ea typeface="Calibri"/>
                <a:cs typeface="Calibri"/>
                <a:sym typeface="Calibri"/>
              </a:rPr>
              <a:t>Teams from AFC, CAF, and CONCACAF have significantly lower odds of advancement than UEFA teams</a:t>
            </a:r>
            <a:r>
              <a:rPr lang="en" sz="1100">
                <a:solidFill>
                  <a:schemeClr val="dk1"/>
                </a:solidFill>
                <a:latin typeface="Calibri"/>
                <a:ea typeface="Calibri"/>
                <a:cs typeface="Calibri"/>
                <a:sym typeface="Calibri"/>
              </a:rPr>
              <a:t>, while South America (CONMEBOL) is statistically comparable to UEFA after adjustment.</a:t>
            </a:r>
            <a:endParaRPr sz="1100">
              <a:solidFill>
                <a:schemeClr val="dk1"/>
              </a:solidFill>
              <a:latin typeface="Calibri"/>
              <a:ea typeface="Calibri"/>
              <a:cs typeface="Calibri"/>
              <a:sym typeface="Calibri"/>
            </a:endParaRPr>
          </a:p>
          <a:p>
            <a:pPr indent="0" lvl="0" marL="0" marR="0" rtl="0" algn="l">
              <a:lnSpc>
                <a:spcPct val="100000"/>
              </a:lnSpc>
              <a:spcBef>
                <a:spcPts val="1000"/>
              </a:spcBef>
              <a:spcAft>
                <a:spcPts val="1000"/>
              </a:spcAft>
              <a:buClr>
                <a:srgbClr val="13203B"/>
              </a:buClr>
              <a:buSzPts val="900"/>
              <a:buFont typeface="Calibri"/>
              <a:buNone/>
            </a:pPr>
            <a:r>
              <a:t/>
            </a:r>
            <a:endParaRPr sz="800">
              <a:solidFill>
                <a:srgbClr val="13203B"/>
              </a:solidFill>
              <a:latin typeface="Calibri"/>
              <a:ea typeface="Calibri"/>
              <a:cs typeface="Calibri"/>
              <a:sym typeface="Calibri"/>
            </a:endParaRPr>
          </a:p>
        </p:txBody>
      </p:sp>
      <p:sp>
        <p:nvSpPr>
          <p:cNvPr id="440" name="Google Shape;440;p37"/>
          <p:cNvSpPr/>
          <p:nvPr/>
        </p:nvSpPr>
        <p:spPr>
          <a:xfrm>
            <a:off x="411491" y="4800600"/>
            <a:ext cx="4800728"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592AA"/>
              </a:buClr>
              <a:buSzPts val="700"/>
              <a:buFont typeface="Calibri"/>
              <a:buNone/>
            </a:pPr>
            <a:r>
              <a:rPr b="0" i="0" lang="en" sz="700" u="none" cap="none" strike="noStrike">
                <a:solidFill>
                  <a:srgbClr val="8592AA"/>
                </a:solidFill>
                <a:latin typeface="Calibri"/>
                <a:ea typeface="Calibri"/>
                <a:cs typeface="Calibri"/>
                <a:sym typeface="Calibri"/>
              </a:rPr>
              <a:t>Shiu &amp; Nguyen  |  STAT 418, Tools in Data Science  |  UCLA Summer 2026</a:t>
            </a:r>
            <a:endParaRPr b="0" i="0" sz="700" u="none" cap="none" strike="noStrike">
              <a:solidFill>
                <a:schemeClr val="dk1"/>
              </a:solidFill>
              <a:latin typeface="Calibri"/>
              <a:ea typeface="Calibri"/>
              <a:cs typeface="Calibri"/>
              <a:sym typeface="Calibri"/>
            </a:endParaRPr>
          </a:p>
        </p:txBody>
      </p:sp>
      <p:sp>
        <p:nvSpPr>
          <p:cNvPr id="441" name="Google Shape;441;p37"/>
          <p:cNvSpPr/>
          <p:nvPr/>
        </p:nvSpPr>
        <p:spPr>
          <a:xfrm>
            <a:off x="8458197" y="4800600"/>
            <a:ext cx="411491" cy="2057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592AA"/>
              </a:buClr>
              <a:buSzPts val="800"/>
              <a:buFont typeface="Calibri"/>
              <a:buNone/>
            </a:pPr>
            <a:r>
              <a:rPr b="0" i="0" lang="en" sz="800" u="none" cap="none" strike="noStrike">
                <a:solidFill>
                  <a:srgbClr val="8592AA"/>
                </a:solidFill>
                <a:latin typeface="Calibri"/>
                <a:ea typeface="Calibri"/>
                <a:cs typeface="Calibri"/>
                <a:sym typeface="Calibri"/>
              </a:rPr>
              <a:t>18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6" name="Shape 446"/>
        <p:cNvGrpSpPr/>
        <p:nvPr/>
      </p:nvGrpSpPr>
      <p:grpSpPr>
        <a:xfrm>
          <a:off x="0" y="0"/>
          <a:ext cx="0" cy="0"/>
          <a:chOff x="0" y="0"/>
          <a:chExt cx="0" cy="0"/>
        </a:xfrm>
      </p:grpSpPr>
      <p:sp>
        <p:nvSpPr>
          <p:cNvPr id="447" name="Google Shape;447;p38"/>
          <p:cNvSpPr/>
          <p:nvPr/>
        </p:nvSpPr>
        <p:spPr>
          <a:xfrm>
            <a:off x="411491" y="308610"/>
            <a:ext cx="8321033"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9973"/>
              </a:buClr>
              <a:buSzPts val="800"/>
              <a:buFont typeface="Calibri"/>
              <a:buNone/>
            </a:pPr>
            <a:r>
              <a:rPr b="1" i="0" lang="en" sz="800" u="none" cap="none" strike="noStrike">
                <a:solidFill>
                  <a:srgbClr val="2E9973"/>
                </a:solidFill>
                <a:latin typeface="Calibri"/>
                <a:ea typeface="Calibri"/>
                <a:cs typeface="Calibri"/>
                <a:sym typeface="Calibri"/>
              </a:rPr>
              <a:t>RESULTS · MODEL PERFORMANCE</a:t>
            </a:r>
            <a:endParaRPr b="0" i="0" sz="800" u="none" cap="none" strike="noStrike">
              <a:solidFill>
                <a:schemeClr val="dk1"/>
              </a:solidFill>
              <a:latin typeface="Calibri"/>
              <a:ea typeface="Calibri"/>
              <a:cs typeface="Calibri"/>
              <a:sym typeface="Calibri"/>
            </a:endParaRPr>
          </a:p>
        </p:txBody>
      </p:sp>
      <p:sp>
        <p:nvSpPr>
          <p:cNvPr id="448" name="Google Shape;448;p38"/>
          <p:cNvSpPr/>
          <p:nvPr/>
        </p:nvSpPr>
        <p:spPr>
          <a:xfrm>
            <a:off x="411491" y="514350"/>
            <a:ext cx="8321033" cy="65151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3203B"/>
              </a:buClr>
              <a:buSzPts val="1800"/>
              <a:buFont typeface="Calibri"/>
              <a:buNone/>
            </a:pPr>
            <a:r>
              <a:rPr b="1" i="0" lang="en" sz="1800" u="none" cap="none" strike="noStrike">
                <a:solidFill>
                  <a:srgbClr val="13203B"/>
                </a:solidFill>
                <a:latin typeface="Calibri"/>
                <a:ea typeface="Calibri"/>
                <a:cs typeface="Calibri"/>
                <a:sym typeface="Calibri"/>
              </a:rPr>
              <a:t>Trained on 1970–2006, the model holds a 15-point edge on tournaments it never saw</a:t>
            </a:r>
            <a:endParaRPr b="0" i="0" sz="1800" u="none" cap="none" strike="noStrike">
              <a:solidFill>
                <a:schemeClr val="dk1"/>
              </a:solidFill>
              <a:latin typeface="Calibri"/>
              <a:ea typeface="Calibri"/>
              <a:cs typeface="Calibri"/>
              <a:sym typeface="Calibri"/>
            </a:endParaRPr>
          </a:p>
        </p:txBody>
      </p:sp>
      <p:sp>
        <p:nvSpPr>
          <p:cNvPr id="449" name="Google Shape;449;p38"/>
          <p:cNvSpPr/>
          <p:nvPr/>
        </p:nvSpPr>
        <p:spPr>
          <a:xfrm>
            <a:off x="411480" y="1252728"/>
            <a:ext cx="1920240" cy="1207008"/>
          </a:xfrm>
          <a:prstGeom prst="roundRect">
            <a:avLst>
              <a:gd fmla="val 5000" name="adj"/>
            </a:avLst>
          </a:prstGeom>
          <a:solidFill>
            <a:srgbClr val="13203B"/>
          </a:solidFill>
          <a:ln>
            <a:noFill/>
          </a:ln>
        </p:spPr>
        <p:txBody>
          <a:bodyPr anchorCtr="0" anchor="ctr" bIns="74325" lIns="74325" spcFirstLastPara="1" rIns="74325" wrap="square" tIns="74325">
            <a:noAutofit/>
          </a:bodyPr>
          <a:lstStyle/>
          <a:p>
            <a:pPr indent="0" lvl="0" marL="0" marR="0" rtl="0" algn="l">
              <a:lnSpc>
                <a:spcPct val="100000"/>
              </a:lnSpc>
              <a:spcBef>
                <a:spcPts val="0"/>
              </a:spcBef>
              <a:spcAft>
                <a:spcPts val="0"/>
              </a:spcAft>
              <a:buClr>
                <a:srgbClr val="000000"/>
              </a:buClr>
              <a:buSzPts val="1192"/>
              <a:buFont typeface="Arial"/>
              <a:buNone/>
            </a:pPr>
            <a:r>
              <a:t/>
            </a:r>
            <a:endParaRPr b="0" i="0" sz="1192" u="none" cap="none" strike="noStrike">
              <a:solidFill>
                <a:srgbClr val="000000"/>
              </a:solidFill>
              <a:latin typeface="Arial"/>
              <a:ea typeface="Arial"/>
              <a:cs typeface="Arial"/>
              <a:sym typeface="Arial"/>
            </a:endParaRPr>
          </a:p>
        </p:txBody>
      </p:sp>
      <p:sp>
        <p:nvSpPr>
          <p:cNvPr id="450" name="Google Shape;450;p38"/>
          <p:cNvSpPr/>
          <p:nvPr/>
        </p:nvSpPr>
        <p:spPr>
          <a:xfrm>
            <a:off x="575028" y="1432258"/>
            <a:ext cx="1568700" cy="446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AE8A"/>
              </a:buClr>
              <a:buSzPts val="2168"/>
              <a:buFont typeface="Calibri"/>
              <a:buNone/>
            </a:pPr>
            <a:r>
              <a:rPr b="1" i="0" lang="en" sz="2500" u="none" cap="none" strike="noStrike">
                <a:solidFill>
                  <a:srgbClr val="3FAE8A"/>
                </a:solidFill>
                <a:latin typeface="Calibri"/>
                <a:ea typeface="Calibri"/>
                <a:cs typeface="Calibri"/>
                <a:sym typeface="Calibri"/>
              </a:rPr>
              <a:t>50%</a:t>
            </a:r>
            <a:endParaRPr b="0" i="0" sz="2500" u="none" cap="none" strike="noStrike">
              <a:solidFill>
                <a:schemeClr val="dk1"/>
              </a:solidFill>
              <a:latin typeface="Calibri"/>
              <a:ea typeface="Calibri"/>
              <a:cs typeface="Calibri"/>
              <a:sym typeface="Calibri"/>
            </a:endParaRPr>
          </a:p>
        </p:txBody>
      </p:sp>
      <p:sp>
        <p:nvSpPr>
          <p:cNvPr id="451" name="Google Shape;451;p38"/>
          <p:cNvSpPr/>
          <p:nvPr/>
        </p:nvSpPr>
        <p:spPr>
          <a:xfrm>
            <a:off x="575028" y="1914662"/>
            <a:ext cx="1568700" cy="2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867"/>
              <a:buFont typeface="Calibri"/>
              <a:buNone/>
            </a:pPr>
            <a:r>
              <a:rPr b="1" lang="en" sz="1067">
                <a:solidFill>
                  <a:srgbClr val="FFFFFF"/>
                </a:solidFill>
                <a:latin typeface="Calibri"/>
                <a:ea typeface="Calibri"/>
                <a:cs typeface="Calibri"/>
                <a:sym typeface="Calibri"/>
              </a:rPr>
              <a:t>N</a:t>
            </a:r>
            <a:r>
              <a:rPr b="1" i="0" lang="en" sz="1067" u="none" cap="none" strike="noStrike">
                <a:solidFill>
                  <a:srgbClr val="FFFFFF"/>
                </a:solidFill>
                <a:latin typeface="Calibri"/>
                <a:ea typeface="Calibri"/>
                <a:cs typeface="Calibri"/>
                <a:sym typeface="Calibri"/>
              </a:rPr>
              <a:t>aive baseline</a:t>
            </a:r>
            <a:endParaRPr b="0" i="0" sz="1067" u="none" cap="none" strike="noStrike">
              <a:solidFill>
                <a:schemeClr val="dk1"/>
              </a:solidFill>
              <a:latin typeface="Calibri"/>
              <a:ea typeface="Calibri"/>
              <a:cs typeface="Calibri"/>
              <a:sym typeface="Calibri"/>
            </a:endParaRPr>
          </a:p>
        </p:txBody>
      </p:sp>
      <p:sp>
        <p:nvSpPr>
          <p:cNvPr id="452" name="Google Shape;452;p38"/>
          <p:cNvSpPr/>
          <p:nvPr/>
        </p:nvSpPr>
        <p:spPr>
          <a:xfrm>
            <a:off x="575028" y="2055575"/>
            <a:ext cx="1568700" cy="3345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9FB0C9"/>
              </a:buClr>
              <a:buSzPts val="759"/>
              <a:buFont typeface="Calibri"/>
              <a:buNone/>
            </a:pPr>
            <a:r>
              <a:rPr b="0" i="0" lang="en" sz="959" u="none" cap="none" strike="noStrike">
                <a:solidFill>
                  <a:srgbClr val="9FB0C9"/>
                </a:solidFill>
                <a:latin typeface="Calibri"/>
                <a:ea typeface="Calibri"/>
                <a:cs typeface="Calibri"/>
                <a:sym typeface="Calibri"/>
              </a:rPr>
              <a:t>always guess “advances”</a:t>
            </a:r>
            <a:endParaRPr b="0" i="0" sz="959" u="none" cap="none" strike="noStrike">
              <a:solidFill>
                <a:schemeClr val="dk1"/>
              </a:solidFill>
              <a:latin typeface="Calibri"/>
              <a:ea typeface="Calibri"/>
              <a:cs typeface="Calibri"/>
              <a:sym typeface="Calibri"/>
            </a:endParaRPr>
          </a:p>
        </p:txBody>
      </p:sp>
      <p:sp>
        <p:nvSpPr>
          <p:cNvPr id="453" name="Google Shape;453;p38"/>
          <p:cNvSpPr/>
          <p:nvPr/>
        </p:nvSpPr>
        <p:spPr>
          <a:xfrm>
            <a:off x="2560320" y="1252728"/>
            <a:ext cx="1920240" cy="1207008"/>
          </a:xfrm>
          <a:prstGeom prst="roundRect">
            <a:avLst>
              <a:gd fmla="val 5000" name="adj"/>
            </a:avLst>
          </a:prstGeom>
          <a:solidFill>
            <a:srgbClr val="13203B"/>
          </a:solidFill>
          <a:ln>
            <a:noFill/>
          </a:ln>
        </p:spPr>
        <p:txBody>
          <a:bodyPr anchorCtr="0" anchor="ctr" bIns="74325" lIns="74325" spcFirstLastPara="1" rIns="74325" wrap="square" tIns="74325">
            <a:noAutofit/>
          </a:bodyPr>
          <a:lstStyle/>
          <a:p>
            <a:pPr indent="0" lvl="0" marL="0" marR="0" rtl="0" algn="l">
              <a:lnSpc>
                <a:spcPct val="100000"/>
              </a:lnSpc>
              <a:spcBef>
                <a:spcPts val="0"/>
              </a:spcBef>
              <a:spcAft>
                <a:spcPts val="0"/>
              </a:spcAft>
              <a:buClr>
                <a:srgbClr val="000000"/>
              </a:buClr>
              <a:buSzPts val="1192"/>
              <a:buFont typeface="Arial"/>
              <a:buNone/>
            </a:pPr>
            <a:r>
              <a:t/>
            </a:r>
            <a:endParaRPr b="0" i="0" sz="1192" u="none" cap="none" strike="noStrike">
              <a:solidFill>
                <a:srgbClr val="000000"/>
              </a:solidFill>
              <a:latin typeface="Arial"/>
              <a:ea typeface="Arial"/>
              <a:cs typeface="Arial"/>
              <a:sym typeface="Arial"/>
            </a:endParaRPr>
          </a:p>
        </p:txBody>
      </p:sp>
      <p:sp>
        <p:nvSpPr>
          <p:cNvPr id="454" name="Google Shape;454;p38"/>
          <p:cNvSpPr/>
          <p:nvPr/>
        </p:nvSpPr>
        <p:spPr>
          <a:xfrm>
            <a:off x="2723868" y="1432258"/>
            <a:ext cx="1568700" cy="446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AE8A"/>
              </a:buClr>
              <a:buSzPts val="2168"/>
              <a:buFont typeface="Calibri"/>
              <a:buNone/>
            </a:pPr>
            <a:r>
              <a:rPr b="1" i="0" lang="en" sz="2500" u="none" cap="none" strike="noStrike">
                <a:solidFill>
                  <a:srgbClr val="3FAE8A"/>
                </a:solidFill>
                <a:latin typeface="Calibri"/>
                <a:ea typeface="Calibri"/>
                <a:cs typeface="Calibri"/>
                <a:sym typeface="Calibri"/>
              </a:rPr>
              <a:t>65%</a:t>
            </a:r>
            <a:endParaRPr b="0" i="0" sz="2500" u="none" cap="none" strike="noStrike">
              <a:solidFill>
                <a:schemeClr val="dk1"/>
              </a:solidFill>
              <a:latin typeface="Calibri"/>
              <a:ea typeface="Calibri"/>
              <a:cs typeface="Calibri"/>
              <a:sym typeface="Calibri"/>
            </a:endParaRPr>
          </a:p>
        </p:txBody>
      </p:sp>
      <p:sp>
        <p:nvSpPr>
          <p:cNvPr id="455" name="Google Shape;455;p38"/>
          <p:cNvSpPr/>
          <p:nvPr/>
        </p:nvSpPr>
        <p:spPr>
          <a:xfrm>
            <a:off x="2723868" y="1914662"/>
            <a:ext cx="1568700" cy="2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867"/>
              <a:buFont typeface="Calibri"/>
              <a:buNone/>
            </a:pPr>
            <a:r>
              <a:rPr b="1" lang="en" sz="1067">
                <a:solidFill>
                  <a:srgbClr val="FFFFFF"/>
                </a:solidFill>
                <a:latin typeface="Calibri"/>
                <a:ea typeface="Calibri"/>
                <a:cs typeface="Calibri"/>
                <a:sym typeface="Calibri"/>
              </a:rPr>
              <a:t>O</a:t>
            </a:r>
            <a:r>
              <a:rPr b="1" i="0" lang="en" sz="1067" u="none" cap="none" strike="noStrike">
                <a:solidFill>
                  <a:srgbClr val="FFFFFF"/>
                </a:solidFill>
                <a:latin typeface="Calibri"/>
                <a:ea typeface="Calibri"/>
                <a:cs typeface="Calibri"/>
                <a:sym typeface="Calibri"/>
              </a:rPr>
              <a:t>ut-of-sample accuracy</a:t>
            </a:r>
            <a:endParaRPr b="0" i="0" sz="1067" u="none" cap="none" strike="noStrike">
              <a:solidFill>
                <a:schemeClr val="dk1"/>
              </a:solidFill>
              <a:latin typeface="Calibri"/>
              <a:ea typeface="Calibri"/>
              <a:cs typeface="Calibri"/>
              <a:sym typeface="Calibri"/>
            </a:endParaRPr>
          </a:p>
        </p:txBody>
      </p:sp>
      <p:sp>
        <p:nvSpPr>
          <p:cNvPr id="456" name="Google Shape;456;p38"/>
          <p:cNvSpPr/>
          <p:nvPr/>
        </p:nvSpPr>
        <p:spPr>
          <a:xfrm>
            <a:off x="2723868" y="2055575"/>
            <a:ext cx="1568700" cy="3345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9FB0C9"/>
              </a:buClr>
              <a:buSzPts val="759"/>
              <a:buFont typeface="Calibri"/>
              <a:buNone/>
            </a:pPr>
            <a:r>
              <a:rPr b="0" i="0" lang="en" sz="959" u="none" cap="none" strike="noStrike">
                <a:solidFill>
                  <a:srgbClr val="9FB0C9"/>
                </a:solidFill>
                <a:latin typeface="Calibri"/>
                <a:ea typeface="Calibri"/>
                <a:cs typeface="Calibri"/>
                <a:sym typeface="Calibri"/>
              </a:rPr>
              <a:t>2010–2022, held out</a:t>
            </a:r>
            <a:endParaRPr b="0" i="0" sz="959" u="none" cap="none" strike="noStrike">
              <a:solidFill>
                <a:schemeClr val="dk1"/>
              </a:solidFill>
              <a:latin typeface="Calibri"/>
              <a:ea typeface="Calibri"/>
              <a:cs typeface="Calibri"/>
              <a:sym typeface="Calibri"/>
            </a:endParaRPr>
          </a:p>
        </p:txBody>
      </p:sp>
      <p:sp>
        <p:nvSpPr>
          <p:cNvPr id="457" name="Google Shape;457;p38"/>
          <p:cNvSpPr/>
          <p:nvPr/>
        </p:nvSpPr>
        <p:spPr>
          <a:xfrm>
            <a:off x="411480" y="2633472"/>
            <a:ext cx="1920240" cy="1207008"/>
          </a:xfrm>
          <a:prstGeom prst="roundRect">
            <a:avLst>
              <a:gd fmla="val 5000" name="adj"/>
            </a:avLst>
          </a:prstGeom>
          <a:solidFill>
            <a:srgbClr val="13203B"/>
          </a:solidFill>
          <a:ln>
            <a:noFill/>
          </a:ln>
        </p:spPr>
        <p:txBody>
          <a:bodyPr anchorCtr="0" anchor="ctr" bIns="74325" lIns="74325" spcFirstLastPara="1" rIns="74325" wrap="square" tIns="74325">
            <a:noAutofit/>
          </a:bodyPr>
          <a:lstStyle/>
          <a:p>
            <a:pPr indent="0" lvl="0" marL="0" marR="0" rtl="0" algn="l">
              <a:lnSpc>
                <a:spcPct val="100000"/>
              </a:lnSpc>
              <a:spcBef>
                <a:spcPts val="0"/>
              </a:spcBef>
              <a:spcAft>
                <a:spcPts val="0"/>
              </a:spcAft>
              <a:buClr>
                <a:srgbClr val="000000"/>
              </a:buClr>
              <a:buSzPts val="1192"/>
              <a:buFont typeface="Arial"/>
              <a:buNone/>
            </a:pPr>
            <a:r>
              <a:t/>
            </a:r>
            <a:endParaRPr b="0" i="0" sz="1192" u="none" cap="none" strike="noStrike">
              <a:solidFill>
                <a:srgbClr val="000000"/>
              </a:solidFill>
              <a:latin typeface="Arial"/>
              <a:ea typeface="Arial"/>
              <a:cs typeface="Arial"/>
              <a:sym typeface="Arial"/>
            </a:endParaRPr>
          </a:p>
        </p:txBody>
      </p:sp>
      <p:sp>
        <p:nvSpPr>
          <p:cNvPr id="458" name="Google Shape;458;p38"/>
          <p:cNvSpPr/>
          <p:nvPr/>
        </p:nvSpPr>
        <p:spPr>
          <a:xfrm>
            <a:off x="575028" y="2813003"/>
            <a:ext cx="1568700" cy="446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AE8A"/>
              </a:buClr>
              <a:buSzPts val="2168"/>
              <a:buFont typeface="Calibri"/>
              <a:buNone/>
            </a:pPr>
            <a:r>
              <a:rPr b="1" i="0" lang="en" sz="2500" u="none" cap="none" strike="noStrike">
                <a:solidFill>
                  <a:srgbClr val="3FAE8A"/>
                </a:solidFill>
                <a:latin typeface="Calibri"/>
                <a:ea typeface="Calibri"/>
                <a:cs typeface="Calibri"/>
                <a:sym typeface="Calibri"/>
              </a:rPr>
              <a:t>0.69</a:t>
            </a:r>
            <a:endParaRPr b="0" i="0" sz="2500" u="none" cap="none" strike="noStrike">
              <a:solidFill>
                <a:schemeClr val="dk1"/>
              </a:solidFill>
              <a:latin typeface="Calibri"/>
              <a:ea typeface="Calibri"/>
              <a:cs typeface="Calibri"/>
              <a:sym typeface="Calibri"/>
            </a:endParaRPr>
          </a:p>
        </p:txBody>
      </p:sp>
      <p:sp>
        <p:nvSpPr>
          <p:cNvPr id="459" name="Google Shape;459;p38"/>
          <p:cNvSpPr/>
          <p:nvPr/>
        </p:nvSpPr>
        <p:spPr>
          <a:xfrm>
            <a:off x="575028" y="3295406"/>
            <a:ext cx="1568700" cy="2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867"/>
              <a:buFont typeface="Calibri"/>
              <a:buNone/>
            </a:pPr>
            <a:r>
              <a:rPr b="1" lang="en" sz="1067">
                <a:solidFill>
                  <a:srgbClr val="FFFFFF"/>
                </a:solidFill>
                <a:latin typeface="Calibri"/>
                <a:ea typeface="Calibri"/>
                <a:cs typeface="Calibri"/>
                <a:sym typeface="Calibri"/>
              </a:rPr>
              <a:t>O</a:t>
            </a:r>
            <a:r>
              <a:rPr b="1" i="0" lang="en" sz="1067" u="none" cap="none" strike="noStrike">
                <a:solidFill>
                  <a:srgbClr val="FFFFFF"/>
                </a:solidFill>
                <a:latin typeface="Calibri"/>
                <a:ea typeface="Calibri"/>
                <a:cs typeface="Calibri"/>
                <a:sym typeface="Calibri"/>
              </a:rPr>
              <a:t>ut-of-sample AUC</a:t>
            </a:r>
            <a:endParaRPr b="0" i="0" sz="1067" u="none" cap="none" strike="noStrike">
              <a:solidFill>
                <a:schemeClr val="dk1"/>
              </a:solidFill>
              <a:latin typeface="Calibri"/>
              <a:ea typeface="Calibri"/>
              <a:cs typeface="Calibri"/>
              <a:sym typeface="Calibri"/>
            </a:endParaRPr>
          </a:p>
        </p:txBody>
      </p:sp>
      <p:sp>
        <p:nvSpPr>
          <p:cNvPr id="460" name="Google Shape;460;p38"/>
          <p:cNvSpPr/>
          <p:nvPr/>
        </p:nvSpPr>
        <p:spPr>
          <a:xfrm>
            <a:off x="575028" y="3436319"/>
            <a:ext cx="1568700" cy="3345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9FB0C9"/>
              </a:buClr>
              <a:buSzPts val="759"/>
              <a:buFont typeface="Calibri"/>
              <a:buNone/>
            </a:pPr>
            <a:r>
              <a:rPr b="0" i="0" lang="en" sz="959" u="none" cap="none" strike="noStrike">
                <a:solidFill>
                  <a:srgbClr val="9FB0C9"/>
                </a:solidFill>
                <a:latin typeface="Calibri"/>
                <a:ea typeface="Calibri"/>
                <a:cs typeface="Calibri"/>
                <a:sym typeface="Calibri"/>
              </a:rPr>
              <a:t>0.50 = coin flip, 1.00 = perfect</a:t>
            </a:r>
            <a:endParaRPr b="0" i="0" sz="959" u="none" cap="none" strike="noStrike">
              <a:solidFill>
                <a:schemeClr val="dk1"/>
              </a:solidFill>
              <a:latin typeface="Calibri"/>
              <a:ea typeface="Calibri"/>
              <a:cs typeface="Calibri"/>
              <a:sym typeface="Calibri"/>
            </a:endParaRPr>
          </a:p>
        </p:txBody>
      </p:sp>
      <p:sp>
        <p:nvSpPr>
          <p:cNvPr id="461" name="Google Shape;461;p38"/>
          <p:cNvSpPr/>
          <p:nvPr/>
        </p:nvSpPr>
        <p:spPr>
          <a:xfrm>
            <a:off x="2560320" y="2633472"/>
            <a:ext cx="1920240" cy="1207008"/>
          </a:xfrm>
          <a:prstGeom prst="roundRect">
            <a:avLst>
              <a:gd fmla="val 5000" name="adj"/>
            </a:avLst>
          </a:prstGeom>
          <a:solidFill>
            <a:srgbClr val="13203B"/>
          </a:solidFill>
          <a:ln>
            <a:noFill/>
          </a:ln>
        </p:spPr>
        <p:txBody>
          <a:bodyPr anchorCtr="0" anchor="ctr" bIns="74325" lIns="74325" spcFirstLastPara="1" rIns="74325" wrap="square" tIns="74325">
            <a:noAutofit/>
          </a:bodyPr>
          <a:lstStyle/>
          <a:p>
            <a:pPr indent="0" lvl="0" marL="0" marR="0" rtl="0" algn="l">
              <a:lnSpc>
                <a:spcPct val="100000"/>
              </a:lnSpc>
              <a:spcBef>
                <a:spcPts val="0"/>
              </a:spcBef>
              <a:spcAft>
                <a:spcPts val="0"/>
              </a:spcAft>
              <a:buClr>
                <a:srgbClr val="000000"/>
              </a:buClr>
              <a:buSzPts val="1192"/>
              <a:buFont typeface="Arial"/>
              <a:buNone/>
            </a:pPr>
            <a:r>
              <a:t/>
            </a:r>
            <a:endParaRPr b="0" i="0" sz="1192" u="none" cap="none" strike="noStrike">
              <a:solidFill>
                <a:srgbClr val="000000"/>
              </a:solidFill>
              <a:latin typeface="Arial"/>
              <a:ea typeface="Arial"/>
              <a:cs typeface="Arial"/>
              <a:sym typeface="Arial"/>
            </a:endParaRPr>
          </a:p>
        </p:txBody>
      </p:sp>
      <p:sp>
        <p:nvSpPr>
          <p:cNvPr id="462" name="Google Shape;462;p38"/>
          <p:cNvSpPr/>
          <p:nvPr/>
        </p:nvSpPr>
        <p:spPr>
          <a:xfrm>
            <a:off x="2723868" y="2813003"/>
            <a:ext cx="1568700" cy="446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AE8A"/>
              </a:buClr>
              <a:buSzPts val="2168"/>
              <a:buFont typeface="Calibri"/>
              <a:buNone/>
            </a:pPr>
            <a:r>
              <a:rPr b="1" i="0" lang="en" sz="2500" u="none" cap="none" strike="noStrike">
                <a:solidFill>
                  <a:srgbClr val="3FAE8A"/>
                </a:solidFill>
                <a:latin typeface="Calibri"/>
                <a:ea typeface="Calibri"/>
                <a:cs typeface="Calibri"/>
                <a:sym typeface="Calibri"/>
              </a:rPr>
              <a:t>239 / 127</a:t>
            </a:r>
            <a:endParaRPr b="0" i="0" sz="2500" u="none" cap="none" strike="noStrike">
              <a:solidFill>
                <a:schemeClr val="dk1"/>
              </a:solidFill>
              <a:latin typeface="Calibri"/>
              <a:ea typeface="Calibri"/>
              <a:cs typeface="Calibri"/>
              <a:sym typeface="Calibri"/>
            </a:endParaRPr>
          </a:p>
        </p:txBody>
      </p:sp>
      <p:sp>
        <p:nvSpPr>
          <p:cNvPr id="463" name="Google Shape;463;p38"/>
          <p:cNvSpPr/>
          <p:nvPr/>
        </p:nvSpPr>
        <p:spPr>
          <a:xfrm>
            <a:off x="2723868" y="3295406"/>
            <a:ext cx="1568700" cy="2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867"/>
              <a:buFont typeface="Calibri"/>
              <a:buNone/>
            </a:pPr>
            <a:r>
              <a:rPr b="1" lang="en" sz="967">
                <a:solidFill>
                  <a:srgbClr val="FFFFFF"/>
                </a:solidFill>
                <a:latin typeface="Calibri"/>
                <a:ea typeface="Calibri"/>
                <a:cs typeface="Calibri"/>
                <a:sym typeface="Calibri"/>
              </a:rPr>
              <a:t>T</a:t>
            </a:r>
            <a:r>
              <a:rPr b="1" i="0" lang="en" sz="967" u="none" cap="none" strike="noStrike">
                <a:solidFill>
                  <a:srgbClr val="FFFFFF"/>
                </a:solidFill>
                <a:latin typeface="Calibri"/>
                <a:ea typeface="Calibri"/>
                <a:cs typeface="Calibri"/>
                <a:sym typeface="Calibri"/>
              </a:rPr>
              <a:t>rain / test campaigns</a:t>
            </a:r>
            <a:endParaRPr b="0" i="0" sz="967" u="none" cap="none" strike="noStrike">
              <a:solidFill>
                <a:schemeClr val="dk1"/>
              </a:solidFill>
              <a:latin typeface="Calibri"/>
              <a:ea typeface="Calibri"/>
              <a:cs typeface="Calibri"/>
              <a:sym typeface="Calibri"/>
            </a:endParaRPr>
          </a:p>
        </p:txBody>
      </p:sp>
      <p:sp>
        <p:nvSpPr>
          <p:cNvPr id="464" name="Google Shape;464;p38"/>
          <p:cNvSpPr/>
          <p:nvPr/>
        </p:nvSpPr>
        <p:spPr>
          <a:xfrm>
            <a:off x="2723868" y="3460953"/>
            <a:ext cx="1568700" cy="3345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9FB0C9"/>
              </a:buClr>
              <a:buSzPts val="759"/>
              <a:buFont typeface="Calibri"/>
              <a:buNone/>
            </a:pPr>
            <a:r>
              <a:rPr b="0" i="0" lang="en" sz="959" u="none" cap="none" strike="noStrike">
                <a:solidFill>
                  <a:srgbClr val="9FB0C9"/>
                </a:solidFill>
                <a:latin typeface="Calibri"/>
                <a:ea typeface="Calibri"/>
                <a:cs typeface="Calibri"/>
                <a:sym typeface="Calibri"/>
              </a:rPr>
              <a:t>1970–2006 vs 2010–2022</a:t>
            </a:r>
            <a:endParaRPr b="0" i="0" sz="959" u="none" cap="none" strike="noStrike">
              <a:solidFill>
                <a:schemeClr val="dk1"/>
              </a:solidFill>
              <a:latin typeface="Calibri"/>
              <a:ea typeface="Calibri"/>
              <a:cs typeface="Calibri"/>
              <a:sym typeface="Calibri"/>
            </a:endParaRPr>
          </a:p>
        </p:txBody>
      </p:sp>
      <p:sp>
        <p:nvSpPr>
          <p:cNvPr id="465" name="Google Shape;465;p38"/>
          <p:cNvSpPr/>
          <p:nvPr/>
        </p:nvSpPr>
        <p:spPr>
          <a:xfrm>
            <a:off x="411501" y="4046225"/>
            <a:ext cx="4160400" cy="6516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50607F"/>
              </a:buClr>
              <a:buSzPts val="800"/>
              <a:buFont typeface="Calibri"/>
              <a:buNone/>
            </a:pPr>
            <a:r>
              <a:rPr b="0" i="1" lang="en" sz="1000" u="none" cap="none" strike="noStrike">
                <a:solidFill>
                  <a:srgbClr val="50607F"/>
                </a:solidFill>
                <a:latin typeface="Calibri"/>
                <a:ea typeface="Calibri"/>
                <a:cs typeface="Calibri"/>
                <a:sym typeface="Calibri"/>
              </a:rPr>
              <a:t>Fit on the ten tournaments through 2006 and scored on the four most recent, the model calls 65% of campaigns correctly against a 50% naive baseline — evidence of a real, generalizable signal rather than a fit to historical noise.</a:t>
            </a:r>
            <a:endParaRPr b="0" i="1" sz="1000" u="none" cap="none" strike="noStrike">
              <a:solidFill>
                <a:schemeClr val="dk1"/>
              </a:solidFill>
              <a:latin typeface="Calibri"/>
              <a:ea typeface="Calibri"/>
              <a:cs typeface="Calibri"/>
              <a:sym typeface="Calibri"/>
            </a:endParaRPr>
          </a:p>
        </p:txBody>
      </p:sp>
      <p:pic>
        <p:nvPicPr>
          <p:cNvPr descr="/sessions/vibrant-modest-knuth/mnt/outputs/deck/roc_curve.png" id="466" name="Google Shape;466;p38"/>
          <p:cNvPicPr preferRelativeResize="0"/>
          <p:nvPr/>
        </p:nvPicPr>
        <p:blipFill rotWithShape="1">
          <a:blip r:embed="rId3">
            <a:alphaModFix/>
          </a:blip>
          <a:srcRect b="0" l="0" r="0" t="0"/>
          <a:stretch/>
        </p:blipFill>
        <p:spPr>
          <a:xfrm>
            <a:off x="4943725" y="1083025"/>
            <a:ext cx="3242850" cy="3348576"/>
          </a:xfrm>
          <a:prstGeom prst="rect">
            <a:avLst/>
          </a:prstGeom>
          <a:noFill/>
          <a:ln>
            <a:noFill/>
          </a:ln>
        </p:spPr>
      </p:pic>
      <p:sp>
        <p:nvSpPr>
          <p:cNvPr id="467" name="Google Shape;467;p38"/>
          <p:cNvSpPr/>
          <p:nvPr/>
        </p:nvSpPr>
        <p:spPr>
          <a:xfrm>
            <a:off x="411491" y="4800600"/>
            <a:ext cx="4800728"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592AA"/>
              </a:buClr>
              <a:buSzPts val="700"/>
              <a:buFont typeface="Calibri"/>
              <a:buNone/>
            </a:pPr>
            <a:r>
              <a:rPr b="0" i="0" lang="en" sz="700" u="none" cap="none" strike="noStrike">
                <a:solidFill>
                  <a:srgbClr val="8592AA"/>
                </a:solidFill>
                <a:latin typeface="Calibri"/>
                <a:ea typeface="Calibri"/>
                <a:cs typeface="Calibri"/>
                <a:sym typeface="Calibri"/>
              </a:rPr>
              <a:t>Shiu &amp; Nguyen  |  STAT 418, Tools in Data Science  |  UCLA Summer 2026</a:t>
            </a:r>
            <a:endParaRPr b="0" i="0" sz="700" u="none" cap="none" strike="noStrike">
              <a:solidFill>
                <a:schemeClr val="dk1"/>
              </a:solidFill>
              <a:latin typeface="Calibri"/>
              <a:ea typeface="Calibri"/>
              <a:cs typeface="Calibri"/>
              <a:sym typeface="Calibri"/>
            </a:endParaRPr>
          </a:p>
        </p:txBody>
      </p:sp>
      <p:sp>
        <p:nvSpPr>
          <p:cNvPr id="468" name="Google Shape;468;p38"/>
          <p:cNvSpPr/>
          <p:nvPr/>
        </p:nvSpPr>
        <p:spPr>
          <a:xfrm>
            <a:off x="8458197" y="4800600"/>
            <a:ext cx="411491" cy="2057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592AA"/>
              </a:buClr>
              <a:buSzPts val="800"/>
              <a:buFont typeface="Calibri"/>
              <a:buNone/>
            </a:pPr>
            <a:r>
              <a:rPr b="0" i="0" lang="en" sz="800" u="none" cap="none" strike="noStrike">
                <a:solidFill>
                  <a:srgbClr val="8592AA"/>
                </a:solidFill>
                <a:latin typeface="Calibri"/>
                <a:ea typeface="Calibri"/>
                <a:cs typeface="Calibri"/>
                <a:sym typeface="Calibri"/>
              </a:rPr>
              <a:t>19</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2" name="Shape 472"/>
        <p:cNvGrpSpPr/>
        <p:nvPr/>
      </p:nvGrpSpPr>
      <p:grpSpPr>
        <a:xfrm>
          <a:off x="0" y="0"/>
          <a:ext cx="0" cy="0"/>
          <a:chOff x="0" y="0"/>
          <a:chExt cx="0" cy="0"/>
        </a:xfrm>
      </p:grpSpPr>
      <p:sp>
        <p:nvSpPr>
          <p:cNvPr id="473" name="Google Shape;473;p39"/>
          <p:cNvSpPr/>
          <p:nvPr/>
        </p:nvSpPr>
        <p:spPr>
          <a:xfrm>
            <a:off x="411491" y="308610"/>
            <a:ext cx="8321033"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9973"/>
              </a:buClr>
              <a:buSzPts val="800"/>
              <a:buFont typeface="Calibri"/>
              <a:buNone/>
            </a:pPr>
            <a:r>
              <a:rPr b="1" i="0" lang="en" sz="800" u="none" cap="none" strike="noStrike">
                <a:solidFill>
                  <a:srgbClr val="2E9973"/>
                </a:solidFill>
                <a:latin typeface="Calibri"/>
                <a:ea typeface="Calibri"/>
                <a:cs typeface="Calibri"/>
                <a:sym typeface="Calibri"/>
              </a:rPr>
              <a:t>RESULTS · 2026 FORWARD TEST</a:t>
            </a:r>
            <a:endParaRPr b="0" i="0" sz="800" u="none" cap="none" strike="noStrike">
              <a:solidFill>
                <a:schemeClr val="dk1"/>
              </a:solidFill>
              <a:latin typeface="Calibri"/>
              <a:ea typeface="Calibri"/>
              <a:cs typeface="Calibri"/>
              <a:sym typeface="Calibri"/>
            </a:endParaRPr>
          </a:p>
        </p:txBody>
      </p:sp>
      <p:sp>
        <p:nvSpPr>
          <p:cNvPr id="474" name="Google Shape;474;p39"/>
          <p:cNvSpPr/>
          <p:nvPr/>
        </p:nvSpPr>
        <p:spPr>
          <a:xfrm>
            <a:off x="411491" y="514350"/>
            <a:ext cx="8321033" cy="65151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3203B"/>
              </a:buClr>
              <a:buSzPts val="1800"/>
              <a:buFont typeface="Calibri"/>
              <a:buNone/>
            </a:pPr>
            <a:r>
              <a:rPr b="1" lang="en" sz="1800">
                <a:solidFill>
                  <a:srgbClr val="13203B"/>
                </a:solidFill>
                <a:latin typeface="Calibri"/>
                <a:ea typeface="Calibri"/>
                <a:cs typeface="Calibri"/>
                <a:sym typeface="Calibri"/>
              </a:rPr>
              <a:t>The model encounters some issues when predicting 2026 result</a:t>
            </a:r>
            <a:endParaRPr b="0" i="0" sz="1800" u="none" cap="none" strike="noStrike">
              <a:solidFill>
                <a:schemeClr val="dk1"/>
              </a:solidFill>
              <a:latin typeface="Calibri"/>
              <a:ea typeface="Calibri"/>
              <a:cs typeface="Calibri"/>
              <a:sym typeface="Calibri"/>
            </a:endParaRPr>
          </a:p>
        </p:txBody>
      </p:sp>
      <p:sp>
        <p:nvSpPr>
          <p:cNvPr id="475" name="Google Shape;475;p39"/>
          <p:cNvSpPr/>
          <p:nvPr/>
        </p:nvSpPr>
        <p:spPr>
          <a:xfrm>
            <a:off x="411480" y="1252728"/>
            <a:ext cx="1920240" cy="1207008"/>
          </a:xfrm>
          <a:prstGeom prst="roundRect">
            <a:avLst>
              <a:gd fmla="val 5000" name="adj"/>
            </a:avLst>
          </a:prstGeom>
          <a:solidFill>
            <a:srgbClr val="13203B"/>
          </a:solidFill>
          <a:ln>
            <a:noFill/>
          </a:ln>
        </p:spPr>
        <p:txBody>
          <a:bodyPr anchorCtr="0" anchor="ctr" bIns="75400" lIns="75400" spcFirstLastPara="1" rIns="75400" wrap="square" tIns="75400">
            <a:noAutofit/>
          </a:bodyPr>
          <a:lstStyle/>
          <a:p>
            <a:pPr indent="0" lvl="0" marL="0" marR="0" rtl="0" algn="l">
              <a:lnSpc>
                <a:spcPct val="100000"/>
              </a:lnSpc>
              <a:spcBef>
                <a:spcPts val="0"/>
              </a:spcBef>
              <a:spcAft>
                <a:spcPts val="0"/>
              </a:spcAft>
              <a:buClr>
                <a:srgbClr val="000000"/>
              </a:buClr>
              <a:buSzPts val="1209"/>
              <a:buFont typeface="Arial"/>
              <a:buNone/>
            </a:pPr>
            <a:r>
              <a:t/>
            </a:r>
            <a:endParaRPr b="0" i="0" sz="1209" u="none" cap="none" strike="noStrike">
              <a:solidFill>
                <a:srgbClr val="000000"/>
              </a:solidFill>
              <a:latin typeface="Arial"/>
              <a:ea typeface="Arial"/>
              <a:cs typeface="Arial"/>
              <a:sym typeface="Arial"/>
            </a:endParaRPr>
          </a:p>
        </p:txBody>
      </p:sp>
      <p:sp>
        <p:nvSpPr>
          <p:cNvPr id="476" name="Google Shape;476;p39"/>
          <p:cNvSpPr/>
          <p:nvPr/>
        </p:nvSpPr>
        <p:spPr>
          <a:xfrm>
            <a:off x="577372" y="1433536"/>
            <a:ext cx="1591200" cy="452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AE8A"/>
              </a:buClr>
              <a:buSzPts val="2199"/>
              <a:buFont typeface="Calibri"/>
              <a:buNone/>
            </a:pPr>
            <a:r>
              <a:rPr b="1" i="0" lang="en" sz="2500" u="none" cap="none" strike="noStrike">
                <a:solidFill>
                  <a:srgbClr val="3FAE8A"/>
                </a:solidFill>
                <a:latin typeface="Calibri"/>
                <a:ea typeface="Calibri"/>
                <a:cs typeface="Calibri"/>
                <a:sym typeface="Calibri"/>
              </a:rPr>
              <a:t>0.757</a:t>
            </a:r>
            <a:endParaRPr b="0" i="0" sz="2500" u="none" cap="none" strike="noStrike">
              <a:solidFill>
                <a:schemeClr val="dk1"/>
              </a:solidFill>
              <a:latin typeface="Calibri"/>
              <a:ea typeface="Calibri"/>
              <a:cs typeface="Calibri"/>
              <a:sym typeface="Calibri"/>
            </a:endParaRPr>
          </a:p>
        </p:txBody>
      </p:sp>
      <p:sp>
        <p:nvSpPr>
          <p:cNvPr id="477" name="Google Shape;477;p39"/>
          <p:cNvSpPr/>
          <p:nvPr/>
        </p:nvSpPr>
        <p:spPr>
          <a:xfrm>
            <a:off x="577372" y="1906566"/>
            <a:ext cx="1591200" cy="22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880"/>
              <a:buFont typeface="Calibri"/>
              <a:buNone/>
            </a:pPr>
            <a:r>
              <a:rPr b="1" lang="en" sz="1080">
                <a:solidFill>
                  <a:srgbClr val="FFFFFF"/>
                </a:solidFill>
                <a:latin typeface="Calibri"/>
                <a:ea typeface="Calibri"/>
                <a:cs typeface="Calibri"/>
                <a:sym typeface="Calibri"/>
              </a:rPr>
              <a:t>F</a:t>
            </a:r>
            <a:r>
              <a:rPr b="1" i="0" lang="en" sz="1080" u="none" cap="none" strike="noStrike">
                <a:solidFill>
                  <a:srgbClr val="FFFFFF"/>
                </a:solidFill>
                <a:latin typeface="Calibri"/>
                <a:ea typeface="Calibri"/>
                <a:cs typeface="Calibri"/>
                <a:sym typeface="Calibri"/>
              </a:rPr>
              <a:t>orward-test AUC</a:t>
            </a:r>
            <a:endParaRPr b="0" i="0" sz="1080" u="none" cap="none" strike="noStrike">
              <a:solidFill>
                <a:schemeClr val="dk1"/>
              </a:solidFill>
              <a:latin typeface="Calibri"/>
              <a:ea typeface="Calibri"/>
              <a:cs typeface="Calibri"/>
              <a:sym typeface="Calibri"/>
            </a:endParaRPr>
          </a:p>
        </p:txBody>
      </p:sp>
      <p:sp>
        <p:nvSpPr>
          <p:cNvPr id="478" name="Google Shape;478;p39"/>
          <p:cNvSpPr/>
          <p:nvPr/>
        </p:nvSpPr>
        <p:spPr>
          <a:xfrm>
            <a:off x="577372" y="2067088"/>
            <a:ext cx="1591200" cy="3393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9FB0C9"/>
              </a:buClr>
              <a:buSzPts val="770"/>
              <a:buFont typeface="Calibri"/>
              <a:buNone/>
            </a:pPr>
            <a:r>
              <a:rPr b="0" i="0" lang="en" sz="970" u="none" cap="none" strike="noStrike">
                <a:solidFill>
                  <a:srgbClr val="9FB0C9"/>
                </a:solidFill>
                <a:latin typeface="Calibri"/>
                <a:ea typeface="Calibri"/>
                <a:cs typeface="Calibri"/>
                <a:sym typeface="Calibri"/>
              </a:rPr>
              <a:t>2026 field, out-of-sample</a:t>
            </a:r>
            <a:endParaRPr b="0" i="0" sz="970" u="none" cap="none" strike="noStrike">
              <a:solidFill>
                <a:schemeClr val="dk1"/>
              </a:solidFill>
              <a:latin typeface="Calibri"/>
              <a:ea typeface="Calibri"/>
              <a:cs typeface="Calibri"/>
              <a:sym typeface="Calibri"/>
            </a:endParaRPr>
          </a:p>
        </p:txBody>
      </p:sp>
      <p:sp>
        <p:nvSpPr>
          <p:cNvPr id="479" name="Google Shape;479;p39"/>
          <p:cNvSpPr/>
          <p:nvPr/>
        </p:nvSpPr>
        <p:spPr>
          <a:xfrm>
            <a:off x="2560320" y="1252728"/>
            <a:ext cx="1920240" cy="1207008"/>
          </a:xfrm>
          <a:prstGeom prst="roundRect">
            <a:avLst>
              <a:gd fmla="val 5000" name="adj"/>
            </a:avLst>
          </a:prstGeom>
          <a:solidFill>
            <a:srgbClr val="13203B"/>
          </a:solidFill>
          <a:ln>
            <a:noFill/>
          </a:ln>
        </p:spPr>
        <p:txBody>
          <a:bodyPr anchorCtr="0" anchor="ctr" bIns="75400" lIns="75400" spcFirstLastPara="1" rIns="75400" wrap="square" tIns="75400">
            <a:noAutofit/>
          </a:bodyPr>
          <a:lstStyle/>
          <a:p>
            <a:pPr indent="0" lvl="0" marL="0" marR="0" rtl="0" algn="l">
              <a:lnSpc>
                <a:spcPct val="100000"/>
              </a:lnSpc>
              <a:spcBef>
                <a:spcPts val="0"/>
              </a:spcBef>
              <a:spcAft>
                <a:spcPts val="0"/>
              </a:spcAft>
              <a:buClr>
                <a:srgbClr val="000000"/>
              </a:buClr>
              <a:buSzPts val="1209"/>
              <a:buFont typeface="Arial"/>
              <a:buNone/>
            </a:pPr>
            <a:r>
              <a:t/>
            </a:r>
            <a:endParaRPr b="0" i="0" sz="1209" u="none" cap="none" strike="noStrike">
              <a:solidFill>
                <a:srgbClr val="000000"/>
              </a:solidFill>
              <a:latin typeface="Arial"/>
              <a:ea typeface="Arial"/>
              <a:cs typeface="Arial"/>
              <a:sym typeface="Arial"/>
            </a:endParaRPr>
          </a:p>
        </p:txBody>
      </p:sp>
      <p:sp>
        <p:nvSpPr>
          <p:cNvPr id="480" name="Google Shape;480;p39"/>
          <p:cNvSpPr/>
          <p:nvPr/>
        </p:nvSpPr>
        <p:spPr>
          <a:xfrm>
            <a:off x="2726212" y="1433536"/>
            <a:ext cx="1591200" cy="452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AE8A"/>
              </a:buClr>
              <a:buSzPts val="2199"/>
              <a:buFont typeface="Calibri"/>
              <a:buNone/>
            </a:pPr>
            <a:r>
              <a:rPr b="1" i="0" lang="en" sz="2500" u="none" cap="none" strike="noStrike">
                <a:solidFill>
                  <a:srgbClr val="3FAE8A"/>
                </a:solidFill>
                <a:latin typeface="Calibri"/>
                <a:ea typeface="Calibri"/>
                <a:cs typeface="Calibri"/>
                <a:sym typeface="Calibri"/>
              </a:rPr>
              <a:t>0.681</a:t>
            </a:r>
            <a:endParaRPr b="0" i="0" sz="2500" u="none" cap="none" strike="noStrike">
              <a:solidFill>
                <a:schemeClr val="dk1"/>
              </a:solidFill>
              <a:latin typeface="Calibri"/>
              <a:ea typeface="Calibri"/>
              <a:cs typeface="Calibri"/>
              <a:sym typeface="Calibri"/>
            </a:endParaRPr>
          </a:p>
        </p:txBody>
      </p:sp>
      <p:sp>
        <p:nvSpPr>
          <p:cNvPr id="481" name="Google Shape;481;p39"/>
          <p:cNvSpPr/>
          <p:nvPr/>
        </p:nvSpPr>
        <p:spPr>
          <a:xfrm>
            <a:off x="2726212" y="1906566"/>
            <a:ext cx="1591200" cy="22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880"/>
              <a:buFont typeface="Calibri"/>
              <a:buNone/>
            </a:pPr>
            <a:r>
              <a:rPr b="1" lang="en" sz="1080">
                <a:solidFill>
                  <a:srgbClr val="FFFFFF"/>
                </a:solidFill>
                <a:latin typeface="Calibri"/>
                <a:ea typeface="Calibri"/>
                <a:cs typeface="Calibri"/>
                <a:sym typeface="Calibri"/>
              </a:rPr>
              <a:t>F</a:t>
            </a:r>
            <a:r>
              <a:rPr b="1" i="0" lang="en" sz="1080" u="none" cap="none" strike="noStrike">
                <a:solidFill>
                  <a:srgbClr val="FFFFFF"/>
                </a:solidFill>
                <a:latin typeface="Calibri"/>
                <a:ea typeface="Calibri"/>
                <a:cs typeface="Calibri"/>
                <a:sym typeface="Calibri"/>
              </a:rPr>
              <a:t>orward accuracy</a:t>
            </a:r>
            <a:endParaRPr b="0" i="0" sz="1080" u="none" cap="none" strike="noStrike">
              <a:solidFill>
                <a:schemeClr val="dk1"/>
              </a:solidFill>
              <a:latin typeface="Calibri"/>
              <a:ea typeface="Calibri"/>
              <a:cs typeface="Calibri"/>
              <a:sym typeface="Calibri"/>
            </a:endParaRPr>
          </a:p>
        </p:txBody>
      </p:sp>
      <p:sp>
        <p:nvSpPr>
          <p:cNvPr id="482" name="Google Shape;482;p39"/>
          <p:cNvSpPr/>
          <p:nvPr/>
        </p:nvSpPr>
        <p:spPr>
          <a:xfrm>
            <a:off x="2726212" y="2067088"/>
            <a:ext cx="1591200" cy="3393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9FB0C9"/>
              </a:buClr>
              <a:buSzPts val="770"/>
              <a:buFont typeface="Calibri"/>
              <a:buNone/>
            </a:pPr>
            <a:r>
              <a:rPr b="0" i="0" lang="en" sz="970" u="none" cap="none" strike="noStrike">
                <a:solidFill>
                  <a:srgbClr val="9FB0C9"/>
                </a:solidFill>
                <a:latin typeface="Calibri"/>
                <a:ea typeface="Calibri"/>
                <a:cs typeface="Calibri"/>
                <a:sym typeface="Calibri"/>
              </a:rPr>
              <a:t>equals the base rate — no lift</a:t>
            </a:r>
            <a:endParaRPr b="0" i="0" sz="970" u="none" cap="none" strike="noStrike">
              <a:solidFill>
                <a:schemeClr val="dk1"/>
              </a:solidFill>
              <a:latin typeface="Calibri"/>
              <a:ea typeface="Calibri"/>
              <a:cs typeface="Calibri"/>
              <a:sym typeface="Calibri"/>
            </a:endParaRPr>
          </a:p>
        </p:txBody>
      </p:sp>
      <p:sp>
        <p:nvSpPr>
          <p:cNvPr id="483" name="Google Shape;483;p39"/>
          <p:cNvSpPr/>
          <p:nvPr/>
        </p:nvSpPr>
        <p:spPr>
          <a:xfrm>
            <a:off x="411480" y="2633472"/>
            <a:ext cx="1920240" cy="1207008"/>
          </a:xfrm>
          <a:prstGeom prst="roundRect">
            <a:avLst>
              <a:gd fmla="val 5000" name="adj"/>
            </a:avLst>
          </a:prstGeom>
          <a:solidFill>
            <a:srgbClr val="13203B"/>
          </a:solidFill>
          <a:ln>
            <a:noFill/>
          </a:ln>
        </p:spPr>
        <p:txBody>
          <a:bodyPr anchorCtr="0" anchor="ctr" bIns="75400" lIns="75400" spcFirstLastPara="1" rIns="75400" wrap="square" tIns="75400">
            <a:noAutofit/>
          </a:bodyPr>
          <a:lstStyle/>
          <a:p>
            <a:pPr indent="0" lvl="0" marL="0" marR="0" rtl="0" algn="l">
              <a:lnSpc>
                <a:spcPct val="100000"/>
              </a:lnSpc>
              <a:spcBef>
                <a:spcPts val="0"/>
              </a:spcBef>
              <a:spcAft>
                <a:spcPts val="0"/>
              </a:spcAft>
              <a:buClr>
                <a:srgbClr val="000000"/>
              </a:buClr>
              <a:buSzPts val="1209"/>
              <a:buFont typeface="Arial"/>
              <a:buNone/>
            </a:pPr>
            <a:r>
              <a:t/>
            </a:r>
            <a:endParaRPr b="0" i="0" sz="1209" u="none" cap="none" strike="noStrike">
              <a:solidFill>
                <a:srgbClr val="000000"/>
              </a:solidFill>
              <a:latin typeface="Arial"/>
              <a:ea typeface="Arial"/>
              <a:cs typeface="Arial"/>
              <a:sym typeface="Arial"/>
            </a:endParaRPr>
          </a:p>
        </p:txBody>
      </p:sp>
      <p:sp>
        <p:nvSpPr>
          <p:cNvPr id="484" name="Google Shape;484;p39"/>
          <p:cNvSpPr/>
          <p:nvPr/>
        </p:nvSpPr>
        <p:spPr>
          <a:xfrm>
            <a:off x="577372" y="2814279"/>
            <a:ext cx="1591200" cy="452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AE8A"/>
              </a:buClr>
              <a:buSzPts val="2199"/>
              <a:buFont typeface="Calibri"/>
              <a:buNone/>
            </a:pPr>
            <a:r>
              <a:rPr b="1" i="0" lang="en" sz="2500" u="none" cap="none" strike="noStrike">
                <a:solidFill>
                  <a:srgbClr val="3FAE8A"/>
                </a:solidFill>
                <a:latin typeface="Calibri"/>
                <a:ea typeface="Calibri"/>
                <a:cs typeface="Calibri"/>
                <a:sym typeface="Calibri"/>
              </a:rPr>
              <a:t>47</a:t>
            </a:r>
            <a:endParaRPr b="0" i="0" sz="2500" u="none" cap="none" strike="noStrike">
              <a:solidFill>
                <a:schemeClr val="dk1"/>
              </a:solidFill>
              <a:latin typeface="Calibri"/>
              <a:ea typeface="Calibri"/>
              <a:cs typeface="Calibri"/>
              <a:sym typeface="Calibri"/>
            </a:endParaRPr>
          </a:p>
        </p:txBody>
      </p:sp>
      <p:sp>
        <p:nvSpPr>
          <p:cNvPr id="485" name="Google Shape;485;p39"/>
          <p:cNvSpPr/>
          <p:nvPr/>
        </p:nvSpPr>
        <p:spPr>
          <a:xfrm>
            <a:off x="577372" y="3287310"/>
            <a:ext cx="1591200" cy="22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880"/>
              <a:buFont typeface="Calibri"/>
              <a:buNone/>
            </a:pPr>
            <a:r>
              <a:rPr b="1" lang="en" sz="1080">
                <a:solidFill>
                  <a:srgbClr val="FFFFFF"/>
                </a:solidFill>
                <a:latin typeface="Calibri"/>
                <a:ea typeface="Calibri"/>
                <a:cs typeface="Calibri"/>
                <a:sym typeface="Calibri"/>
              </a:rPr>
              <a:t>T</a:t>
            </a:r>
            <a:r>
              <a:rPr b="1" i="0" lang="en" sz="1080" u="none" cap="none" strike="noStrike">
                <a:solidFill>
                  <a:srgbClr val="FFFFFF"/>
                </a:solidFill>
                <a:latin typeface="Calibri"/>
                <a:ea typeface="Calibri"/>
                <a:cs typeface="Calibri"/>
                <a:sym typeface="Calibri"/>
              </a:rPr>
              <a:t>eams scored</a:t>
            </a:r>
            <a:endParaRPr b="0" i="0" sz="1080" u="none" cap="none" strike="noStrike">
              <a:solidFill>
                <a:schemeClr val="dk1"/>
              </a:solidFill>
              <a:latin typeface="Calibri"/>
              <a:ea typeface="Calibri"/>
              <a:cs typeface="Calibri"/>
              <a:sym typeface="Calibri"/>
            </a:endParaRPr>
          </a:p>
        </p:txBody>
      </p:sp>
      <p:sp>
        <p:nvSpPr>
          <p:cNvPr id="486" name="Google Shape;486;p39"/>
          <p:cNvSpPr/>
          <p:nvPr/>
        </p:nvSpPr>
        <p:spPr>
          <a:xfrm>
            <a:off x="577380" y="3447829"/>
            <a:ext cx="1689000" cy="3393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9FB0C9"/>
              </a:buClr>
              <a:buSzPts val="770"/>
              <a:buFont typeface="Calibri"/>
              <a:buNone/>
            </a:pPr>
            <a:r>
              <a:rPr b="0" i="0" lang="en" sz="970" u="none" cap="none" strike="noStrike">
                <a:solidFill>
                  <a:srgbClr val="9FB0C9"/>
                </a:solidFill>
                <a:latin typeface="Calibri"/>
                <a:ea typeface="Calibri"/>
                <a:cs typeface="Calibri"/>
                <a:sym typeface="Calibri"/>
              </a:rPr>
              <a:t>48-team field, NZ (OFC) dropped</a:t>
            </a:r>
            <a:endParaRPr b="0" i="0" sz="970" u="none" cap="none" strike="noStrike">
              <a:solidFill>
                <a:schemeClr val="dk1"/>
              </a:solidFill>
              <a:latin typeface="Calibri"/>
              <a:ea typeface="Calibri"/>
              <a:cs typeface="Calibri"/>
              <a:sym typeface="Calibri"/>
            </a:endParaRPr>
          </a:p>
        </p:txBody>
      </p:sp>
      <p:sp>
        <p:nvSpPr>
          <p:cNvPr id="487" name="Google Shape;487;p39"/>
          <p:cNvSpPr/>
          <p:nvPr/>
        </p:nvSpPr>
        <p:spPr>
          <a:xfrm>
            <a:off x="2560320" y="2633472"/>
            <a:ext cx="1920240" cy="1207008"/>
          </a:xfrm>
          <a:prstGeom prst="roundRect">
            <a:avLst>
              <a:gd fmla="val 5000" name="adj"/>
            </a:avLst>
          </a:prstGeom>
          <a:solidFill>
            <a:srgbClr val="13203B"/>
          </a:solidFill>
          <a:ln>
            <a:noFill/>
          </a:ln>
        </p:spPr>
        <p:txBody>
          <a:bodyPr anchorCtr="0" anchor="ctr" bIns="75400" lIns="75400" spcFirstLastPara="1" rIns="75400" wrap="square" tIns="75400">
            <a:noAutofit/>
          </a:bodyPr>
          <a:lstStyle/>
          <a:p>
            <a:pPr indent="0" lvl="0" marL="0" marR="0" rtl="0" algn="l">
              <a:lnSpc>
                <a:spcPct val="100000"/>
              </a:lnSpc>
              <a:spcBef>
                <a:spcPts val="0"/>
              </a:spcBef>
              <a:spcAft>
                <a:spcPts val="0"/>
              </a:spcAft>
              <a:buClr>
                <a:srgbClr val="000000"/>
              </a:buClr>
              <a:buSzPts val="1209"/>
              <a:buFont typeface="Arial"/>
              <a:buNone/>
            </a:pPr>
            <a:r>
              <a:t/>
            </a:r>
            <a:endParaRPr b="0" i="0" sz="1209" u="none" cap="none" strike="noStrike">
              <a:solidFill>
                <a:srgbClr val="000000"/>
              </a:solidFill>
              <a:latin typeface="Arial"/>
              <a:ea typeface="Arial"/>
              <a:cs typeface="Arial"/>
              <a:sym typeface="Arial"/>
            </a:endParaRPr>
          </a:p>
        </p:txBody>
      </p:sp>
      <p:sp>
        <p:nvSpPr>
          <p:cNvPr id="488" name="Google Shape;488;p39"/>
          <p:cNvSpPr/>
          <p:nvPr/>
        </p:nvSpPr>
        <p:spPr>
          <a:xfrm>
            <a:off x="2726212" y="2814279"/>
            <a:ext cx="1591200" cy="452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AE8A"/>
              </a:buClr>
              <a:buSzPts val="2199"/>
              <a:buFont typeface="Calibri"/>
              <a:buNone/>
            </a:pPr>
            <a:r>
              <a:rPr b="1" i="0" lang="en" sz="2500" u="none" cap="none" strike="noStrike">
                <a:solidFill>
                  <a:srgbClr val="3FAE8A"/>
                </a:solidFill>
                <a:latin typeface="Calibri"/>
                <a:ea typeface="Calibri"/>
                <a:cs typeface="Calibri"/>
                <a:sym typeface="Calibri"/>
              </a:rPr>
              <a:t>19 / 13</a:t>
            </a:r>
            <a:endParaRPr b="0" i="0" sz="2500" u="none" cap="none" strike="noStrike">
              <a:solidFill>
                <a:schemeClr val="dk1"/>
              </a:solidFill>
              <a:latin typeface="Calibri"/>
              <a:ea typeface="Calibri"/>
              <a:cs typeface="Calibri"/>
              <a:sym typeface="Calibri"/>
            </a:endParaRPr>
          </a:p>
        </p:txBody>
      </p:sp>
      <p:sp>
        <p:nvSpPr>
          <p:cNvPr id="489" name="Google Shape;489;p39"/>
          <p:cNvSpPr/>
          <p:nvPr/>
        </p:nvSpPr>
        <p:spPr>
          <a:xfrm>
            <a:off x="2726212" y="3287310"/>
            <a:ext cx="1591200" cy="22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880"/>
              <a:buFont typeface="Calibri"/>
              <a:buNone/>
            </a:pPr>
            <a:r>
              <a:rPr b="1" lang="en" sz="1080">
                <a:solidFill>
                  <a:srgbClr val="FFFFFF"/>
                </a:solidFill>
                <a:latin typeface="Calibri"/>
                <a:ea typeface="Calibri"/>
                <a:cs typeface="Calibri"/>
                <a:sym typeface="Calibri"/>
              </a:rPr>
              <a:t>C</a:t>
            </a:r>
            <a:r>
              <a:rPr b="1" i="0" lang="en" sz="1080" u="none" cap="none" strike="noStrike">
                <a:solidFill>
                  <a:srgbClr val="FFFFFF"/>
                </a:solidFill>
                <a:latin typeface="Calibri"/>
                <a:ea typeface="Calibri"/>
                <a:cs typeface="Calibri"/>
                <a:sym typeface="Calibri"/>
              </a:rPr>
              <a:t>orrect calls (TP / TN)</a:t>
            </a:r>
            <a:endParaRPr b="0" i="0" sz="1080" u="none" cap="none" strike="noStrike">
              <a:solidFill>
                <a:schemeClr val="dk1"/>
              </a:solidFill>
              <a:latin typeface="Calibri"/>
              <a:ea typeface="Calibri"/>
              <a:cs typeface="Calibri"/>
              <a:sym typeface="Calibri"/>
            </a:endParaRPr>
          </a:p>
        </p:txBody>
      </p:sp>
      <p:sp>
        <p:nvSpPr>
          <p:cNvPr id="490" name="Google Shape;490;p39"/>
          <p:cNvSpPr/>
          <p:nvPr/>
        </p:nvSpPr>
        <p:spPr>
          <a:xfrm>
            <a:off x="2726212" y="3447831"/>
            <a:ext cx="1591200" cy="3393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9FB0C9"/>
              </a:buClr>
              <a:buSzPts val="770"/>
              <a:buFont typeface="Calibri"/>
              <a:buNone/>
            </a:pPr>
            <a:r>
              <a:rPr b="0" i="0" lang="en" sz="970" u="none" cap="none" strike="noStrike">
                <a:solidFill>
                  <a:srgbClr val="9FB0C9"/>
                </a:solidFill>
                <a:latin typeface="Calibri"/>
                <a:ea typeface="Calibri"/>
                <a:cs typeface="Calibri"/>
                <a:sym typeface="Calibri"/>
              </a:rPr>
              <a:t>vs. 2 false positives, 13 missed</a:t>
            </a:r>
            <a:endParaRPr b="0" i="0" sz="970" u="none" cap="none" strike="noStrike">
              <a:solidFill>
                <a:schemeClr val="dk1"/>
              </a:solidFill>
              <a:latin typeface="Calibri"/>
              <a:ea typeface="Calibri"/>
              <a:cs typeface="Calibri"/>
              <a:sym typeface="Calibri"/>
            </a:endParaRPr>
          </a:p>
        </p:txBody>
      </p:sp>
      <p:sp>
        <p:nvSpPr>
          <p:cNvPr id="491" name="Google Shape;491;p39"/>
          <p:cNvSpPr/>
          <p:nvPr/>
        </p:nvSpPr>
        <p:spPr>
          <a:xfrm>
            <a:off x="411500" y="4050792"/>
            <a:ext cx="6995100" cy="6516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50607F"/>
              </a:buClr>
              <a:buSzPts val="800"/>
              <a:buFont typeface="Calibri"/>
              <a:buNone/>
            </a:pPr>
            <a:r>
              <a:rPr b="0" i="1" lang="en" sz="1100" cap="none" strike="noStrike">
                <a:solidFill>
                  <a:srgbClr val="50607F"/>
                </a:solidFill>
                <a:latin typeface="Calibri"/>
                <a:ea typeface="Calibri"/>
                <a:cs typeface="Calibri"/>
                <a:sym typeface="Calibri"/>
              </a:rPr>
              <a:t>AUC (0.757) is the honest read: the model orders the field well — hosts and veterans on top — but the expanded 48-team format advances two-thirds of teams, so headline accuracy adds no lift over the base rate.</a:t>
            </a:r>
            <a:endParaRPr b="0" i="1" sz="1100" cap="none" strike="noStrike">
              <a:solidFill>
                <a:schemeClr val="dk1"/>
              </a:solidFill>
              <a:latin typeface="Calibri"/>
              <a:ea typeface="Calibri"/>
              <a:cs typeface="Calibri"/>
              <a:sym typeface="Calibri"/>
            </a:endParaRPr>
          </a:p>
        </p:txBody>
      </p:sp>
      <p:pic>
        <p:nvPicPr>
          <p:cNvPr descr="2026 confusion matrix" id="492" name="Google Shape;492;p39"/>
          <p:cNvPicPr preferRelativeResize="0"/>
          <p:nvPr/>
        </p:nvPicPr>
        <p:blipFill rotWithShape="1">
          <a:blip r:embed="rId3">
            <a:alphaModFix/>
          </a:blip>
          <a:stretch>
            <a:fillRect/>
          </a:stretch>
        </p:blipFill>
        <p:spPr>
          <a:xfrm>
            <a:off x="5001992" y="1071750"/>
            <a:ext cx="3630450" cy="3000001"/>
          </a:xfrm>
          <a:prstGeom prst="rect">
            <a:avLst/>
          </a:prstGeom>
          <a:noFill/>
          <a:ln>
            <a:noFill/>
          </a:ln>
        </p:spPr>
      </p:pic>
      <p:sp>
        <p:nvSpPr>
          <p:cNvPr id="493" name="Google Shape;493;p39"/>
          <p:cNvSpPr/>
          <p:nvPr/>
        </p:nvSpPr>
        <p:spPr>
          <a:xfrm>
            <a:off x="411491" y="4800600"/>
            <a:ext cx="4800728"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592AA"/>
              </a:buClr>
              <a:buSzPts val="700"/>
              <a:buFont typeface="Calibri"/>
              <a:buNone/>
            </a:pPr>
            <a:r>
              <a:rPr b="0" i="0" lang="en" sz="700" u="none" cap="none" strike="noStrike">
                <a:solidFill>
                  <a:srgbClr val="8592AA"/>
                </a:solidFill>
                <a:latin typeface="Calibri"/>
                <a:ea typeface="Calibri"/>
                <a:cs typeface="Calibri"/>
                <a:sym typeface="Calibri"/>
              </a:rPr>
              <a:t>Shiu &amp; Nguyen  |  STAT 418, Tools in Data Science  |  UCLA Summer 2026</a:t>
            </a:r>
            <a:endParaRPr b="0" i="0" sz="700" u="none" cap="none" strike="noStrike">
              <a:solidFill>
                <a:schemeClr val="dk1"/>
              </a:solidFill>
              <a:latin typeface="Calibri"/>
              <a:ea typeface="Calibri"/>
              <a:cs typeface="Calibri"/>
              <a:sym typeface="Calibri"/>
            </a:endParaRPr>
          </a:p>
        </p:txBody>
      </p:sp>
      <p:sp>
        <p:nvSpPr>
          <p:cNvPr id="494" name="Google Shape;494;p39"/>
          <p:cNvSpPr/>
          <p:nvPr/>
        </p:nvSpPr>
        <p:spPr>
          <a:xfrm>
            <a:off x="8458197" y="4800600"/>
            <a:ext cx="411491" cy="2057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592AA"/>
              </a:buClr>
              <a:buSzPts val="800"/>
              <a:buFont typeface="Calibri"/>
              <a:buNone/>
            </a:pPr>
            <a:r>
              <a:rPr b="0" i="0" lang="en" sz="800" u="none" cap="none" strike="noStrike">
                <a:solidFill>
                  <a:srgbClr val="8592AA"/>
                </a:solidFill>
                <a:latin typeface="Calibri"/>
                <a:ea typeface="Calibri"/>
                <a:cs typeface="Calibri"/>
                <a:sym typeface="Calibri"/>
              </a:rPr>
              <a:t>20</a:t>
            </a:r>
            <a:endParaRPr b="0" i="0" sz="800" u="none" cap="none" strike="noStrike">
              <a:solidFill>
                <a:schemeClr val="dk1"/>
              </a:solidFill>
              <a:latin typeface="Calibri"/>
              <a:ea typeface="Calibri"/>
              <a:cs typeface="Calibri"/>
              <a:sym typeface="Calibri"/>
            </a:endParaRPr>
          </a:p>
        </p:txBody>
      </p:sp>
      <p:cxnSp>
        <p:nvCxnSpPr>
          <p:cNvPr id="495" name="Google Shape;495;p39"/>
          <p:cNvCxnSpPr/>
          <p:nvPr/>
        </p:nvCxnSpPr>
        <p:spPr>
          <a:xfrm>
            <a:off x="4875200" y="1252728"/>
            <a:ext cx="24600" cy="2587752"/>
          </a:xfrm>
          <a:prstGeom prst="straightConnector1">
            <a:avLst/>
          </a:prstGeom>
          <a:noFill/>
          <a:ln cap="flat" cmpd="sng" w="9525">
            <a:solidFill>
              <a:srgbClr val="9FB0C9"/>
            </a:solidFill>
            <a:prstDash val="solid"/>
            <a:round/>
            <a:headEnd len="med" w="med" type="none"/>
            <a:tailEnd len="med" w="med" type="non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03B"/>
        </a:solidFill>
      </p:bgPr>
    </p:bg>
    <p:spTree>
      <p:nvGrpSpPr>
        <p:cNvPr id="500" name="Shape 500"/>
        <p:cNvGrpSpPr/>
        <p:nvPr/>
      </p:nvGrpSpPr>
      <p:grpSpPr>
        <a:xfrm>
          <a:off x="0" y="0"/>
          <a:ext cx="0" cy="0"/>
          <a:chOff x="0" y="0"/>
          <a:chExt cx="0" cy="0"/>
        </a:xfrm>
      </p:grpSpPr>
      <p:sp>
        <p:nvSpPr>
          <p:cNvPr id="501" name="Google Shape;501;p40"/>
          <p:cNvSpPr/>
          <p:nvPr/>
        </p:nvSpPr>
        <p:spPr>
          <a:xfrm>
            <a:off x="5989251" y="-617220"/>
            <a:ext cx="3017600" cy="301752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34456E"/>
              </a:buClr>
              <a:buSzPts val="19500"/>
              <a:buFont typeface="Calibri"/>
              <a:buNone/>
            </a:pPr>
            <a:r>
              <a:rPr b="1" i="0" lang="en" sz="19500" u="none" cap="none" strike="noStrike">
                <a:solidFill>
                  <a:srgbClr val="34456E"/>
                </a:solidFill>
                <a:latin typeface="Calibri"/>
                <a:ea typeface="Calibri"/>
                <a:cs typeface="Calibri"/>
                <a:sym typeface="Calibri"/>
              </a:rPr>
              <a:t>06</a:t>
            </a:r>
            <a:endParaRPr b="0" i="0" sz="19500" u="none" cap="none" strike="noStrike">
              <a:solidFill>
                <a:schemeClr val="dk1"/>
              </a:solidFill>
              <a:latin typeface="Calibri"/>
              <a:ea typeface="Calibri"/>
              <a:cs typeface="Calibri"/>
              <a:sym typeface="Calibri"/>
            </a:endParaRPr>
          </a:p>
        </p:txBody>
      </p:sp>
      <p:sp>
        <p:nvSpPr>
          <p:cNvPr id="502" name="Google Shape;502;p40"/>
          <p:cNvSpPr/>
          <p:nvPr/>
        </p:nvSpPr>
        <p:spPr>
          <a:xfrm>
            <a:off x="411491" y="480060"/>
            <a:ext cx="288044" cy="288036"/>
          </a:xfrm>
          <a:prstGeom prst="ellipse">
            <a:avLst/>
          </a:prstGeom>
          <a:solidFill>
            <a:srgbClr val="2E997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03" name="Google Shape;503;p40"/>
          <p:cNvSpPr/>
          <p:nvPr/>
        </p:nvSpPr>
        <p:spPr>
          <a:xfrm>
            <a:off x="411491" y="480060"/>
            <a:ext cx="288044" cy="2880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6</a:t>
            </a:r>
            <a:endParaRPr b="0" i="0" sz="1200" u="none" cap="none" strike="noStrike">
              <a:solidFill>
                <a:schemeClr val="dk1"/>
              </a:solidFill>
              <a:latin typeface="Calibri"/>
              <a:ea typeface="Calibri"/>
              <a:cs typeface="Calibri"/>
              <a:sym typeface="Calibri"/>
            </a:endParaRPr>
          </a:p>
        </p:txBody>
      </p:sp>
      <p:sp>
        <p:nvSpPr>
          <p:cNvPr id="504" name="Google Shape;504;p40"/>
          <p:cNvSpPr/>
          <p:nvPr/>
        </p:nvSpPr>
        <p:spPr>
          <a:xfrm>
            <a:off x="809266" y="480060"/>
            <a:ext cx="5486546" cy="2880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FB0C9"/>
              </a:buClr>
              <a:buSzPts val="1000"/>
              <a:buFont typeface="Calibri"/>
              <a:buNone/>
            </a:pPr>
            <a:r>
              <a:rPr b="1" i="0" lang="en" sz="1000" u="none" cap="none" strike="noStrike">
                <a:solidFill>
                  <a:srgbClr val="9FB0C9"/>
                </a:solidFill>
                <a:latin typeface="Calibri"/>
                <a:ea typeface="Calibri"/>
                <a:cs typeface="Calibri"/>
                <a:sym typeface="Calibri"/>
              </a:rPr>
              <a:t>SECTION 6 OF 6  ·  BUSINESS IMPLICATIONS</a:t>
            </a:r>
            <a:endParaRPr b="0" i="0" sz="1000" u="none" cap="none" strike="noStrike">
              <a:solidFill>
                <a:schemeClr val="dk1"/>
              </a:solidFill>
              <a:latin typeface="Calibri"/>
              <a:ea typeface="Calibri"/>
              <a:cs typeface="Calibri"/>
              <a:sym typeface="Calibri"/>
            </a:endParaRPr>
          </a:p>
        </p:txBody>
      </p:sp>
      <p:sp>
        <p:nvSpPr>
          <p:cNvPr id="505" name="Google Shape;505;p40"/>
          <p:cNvSpPr/>
          <p:nvPr/>
        </p:nvSpPr>
        <p:spPr>
          <a:xfrm>
            <a:off x="411491" y="1988820"/>
            <a:ext cx="7269674" cy="144018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FFFFFF"/>
              </a:buClr>
              <a:buSzPts val="2600"/>
              <a:buFont typeface="Calibri"/>
              <a:buNone/>
            </a:pPr>
            <a:r>
              <a:rPr b="1" lang="en" sz="2600">
                <a:solidFill>
                  <a:srgbClr val="FFFFFF"/>
                </a:solidFill>
                <a:latin typeface="Calibri"/>
                <a:ea typeface="Calibri"/>
                <a:cs typeface="Calibri"/>
                <a:sym typeface="Calibri"/>
              </a:rPr>
              <a:t>Organizations should prioritize long-term competitive development over short-term roster adjustments when evaluating World Cup readiness.</a:t>
            </a:r>
            <a:endParaRPr b="0" i="0" sz="2600" u="none" cap="none" strike="noStrike">
              <a:solidFill>
                <a:schemeClr val="dk1"/>
              </a:solidFill>
              <a:latin typeface="Calibri"/>
              <a:ea typeface="Calibri"/>
              <a:cs typeface="Calibri"/>
              <a:sym typeface="Calibri"/>
            </a:endParaRPr>
          </a:p>
        </p:txBody>
      </p:sp>
      <p:sp>
        <p:nvSpPr>
          <p:cNvPr id="506" name="Google Shape;506;p40"/>
          <p:cNvSpPr/>
          <p:nvPr/>
        </p:nvSpPr>
        <p:spPr>
          <a:xfrm>
            <a:off x="411491" y="3429000"/>
            <a:ext cx="6583856" cy="685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9FB0C9"/>
              </a:buClr>
              <a:buSzPts val="1100"/>
              <a:buFont typeface="Calibri"/>
              <a:buNone/>
            </a:pPr>
            <a:r>
              <a:rPr lang="en" sz="1100">
                <a:solidFill>
                  <a:srgbClr val="9FB0C9"/>
                </a:solidFill>
                <a:latin typeface="Calibri"/>
                <a:ea typeface="Calibri"/>
                <a:cs typeface="Calibri"/>
                <a:sym typeface="Calibri"/>
              </a:rPr>
              <a:t>Experience, hosting, and regional strength are the strongest drivers of advancement</a:t>
            </a:r>
            <a:endParaRPr b="0" i="0" sz="1100" u="none" cap="none" strike="noStrike">
              <a:solidFill>
                <a:schemeClr val="dk1"/>
              </a:solidFill>
              <a:latin typeface="Calibri"/>
              <a:ea typeface="Calibri"/>
              <a:cs typeface="Calibri"/>
              <a:sym typeface="Calibri"/>
            </a:endParaRPr>
          </a:p>
        </p:txBody>
      </p:sp>
      <p:sp>
        <p:nvSpPr>
          <p:cNvPr id="507" name="Google Shape;507;p40"/>
          <p:cNvSpPr/>
          <p:nvPr/>
        </p:nvSpPr>
        <p:spPr>
          <a:xfrm>
            <a:off x="411491" y="4800600"/>
            <a:ext cx="4800728"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4456E"/>
              </a:buClr>
              <a:buSzPts val="700"/>
              <a:buFont typeface="Calibri"/>
              <a:buNone/>
            </a:pPr>
            <a:r>
              <a:rPr b="0" i="0" lang="en" sz="700" u="none" cap="none" strike="noStrike">
                <a:solidFill>
                  <a:srgbClr val="34456E"/>
                </a:solidFill>
                <a:latin typeface="Calibri"/>
                <a:ea typeface="Calibri"/>
                <a:cs typeface="Calibri"/>
                <a:sym typeface="Calibri"/>
              </a:rPr>
              <a:t>Shiu &amp; Nguyen  |  STAT 418, Tools in Data Science  |  UCLA Summer 2026</a:t>
            </a:r>
            <a:endParaRPr b="0" i="0" sz="700" u="none" cap="none" strike="noStrike">
              <a:solidFill>
                <a:schemeClr val="dk1"/>
              </a:solidFill>
              <a:latin typeface="Calibri"/>
              <a:ea typeface="Calibri"/>
              <a:cs typeface="Calibri"/>
              <a:sym typeface="Calibri"/>
            </a:endParaRPr>
          </a:p>
        </p:txBody>
      </p:sp>
      <p:sp>
        <p:nvSpPr>
          <p:cNvPr id="508" name="Google Shape;508;p40"/>
          <p:cNvSpPr/>
          <p:nvPr/>
        </p:nvSpPr>
        <p:spPr>
          <a:xfrm>
            <a:off x="8458197" y="4800600"/>
            <a:ext cx="411491" cy="2057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592AA"/>
              </a:buClr>
              <a:buSzPts val="800"/>
              <a:buFont typeface="Calibri"/>
              <a:buNone/>
            </a:pPr>
            <a:r>
              <a:rPr b="0" i="0" lang="en" sz="800" u="none" cap="none" strike="noStrike">
                <a:solidFill>
                  <a:srgbClr val="8592AA"/>
                </a:solidFill>
                <a:latin typeface="Calibri"/>
                <a:ea typeface="Calibri"/>
                <a:cs typeface="Calibri"/>
                <a:sym typeface="Calibri"/>
              </a:rPr>
              <a:t>21</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3" name="Shape 513"/>
        <p:cNvGrpSpPr/>
        <p:nvPr/>
      </p:nvGrpSpPr>
      <p:grpSpPr>
        <a:xfrm>
          <a:off x="0" y="0"/>
          <a:ext cx="0" cy="0"/>
          <a:chOff x="0" y="0"/>
          <a:chExt cx="0" cy="0"/>
        </a:xfrm>
      </p:grpSpPr>
      <p:sp>
        <p:nvSpPr>
          <p:cNvPr id="514" name="Google Shape;514;p41"/>
          <p:cNvSpPr/>
          <p:nvPr/>
        </p:nvSpPr>
        <p:spPr>
          <a:xfrm>
            <a:off x="411491" y="308610"/>
            <a:ext cx="8321033"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E9973"/>
              </a:buClr>
              <a:buSzPts val="800"/>
              <a:buFont typeface="Calibri"/>
              <a:buNone/>
            </a:pPr>
            <a:r>
              <a:rPr b="1" i="0" lang="en" sz="800" u="none" cap="none" strike="noStrike">
                <a:solidFill>
                  <a:srgbClr val="2E9973"/>
                </a:solidFill>
                <a:latin typeface="Calibri"/>
                <a:ea typeface="Calibri"/>
                <a:cs typeface="Calibri"/>
                <a:sym typeface="Calibri"/>
              </a:rPr>
              <a:t>BUSINESS IMPLICATIONS</a:t>
            </a:r>
            <a:endParaRPr b="0" i="0" sz="800" u="none" cap="none" strike="noStrike">
              <a:solidFill>
                <a:schemeClr val="dk1"/>
              </a:solidFill>
              <a:latin typeface="Calibri"/>
              <a:ea typeface="Calibri"/>
              <a:cs typeface="Calibri"/>
              <a:sym typeface="Calibri"/>
            </a:endParaRPr>
          </a:p>
        </p:txBody>
      </p:sp>
      <p:sp>
        <p:nvSpPr>
          <p:cNvPr id="515" name="Google Shape;515;p41"/>
          <p:cNvSpPr/>
          <p:nvPr/>
        </p:nvSpPr>
        <p:spPr>
          <a:xfrm>
            <a:off x="411491" y="514350"/>
            <a:ext cx="8321033" cy="65151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3203B"/>
              </a:buClr>
              <a:buSzPts val="1800"/>
              <a:buFont typeface="Calibri"/>
              <a:buNone/>
            </a:pPr>
            <a:r>
              <a:rPr b="1" lang="en" sz="1800">
                <a:solidFill>
                  <a:srgbClr val="13203B"/>
                </a:solidFill>
                <a:latin typeface="Calibri"/>
                <a:ea typeface="Calibri"/>
                <a:cs typeface="Calibri"/>
                <a:sym typeface="Calibri"/>
              </a:rPr>
              <a:t>Long-term experience and structural advantages matter more than short-term roster decisions</a:t>
            </a:r>
            <a:endParaRPr b="0" i="0" sz="1800" u="none" cap="none" strike="noStrike">
              <a:solidFill>
                <a:schemeClr val="dk1"/>
              </a:solidFill>
              <a:latin typeface="Calibri"/>
              <a:ea typeface="Calibri"/>
              <a:cs typeface="Calibri"/>
              <a:sym typeface="Calibri"/>
            </a:endParaRPr>
          </a:p>
        </p:txBody>
      </p:sp>
      <p:sp>
        <p:nvSpPr>
          <p:cNvPr id="516" name="Google Shape;516;p41"/>
          <p:cNvSpPr/>
          <p:nvPr/>
        </p:nvSpPr>
        <p:spPr>
          <a:xfrm>
            <a:off x="411500" y="1166312"/>
            <a:ext cx="2636400" cy="2289900"/>
          </a:xfrm>
          <a:prstGeom prst="roundRect">
            <a:avLst>
              <a:gd fmla="val 2909" name="adj"/>
            </a:avLst>
          </a:prstGeom>
          <a:solidFill>
            <a:srgbClr val="F3F5F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17" name="Google Shape;517;p41"/>
          <p:cNvSpPr/>
          <p:nvPr/>
        </p:nvSpPr>
        <p:spPr>
          <a:xfrm>
            <a:off x="617236" y="1372060"/>
            <a:ext cx="377100" cy="377100"/>
          </a:xfrm>
          <a:prstGeom prst="ellipse">
            <a:avLst/>
          </a:prstGeom>
          <a:solidFill>
            <a:srgbClr val="2E997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18" name="Google Shape;518;p41"/>
          <p:cNvSpPr/>
          <p:nvPr/>
        </p:nvSpPr>
        <p:spPr>
          <a:xfrm>
            <a:off x="617236" y="1372060"/>
            <a:ext cx="3771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Calibri"/>
              <a:buNone/>
            </a:pPr>
            <a:r>
              <a:rPr b="1" i="0" lang="en" sz="1400" u="none" cap="none" strike="noStrike">
                <a:solidFill>
                  <a:srgbClr val="FFFFFF"/>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519" name="Google Shape;519;p41"/>
          <p:cNvSpPr/>
          <p:nvPr/>
        </p:nvSpPr>
        <p:spPr>
          <a:xfrm>
            <a:off x="592611" y="1878210"/>
            <a:ext cx="2225100"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3203B"/>
              </a:buClr>
              <a:buSzPts val="1000"/>
              <a:buFont typeface="Calibri"/>
              <a:buNone/>
            </a:pPr>
            <a:r>
              <a:rPr b="1" lang="en" sz="1200">
                <a:solidFill>
                  <a:srgbClr val="13203B"/>
                </a:solidFill>
                <a:latin typeface="Calibri"/>
                <a:ea typeface="Calibri"/>
                <a:cs typeface="Calibri"/>
                <a:sym typeface="Calibri"/>
              </a:rPr>
              <a:t>National Federations</a:t>
            </a:r>
            <a:endParaRPr b="0" i="0" sz="1200" u="none" cap="none" strike="noStrike">
              <a:solidFill>
                <a:schemeClr val="dk1"/>
              </a:solidFill>
              <a:latin typeface="Calibri"/>
              <a:ea typeface="Calibri"/>
              <a:cs typeface="Calibri"/>
              <a:sym typeface="Calibri"/>
            </a:endParaRPr>
          </a:p>
        </p:txBody>
      </p:sp>
      <p:sp>
        <p:nvSpPr>
          <p:cNvPr id="520" name="Google Shape;520;p41"/>
          <p:cNvSpPr/>
          <p:nvPr/>
        </p:nvSpPr>
        <p:spPr>
          <a:xfrm>
            <a:off x="617236" y="2508491"/>
            <a:ext cx="2225100" cy="754500"/>
          </a:xfrm>
          <a:prstGeom prst="rect">
            <a:avLst/>
          </a:prstGeom>
          <a:noFill/>
          <a:ln>
            <a:noFill/>
          </a:ln>
        </p:spPr>
        <p:txBody>
          <a:bodyPr anchorCtr="0" anchor="ctr" bIns="0" lIns="0" spcFirstLastPara="1" rIns="0" wrap="square" tIns="0">
            <a:noAutofit/>
          </a:bodyPr>
          <a:lstStyle/>
          <a:p>
            <a:pPr indent="-177800" lvl="0" marL="171450" rtl="0" algn="l">
              <a:lnSpc>
                <a:spcPct val="100000"/>
              </a:lnSpc>
              <a:spcBef>
                <a:spcPts val="0"/>
              </a:spcBef>
              <a:spcAft>
                <a:spcPts val="0"/>
              </a:spcAft>
              <a:buClr>
                <a:srgbClr val="50607F"/>
              </a:buClr>
              <a:buSzPts val="1000"/>
              <a:buFont typeface="Calibri"/>
              <a:buChar char="●"/>
            </a:pPr>
            <a:r>
              <a:rPr lang="en" sz="1000">
                <a:solidFill>
                  <a:srgbClr val="50607F"/>
                </a:solidFill>
                <a:latin typeface="Calibri"/>
                <a:ea typeface="Calibri"/>
                <a:cs typeface="Calibri"/>
                <a:sym typeface="Calibri"/>
              </a:rPr>
              <a:t>Sustained World Cup participation and player development are associated with higher advancement rates.</a:t>
            </a:r>
            <a:endParaRPr sz="1000">
              <a:solidFill>
                <a:srgbClr val="50607F"/>
              </a:solidFill>
              <a:latin typeface="Calibri"/>
              <a:ea typeface="Calibri"/>
              <a:cs typeface="Calibri"/>
              <a:sym typeface="Calibri"/>
            </a:endParaRPr>
          </a:p>
          <a:p>
            <a:pPr indent="-177800" lvl="0" marL="171450" rtl="0" algn="l">
              <a:lnSpc>
                <a:spcPct val="100000"/>
              </a:lnSpc>
              <a:spcBef>
                <a:spcPts val="1000"/>
              </a:spcBef>
              <a:spcAft>
                <a:spcPts val="0"/>
              </a:spcAft>
              <a:buClr>
                <a:srgbClr val="50607F"/>
              </a:buClr>
              <a:buSzPts val="1000"/>
              <a:buFont typeface="Calibri"/>
              <a:buChar char="●"/>
            </a:pPr>
            <a:r>
              <a:rPr lang="en" sz="1000">
                <a:solidFill>
                  <a:srgbClr val="50607F"/>
                </a:solidFill>
                <a:latin typeface="Calibri"/>
                <a:ea typeface="Calibri"/>
                <a:cs typeface="Calibri"/>
                <a:sym typeface="Calibri"/>
              </a:rPr>
              <a:t>Short-term changes, such as squad age or manager nationality, showed little measurable impact.</a:t>
            </a:r>
            <a:endParaRPr sz="1000">
              <a:solidFill>
                <a:srgbClr val="50607F"/>
              </a:solidFill>
              <a:latin typeface="Calibri"/>
              <a:ea typeface="Calibri"/>
              <a:cs typeface="Calibri"/>
              <a:sym typeface="Calibri"/>
            </a:endParaRPr>
          </a:p>
          <a:p>
            <a:pPr indent="0" lvl="0" marL="0" marR="0" rtl="0" algn="l">
              <a:lnSpc>
                <a:spcPct val="100000"/>
              </a:lnSpc>
              <a:spcBef>
                <a:spcPts val="1000"/>
              </a:spcBef>
              <a:spcAft>
                <a:spcPts val="1000"/>
              </a:spcAft>
              <a:buClr>
                <a:srgbClr val="50607F"/>
              </a:buClr>
              <a:buSzPts val="800"/>
              <a:buFont typeface="Calibri"/>
              <a:buNone/>
            </a:pPr>
            <a:r>
              <a:t/>
            </a:r>
            <a:endParaRPr sz="1000">
              <a:solidFill>
                <a:srgbClr val="50607F"/>
              </a:solidFill>
              <a:latin typeface="Calibri"/>
              <a:ea typeface="Calibri"/>
              <a:cs typeface="Calibri"/>
              <a:sym typeface="Calibri"/>
            </a:endParaRPr>
          </a:p>
        </p:txBody>
      </p:sp>
      <p:sp>
        <p:nvSpPr>
          <p:cNvPr id="521" name="Google Shape;521;p41"/>
          <p:cNvSpPr/>
          <p:nvPr/>
        </p:nvSpPr>
        <p:spPr>
          <a:xfrm>
            <a:off x="3253750" y="1166312"/>
            <a:ext cx="2636400" cy="2289900"/>
          </a:xfrm>
          <a:prstGeom prst="roundRect">
            <a:avLst>
              <a:gd fmla="val 2909" name="adj"/>
            </a:avLst>
          </a:prstGeom>
          <a:solidFill>
            <a:srgbClr val="F3F5F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22" name="Google Shape;522;p41"/>
          <p:cNvSpPr/>
          <p:nvPr/>
        </p:nvSpPr>
        <p:spPr>
          <a:xfrm>
            <a:off x="3459496" y="1372060"/>
            <a:ext cx="377100" cy="377100"/>
          </a:xfrm>
          <a:prstGeom prst="ellipse">
            <a:avLst/>
          </a:prstGeom>
          <a:solidFill>
            <a:srgbClr val="2E997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23" name="Google Shape;523;p41"/>
          <p:cNvSpPr/>
          <p:nvPr/>
        </p:nvSpPr>
        <p:spPr>
          <a:xfrm>
            <a:off x="3459496" y="1372060"/>
            <a:ext cx="3771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Calibri"/>
              <a:buNone/>
            </a:pPr>
            <a:r>
              <a:rPr b="1" i="0" lang="en" sz="1400" u="none" cap="none" strike="noStrike">
                <a:solidFill>
                  <a:srgbClr val="FFFFFF"/>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524" name="Google Shape;524;p41"/>
          <p:cNvSpPr/>
          <p:nvPr/>
        </p:nvSpPr>
        <p:spPr>
          <a:xfrm>
            <a:off x="3434871" y="1878210"/>
            <a:ext cx="2225100"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3203B"/>
              </a:buClr>
              <a:buSzPts val="1000"/>
              <a:buFont typeface="Calibri"/>
              <a:buNone/>
            </a:pPr>
            <a:r>
              <a:rPr b="1" lang="en" sz="1200">
                <a:solidFill>
                  <a:srgbClr val="13203B"/>
                </a:solidFill>
                <a:latin typeface="Calibri"/>
                <a:ea typeface="Calibri"/>
                <a:cs typeface="Calibri"/>
                <a:sym typeface="Calibri"/>
              </a:rPr>
              <a:t>Analysts &amp; Broadcasters</a:t>
            </a:r>
            <a:endParaRPr b="0" i="0" sz="1200" u="none" cap="none" strike="noStrike">
              <a:solidFill>
                <a:schemeClr val="dk1"/>
              </a:solidFill>
              <a:latin typeface="Calibri"/>
              <a:ea typeface="Calibri"/>
              <a:cs typeface="Calibri"/>
              <a:sym typeface="Calibri"/>
            </a:endParaRPr>
          </a:p>
        </p:txBody>
      </p:sp>
      <p:sp>
        <p:nvSpPr>
          <p:cNvPr id="525" name="Google Shape;525;p41"/>
          <p:cNvSpPr/>
          <p:nvPr/>
        </p:nvSpPr>
        <p:spPr>
          <a:xfrm>
            <a:off x="3434871" y="2262166"/>
            <a:ext cx="2225100" cy="754500"/>
          </a:xfrm>
          <a:prstGeom prst="rect">
            <a:avLst/>
          </a:prstGeom>
          <a:noFill/>
          <a:ln>
            <a:noFill/>
          </a:ln>
        </p:spPr>
        <p:txBody>
          <a:bodyPr anchorCtr="0" anchor="ctr" bIns="0" lIns="0" spcFirstLastPara="1" rIns="0" wrap="square" tIns="0">
            <a:noAutofit/>
          </a:bodyPr>
          <a:lstStyle/>
          <a:p>
            <a:pPr indent="-177800" lvl="0" marL="171450" marR="0" rtl="0" algn="l">
              <a:lnSpc>
                <a:spcPct val="120000"/>
              </a:lnSpc>
              <a:spcBef>
                <a:spcPts val="0"/>
              </a:spcBef>
              <a:spcAft>
                <a:spcPts val="0"/>
              </a:spcAft>
              <a:buClr>
                <a:schemeClr val="dk1"/>
              </a:buClr>
              <a:buSzPts val="1000"/>
              <a:buFont typeface="Calibri"/>
              <a:buChar char="●"/>
            </a:pPr>
            <a:r>
              <a:rPr lang="en" sz="1000">
                <a:solidFill>
                  <a:srgbClr val="50607F"/>
                </a:solidFill>
                <a:latin typeface="Calibri"/>
                <a:ea typeface="Calibri"/>
                <a:cs typeface="Calibri"/>
                <a:sym typeface="Calibri"/>
              </a:rPr>
              <a:t>Tournament experience, host status, and confederation provide a more evidence-based foundation for pre-tournament forecasts than narrative-driven predictions.</a:t>
            </a:r>
            <a:endParaRPr b="0" i="0" sz="1000" u="none" cap="none" strike="noStrike">
              <a:solidFill>
                <a:schemeClr val="dk1"/>
              </a:solidFill>
              <a:latin typeface="Calibri"/>
              <a:ea typeface="Calibri"/>
              <a:cs typeface="Calibri"/>
              <a:sym typeface="Calibri"/>
            </a:endParaRPr>
          </a:p>
        </p:txBody>
      </p:sp>
      <p:sp>
        <p:nvSpPr>
          <p:cNvPr id="526" name="Google Shape;526;p41"/>
          <p:cNvSpPr/>
          <p:nvPr/>
        </p:nvSpPr>
        <p:spPr>
          <a:xfrm>
            <a:off x="6096000" y="1166312"/>
            <a:ext cx="2636400" cy="2289900"/>
          </a:xfrm>
          <a:prstGeom prst="roundRect">
            <a:avLst>
              <a:gd fmla="val 2909" name="adj"/>
            </a:avLst>
          </a:prstGeom>
          <a:solidFill>
            <a:srgbClr val="F3F5F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27" name="Google Shape;527;p41"/>
          <p:cNvSpPr/>
          <p:nvPr/>
        </p:nvSpPr>
        <p:spPr>
          <a:xfrm>
            <a:off x="6301756" y="1372060"/>
            <a:ext cx="377100" cy="377100"/>
          </a:xfrm>
          <a:prstGeom prst="ellipse">
            <a:avLst/>
          </a:prstGeom>
          <a:solidFill>
            <a:srgbClr val="2E9973"/>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28" name="Google Shape;528;p41"/>
          <p:cNvSpPr/>
          <p:nvPr/>
        </p:nvSpPr>
        <p:spPr>
          <a:xfrm>
            <a:off x="6301756" y="1372060"/>
            <a:ext cx="377100" cy="377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Calibri"/>
              <a:buNone/>
            </a:pPr>
            <a:r>
              <a:rPr b="1" i="0" lang="en" sz="1400" u="none" cap="none" strike="noStrike">
                <a:solidFill>
                  <a:srgbClr val="FFFFFF"/>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529" name="Google Shape;529;p41"/>
          <p:cNvSpPr/>
          <p:nvPr/>
        </p:nvSpPr>
        <p:spPr>
          <a:xfrm>
            <a:off x="6277131" y="1878210"/>
            <a:ext cx="2225100"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3203B"/>
              </a:buClr>
              <a:buSzPts val="1000"/>
              <a:buFont typeface="Calibri"/>
              <a:buNone/>
            </a:pPr>
            <a:r>
              <a:rPr b="1" lang="en" sz="1200">
                <a:solidFill>
                  <a:srgbClr val="13203B"/>
                </a:solidFill>
                <a:latin typeface="Calibri"/>
                <a:ea typeface="Calibri"/>
                <a:cs typeface="Calibri"/>
                <a:sym typeface="Calibri"/>
              </a:rPr>
              <a:t>Forecasting &amp; Betting</a:t>
            </a:r>
            <a:endParaRPr b="0" i="0" sz="1200" u="none" cap="none" strike="noStrike">
              <a:solidFill>
                <a:schemeClr val="dk1"/>
              </a:solidFill>
              <a:latin typeface="Calibri"/>
              <a:ea typeface="Calibri"/>
              <a:cs typeface="Calibri"/>
              <a:sym typeface="Calibri"/>
            </a:endParaRPr>
          </a:p>
        </p:txBody>
      </p:sp>
      <p:sp>
        <p:nvSpPr>
          <p:cNvPr id="530" name="Google Shape;530;p41"/>
          <p:cNvSpPr/>
          <p:nvPr/>
        </p:nvSpPr>
        <p:spPr>
          <a:xfrm>
            <a:off x="6277131" y="2237532"/>
            <a:ext cx="2225100" cy="754500"/>
          </a:xfrm>
          <a:prstGeom prst="rect">
            <a:avLst/>
          </a:prstGeom>
          <a:noFill/>
          <a:ln>
            <a:noFill/>
          </a:ln>
        </p:spPr>
        <p:txBody>
          <a:bodyPr anchorCtr="0" anchor="ctr" bIns="0" lIns="0" spcFirstLastPara="1" rIns="0" wrap="square" tIns="0">
            <a:noAutofit/>
          </a:bodyPr>
          <a:lstStyle/>
          <a:p>
            <a:pPr indent="-177800" lvl="0" marL="228600" marR="0" rtl="0" algn="l">
              <a:lnSpc>
                <a:spcPct val="120000"/>
              </a:lnSpc>
              <a:spcBef>
                <a:spcPts val="0"/>
              </a:spcBef>
              <a:spcAft>
                <a:spcPts val="0"/>
              </a:spcAft>
              <a:buClr>
                <a:srgbClr val="50607F"/>
              </a:buClr>
              <a:buSzPts val="1000"/>
              <a:buFont typeface="Calibri"/>
              <a:buChar char="●"/>
            </a:pPr>
            <a:r>
              <a:rPr b="0" i="0" lang="en" sz="1000" u="none" cap="none" strike="noStrike">
                <a:solidFill>
                  <a:srgbClr val="50607F"/>
                </a:solidFill>
                <a:latin typeface="Calibri"/>
                <a:ea typeface="Calibri"/>
                <a:cs typeface="Calibri"/>
                <a:sym typeface="Calibri"/>
              </a:rPr>
              <a:t>Experience, host status, and confederation strength provide a quantified, defensible baseline for pricing advancement probability ahead of a tournament.</a:t>
            </a:r>
            <a:endParaRPr b="0" i="0" sz="1000" u="none" cap="none" strike="noStrike">
              <a:solidFill>
                <a:schemeClr val="dk1"/>
              </a:solidFill>
              <a:latin typeface="Calibri"/>
              <a:ea typeface="Calibri"/>
              <a:cs typeface="Calibri"/>
              <a:sym typeface="Calibri"/>
            </a:endParaRPr>
          </a:p>
        </p:txBody>
      </p:sp>
      <p:sp>
        <p:nvSpPr>
          <p:cNvPr id="531" name="Google Shape;531;p41"/>
          <p:cNvSpPr/>
          <p:nvPr/>
        </p:nvSpPr>
        <p:spPr>
          <a:xfrm>
            <a:off x="411500" y="3638889"/>
            <a:ext cx="8321100" cy="887400"/>
          </a:xfrm>
          <a:prstGeom prst="roundRect">
            <a:avLst>
              <a:gd fmla="val 4848" name="adj"/>
            </a:avLst>
          </a:prstGeom>
          <a:solidFill>
            <a:srgbClr val="13203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32" name="Google Shape;532;p41"/>
          <p:cNvSpPr/>
          <p:nvPr/>
        </p:nvSpPr>
        <p:spPr>
          <a:xfrm>
            <a:off x="617236" y="3739857"/>
            <a:ext cx="20574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FAE8A"/>
              </a:buClr>
              <a:buSzPts val="800"/>
              <a:buFont typeface="Calibri"/>
              <a:buNone/>
            </a:pPr>
            <a:r>
              <a:rPr b="1" i="0" lang="en" sz="1200" u="none" cap="none" strike="noStrike">
                <a:solidFill>
                  <a:srgbClr val="3FAE8A"/>
                </a:solidFill>
                <a:latin typeface="Calibri"/>
                <a:ea typeface="Calibri"/>
                <a:cs typeface="Calibri"/>
                <a:sym typeface="Calibri"/>
              </a:rPr>
              <a:t>CAVEAT FOR 2026</a:t>
            </a:r>
            <a:endParaRPr b="0" i="0" sz="1200" u="none" cap="none" strike="noStrike">
              <a:solidFill>
                <a:schemeClr val="dk1"/>
              </a:solidFill>
              <a:latin typeface="Calibri"/>
              <a:ea typeface="Calibri"/>
              <a:cs typeface="Calibri"/>
              <a:sym typeface="Calibri"/>
            </a:endParaRPr>
          </a:p>
        </p:txBody>
      </p:sp>
      <p:sp>
        <p:nvSpPr>
          <p:cNvPr id="533" name="Google Shape;533;p41"/>
          <p:cNvSpPr/>
          <p:nvPr/>
        </p:nvSpPr>
        <p:spPr>
          <a:xfrm>
            <a:off x="617236" y="3840468"/>
            <a:ext cx="7909500" cy="6858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9FB0C9"/>
              </a:buClr>
              <a:buSzPts val="800"/>
              <a:buFont typeface="Calibri"/>
              <a:buNone/>
            </a:pPr>
            <a:r>
              <a:rPr lang="en" sz="1100">
                <a:solidFill>
                  <a:srgbClr val="9FB0C9"/>
                </a:solidFill>
                <a:latin typeface="Calibri"/>
                <a:ea typeface="Calibri"/>
                <a:cs typeface="Calibri"/>
                <a:sym typeface="Calibri"/>
              </a:rPr>
              <a:t>The expanded 48-team format changes advancement dynamics. While the model maintained reasonable discrimination (AUC ≈ 0.76), future tournaments should be evaluated as additional data become available.</a:t>
            </a:r>
            <a:endParaRPr b="0" i="0" sz="1100" u="none" cap="none" strike="noStrike">
              <a:solidFill>
                <a:schemeClr val="dk1"/>
              </a:solidFill>
              <a:latin typeface="Calibri"/>
              <a:ea typeface="Calibri"/>
              <a:cs typeface="Calibri"/>
              <a:sym typeface="Calibri"/>
            </a:endParaRPr>
          </a:p>
        </p:txBody>
      </p:sp>
      <p:sp>
        <p:nvSpPr>
          <p:cNvPr id="534" name="Google Shape;534;p41"/>
          <p:cNvSpPr/>
          <p:nvPr/>
        </p:nvSpPr>
        <p:spPr>
          <a:xfrm>
            <a:off x="411491" y="4800600"/>
            <a:ext cx="4800728"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592AA"/>
              </a:buClr>
              <a:buSzPts val="700"/>
              <a:buFont typeface="Calibri"/>
              <a:buNone/>
            </a:pPr>
            <a:r>
              <a:rPr b="0" i="0" lang="en" sz="700" u="none" cap="none" strike="noStrike">
                <a:solidFill>
                  <a:srgbClr val="8592AA"/>
                </a:solidFill>
                <a:latin typeface="Calibri"/>
                <a:ea typeface="Calibri"/>
                <a:cs typeface="Calibri"/>
                <a:sym typeface="Calibri"/>
              </a:rPr>
              <a:t>Shiu &amp; Nguyen  |  STAT 418, Tools in Data Science  |  UCLA Summer 2026</a:t>
            </a:r>
            <a:endParaRPr b="0" i="0" sz="700" u="none" cap="none" strike="noStrike">
              <a:solidFill>
                <a:schemeClr val="dk1"/>
              </a:solidFill>
              <a:latin typeface="Calibri"/>
              <a:ea typeface="Calibri"/>
              <a:cs typeface="Calibri"/>
              <a:sym typeface="Calibri"/>
            </a:endParaRPr>
          </a:p>
        </p:txBody>
      </p:sp>
      <p:sp>
        <p:nvSpPr>
          <p:cNvPr id="535" name="Google Shape;535;p41"/>
          <p:cNvSpPr/>
          <p:nvPr/>
        </p:nvSpPr>
        <p:spPr>
          <a:xfrm>
            <a:off x="8458197" y="4800600"/>
            <a:ext cx="411491" cy="2057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592AA"/>
              </a:buClr>
              <a:buSzPts val="800"/>
              <a:buFont typeface="Calibri"/>
              <a:buNone/>
            </a:pPr>
            <a:r>
              <a:rPr b="0" i="0" lang="en" sz="800" u="none" cap="none" strike="noStrike">
                <a:solidFill>
                  <a:srgbClr val="8592AA"/>
                </a:solidFill>
                <a:latin typeface="Calibri"/>
                <a:ea typeface="Calibri"/>
                <a:cs typeface="Calibri"/>
                <a:sym typeface="Calibri"/>
              </a:rPr>
              <a:t>22</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03B"/>
        </a:solidFill>
      </p:bgPr>
    </p:bg>
    <p:spTree>
      <p:nvGrpSpPr>
        <p:cNvPr id="540" name="Shape 540"/>
        <p:cNvGrpSpPr/>
        <p:nvPr/>
      </p:nvGrpSpPr>
      <p:grpSpPr>
        <a:xfrm>
          <a:off x="0" y="0"/>
          <a:ext cx="0" cy="0"/>
          <a:chOff x="0" y="0"/>
          <a:chExt cx="0" cy="0"/>
        </a:xfrm>
      </p:grpSpPr>
      <p:sp>
        <p:nvSpPr>
          <p:cNvPr id="541" name="Google Shape;541;p42"/>
          <p:cNvSpPr/>
          <p:nvPr/>
        </p:nvSpPr>
        <p:spPr>
          <a:xfrm>
            <a:off x="411491" y="634635"/>
            <a:ext cx="8321033"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100"/>
              <a:buFont typeface="Calibri"/>
              <a:buNone/>
            </a:pPr>
            <a:r>
              <a:rPr b="1" lang="en" sz="2100">
                <a:solidFill>
                  <a:srgbClr val="FFFFFF"/>
                </a:solidFill>
                <a:latin typeface="Calibri"/>
                <a:ea typeface="Calibri"/>
                <a:cs typeface="Calibri"/>
                <a:sym typeface="Calibri"/>
              </a:rPr>
              <a:t>Appendix</a:t>
            </a:r>
            <a:endParaRPr b="0" i="0" sz="2100" u="none" cap="none" strike="noStrike">
              <a:solidFill>
                <a:schemeClr val="dk1"/>
              </a:solidFill>
              <a:latin typeface="Calibri"/>
              <a:ea typeface="Calibri"/>
              <a:cs typeface="Calibri"/>
              <a:sym typeface="Calibri"/>
            </a:endParaRPr>
          </a:p>
        </p:txBody>
      </p:sp>
      <p:sp>
        <p:nvSpPr>
          <p:cNvPr id="542" name="Google Shape;542;p42"/>
          <p:cNvSpPr/>
          <p:nvPr/>
        </p:nvSpPr>
        <p:spPr>
          <a:xfrm>
            <a:off x="411491" y="1371600"/>
            <a:ext cx="8321033" cy="582930"/>
          </a:xfrm>
          <a:prstGeom prst="roundRect">
            <a:avLst>
              <a:gd fmla="val 9412" name="adj"/>
            </a:avLst>
          </a:prstGeom>
          <a:solidFill>
            <a:srgbClr val="1E315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43" name="Google Shape;543;p42"/>
          <p:cNvSpPr/>
          <p:nvPr/>
        </p:nvSpPr>
        <p:spPr>
          <a:xfrm>
            <a:off x="617236" y="1371600"/>
            <a:ext cx="7909542" cy="58293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FFFFFF"/>
              </a:buClr>
              <a:buSzPts val="800"/>
              <a:buFont typeface="Calibri"/>
              <a:buNone/>
            </a:pPr>
            <a:r>
              <a:rPr b="0" i="0" lang="en" sz="800" u="none" cap="none" strike="noStrike">
                <a:solidFill>
                  <a:srgbClr val="FFFFFF"/>
                </a:solidFill>
                <a:latin typeface="Calibri"/>
                <a:ea typeface="Calibri"/>
                <a:cs typeface="Calibri"/>
                <a:sym typeface="Calibri"/>
              </a:rPr>
              <a:t>Schauberger, G., &amp; Groll, A. (2018). Predicting matches in international football tournaments with random forests. Statistical Modeling. https://doi.org/10.1177/1471082X18799934</a:t>
            </a:r>
            <a:endParaRPr b="0" i="0" sz="800" u="none" cap="none" strike="noStrike">
              <a:solidFill>
                <a:schemeClr val="dk1"/>
              </a:solidFill>
              <a:latin typeface="Calibri"/>
              <a:ea typeface="Calibri"/>
              <a:cs typeface="Calibri"/>
              <a:sym typeface="Calibri"/>
            </a:endParaRPr>
          </a:p>
        </p:txBody>
      </p:sp>
      <p:sp>
        <p:nvSpPr>
          <p:cNvPr id="544" name="Google Shape;544;p42"/>
          <p:cNvSpPr/>
          <p:nvPr/>
        </p:nvSpPr>
        <p:spPr>
          <a:xfrm>
            <a:off x="411491" y="2091690"/>
            <a:ext cx="8321033" cy="582930"/>
          </a:xfrm>
          <a:prstGeom prst="roundRect">
            <a:avLst>
              <a:gd fmla="val 9412" name="adj"/>
            </a:avLst>
          </a:prstGeom>
          <a:solidFill>
            <a:srgbClr val="1E315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45" name="Google Shape;545;p42"/>
          <p:cNvSpPr/>
          <p:nvPr/>
        </p:nvSpPr>
        <p:spPr>
          <a:xfrm>
            <a:off x="617236" y="2091690"/>
            <a:ext cx="7909542" cy="58293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FFFFFF"/>
              </a:buClr>
              <a:buSzPts val="800"/>
              <a:buFont typeface="Calibri"/>
              <a:buNone/>
            </a:pPr>
            <a:r>
              <a:rPr b="0" i="0" lang="en" sz="800" u="none" cap="none" strike="noStrike">
                <a:solidFill>
                  <a:srgbClr val="FFFFFF"/>
                </a:solidFill>
                <a:latin typeface="Calibri"/>
                <a:ea typeface="Calibri"/>
                <a:cs typeface="Calibri"/>
                <a:sym typeface="Calibri"/>
              </a:rPr>
              <a:t>Szczecinski, L., &amp; Roatis, I. I. (2022). FIFA ranking: Evaluation and path forward. Journal of Sports Analytics. https://doi.org/10.3233_JSA-200619</a:t>
            </a:r>
            <a:endParaRPr b="0" i="0" sz="800" u="none" cap="none" strike="noStrike">
              <a:solidFill>
                <a:schemeClr val="dk1"/>
              </a:solidFill>
              <a:latin typeface="Calibri"/>
              <a:ea typeface="Calibri"/>
              <a:cs typeface="Calibri"/>
              <a:sym typeface="Calibri"/>
            </a:endParaRPr>
          </a:p>
        </p:txBody>
      </p:sp>
      <p:sp>
        <p:nvSpPr>
          <p:cNvPr id="546" name="Google Shape;546;p42"/>
          <p:cNvSpPr/>
          <p:nvPr/>
        </p:nvSpPr>
        <p:spPr>
          <a:xfrm>
            <a:off x="411491" y="2811780"/>
            <a:ext cx="8321033" cy="582930"/>
          </a:xfrm>
          <a:prstGeom prst="roundRect">
            <a:avLst>
              <a:gd fmla="val 9412" name="adj"/>
            </a:avLst>
          </a:prstGeom>
          <a:solidFill>
            <a:srgbClr val="1E315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47" name="Google Shape;547;p42"/>
          <p:cNvSpPr/>
          <p:nvPr/>
        </p:nvSpPr>
        <p:spPr>
          <a:xfrm>
            <a:off x="617236" y="2811780"/>
            <a:ext cx="7909542" cy="58293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FFFFFF"/>
              </a:buClr>
              <a:buSzPts val="800"/>
              <a:buFont typeface="Calibri"/>
              <a:buNone/>
            </a:pPr>
            <a:r>
              <a:rPr b="0" i="0" lang="en" sz="800" u="none" cap="none" strike="noStrike">
                <a:solidFill>
                  <a:srgbClr val="FFFFFF"/>
                </a:solidFill>
                <a:latin typeface="Calibri"/>
                <a:ea typeface="Calibri"/>
                <a:cs typeface="Calibri"/>
                <a:sym typeface="Calibri"/>
              </a:rPr>
              <a:t>Fjelstul, J. C. (2023). The Fjelstul World Cup Database (Version 1.2.0) [Data set]. GitHub. https://github.com/jfjelstul/worldcup</a:t>
            </a:r>
            <a:endParaRPr b="0" i="0" sz="800" u="none" cap="none" strike="noStrike">
              <a:solidFill>
                <a:schemeClr val="dk1"/>
              </a:solidFill>
              <a:latin typeface="Calibri"/>
              <a:ea typeface="Calibri"/>
              <a:cs typeface="Calibri"/>
              <a:sym typeface="Calibri"/>
            </a:endParaRPr>
          </a:p>
        </p:txBody>
      </p:sp>
      <p:sp>
        <p:nvSpPr>
          <p:cNvPr id="548" name="Google Shape;548;p42"/>
          <p:cNvSpPr/>
          <p:nvPr/>
        </p:nvSpPr>
        <p:spPr>
          <a:xfrm>
            <a:off x="411491" y="3531870"/>
            <a:ext cx="8321033" cy="582930"/>
          </a:xfrm>
          <a:prstGeom prst="roundRect">
            <a:avLst>
              <a:gd fmla="val 9412" name="adj"/>
            </a:avLst>
          </a:prstGeom>
          <a:solidFill>
            <a:srgbClr val="1E3158"/>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49" name="Google Shape;549;p42"/>
          <p:cNvSpPr/>
          <p:nvPr/>
        </p:nvSpPr>
        <p:spPr>
          <a:xfrm>
            <a:off x="617236" y="3531870"/>
            <a:ext cx="7909542" cy="58293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FFFFFF"/>
              </a:buClr>
              <a:buSzPts val="800"/>
              <a:buFont typeface="Calibri"/>
              <a:buNone/>
            </a:pPr>
            <a:r>
              <a:rPr lang="en" sz="800">
                <a:solidFill>
                  <a:schemeClr val="lt1"/>
                </a:solidFill>
                <a:latin typeface="Calibri"/>
                <a:ea typeface="Calibri"/>
                <a:cs typeface="Calibri"/>
                <a:sym typeface="Calibri"/>
              </a:rPr>
              <a:t>The Global Statistics. (2026, July 20). </a:t>
            </a:r>
            <a:r>
              <a:rPr i="1" lang="en" sz="800">
                <a:solidFill>
                  <a:schemeClr val="lt1"/>
                </a:solidFill>
                <a:latin typeface="Calibri"/>
                <a:ea typeface="Calibri"/>
                <a:cs typeface="Calibri"/>
                <a:sym typeface="Calibri"/>
              </a:rPr>
              <a:t>FIFA World Cup 2026 revenue statistics | Key facts.</a:t>
            </a:r>
            <a:r>
              <a:rPr lang="en" sz="800">
                <a:solidFill>
                  <a:schemeClr val="lt1"/>
                </a:solidFill>
                <a:uFill>
                  <a:noFill/>
                </a:uFill>
                <a:latin typeface="Calibri"/>
                <a:ea typeface="Calibri"/>
                <a:cs typeface="Calibri"/>
                <a:sym typeface="Calibri"/>
                <a:hlinkClick r:id="rId3">
                  <a:extLst>
                    <a:ext uri="{A12FA001-AC4F-418D-AE19-62706E023703}">
                      <ahyp:hlinkClr val="tx"/>
                    </a:ext>
                  </a:extLst>
                </a:hlinkClick>
              </a:rPr>
              <a:t> </a:t>
            </a:r>
            <a:r>
              <a:rPr lang="en" sz="800" u="sng">
                <a:solidFill>
                  <a:schemeClr val="lt1"/>
                </a:solidFill>
                <a:latin typeface="Calibri"/>
                <a:ea typeface="Calibri"/>
                <a:cs typeface="Calibri"/>
                <a:sym typeface="Calibri"/>
                <a:hlinkClick r:id="rId4">
                  <a:extLst>
                    <a:ext uri="{A12FA001-AC4F-418D-AE19-62706E023703}">
                      <ahyp:hlinkClr val="tx"/>
                    </a:ext>
                  </a:extLst>
                </a:hlinkClick>
              </a:rPr>
              <a:t>https://www.theglobalstatistics.com/fifa-world-cup-revenue-statistics/</a:t>
            </a:r>
            <a:r>
              <a:rPr lang="en" sz="800">
                <a:solidFill>
                  <a:schemeClr val="lt1"/>
                </a:solidFill>
                <a:latin typeface="Calibri"/>
                <a:ea typeface="Calibri"/>
                <a:cs typeface="Calibri"/>
                <a:sym typeface="Calibri"/>
              </a:rPr>
              <a:t> </a:t>
            </a:r>
            <a:endParaRPr i="0" sz="800" u="none" cap="none" strike="noStrike">
              <a:solidFill>
                <a:schemeClr val="lt1"/>
              </a:solidFill>
              <a:latin typeface="Calibri"/>
              <a:ea typeface="Calibri"/>
              <a:cs typeface="Calibri"/>
              <a:sym typeface="Calibri"/>
            </a:endParaRPr>
          </a:p>
        </p:txBody>
      </p:sp>
      <p:sp>
        <p:nvSpPr>
          <p:cNvPr id="550" name="Google Shape;550;p42"/>
          <p:cNvSpPr/>
          <p:nvPr/>
        </p:nvSpPr>
        <p:spPr>
          <a:xfrm>
            <a:off x="411491" y="4286250"/>
            <a:ext cx="8321033"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FB0C9"/>
              </a:buClr>
              <a:buSzPts val="800"/>
              <a:buFont typeface="Calibri"/>
              <a:buNone/>
            </a:pPr>
            <a:r>
              <a:rPr b="0" i="1" lang="en" sz="800" u="none" cap="none" strike="noStrike">
                <a:solidFill>
                  <a:srgbClr val="9FB0C9"/>
                </a:solidFill>
                <a:latin typeface="Calibri"/>
                <a:ea typeface="Calibri"/>
                <a:cs typeface="Calibri"/>
                <a:sym typeface="Calibri"/>
              </a:rPr>
              <a:t>Full SQL construction query, stepwise model-selection output, and reproducible R code are available in the project repository and full report appendix.</a:t>
            </a:r>
            <a:endParaRPr b="0" i="0" sz="800" u="none" cap="none" strike="noStrike">
              <a:solidFill>
                <a:schemeClr val="dk1"/>
              </a:solidFill>
              <a:latin typeface="Calibri"/>
              <a:ea typeface="Calibri"/>
              <a:cs typeface="Calibri"/>
              <a:sym typeface="Calibri"/>
            </a:endParaRPr>
          </a:p>
        </p:txBody>
      </p:sp>
      <p:sp>
        <p:nvSpPr>
          <p:cNvPr id="551" name="Google Shape;551;p42"/>
          <p:cNvSpPr/>
          <p:nvPr/>
        </p:nvSpPr>
        <p:spPr>
          <a:xfrm>
            <a:off x="411491" y="4800600"/>
            <a:ext cx="4800728"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4456E"/>
              </a:buClr>
              <a:buSzPts val="700"/>
              <a:buFont typeface="Calibri"/>
              <a:buNone/>
            </a:pPr>
            <a:r>
              <a:rPr b="0" i="0" lang="en" sz="700" u="none" cap="none" strike="noStrike">
                <a:solidFill>
                  <a:srgbClr val="34456E"/>
                </a:solidFill>
                <a:latin typeface="Calibri"/>
                <a:ea typeface="Calibri"/>
                <a:cs typeface="Calibri"/>
                <a:sym typeface="Calibri"/>
              </a:rPr>
              <a:t>Shiu &amp; Nguyen  |  STAT 418, Tools in Data Science  |  UCLA Summer 2026</a:t>
            </a:r>
            <a:endParaRPr b="0" i="0" sz="700" u="none" cap="none" strike="noStrike">
              <a:solidFill>
                <a:schemeClr val="dk1"/>
              </a:solidFill>
              <a:latin typeface="Calibri"/>
              <a:ea typeface="Calibri"/>
              <a:cs typeface="Calibri"/>
              <a:sym typeface="Calibri"/>
            </a:endParaRPr>
          </a:p>
        </p:txBody>
      </p:sp>
      <p:sp>
        <p:nvSpPr>
          <p:cNvPr id="552" name="Google Shape;552;p42"/>
          <p:cNvSpPr/>
          <p:nvPr/>
        </p:nvSpPr>
        <p:spPr>
          <a:xfrm>
            <a:off x="8458197" y="4800600"/>
            <a:ext cx="411491" cy="2057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8592AA"/>
              </a:buClr>
              <a:buSzPts val="800"/>
              <a:buFont typeface="Calibri"/>
              <a:buNone/>
            </a:pPr>
            <a:r>
              <a:rPr b="0" i="0" lang="en" sz="800" u="none" cap="none" strike="noStrike">
                <a:solidFill>
                  <a:srgbClr val="8592AA"/>
                </a:solidFill>
                <a:latin typeface="Calibri"/>
                <a:ea typeface="Calibri"/>
                <a:cs typeface="Calibri"/>
                <a:sym typeface="Calibri"/>
              </a:rPr>
              <a:t>24</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 name="Shape 71"/>
        <p:cNvGrpSpPr/>
        <p:nvPr/>
      </p:nvGrpSpPr>
      <p:grpSpPr>
        <a:xfrm>
          <a:off x="0" y="0"/>
          <a:ext cx="0" cy="0"/>
          <a:chOff x="0" y="0"/>
          <a:chExt cx="0" cy="0"/>
        </a:xfrm>
      </p:grpSpPr>
      <p:sp>
        <p:nvSpPr>
          <p:cNvPr id="72" name="Google Shape;72;p18"/>
          <p:cNvSpPr/>
          <p:nvPr/>
        </p:nvSpPr>
        <p:spPr>
          <a:xfrm>
            <a:off x="411481" y="308610"/>
            <a:ext cx="8320811"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 sz="825" u="none" cap="none" strike="noStrike">
                <a:solidFill>
                  <a:srgbClr val="2E9973"/>
                </a:solidFill>
                <a:latin typeface="Calibri"/>
                <a:ea typeface="Calibri"/>
                <a:cs typeface="Calibri"/>
                <a:sym typeface="Calibri"/>
              </a:rPr>
              <a:t>EXECUTIVE SUMMARY</a:t>
            </a:r>
            <a:endParaRPr b="0" i="0" sz="825" u="none" cap="none" strike="noStrike">
              <a:solidFill>
                <a:srgbClr val="000000"/>
              </a:solidFill>
              <a:latin typeface="Calibri"/>
              <a:ea typeface="Calibri"/>
              <a:cs typeface="Calibri"/>
              <a:sym typeface="Calibri"/>
            </a:endParaRPr>
          </a:p>
        </p:txBody>
      </p:sp>
      <p:sp>
        <p:nvSpPr>
          <p:cNvPr id="73" name="Google Shape;73;p18"/>
          <p:cNvSpPr/>
          <p:nvPr/>
        </p:nvSpPr>
        <p:spPr>
          <a:xfrm>
            <a:off x="411481" y="525000"/>
            <a:ext cx="8320811" cy="6300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 sz="2000" u="none" cap="none" strike="noStrike">
                <a:solidFill>
                  <a:srgbClr val="13203B"/>
                </a:solidFill>
                <a:latin typeface="Calibri"/>
                <a:ea typeface="Calibri"/>
                <a:cs typeface="Calibri"/>
                <a:sym typeface="Calibri"/>
              </a:rPr>
              <a:t>Three pre-tournament factors reliably predict who escapes the World Cup group stage</a:t>
            </a:r>
            <a:endParaRPr b="0" i="0" sz="2000" u="none" cap="none" strike="noStrike">
              <a:solidFill>
                <a:srgbClr val="000000"/>
              </a:solidFill>
              <a:latin typeface="Calibri"/>
              <a:ea typeface="Calibri"/>
              <a:cs typeface="Calibri"/>
              <a:sym typeface="Calibri"/>
            </a:endParaRPr>
          </a:p>
        </p:txBody>
      </p:sp>
      <p:sp>
        <p:nvSpPr>
          <p:cNvPr id="74" name="Google Shape;74;p18"/>
          <p:cNvSpPr/>
          <p:nvPr/>
        </p:nvSpPr>
        <p:spPr>
          <a:xfrm>
            <a:off x="411481" y="1200000"/>
            <a:ext cx="8320811" cy="352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 sz="900" u="none" cap="none" strike="noStrike">
                <a:solidFill>
                  <a:srgbClr val="50607F"/>
                </a:solidFill>
                <a:latin typeface="Calibri"/>
                <a:ea typeface="Calibri"/>
                <a:cs typeface="Calibri"/>
                <a:sym typeface="Calibri"/>
              </a:rPr>
              <a:t>A logistic model on 366 men’s World Cup team-campaigns (1970–2022) isolates what separates teams that advance — experience, host status, and regional strength — and it holds up out of sample and on the completed 2026 field.</a:t>
            </a:r>
            <a:endParaRPr b="0" i="0" sz="900" u="none" cap="none" strike="noStrike">
              <a:solidFill>
                <a:srgbClr val="000000"/>
              </a:solidFill>
              <a:latin typeface="Calibri"/>
              <a:ea typeface="Calibri"/>
              <a:cs typeface="Calibri"/>
              <a:sym typeface="Calibri"/>
            </a:endParaRPr>
          </a:p>
        </p:txBody>
      </p:sp>
      <p:sp>
        <p:nvSpPr>
          <p:cNvPr id="75" name="Google Shape;75;p18"/>
          <p:cNvSpPr/>
          <p:nvPr/>
        </p:nvSpPr>
        <p:spPr>
          <a:xfrm>
            <a:off x="411480" y="2670000"/>
            <a:ext cx="2636444" cy="900000"/>
          </a:xfrm>
          <a:prstGeom prst="roundRect">
            <a:avLst>
              <a:gd fmla="val 5000" name="adj"/>
            </a:avLst>
          </a:prstGeom>
          <a:solidFill>
            <a:srgbClr val="13203B"/>
          </a:solidFill>
          <a:ln>
            <a:noFill/>
          </a:ln>
        </p:spPr>
        <p:txBody>
          <a:bodyPr anchorCtr="0" anchor="ctr" bIns="68550" lIns="68550" spcFirstLastPara="1" rIns="68550" wrap="square" tIns="68550">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76" name="Google Shape;76;p18"/>
          <p:cNvSpPr/>
          <p:nvPr/>
        </p:nvSpPr>
        <p:spPr>
          <a:xfrm>
            <a:off x="562356" y="2760000"/>
            <a:ext cx="2334692" cy="35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 sz="1800" u="none" cap="none" strike="noStrike">
                <a:solidFill>
                  <a:srgbClr val="3FAE8A"/>
                </a:solidFill>
                <a:latin typeface="Calibri"/>
                <a:ea typeface="Calibri"/>
                <a:cs typeface="Calibri"/>
                <a:sym typeface="Calibri"/>
              </a:rPr>
              <a:t>$7.6B</a:t>
            </a:r>
            <a:endParaRPr b="0" i="0" sz="1800" u="none" cap="none" strike="noStrike">
              <a:solidFill>
                <a:srgbClr val="000000"/>
              </a:solidFill>
              <a:latin typeface="Calibri"/>
              <a:ea typeface="Calibri"/>
              <a:cs typeface="Calibri"/>
              <a:sym typeface="Calibri"/>
            </a:endParaRPr>
          </a:p>
        </p:txBody>
      </p:sp>
      <p:sp>
        <p:nvSpPr>
          <p:cNvPr id="77" name="Google Shape;77;p18"/>
          <p:cNvSpPr/>
          <p:nvPr/>
        </p:nvSpPr>
        <p:spPr>
          <a:xfrm>
            <a:off x="562356" y="3135000"/>
            <a:ext cx="2334692" cy="195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 sz="800" u="none" cap="none" strike="noStrike">
                <a:solidFill>
                  <a:srgbClr val="FFFFFF"/>
                </a:solidFill>
                <a:latin typeface="Calibri"/>
                <a:ea typeface="Calibri"/>
                <a:cs typeface="Calibri"/>
                <a:sym typeface="Calibri"/>
              </a:rPr>
              <a:t>Revenue Generated</a:t>
            </a:r>
            <a:endParaRPr b="0" i="0" sz="800" u="none" cap="none" strike="noStrike">
              <a:solidFill>
                <a:srgbClr val="000000"/>
              </a:solidFill>
              <a:latin typeface="Calibri"/>
              <a:ea typeface="Calibri"/>
              <a:cs typeface="Calibri"/>
              <a:sym typeface="Calibri"/>
            </a:endParaRPr>
          </a:p>
        </p:txBody>
      </p:sp>
      <p:sp>
        <p:nvSpPr>
          <p:cNvPr id="78" name="Google Shape;78;p18"/>
          <p:cNvSpPr/>
          <p:nvPr/>
        </p:nvSpPr>
        <p:spPr>
          <a:xfrm>
            <a:off x="562356" y="3330000"/>
            <a:ext cx="2334692" cy="2250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0" i="0" lang="en" sz="700" u="none" cap="none" strike="noStrike">
                <a:solidFill>
                  <a:srgbClr val="9FB0C9"/>
                </a:solidFill>
                <a:latin typeface="Calibri"/>
                <a:ea typeface="Calibri"/>
                <a:cs typeface="Calibri"/>
                <a:sym typeface="Calibri"/>
              </a:rPr>
              <a:t>During the ’22 World Cup</a:t>
            </a:r>
            <a:endParaRPr b="0" i="0" sz="700" u="none" cap="none" strike="noStrike">
              <a:solidFill>
                <a:srgbClr val="000000"/>
              </a:solidFill>
              <a:latin typeface="Calibri"/>
              <a:ea typeface="Calibri"/>
              <a:cs typeface="Calibri"/>
              <a:sym typeface="Calibri"/>
            </a:endParaRPr>
          </a:p>
        </p:txBody>
      </p:sp>
      <p:sp>
        <p:nvSpPr>
          <p:cNvPr id="79" name="Google Shape;79;p18"/>
          <p:cNvSpPr/>
          <p:nvPr/>
        </p:nvSpPr>
        <p:spPr>
          <a:xfrm>
            <a:off x="3253663" y="2670000"/>
            <a:ext cx="2636444" cy="900000"/>
          </a:xfrm>
          <a:prstGeom prst="roundRect">
            <a:avLst>
              <a:gd fmla="val 5000" name="adj"/>
            </a:avLst>
          </a:prstGeom>
          <a:solidFill>
            <a:srgbClr val="13203B"/>
          </a:solidFill>
          <a:ln>
            <a:noFill/>
          </a:ln>
        </p:spPr>
        <p:txBody>
          <a:bodyPr anchorCtr="0" anchor="ctr" bIns="68550" lIns="68550" spcFirstLastPara="1" rIns="68550" wrap="square" tIns="68550">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80" name="Google Shape;80;p18"/>
          <p:cNvSpPr/>
          <p:nvPr/>
        </p:nvSpPr>
        <p:spPr>
          <a:xfrm>
            <a:off x="3404539" y="2760000"/>
            <a:ext cx="2334692" cy="35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 sz="1800" u="none" cap="none" strike="noStrike">
                <a:solidFill>
                  <a:srgbClr val="3FAE8A"/>
                </a:solidFill>
                <a:latin typeface="Calibri"/>
                <a:ea typeface="Calibri"/>
                <a:cs typeface="Calibri"/>
                <a:sym typeface="Calibri"/>
              </a:rPr>
              <a:t>6.6M</a:t>
            </a:r>
            <a:endParaRPr b="0" i="0" sz="1800" u="none" cap="none" strike="noStrike">
              <a:solidFill>
                <a:srgbClr val="000000"/>
              </a:solidFill>
              <a:latin typeface="Calibri"/>
              <a:ea typeface="Calibri"/>
              <a:cs typeface="Calibri"/>
              <a:sym typeface="Calibri"/>
            </a:endParaRPr>
          </a:p>
        </p:txBody>
      </p:sp>
      <p:sp>
        <p:nvSpPr>
          <p:cNvPr id="81" name="Google Shape;81;p18"/>
          <p:cNvSpPr/>
          <p:nvPr/>
        </p:nvSpPr>
        <p:spPr>
          <a:xfrm>
            <a:off x="3404539" y="3135000"/>
            <a:ext cx="2334692" cy="195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 sz="800" u="none" cap="none" strike="noStrike">
                <a:solidFill>
                  <a:srgbClr val="FFFFFF"/>
                </a:solidFill>
                <a:latin typeface="Calibri"/>
                <a:ea typeface="Calibri"/>
                <a:cs typeface="Calibri"/>
                <a:sym typeface="Calibri"/>
              </a:rPr>
              <a:t>Fans in Attendance</a:t>
            </a:r>
            <a:endParaRPr b="0" i="0" sz="800" u="none" cap="none" strike="noStrike">
              <a:solidFill>
                <a:srgbClr val="000000"/>
              </a:solidFill>
              <a:latin typeface="Calibri"/>
              <a:ea typeface="Calibri"/>
              <a:cs typeface="Calibri"/>
              <a:sym typeface="Calibri"/>
            </a:endParaRPr>
          </a:p>
        </p:txBody>
      </p:sp>
      <p:sp>
        <p:nvSpPr>
          <p:cNvPr id="82" name="Google Shape;82;p18"/>
          <p:cNvSpPr/>
          <p:nvPr/>
        </p:nvSpPr>
        <p:spPr>
          <a:xfrm>
            <a:off x="3404539" y="3330000"/>
            <a:ext cx="2334692" cy="2250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0" i="0" lang="en" sz="700" u="none" cap="none" strike="noStrike">
                <a:solidFill>
                  <a:srgbClr val="9FB0C9"/>
                </a:solidFill>
                <a:latin typeface="Calibri"/>
                <a:ea typeface="Calibri"/>
                <a:cs typeface="Calibri"/>
                <a:sym typeface="Calibri"/>
              </a:rPr>
              <a:t>Across 102 games</a:t>
            </a:r>
            <a:endParaRPr b="0" i="0" sz="700" u="none" cap="none" strike="noStrike">
              <a:solidFill>
                <a:srgbClr val="000000"/>
              </a:solidFill>
              <a:latin typeface="Calibri"/>
              <a:ea typeface="Calibri"/>
              <a:cs typeface="Calibri"/>
              <a:sym typeface="Calibri"/>
            </a:endParaRPr>
          </a:p>
        </p:txBody>
      </p:sp>
      <p:sp>
        <p:nvSpPr>
          <p:cNvPr id="83" name="Google Shape;83;p18"/>
          <p:cNvSpPr/>
          <p:nvPr/>
        </p:nvSpPr>
        <p:spPr>
          <a:xfrm>
            <a:off x="6095848" y="2670000"/>
            <a:ext cx="2636444" cy="900000"/>
          </a:xfrm>
          <a:prstGeom prst="roundRect">
            <a:avLst>
              <a:gd fmla="val 5000" name="adj"/>
            </a:avLst>
          </a:prstGeom>
          <a:solidFill>
            <a:srgbClr val="13203B"/>
          </a:solidFill>
          <a:ln>
            <a:noFill/>
          </a:ln>
        </p:spPr>
        <p:txBody>
          <a:bodyPr anchorCtr="0" anchor="ctr" bIns="68550" lIns="68550" spcFirstLastPara="1" rIns="68550" wrap="square" tIns="68550">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84" name="Google Shape;84;p18"/>
          <p:cNvSpPr/>
          <p:nvPr/>
        </p:nvSpPr>
        <p:spPr>
          <a:xfrm>
            <a:off x="6246724" y="2760000"/>
            <a:ext cx="2334692" cy="35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 sz="1800" u="none" cap="none" strike="noStrike">
                <a:solidFill>
                  <a:srgbClr val="3FAE8A"/>
                </a:solidFill>
                <a:latin typeface="Calibri"/>
                <a:ea typeface="Calibri"/>
                <a:cs typeface="Calibri"/>
                <a:sym typeface="Calibri"/>
              </a:rPr>
              <a:t>5B</a:t>
            </a:r>
            <a:endParaRPr b="0" i="0" sz="1800" u="none" cap="none" strike="noStrike">
              <a:solidFill>
                <a:srgbClr val="000000"/>
              </a:solidFill>
              <a:latin typeface="Calibri"/>
              <a:ea typeface="Calibri"/>
              <a:cs typeface="Calibri"/>
              <a:sym typeface="Calibri"/>
            </a:endParaRPr>
          </a:p>
        </p:txBody>
      </p:sp>
      <p:sp>
        <p:nvSpPr>
          <p:cNvPr id="85" name="Google Shape;85;p18"/>
          <p:cNvSpPr/>
          <p:nvPr/>
        </p:nvSpPr>
        <p:spPr>
          <a:xfrm>
            <a:off x="6246724" y="3135000"/>
            <a:ext cx="2334692" cy="195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 sz="800" u="none" cap="none" strike="noStrike">
                <a:solidFill>
                  <a:srgbClr val="FFFFFF"/>
                </a:solidFill>
                <a:latin typeface="Calibri"/>
                <a:ea typeface="Calibri"/>
                <a:cs typeface="Calibri"/>
                <a:sym typeface="Calibri"/>
              </a:rPr>
              <a:t>Total Viewers</a:t>
            </a:r>
            <a:endParaRPr b="0" i="0" sz="800" u="none" cap="none" strike="noStrike">
              <a:solidFill>
                <a:srgbClr val="000000"/>
              </a:solidFill>
              <a:latin typeface="Calibri"/>
              <a:ea typeface="Calibri"/>
              <a:cs typeface="Calibri"/>
              <a:sym typeface="Calibri"/>
            </a:endParaRPr>
          </a:p>
        </p:txBody>
      </p:sp>
      <p:sp>
        <p:nvSpPr>
          <p:cNvPr id="86" name="Google Shape;86;p18"/>
          <p:cNvSpPr/>
          <p:nvPr/>
        </p:nvSpPr>
        <p:spPr>
          <a:xfrm>
            <a:off x="6246724" y="3330000"/>
            <a:ext cx="2334692" cy="2250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0" i="0" lang="en" sz="700" u="none" cap="none" strike="noStrike">
                <a:solidFill>
                  <a:srgbClr val="9FB0C9"/>
                </a:solidFill>
                <a:latin typeface="Calibri"/>
                <a:ea typeface="Calibri"/>
                <a:cs typeface="Calibri"/>
                <a:sym typeface="Calibri"/>
              </a:rPr>
              <a:t>Engaged across TV &amp; digital</a:t>
            </a:r>
            <a:endParaRPr b="0" i="0" sz="700" u="none" cap="none" strike="noStrike">
              <a:solidFill>
                <a:srgbClr val="000000"/>
              </a:solidFill>
              <a:latin typeface="Calibri"/>
              <a:ea typeface="Calibri"/>
              <a:cs typeface="Calibri"/>
              <a:sym typeface="Calibri"/>
            </a:endParaRPr>
          </a:p>
        </p:txBody>
      </p:sp>
      <p:sp>
        <p:nvSpPr>
          <p:cNvPr id="87" name="Google Shape;87;p18"/>
          <p:cNvSpPr/>
          <p:nvPr/>
        </p:nvSpPr>
        <p:spPr>
          <a:xfrm>
            <a:off x="411480" y="1620000"/>
            <a:ext cx="2636444" cy="937500"/>
          </a:xfrm>
          <a:prstGeom prst="roundRect">
            <a:avLst>
              <a:gd fmla="val 5000" name="adj"/>
            </a:avLst>
          </a:prstGeom>
          <a:solidFill>
            <a:srgbClr val="F3F5F9"/>
          </a:solidFill>
          <a:ln>
            <a:noFill/>
          </a:ln>
        </p:spPr>
        <p:txBody>
          <a:bodyPr anchorCtr="0" anchor="ctr" bIns="68550" lIns="68550" spcFirstLastPara="1" rIns="68550" wrap="square" tIns="68550">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88" name="Google Shape;88;p18"/>
          <p:cNvSpPr/>
          <p:nvPr/>
        </p:nvSpPr>
        <p:spPr>
          <a:xfrm>
            <a:off x="411480" y="1620000"/>
            <a:ext cx="54864" cy="937500"/>
          </a:xfrm>
          <a:prstGeom prst="rect">
            <a:avLst/>
          </a:prstGeom>
          <a:solidFill>
            <a:srgbClr val="2E9973"/>
          </a:solidFill>
          <a:ln>
            <a:noFill/>
          </a:ln>
        </p:spPr>
        <p:txBody>
          <a:bodyPr anchorCtr="0" anchor="ctr" bIns="68550" lIns="68550" spcFirstLastPara="1" rIns="68550" wrap="square" tIns="68550">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89" name="Google Shape;89;p18"/>
          <p:cNvSpPr/>
          <p:nvPr/>
        </p:nvSpPr>
        <p:spPr>
          <a:xfrm>
            <a:off x="651510" y="1732500"/>
            <a:ext cx="2245538" cy="3525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 sz="1100" u="none" cap="none" strike="noStrike">
                <a:solidFill>
                  <a:srgbClr val="13203B"/>
                </a:solidFill>
                <a:latin typeface="Calibri"/>
                <a:ea typeface="Calibri"/>
                <a:cs typeface="Calibri"/>
                <a:sym typeface="Calibri"/>
              </a:rPr>
              <a:t>Hosting — largest effect</a:t>
            </a:r>
            <a:endParaRPr b="0" i="0" sz="1100" u="none" cap="none" strike="noStrike">
              <a:solidFill>
                <a:srgbClr val="000000"/>
              </a:solidFill>
              <a:latin typeface="Calibri"/>
              <a:ea typeface="Calibri"/>
              <a:cs typeface="Calibri"/>
              <a:sym typeface="Calibri"/>
            </a:endParaRPr>
          </a:p>
        </p:txBody>
      </p:sp>
      <p:sp>
        <p:nvSpPr>
          <p:cNvPr id="90" name="Google Shape;90;p18"/>
          <p:cNvSpPr/>
          <p:nvPr/>
        </p:nvSpPr>
        <p:spPr>
          <a:xfrm>
            <a:off x="651510" y="2085000"/>
            <a:ext cx="2245538" cy="450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 sz="863" u="none" cap="none" strike="noStrike">
                <a:solidFill>
                  <a:srgbClr val="50607F"/>
                </a:solidFill>
                <a:latin typeface="Calibri"/>
                <a:ea typeface="Calibri"/>
                <a:cs typeface="Calibri"/>
                <a:sym typeface="Calibri"/>
              </a:rPr>
              <a:t>Host nations advance at roughly eight times the odds of a comparable non-host (p ≈ .002).</a:t>
            </a:r>
            <a:endParaRPr b="0" i="0" sz="863" u="none" cap="none" strike="noStrike">
              <a:solidFill>
                <a:srgbClr val="000000"/>
              </a:solidFill>
              <a:latin typeface="Calibri"/>
              <a:ea typeface="Calibri"/>
              <a:cs typeface="Calibri"/>
              <a:sym typeface="Calibri"/>
            </a:endParaRPr>
          </a:p>
        </p:txBody>
      </p:sp>
      <p:sp>
        <p:nvSpPr>
          <p:cNvPr id="91" name="Google Shape;91;p18"/>
          <p:cNvSpPr/>
          <p:nvPr/>
        </p:nvSpPr>
        <p:spPr>
          <a:xfrm>
            <a:off x="3253663" y="1620000"/>
            <a:ext cx="2636444" cy="937500"/>
          </a:xfrm>
          <a:prstGeom prst="roundRect">
            <a:avLst>
              <a:gd fmla="val 5000" name="adj"/>
            </a:avLst>
          </a:prstGeom>
          <a:solidFill>
            <a:srgbClr val="F3F5F9"/>
          </a:solidFill>
          <a:ln>
            <a:noFill/>
          </a:ln>
        </p:spPr>
        <p:txBody>
          <a:bodyPr anchorCtr="0" anchor="ctr" bIns="68550" lIns="68550" spcFirstLastPara="1" rIns="68550" wrap="square" tIns="68550">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92" name="Google Shape;92;p18"/>
          <p:cNvSpPr/>
          <p:nvPr/>
        </p:nvSpPr>
        <p:spPr>
          <a:xfrm>
            <a:off x="3253664" y="1620000"/>
            <a:ext cx="54864" cy="937500"/>
          </a:xfrm>
          <a:prstGeom prst="rect">
            <a:avLst/>
          </a:prstGeom>
          <a:solidFill>
            <a:srgbClr val="2E9973"/>
          </a:solidFill>
          <a:ln>
            <a:noFill/>
          </a:ln>
        </p:spPr>
        <p:txBody>
          <a:bodyPr anchorCtr="0" anchor="ctr" bIns="68550" lIns="68550" spcFirstLastPara="1" rIns="68550" wrap="square" tIns="68550">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93" name="Google Shape;93;p18"/>
          <p:cNvSpPr/>
          <p:nvPr/>
        </p:nvSpPr>
        <p:spPr>
          <a:xfrm>
            <a:off x="3493693" y="1732500"/>
            <a:ext cx="2245538" cy="3525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 sz="1100" u="none" cap="none" strike="noStrike">
                <a:solidFill>
                  <a:srgbClr val="13203B"/>
                </a:solidFill>
                <a:latin typeface="Calibri"/>
                <a:ea typeface="Calibri"/>
                <a:cs typeface="Calibri"/>
                <a:sym typeface="Calibri"/>
              </a:rPr>
              <a:t>Experience compounds</a:t>
            </a:r>
            <a:endParaRPr b="0" i="0" sz="1100" u="none" cap="none" strike="noStrike">
              <a:solidFill>
                <a:srgbClr val="000000"/>
              </a:solidFill>
              <a:latin typeface="Calibri"/>
              <a:ea typeface="Calibri"/>
              <a:cs typeface="Calibri"/>
              <a:sym typeface="Calibri"/>
            </a:endParaRPr>
          </a:p>
        </p:txBody>
      </p:sp>
      <p:sp>
        <p:nvSpPr>
          <p:cNvPr id="94" name="Google Shape;94;p18"/>
          <p:cNvSpPr/>
          <p:nvPr/>
        </p:nvSpPr>
        <p:spPr>
          <a:xfrm>
            <a:off x="3493693" y="2085000"/>
            <a:ext cx="2245538" cy="450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 sz="863" u="none" cap="none" strike="noStrike">
                <a:solidFill>
                  <a:srgbClr val="50607F"/>
                </a:solidFill>
                <a:latin typeface="Calibri"/>
                <a:ea typeface="Calibri"/>
                <a:cs typeface="Calibri"/>
                <a:sym typeface="Calibri"/>
              </a:rPr>
              <a:t>Each prior World Cup appearance raises a team’s odds of advancing by about 22% (p &lt; .001).</a:t>
            </a:r>
            <a:endParaRPr b="0" i="0" sz="863" u="none" cap="none" strike="noStrike">
              <a:solidFill>
                <a:srgbClr val="000000"/>
              </a:solidFill>
              <a:latin typeface="Calibri"/>
              <a:ea typeface="Calibri"/>
              <a:cs typeface="Calibri"/>
              <a:sym typeface="Calibri"/>
            </a:endParaRPr>
          </a:p>
        </p:txBody>
      </p:sp>
      <p:sp>
        <p:nvSpPr>
          <p:cNvPr id="95" name="Google Shape;95;p18"/>
          <p:cNvSpPr/>
          <p:nvPr/>
        </p:nvSpPr>
        <p:spPr>
          <a:xfrm>
            <a:off x="6095848" y="1620000"/>
            <a:ext cx="2636444" cy="937500"/>
          </a:xfrm>
          <a:prstGeom prst="roundRect">
            <a:avLst>
              <a:gd fmla="val 5000" name="adj"/>
            </a:avLst>
          </a:prstGeom>
          <a:solidFill>
            <a:srgbClr val="F3F5F9"/>
          </a:solidFill>
          <a:ln>
            <a:noFill/>
          </a:ln>
        </p:spPr>
        <p:txBody>
          <a:bodyPr anchorCtr="0" anchor="ctr" bIns="68550" lIns="68550" spcFirstLastPara="1" rIns="68550" wrap="square" tIns="68550">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96" name="Google Shape;96;p18"/>
          <p:cNvSpPr/>
          <p:nvPr/>
        </p:nvSpPr>
        <p:spPr>
          <a:xfrm>
            <a:off x="6095847" y="1620000"/>
            <a:ext cx="54864" cy="937500"/>
          </a:xfrm>
          <a:prstGeom prst="rect">
            <a:avLst/>
          </a:prstGeom>
          <a:solidFill>
            <a:srgbClr val="2E9973"/>
          </a:solidFill>
          <a:ln>
            <a:noFill/>
          </a:ln>
        </p:spPr>
        <p:txBody>
          <a:bodyPr anchorCtr="0" anchor="ctr" bIns="68550" lIns="68550" spcFirstLastPara="1" rIns="68550" wrap="square" tIns="68550">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97" name="Google Shape;97;p18"/>
          <p:cNvSpPr/>
          <p:nvPr/>
        </p:nvSpPr>
        <p:spPr>
          <a:xfrm>
            <a:off x="6335878" y="1732500"/>
            <a:ext cx="2245538" cy="3525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i="0" lang="en" sz="1100" u="none" cap="none" strike="noStrike">
                <a:solidFill>
                  <a:srgbClr val="13203B"/>
                </a:solidFill>
                <a:latin typeface="Calibri"/>
                <a:ea typeface="Calibri"/>
                <a:cs typeface="Calibri"/>
                <a:sym typeface="Calibri"/>
              </a:rPr>
              <a:t>Regional strength persists</a:t>
            </a:r>
            <a:endParaRPr b="0" i="0" sz="1100" u="none" cap="none" strike="noStrike">
              <a:solidFill>
                <a:srgbClr val="000000"/>
              </a:solidFill>
              <a:latin typeface="Calibri"/>
              <a:ea typeface="Calibri"/>
              <a:cs typeface="Calibri"/>
              <a:sym typeface="Calibri"/>
            </a:endParaRPr>
          </a:p>
        </p:txBody>
      </p:sp>
      <p:sp>
        <p:nvSpPr>
          <p:cNvPr id="98" name="Google Shape;98;p18"/>
          <p:cNvSpPr/>
          <p:nvPr/>
        </p:nvSpPr>
        <p:spPr>
          <a:xfrm>
            <a:off x="6335878" y="2055000"/>
            <a:ext cx="2245500" cy="450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0" i="0" lang="en" sz="863" u="none" cap="none" strike="noStrike">
                <a:solidFill>
                  <a:srgbClr val="50607F"/>
                </a:solidFill>
                <a:latin typeface="Calibri"/>
                <a:ea typeface="Calibri"/>
                <a:cs typeface="Calibri"/>
                <a:sym typeface="Calibri"/>
              </a:rPr>
              <a:t>UEFA and CONMEBOL lead; AFC, CAF, and CONCACAF trail even after controlling for other factors.</a:t>
            </a:r>
            <a:endParaRPr b="0" i="0" sz="863" u="none" cap="none" strike="noStrike">
              <a:solidFill>
                <a:srgbClr val="000000"/>
              </a:solidFill>
              <a:latin typeface="Calibri"/>
              <a:ea typeface="Calibri"/>
              <a:cs typeface="Calibri"/>
              <a:sym typeface="Calibri"/>
            </a:endParaRPr>
          </a:p>
        </p:txBody>
      </p:sp>
      <p:sp>
        <p:nvSpPr>
          <p:cNvPr id="99" name="Google Shape;99;p18"/>
          <p:cNvSpPr/>
          <p:nvPr/>
        </p:nvSpPr>
        <p:spPr>
          <a:xfrm>
            <a:off x="411481" y="3735000"/>
            <a:ext cx="8320811" cy="585000"/>
          </a:xfrm>
          <a:prstGeom prst="roundRect">
            <a:avLst>
              <a:gd fmla="val 5000" name="adj"/>
            </a:avLst>
          </a:prstGeom>
          <a:solidFill>
            <a:srgbClr val="F3F5F9"/>
          </a:solidFill>
          <a:ln>
            <a:noFill/>
          </a:ln>
        </p:spPr>
        <p:txBody>
          <a:bodyPr anchorCtr="0" anchor="ctr" bIns="68550" lIns="68550" spcFirstLastPara="1" rIns="68550" wrap="square" tIns="68550">
            <a:noAutofit/>
          </a:bodyPr>
          <a:lstStyle/>
          <a:p>
            <a:pPr indent="0" lvl="0" marL="0" marR="0" rtl="0" algn="l">
              <a:lnSpc>
                <a:spcPct val="100000"/>
              </a:lnSpc>
              <a:spcBef>
                <a:spcPts val="0"/>
              </a:spcBef>
              <a:spcAft>
                <a:spcPts val="0"/>
              </a:spcAft>
              <a:buNone/>
            </a:pPr>
            <a:r>
              <a:t/>
            </a:r>
            <a:endParaRPr b="0" i="0" sz="1050" u="none" cap="none" strike="noStrike">
              <a:solidFill>
                <a:srgbClr val="000000"/>
              </a:solidFill>
              <a:latin typeface="Arial"/>
              <a:ea typeface="Arial"/>
              <a:cs typeface="Arial"/>
              <a:sym typeface="Arial"/>
            </a:endParaRPr>
          </a:p>
        </p:txBody>
      </p:sp>
      <p:sp>
        <p:nvSpPr>
          <p:cNvPr id="100" name="Google Shape;100;p18"/>
          <p:cNvSpPr/>
          <p:nvPr/>
        </p:nvSpPr>
        <p:spPr>
          <a:xfrm>
            <a:off x="576481" y="3735000"/>
            <a:ext cx="7990811" cy="5850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 sz="900" u="none" cap="none" strike="noStrike">
                <a:solidFill>
                  <a:srgbClr val="2E9973"/>
                </a:solidFill>
                <a:latin typeface="Calibri"/>
                <a:ea typeface="Calibri"/>
                <a:cs typeface="Calibri"/>
                <a:sym typeface="Calibri"/>
              </a:rPr>
              <a:t>What doesn’t move the needle:  </a:t>
            </a:r>
            <a:r>
              <a:rPr b="0" i="0" lang="en" sz="900" u="none" cap="none" strike="noStrike">
                <a:solidFill>
                  <a:srgbClr val="50607F"/>
                </a:solidFill>
                <a:latin typeface="Calibri"/>
                <a:ea typeface="Calibri"/>
                <a:cs typeface="Calibri"/>
                <a:sym typeface="Calibri"/>
              </a:rPr>
              <a:t>squad age, the forward/defender mix, and coach nationality show no detectable effect once experience, host status, and region are accounted for.</a:t>
            </a:r>
            <a:endParaRPr b="0" i="0" sz="900" u="none" cap="none" strike="noStrike">
              <a:solidFill>
                <a:srgbClr val="000000"/>
              </a:solidFill>
              <a:latin typeface="Calibri"/>
              <a:ea typeface="Calibri"/>
              <a:cs typeface="Calibri"/>
              <a:sym typeface="Calibri"/>
            </a:endParaRPr>
          </a:p>
        </p:txBody>
      </p:sp>
      <p:sp>
        <p:nvSpPr>
          <p:cNvPr id="101" name="Google Shape;101;p18"/>
          <p:cNvSpPr/>
          <p:nvPr/>
        </p:nvSpPr>
        <p:spPr>
          <a:xfrm>
            <a:off x="411480" y="4800600"/>
            <a:ext cx="4800600" cy="2057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 sz="675" u="none" cap="none" strike="noStrike">
                <a:solidFill>
                  <a:srgbClr val="8592AA"/>
                </a:solidFill>
                <a:latin typeface="Calibri"/>
                <a:ea typeface="Calibri"/>
                <a:cs typeface="Calibri"/>
                <a:sym typeface="Calibri"/>
              </a:rPr>
              <a:t>Shiu &amp; Nguyen  |  STAT 418, Tools in Data Science  |  UCLA Summer 2026</a:t>
            </a:r>
            <a:endParaRPr b="0" i="0" sz="675" u="none" cap="none" strike="noStrike">
              <a:solidFill>
                <a:srgbClr val="000000"/>
              </a:solidFill>
              <a:latin typeface="Calibri"/>
              <a:ea typeface="Calibri"/>
              <a:cs typeface="Calibri"/>
              <a:sym typeface="Calibri"/>
            </a:endParaRPr>
          </a:p>
        </p:txBody>
      </p:sp>
      <p:sp>
        <p:nvSpPr>
          <p:cNvPr id="102" name="Google Shape;102;p18"/>
          <p:cNvSpPr/>
          <p:nvPr/>
        </p:nvSpPr>
        <p:spPr>
          <a:xfrm>
            <a:off x="8457971" y="4800600"/>
            <a:ext cx="411480" cy="20574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 sz="750" u="none" cap="none" strike="noStrike">
                <a:solidFill>
                  <a:srgbClr val="8592AA"/>
                </a:solidFill>
                <a:latin typeface="Calibri"/>
                <a:ea typeface="Calibri"/>
                <a:cs typeface="Calibri"/>
                <a:sym typeface="Calibri"/>
              </a:rPr>
              <a:t>3</a:t>
            </a:r>
            <a:endParaRPr b="0" i="0" sz="75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