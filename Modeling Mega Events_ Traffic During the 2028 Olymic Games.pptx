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5143500" cx="9144000"/>
  <p:notesSz cx="6858000" cy="9144000"/>
  <p:embeddedFontLst>
    <p:embeddedFont>
      <p:font typeface="Titillium Web"/>
      <p:regular r:id="rId25"/>
      <p:bold r:id="rId26"/>
      <p:italic r:id="rId27"/>
      <p:boldItalic r:id="rId28"/>
    </p:embeddedFont>
    <p:embeddedFont>
      <p:font typeface="Bungee Hairline"/>
      <p:regular r:id="rId29"/>
    </p:embeddedFont>
    <p:embeddedFont>
      <p:font typeface="Bungee"/>
      <p:regular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1734F47-3D7B-4536-96E7-72D0CDD179DB}">
  <a:tblStyle styleId="{C1734F47-3D7B-4536-96E7-72D0CDD179D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TitilliumWeb-bold.fntdata"/><Relationship Id="rId25" Type="http://schemas.openxmlformats.org/officeDocument/2006/relationships/font" Target="fonts/TitilliumWeb-regular.fntdata"/><Relationship Id="rId28" Type="http://schemas.openxmlformats.org/officeDocument/2006/relationships/font" Target="fonts/TitilliumWeb-boldItalic.fntdata"/><Relationship Id="rId27" Type="http://schemas.openxmlformats.org/officeDocument/2006/relationships/font" Target="fonts/TitilliumWeb-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BungeeHairline-regular.fntdata"/><Relationship Id="rId7" Type="http://schemas.openxmlformats.org/officeDocument/2006/relationships/slide" Target="slides/slide1.xml"/><Relationship Id="rId8" Type="http://schemas.openxmlformats.org/officeDocument/2006/relationships/slide" Target="slides/slide2.xml"/><Relationship Id="rId30" Type="http://schemas.openxmlformats.org/officeDocument/2006/relationships/font" Target="fonts/Bungee-regular.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rive.google.com/file/d/1mdc-XaW3OnLMvmWW79Gopy4qhqGFv0uy/view?usp=drive_link"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rive.google.com/file/d/1VPR-0Z-NFu6smWrdrkxKoYWieA63OSMq/view?usp=drive_link"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9addb80f7f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39addb80f7f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a:t>
            </a:r>
            <a:r>
              <a:rPr lang="en"/>
              <a:t>oice : </a:t>
            </a:r>
            <a:r>
              <a:rPr lang="en" u="sng">
                <a:solidFill>
                  <a:schemeClr val="hlink"/>
                </a:solidFill>
                <a:hlinkClick r:id="rId2"/>
              </a:rPr>
              <a:t>https://drive.google.com/file/d/1mdc-XaW3OnLMvmWW79Gopy4qhqGFv0uy/view?usp=drive_link</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9addb80f7f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9addb80f7f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Chris</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9c0f23d032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9c0f23d032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Chris</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9addb80f7f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9addb80f7f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Nils: </a:t>
            </a:r>
            <a:r>
              <a:rPr lang="en">
                <a:solidFill>
                  <a:schemeClr val="dk1"/>
                </a:solidFill>
              </a:rPr>
              <a:t>Video source: </a:t>
            </a:r>
            <a:r>
              <a:rPr lang="en" u="sng">
                <a:solidFill>
                  <a:schemeClr val="hlink"/>
                </a:solidFill>
                <a:hlinkClick r:id="rId2"/>
              </a:rPr>
              <a:t>https://drive.google.com/file/d/1VPR-0Z-NFu6smWrdrkxKoYWieA63OSMq/view?usp=drive_link</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t>Before going any further, I just want to take a quick moment to acknowledge Lucy, one of our program members, who was kind enough to help us with the data collection for this project. Her contribution really allowed us to dive deep into the forecasting side of our analysis.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dataset we used is the Caltrans Performance Measurement System, or PEMS for short. This system continuously collects real-time traffic data from thousands of sensors placed along California’s highways.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While the dataset contains a wide variety of variables, we focused on the most pivotal ones shown here.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Since our project is centered on the Los Angeles metropolitan area, we restricted our data to District 7, which encompasses nearly all major highways between Santa Clarita in the north and Long Beach in the south.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Among the key features, we have Percentage Observed, which measures the share of five-minute lane points that were successfully recorded at each station. This essentially gives us a sense of how complete or reliable the data collection is for a given time window.</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Then there’s Average Speed, which is the flow-weighted average of vehicle speeds across all lanes at a station — pretty intuitive, but very important for understanding traffic dynamics.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also have Average Occupancy, which captures how long detectors were covered by vehicles — in other words, how congested a particular stretch of roadway is at a given time.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And finally, Total Flow, which records the number of vehicles passing by a station per hour — a direct indicator of traffic volume.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I’ve skipped over some of the other fields here because I want to briefly highlight how these Caltrans sensor stations function. They’re embedded all across the state’s highway network and continuously report time-stamped, geo-tagged traffic readings. The real value for us comes from these timestamps and precise locations — they let us map and analyze geographic patterns in LA traffic.</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instance, we can detect spikes in flow or occupancy around specific events — like traffic surges toward SoFi Stadium during the Super Bowl.</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9addb80f7f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9addb80f7f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Nils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Here on the left you can see an animation on the average speed of traffic on a normal friday in los </a:t>
            </a:r>
            <a:r>
              <a:rPr lang="en"/>
              <a:t>angeles with darker dots indicating a decline in average speed near that station at the given timestamp. As you can see, the largest slowdowns of traffic are witnessed during the morning and evening rush hour windows, between 8-9AM and 4-5PM respectively. Also note the low end of the speed range during evening rush hour, capturing that stop and go behavior we all know in love with an average speed of 9 miles an hour.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9b9dbc8338_1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9b9dbc8338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Nils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these graphics, we get a </a:t>
            </a:r>
            <a:r>
              <a:rPr lang="en"/>
              <a:t>better understanding of which are the most congested stations during the morning and evening rush hour windows. As we all could have guessed, the stations near the intersection of the 10 and 405 witness the greatest slowdowns of any of the stations in district 7. At a close second, we have all major arteries flowing to and from downtown los angeles.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9c5223671d_3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9c5223671d_3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Sungjin</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9c5223671d_3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9c5223671d_3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Sungjin</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953949116f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953949116f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Jeremy</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9b9dbc833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9b9dbc833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Jeremy</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95366c8fd8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95366c8fd8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Jeremy</a:t>
            </a:r>
            <a:endParaRPr/>
          </a:p>
          <a:p>
            <a:pPr indent="-298450" lvl="0" marL="457200" rtl="0" algn="l">
              <a:spcBef>
                <a:spcPts val="0"/>
              </a:spcBef>
              <a:spcAft>
                <a:spcPts val="0"/>
              </a:spcAft>
              <a:buSzPts val="1100"/>
              <a:buChar char="●"/>
            </a:pPr>
            <a:r>
              <a:rPr lang="en"/>
              <a:t>On Super Bowl Sunday afternoon around 5pm to 6 pm , road occupancy dropped by nearly one-third. Essentially, ~30% fewer vehicles were on the road.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9c5223671d_1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9c5223671d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9addb80f7f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9addb80f7f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9c5223671d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9c5223671d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1. </a:t>
            </a:r>
            <a:r>
              <a:rPr b="1" lang="en">
                <a:solidFill>
                  <a:schemeClr val="dk1"/>
                </a:solidFill>
              </a:rPr>
              <a:t>public transit.</a:t>
            </a:r>
            <a:endParaRPr b="1">
              <a:solidFill>
                <a:schemeClr val="dk1"/>
              </a:solidFill>
            </a:endParaRPr>
          </a:p>
          <a:p>
            <a:pPr indent="0" lvl="0" marL="0" rtl="0" algn="l">
              <a:lnSpc>
                <a:spcPct val="115000"/>
              </a:lnSpc>
              <a:spcBef>
                <a:spcPts val="1200"/>
              </a:spcBef>
              <a:spcAft>
                <a:spcPts val="0"/>
              </a:spcAft>
              <a:buNone/>
            </a:pPr>
            <a:r>
              <a:rPr b="1" lang="en">
                <a:solidFill>
                  <a:schemeClr val="dk1"/>
                </a:solidFill>
              </a:rPr>
              <a:t>LA is investing </a:t>
            </a:r>
            <a:r>
              <a:rPr lang="en">
                <a:solidFill>
                  <a:schemeClr val="dk1"/>
                </a:solidFill>
              </a:rPr>
              <a:t>heavily in </a:t>
            </a:r>
            <a:r>
              <a:rPr b="1" lang="en">
                <a:solidFill>
                  <a:schemeClr val="dk1"/>
                </a:solidFill>
              </a:rPr>
              <a:t>new transit infrastructure</a:t>
            </a:r>
            <a:r>
              <a:rPr lang="en">
                <a:solidFill>
                  <a:schemeClr val="dk1"/>
                </a:solidFill>
              </a:rPr>
              <a:t>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by 2028—new </a:t>
            </a:r>
            <a:r>
              <a:rPr b="1" lang="en">
                <a:solidFill>
                  <a:schemeClr val="dk1"/>
                </a:solidFill>
              </a:rPr>
              <a:t>bus</a:t>
            </a:r>
            <a:r>
              <a:rPr lang="en">
                <a:solidFill>
                  <a:schemeClr val="dk1"/>
                </a:solidFill>
              </a:rPr>
              <a:t> transit, expanded </a:t>
            </a:r>
            <a:r>
              <a:rPr b="1" lang="en">
                <a:solidFill>
                  <a:schemeClr val="dk1"/>
                </a:solidFill>
              </a:rPr>
              <a:t>light rail</a:t>
            </a:r>
            <a:r>
              <a:rPr lang="en">
                <a:solidFill>
                  <a:schemeClr val="dk1"/>
                </a:solidFill>
              </a:rPr>
              <a:t> stations.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This could </a:t>
            </a:r>
            <a:r>
              <a:rPr b="1" lang="en">
                <a:solidFill>
                  <a:schemeClr val="dk1"/>
                </a:solidFill>
              </a:rPr>
              <a:t>significantly</a:t>
            </a:r>
            <a:r>
              <a:rPr lang="en">
                <a:solidFill>
                  <a:schemeClr val="dk1"/>
                </a:solidFill>
              </a:rPr>
              <a:t> </a:t>
            </a:r>
            <a:r>
              <a:rPr b="1" lang="en">
                <a:solidFill>
                  <a:schemeClr val="dk1"/>
                </a:solidFill>
              </a:rPr>
              <a:t>reduce</a:t>
            </a:r>
            <a:r>
              <a:rPr lang="en">
                <a:solidFill>
                  <a:schemeClr val="dk1"/>
                </a:solidFill>
              </a:rPr>
              <a:t> </a:t>
            </a:r>
            <a:r>
              <a:rPr b="1" lang="en">
                <a:solidFill>
                  <a:schemeClr val="dk1"/>
                </a:solidFill>
              </a:rPr>
              <a:t>car travel</a:t>
            </a:r>
            <a:r>
              <a:rPr lang="en">
                <a:solidFill>
                  <a:schemeClr val="dk1"/>
                </a:solidFill>
              </a:rPr>
              <a:t> during the Olympics. </a:t>
            </a:r>
            <a:endParaRPr>
              <a:solidFill>
                <a:schemeClr val="dk1"/>
              </a:solidFill>
            </a:endParaRPr>
          </a:p>
          <a:p>
            <a:pPr indent="0" lvl="0" marL="0" rtl="0" algn="l">
              <a:lnSpc>
                <a:spcPct val="115000"/>
              </a:lnSpc>
              <a:spcBef>
                <a:spcPts val="1200"/>
              </a:spcBef>
              <a:spcAft>
                <a:spcPts val="0"/>
              </a:spcAft>
              <a:buNone/>
            </a:pPr>
            <a:r>
              <a:rPr lang="en">
                <a:solidFill>
                  <a:schemeClr val="dk1"/>
                </a:solidFill>
              </a:rPr>
              <a:t>Our model assumes current </a:t>
            </a:r>
            <a:r>
              <a:rPr b="1" lang="en">
                <a:solidFill>
                  <a:schemeClr val="dk1"/>
                </a:solidFill>
              </a:rPr>
              <a:t>transit capacity</a:t>
            </a:r>
            <a:r>
              <a:rPr lang="en">
                <a:solidFill>
                  <a:schemeClr val="dk1"/>
                </a:solidFill>
              </a:rPr>
              <a:t>, </a:t>
            </a:r>
            <a:endParaRPr>
              <a:solidFill>
                <a:schemeClr val="dk1"/>
              </a:solidFill>
            </a:endParaRPr>
          </a:p>
          <a:p>
            <a:pPr indent="0" lvl="0" marL="0" rtl="0" algn="l">
              <a:lnSpc>
                <a:spcPct val="115000"/>
              </a:lnSpc>
              <a:spcBef>
                <a:spcPts val="1200"/>
              </a:spcBef>
              <a:spcAft>
                <a:spcPts val="0"/>
              </a:spcAft>
              <a:buNone/>
            </a:pPr>
            <a:r>
              <a:rPr lang="en">
                <a:solidFill>
                  <a:schemeClr val="dk1"/>
                </a:solidFill>
              </a:rPr>
              <a:t>so the actual traffic impact </a:t>
            </a:r>
            <a:r>
              <a:rPr b="1" lang="en">
                <a:solidFill>
                  <a:schemeClr val="dk1"/>
                </a:solidFill>
              </a:rPr>
              <a:t>might be lower than</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 our forecast shows</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2. venue concentration.</a:t>
            </a:r>
            <a:endParaRPr b="1">
              <a:solidFill>
                <a:schemeClr val="dk1"/>
              </a:solidFill>
            </a:endParaRPr>
          </a:p>
          <a:p>
            <a:pPr indent="0" lvl="0" marL="0" rtl="0" algn="l">
              <a:lnSpc>
                <a:spcPct val="115000"/>
              </a:lnSpc>
              <a:spcBef>
                <a:spcPts val="1200"/>
              </a:spcBef>
              <a:spcAft>
                <a:spcPts val="0"/>
              </a:spcAft>
              <a:buNone/>
            </a:pPr>
            <a:r>
              <a:rPr b="1" lang="en">
                <a:solidFill>
                  <a:schemeClr val="dk1"/>
                </a:solidFill>
              </a:rPr>
              <a:t>The Super Bowl was localized. Sofi, Inglewood. </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The Olympics span </a:t>
            </a:r>
            <a:r>
              <a:rPr b="1" lang="en">
                <a:solidFill>
                  <a:schemeClr val="dk1"/>
                </a:solidFill>
              </a:rPr>
              <a:t>20+ venues</a:t>
            </a:r>
            <a:r>
              <a:rPr lang="en">
                <a:solidFill>
                  <a:schemeClr val="dk1"/>
                </a:solidFill>
              </a:rPr>
              <a:t> across </a:t>
            </a:r>
            <a:r>
              <a:rPr b="1" lang="en">
                <a:solidFill>
                  <a:schemeClr val="dk1"/>
                </a:solidFill>
              </a:rPr>
              <a:t>Los Angeles—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Downtown, Long Beach, Carson, and even Santa Monica</a:t>
            </a:r>
            <a:r>
              <a:rPr lang="en">
                <a:solidFill>
                  <a:schemeClr val="dk1"/>
                </a:solidFill>
              </a:rPr>
              <a:t>.</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3., we're projecting forward to 2028.</a:t>
            </a:r>
            <a:r>
              <a:rPr lang="en">
                <a:solidFill>
                  <a:schemeClr val="dk1"/>
                </a:solidFill>
              </a:rPr>
              <a:t>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Population, demographics, housing, and community might </a:t>
            </a:r>
            <a:r>
              <a:rPr b="1" lang="en">
                <a:solidFill>
                  <a:schemeClr val="dk1"/>
                </a:solidFill>
              </a:rPr>
              <a:t>shift</a:t>
            </a:r>
            <a:r>
              <a:rPr lang="en">
                <a:solidFill>
                  <a:schemeClr val="dk1"/>
                </a:solidFill>
              </a:rPr>
              <a:t> </a:t>
            </a:r>
            <a:r>
              <a:rPr b="1" lang="en">
                <a:solidFill>
                  <a:schemeClr val="dk1"/>
                </a:solidFill>
              </a:rPr>
              <a:t>significantly</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We don't have a crystal ball.</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4., LA is unique.</a:t>
            </a:r>
            <a:r>
              <a:rPr lang="en">
                <a:solidFill>
                  <a:schemeClr val="dk1"/>
                </a:solidFill>
              </a:rPr>
              <a:t> </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CAR</a:t>
            </a:r>
            <a:r>
              <a:rPr lang="en">
                <a:solidFill>
                  <a:schemeClr val="dk1"/>
                </a:solidFill>
              </a:rPr>
              <a:t> It's invaluable, and </a:t>
            </a:r>
            <a:endParaRPr>
              <a:solidFill>
                <a:schemeClr val="dk1"/>
              </a:solidFill>
            </a:endParaRPr>
          </a:p>
          <a:p>
            <a:pPr indent="0" lvl="0" marL="0" rtl="0" algn="l">
              <a:lnSpc>
                <a:spcPct val="115000"/>
              </a:lnSpc>
              <a:spcBef>
                <a:spcPts val="1200"/>
              </a:spcBef>
              <a:spcAft>
                <a:spcPts val="1200"/>
              </a:spcAft>
              <a:buNone/>
            </a:pPr>
            <a:r>
              <a:rPr lang="en">
                <a:solidFill>
                  <a:schemeClr val="dk1"/>
                </a:solidFill>
              </a:rPr>
              <a:t>unlike Paris or Tokyo. LA presents </a:t>
            </a:r>
            <a:r>
              <a:rPr b="1" lang="en">
                <a:solidFill>
                  <a:schemeClr val="dk1"/>
                </a:solidFill>
              </a:rPr>
              <a:t>unique challenges</a:t>
            </a:r>
            <a:endParaRPr sz="1000">
              <a:solidFill>
                <a:srgbClr val="595959"/>
              </a:solidFill>
              <a:latin typeface="Titillium Web"/>
              <a:ea typeface="Titillium Web"/>
              <a:cs typeface="Titillium Web"/>
              <a:sym typeface="Titillium Web"/>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9c5223671d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9c5223671d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1. </a:t>
            </a:r>
            <a:r>
              <a:rPr b="1" lang="en">
                <a:solidFill>
                  <a:schemeClr val="dk1"/>
                </a:solidFill>
              </a:rPr>
              <a:t>other Olympic host cities.</a:t>
            </a:r>
            <a:r>
              <a:rPr lang="en">
                <a:solidFill>
                  <a:schemeClr val="dk1"/>
                </a:solidFill>
              </a:rPr>
              <a:t> </a:t>
            </a:r>
            <a:endParaRPr>
              <a:solidFill>
                <a:schemeClr val="dk1"/>
              </a:solidFill>
            </a:endParaRPr>
          </a:p>
          <a:p>
            <a:pPr indent="0" lvl="0" marL="0" rtl="0" algn="l">
              <a:lnSpc>
                <a:spcPct val="115000"/>
              </a:lnSpc>
              <a:spcBef>
                <a:spcPts val="1200"/>
              </a:spcBef>
              <a:spcAft>
                <a:spcPts val="0"/>
              </a:spcAft>
              <a:buNone/>
            </a:pPr>
            <a:r>
              <a:rPr lang="en">
                <a:solidFill>
                  <a:schemeClr val="dk1"/>
                </a:solidFill>
              </a:rPr>
              <a:t>Paris 2024 just happened. By analyzing how traffic changed in those cities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we can build</a:t>
            </a:r>
            <a:r>
              <a:rPr b="1" lang="en">
                <a:solidFill>
                  <a:schemeClr val="dk1"/>
                </a:solidFill>
              </a:rPr>
              <a:t> confidence</a:t>
            </a:r>
            <a:r>
              <a:rPr lang="en">
                <a:solidFill>
                  <a:schemeClr val="dk1"/>
                </a:solidFill>
              </a:rPr>
              <a:t> in our </a:t>
            </a:r>
            <a:r>
              <a:rPr b="1" lang="en">
                <a:solidFill>
                  <a:schemeClr val="dk1"/>
                </a:solidFill>
              </a:rPr>
              <a:t>scaling assumptions</a:t>
            </a:r>
            <a:endParaRPr b="1">
              <a:solidFill>
                <a:schemeClr val="dk1"/>
              </a:solidFill>
            </a:endParaRPr>
          </a:p>
          <a:p>
            <a:pPr indent="0" lvl="0" marL="0" rtl="0" algn="l">
              <a:lnSpc>
                <a:spcPct val="115000"/>
              </a:lnSpc>
              <a:spcBef>
                <a:spcPts val="1200"/>
              </a:spcBef>
              <a:spcAft>
                <a:spcPts val="0"/>
              </a:spcAft>
              <a:buNone/>
            </a:pPr>
            <a:r>
              <a:rPr b="1" lang="en">
                <a:solidFill>
                  <a:schemeClr val="dk1"/>
                </a:solidFill>
              </a:rPr>
              <a:t>2. Get more granular.</a:t>
            </a:r>
            <a:r>
              <a:rPr lang="en">
                <a:solidFill>
                  <a:schemeClr val="dk1"/>
                </a:solidFill>
              </a:rPr>
              <a:t> </a:t>
            </a:r>
            <a:endParaRPr>
              <a:solidFill>
                <a:schemeClr val="dk1"/>
              </a:solidFill>
            </a:endParaRPr>
          </a:p>
          <a:p>
            <a:pPr indent="0" lvl="0" marL="0" rtl="0" algn="l">
              <a:lnSpc>
                <a:spcPct val="115000"/>
              </a:lnSpc>
              <a:spcBef>
                <a:spcPts val="1200"/>
              </a:spcBef>
              <a:spcAft>
                <a:spcPts val="0"/>
              </a:spcAft>
              <a:buNone/>
            </a:pPr>
            <a:r>
              <a:rPr lang="en">
                <a:solidFill>
                  <a:schemeClr val="dk1"/>
                </a:solidFill>
              </a:rPr>
              <a:t>Right now we're looking at LA County broadly. </a:t>
            </a:r>
            <a:endParaRPr>
              <a:solidFill>
                <a:schemeClr val="dk1"/>
              </a:solidFill>
            </a:endParaRPr>
          </a:p>
          <a:p>
            <a:pPr indent="0" lvl="0" marL="0" rtl="0" algn="l">
              <a:lnSpc>
                <a:spcPct val="115000"/>
              </a:lnSpc>
              <a:spcBef>
                <a:spcPts val="1200"/>
              </a:spcBef>
              <a:spcAft>
                <a:spcPts val="0"/>
              </a:spcAft>
              <a:buNone/>
            </a:pPr>
            <a:r>
              <a:rPr lang="en">
                <a:solidFill>
                  <a:schemeClr val="dk1"/>
                </a:solidFill>
              </a:rPr>
              <a:t>We need to zoom in on </a:t>
            </a:r>
            <a:r>
              <a:rPr b="1" lang="en">
                <a:solidFill>
                  <a:schemeClr val="dk1"/>
                </a:solidFill>
              </a:rPr>
              <a:t>specific </a:t>
            </a:r>
            <a:r>
              <a:rPr b="1" lang="en">
                <a:solidFill>
                  <a:schemeClr val="dk1"/>
                </a:solidFill>
              </a:rPr>
              <a:t>corridors</a:t>
            </a:r>
            <a:endParaRPr b="1">
              <a:solidFill>
                <a:schemeClr val="dk1"/>
              </a:solidFill>
            </a:endParaRPr>
          </a:p>
          <a:p>
            <a:pPr indent="0" lvl="0" marL="0" rtl="0" algn="l">
              <a:lnSpc>
                <a:spcPct val="115000"/>
              </a:lnSpc>
              <a:spcBef>
                <a:spcPts val="1200"/>
              </a:spcBef>
              <a:spcAft>
                <a:spcPts val="0"/>
              </a:spcAft>
              <a:buNone/>
            </a:pPr>
            <a:r>
              <a:rPr b="1" lang="en">
                <a:solidFill>
                  <a:schemeClr val="dk1"/>
                </a:solidFill>
              </a:rPr>
              <a:t>I-405, I-10, the 101</a:t>
            </a:r>
            <a:r>
              <a:rPr lang="en">
                <a:solidFill>
                  <a:schemeClr val="dk1"/>
                </a:solidFill>
              </a:rPr>
              <a:t>—and predict traffic changes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street-by-street</a:t>
            </a:r>
            <a:r>
              <a:rPr lang="en">
                <a:solidFill>
                  <a:schemeClr val="dk1"/>
                </a:solidFill>
              </a:rPr>
              <a:t> and </a:t>
            </a:r>
            <a:r>
              <a:rPr b="1" lang="en">
                <a:solidFill>
                  <a:schemeClr val="dk1"/>
                </a:solidFill>
              </a:rPr>
              <a:t>freeway-by-freeway</a:t>
            </a:r>
            <a:r>
              <a:rPr lang="en">
                <a:solidFill>
                  <a:schemeClr val="dk1"/>
                </a:solidFill>
              </a:rPr>
              <a:t>.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That's where city planners actually need the data</a:t>
            </a:r>
            <a:r>
              <a:rPr lang="en">
                <a:solidFill>
                  <a:schemeClr val="dk1"/>
                </a:solidFill>
              </a:rPr>
              <a:t>.</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3 Use time-series forecasting.</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 Methods like </a:t>
            </a:r>
            <a:r>
              <a:rPr b="1" lang="en">
                <a:solidFill>
                  <a:schemeClr val="dk1"/>
                </a:solidFill>
              </a:rPr>
              <a:t>ARIMAX</a:t>
            </a:r>
            <a:r>
              <a:rPr lang="en">
                <a:solidFill>
                  <a:schemeClr val="dk1"/>
                </a:solidFill>
              </a:rPr>
              <a:t> or even </a:t>
            </a:r>
            <a:r>
              <a:rPr b="1" lang="en">
                <a:solidFill>
                  <a:schemeClr val="dk1"/>
                </a:solidFill>
              </a:rPr>
              <a:t>machine learning</a:t>
            </a:r>
            <a:r>
              <a:rPr lang="en">
                <a:solidFill>
                  <a:schemeClr val="dk1"/>
                </a:solidFill>
              </a:rPr>
              <a:t> </a:t>
            </a:r>
            <a:endParaRPr>
              <a:solidFill>
                <a:schemeClr val="dk1"/>
              </a:solidFill>
            </a:endParaRPr>
          </a:p>
          <a:p>
            <a:pPr indent="0" lvl="0" marL="0" rtl="0" algn="l">
              <a:lnSpc>
                <a:spcPct val="115000"/>
              </a:lnSpc>
              <a:spcBef>
                <a:spcPts val="1200"/>
              </a:spcBef>
              <a:spcAft>
                <a:spcPts val="0"/>
              </a:spcAft>
              <a:buNone/>
            </a:pPr>
            <a:r>
              <a:rPr lang="en">
                <a:solidFill>
                  <a:schemeClr val="dk1"/>
                </a:solidFill>
              </a:rPr>
              <a:t>can capture the </a:t>
            </a:r>
            <a:r>
              <a:rPr b="1" lang="en">
                <a:solidFill>
                  <a:schemeClr val="dk1"/>
                </a:solidFill>
              </a:rPr>
              <a:t>temporal dynamic</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how traffic </a:t>
            </a:r>
            <a:r>
              <a:rPr b="1" lang="en">
                <a:solidFill>
                  <a:schemeClr val="dk1"/>
                </a:solidFill>
              </a:rPr>
              <a:t>builds up over the 16-day window</a:t>
            </a:r>
            <a:r>
              <a:rPr lang="en">
                <a:solidFill>
                  <a:schemeClr val="dk1"/>
                </a:solidFill>
              </a:rPr>
              <a:t>, </a:t>
            </a:r>
            <a:endParaRPr>
              <a:solidFill>
                <a:schemeClr val="dk1"/>
              </a:solidFill>
            </a:endParaRPr>
          </a:p>
          <a:p>
            <a:pPr indent="0" lvl="0" marL="0" rtl="0" algn="l">
              <a:lnSpc>
                <a:spcPct val="115000"/>
              </a:lnSpc>
              <a:spcBef>
                <a:spcPts val="1200"/>
              </a:spcBef>
              <a:spcAft>
                <a:spcPts val="0"/>
              </a:spcAft>
              <a:buNone/>
            </a:pPr>
            <a:r>
              <a:rPr lang="en">
                <a:solidFill>
                  <a:schemeClr val="dk1"/>
                </a:solidFill>
              </a:rPr>
              <a:t>how it peaks and falls. This accounts for things like </a:t>
            </a:r>
            <a:r>
              <a:rPr b="1" lang="en">
                <a:solidFill>
                  <a:schemeClr val="dk1"/>
                </a:solidFill>
              </a:rPr>
              <a:t>cumulative visitor arrivals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and </a:t>
            </a:r>
            <a:r>
              <a:rPr b="1" lang="en">
                <a:solidFill>
                  <a:schemeClr val="dk1"/>
                </a:solidFill>
              </a:rPr>
              <a:t>behavioral adaptation</a:t>
            </a:r>
            <a:r>
              <a:rPr lang="en">
                <a:solidFill>
                  <a:schemeClr val="dk1"/>
                </a:solidFill>
              </a:rPr>
              <a:t>.</a:t>
            </a:r>
            <a:endParaRPr>
              <a:solidFill>
                <a:schemeClr val="dk1"/>
              </a:solidFill>
            </a:endParaRPr>
          </a:p>
          <a:p>
            <a:pPr indent="0" lvl="0" marL="0" rtl="0" algn="l">
              <a:lnSpc>
                <a:spcPct val="150000"/>
              </a:lnSpc>
              <a:spcBef>
                <a:spcPts val="1200"/>
              </a:spcBef>
              <a:spcAft>
                <a:spcPts val="1200"/>
              </a:spcAft>
              <a:buNone/>
            </a:pPr>
            <a:r>
              <a:t/>
            </a:r>
            <a:endParaRPr sz="1200">
              <a:solidFill>
                <a:srgbClr val="595959"/>
              </a:solidFill>
              <a:latin typeface="Titillium Web"/>
              <a:ea typeface="Titillium Web"/>
              <a:cs typeface="Titillium Web"/>
              <a:sym typeface="Titillium Web"/>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9c5223671d_1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9c5223671d_1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9b9dbc8338_1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9b9dbc8338_1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0.png"/><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www.roadtrips.com/summer-games/los-angeles-packages-2028/venues/" TargetMode="External"/><Relationship Id="rId4" Type="http://schemas.openxmlformats.org/officeDocument/2006/relationships/hyperlink" Target="https://la28.org/en/games-plan/venues.html" TargetMode="External"/><Relationship Id="rId5" Type="http://schemas.openxmlformats.org/officeDocument/2006/relationships/image" Target="../media/image2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 Id="rId3" Type="http://schemas.openxmlformats.org/officeDocument/2006/relationships/image" Target="../media/image23.png"/><Relationship Id="rId4" Type="http://schemas.openxmlformats.org/officeDocument/2006/relationships/image" Target="../media/image13.png"/><Relationship Id="rId5"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gif"/><Relationship Id="rId4" Type="http://schemas.openxmlformats.org/officeDocument/2006/relationships/image" Target="../media/image21.png"/><Relationship Id="rId5"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4.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6.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storymaps.arcgis.com/stories/5266177c064d4ef2adf4c5088445c6da" TargetMode="External"/><Relationship Id="rId4" Type="http://schemas.openxmlformats.org/officeDocument/2006/relationships/hyperlink" Target="https://www.dropbox.com/scl/fo/lx4rqn21oanibe0lfc2ov/AIGhXzOXcRo8uSEmZiiQeM8/_Executive%20Summaries?e=1&amp;preview=Metro_Vision2028_Plan_ExecSummary_English.pdf&amp;rlkey=teex9wmqu97kyh3um5iip6ul4&amp;subfolder_nav_tracking=1&amp;dl=0" TargetMode="External"/></Relationships>
</file>

<file path=ppt/slides/_rels/slide17.xml.rels><?xml version="1.0" encoding="UTF-8" standalone="yes"?><Relationships xmlns="http://schemas.openxmlformats.org/package/2006/relationships"><Relationship Id="rId11" Type="http://schemas.openxmlformats.org/officeDocument/2006/relationships/hyperlink" Target="https://www.dropbox.com/scl/fo/lx4rqn21oanibe0lfc2ov/AIGhXzOXcRo8uSEmZiiQeM8/_Executive%20Summaries?dl=0&amp;preview=Metro_Vision2028_Plan_ExecSummary_English.pdf&amp;rlkey=teex9wmqu97kyh3um5iip6ul4&amp;subfolder_nav_tracking=1" TargetMode="External"/><Relationship Id="rId10" Type="http://schemas.openxmlformats.org/officeDocument/2006/relationships/hyperlink" Target="https://www.dropbox.com/scl/fo/lx4rqn21oanibe0lfc2ov/AIGhXzOXcRo8uSEmZiiQeM8/_Executive%20Summaries?dl=0&amp;preview=Metro_Vision2028_Plan_ExecSummary_English.pdf&amp;rlkey=teex9wmqu97kyh3um5iip6ul4&amp;subfolder_nav_tracking=1" TargetMode="External"/><Relationship Id="rId13" Type="http://schemas.openxmlformats.org/officeDocument/2006/relationships/hyperlink" Target="https://raw.githubusercontent.com/liyaguang/DCRNN/refs/heads/master/data/sensor_graph/graph_sensor_locations.csv" TargetMode="External"/><Relationship Id="rId12" Type="http://schemas.openxmlformats.org/officeDocument/2006/relationships/hyperlink" Target="https://storymaps.arcgis.com/stories/5266177c064d4ef2adf4c5088445c6da" TargetMode="External"/><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www.roadtrips.com/summer-games/los-angeles-packages-2028/venues/" TargetMode="External"/><Relationship Id="rId4" Type="http://schemas.openxmlformats.org/officeDocument/2006/relationships/hyperlink" Target="https://la28.org/en/games-plan/venues.html" TargetMode="External"/><Relationship Id="rId9" Type="http://schemas.openxmlformats.org/officeDocument/2006/relationships/hyperlink" Target="https://parisjetaime.com/eng/media/article/preliminary-report-olympic-games-a1755" TargetMode="External"/><Relationship Id="rId14" Type="http://schemas.openxmlformats.org/officeDocument/2006/relationships/hyperlink" Target="https://github.com/llennemann/los-angeles-traffic-forecasting" TargetMode="External"/><Relationship Id="rId5" Type="http://schemas.openxmlformats.org/officeDocument/2006/relationships/hyperlink" Target="https://dot.ca.gov/programs/traffic-operations/mpr/pems-source" TargetMode="External"/><Relationship Id="rId6" Type="http://schemas.openxmlformats.org/officeDocument/2006/relationships/hyperlink" Target="https://worldpopulationreview.com/us-cities/california/los-angeles" TargetMode="External"/><Relationship Id="rId7" Type="http://schemas.openxmlformats.org/officeDocument/2006/relationships/hyperlink" Target="https://www.paris.fr/en/pages/paris-2024-games-11-2-million-visitors-to-greater-paris-28160" TargetMode="External"/><Relationship Id="rId8" Type="http://schemas.openxmlformats.org/officeDocument/2006/relationships/hyperlink" Target="https://www.macrotrends.net/global-metrics/cities/20985/paris/population"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a:effectLst>
            <a:outerShdw blurRad="57150" rotWithShape="0" algn="bl" dir="5400000" dist="19050">
              <a:srgbClr val="000000">
                <a:alpha val="50000"/>
              </a:srgbClr>
            </a:outerShdw>
          </a:effectLst>
        </p:spPr>
        <p:txBody>
          <a:bodyPr anchorCtr="0" anchor="b" bIns="91425" lIns="91425" spcFirstLastPara="1" rIns="91425" wrap="square" tIns="91425">
            <a:normAutofit/>
          </a:bodyPr>
          <a:lstStyle/>
          <a:p>
            <a:pPr indent="0" lvl="0" marL="0" rtl="0" algn="ctr">
              <a:spcBef>
                <a:spcPts val="0"/>
              </a:spcBef>
              <a:spcAft>
                <a:spcPts val="0"/>
              </a:spcAft>
              <a:buNone/>
            </a:pPr>
            <a:r>
              <a:rPr lang="en" sz="4900">
                <a:solidFill>
                  <a:schemeClr val="lt1"/>
                </a:solidFill>
                <a:latin typeface="Bungee"/>
                <a:ea typeface="Bungee"/>
                <a:cs typeface="Bungee"/>
                <a:sym typeface="Bungee"/>
              </a:rPr>
              <a:t>MODELING MEGA EVENTS</a:t>
            </a:r>
            <a:endParaRPr sz="4900">
              <a:solidFill>
                <a:schemeClr val="lt1"/>
              </a:solidFill>
              <a:latin typeface="Bungee"/>
              <a:ea typeface="Bungee"/>
              <a:cs typeface="Bungee"/>
              <a:sym typeface="Bungee"/>
            </a:endParaRPr>
          </a:p>
        </p:txBody>
      </p:sp>
      <p:sp>
        <p:nvSpPr>
          <p:cNvPr id="55" name="Google Shape;55;p13"/>
          <p:cNvSpPr txBox="1"/>
          <p:nvPr>
            <p:ph idx="1" type="subTitle"/>
          </p:nvPr>
        </p:nvSpPr>
        <p:spPr>
          <a:xfrm>
            <a:off x="311700" y="2834125"/>
            <a:ext cx="8520600" cy="792600"/>
          </a:xfrm>
          <a:prstGeom prst="rect">
            <a:avLst/>
          </a:prstGeom>
          <a:effectLst>
            <a:outerShdw blurRad="57150" rotWithShape="0" algn="bl" dir="5400000" dist="19050">
              <a:srgbClr val="000000">
                <a:alpha val="50000"/>
              </a:srgbClr>
            </a:outerShdw>
          </a:effectLst>
        </p:spPr>
        <p:txBody>
          <a:bodyPr anchorCtr="0" anchor="t" bIns="91425" lIns="91425" spcFirstLastPara="1" rIns="91425" wrap="square" tIns="91425">
            <a:normAutofit/>
          </a:bodyPr>
          <a:lstStyle/>
          <a:p>
            <a:pPr indent="0" lvl="0" marL="0" rtl="0" algn="ctr">
              <a:lnSpc>
                <a:spcPct val="80000"/>
              </a:lnSpc>
              <a:spcBef>
                <a:spcPts val="0"/>
              </a:spcBef>
              <a:spcAft>
                <a:spcPts val="0"/>
              </a:spcAft>
              <a:buSzPts val="935"/>
              <a:buNone/>
            </a:pPr>
            <a:r>
              <a:rPr b="1" lang="en" sz="2080">
                <a:solidFill>
                  <a:schemeClr val="lt1"/>
                </a:solidFill>
                <a:latin typeface="Bungee Hairline"/>
                <a:ea typeface="Bungee Hairline"/>
                <a:cs typeface="Bungee Hairline"/>
                <a:sym typeface="Bungee Hairline"/>
              </a:rPr>
              <a:t>TRAFFIC </a:t>
            </a:r>
            <a:r>
              <a:rPr b="1" lang="en" sz="2080">
                <a:solidFill>
                  <a:schemeClr val="lt1"/>
                </a:solidFill>
                <a:latin typeface="Bungee Hairline"/>
                <a:ea typeface="Bungee Hairline"/>
                <a:cs typeface="Bungee Hairline"/>
                <a:sym typeface="Bungee Hairline"/>
              </a:rPr>
              <a:t>DURING</a:t>
            </a:r>
            <a:r>
              <a:rPr b="1" lang="en" sz="2080">
                <a:solidFill>
                  <a:schemeClr val="lt1"/>
                </a:solidFill>
                <a:latin typeface="Bungee Hairline"/>
                <a:ea typeface="Bungee Hairline"/>
                <a:cs typeface="Bungee Hairline"/>
                <a:sym typeface="Bungee Hairline"/>
              </a:rPr>
              <a:t> THE 2028 OLYMPIC GAMES</a:t>
            </a:r>
            <a:endParaRPr b="1" sz="2080">
              <a:solidFill>
                <a:schemeClr val="lt1"/>
              </a:solidFill>
              <a:latin typeface="Bungee Hairline"/>
              <a:ea typeface="Bungee Hairline"/>
              <a:cs typeface="Bungee Hairline"/>
              <a:sym typeface="Bungee Hairline"/>
            </a:endParaRPr>
          </a:p>
        </p:txBody>
      </p:sp>
      <p:pic>
        <p:nvPicPr>
          <p:cNvPr id="56" name="Google Shape;56;p13"/>
          <p:cNvPicPr preferRelativeResize="0"/>
          <p:nvPr/>
        </p:nvPicPr>
        <p:blipFill>
          <a:blip r:embed="rId4">
            <a:alphaModFix/>
          </a:blip>
          <a:stretch>
            <a:fillRect/>
          </a:stretch>
        </p:blipFill>
        <p:spPr>
          <a:xfrm>
            <a:off x="7887491" y="181425"/>
            <a:ext cx="763375" cy="1219800"/>
          </a:xfrm>
          <a:prstGeom prst="rect">
            <a:avLst/>
          </a:prstGeom>
          <a:noFill/>
          <a:ln>
            <a:noFill/>
          </a:ln>
        </p:spPr>
      </p:pic>
      <p:sp>
        <p:nvSpPr>
          <p:cNvPr id="57" name="Google Shape;57;p13"/>
          <p:cNvSpPr txBox="1"/>
          <p:nvPr/>
        </p:nvSpPr>
        <p:spPr>
          <a:xfrm>
            <a:off x="6474973" y="4304825"/>
            <a:ext cx="2175900" cy="7926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800">
                <a:solidFill>
                  <a:schemeClr val="lt1"/>
                </a:solidFill>
                <a:latin typeface="Titillium Web"/>
                <a:ea typeface="Titillium Web"/>
                <a:cs typeface="Titillium Web"/>
                <a:sym typeface="Titillium Web"/>
              </a:rPr>
              <a:t>Chris, Nils, Sungjin, Jeremy, Dan, Hochan</a:t>
            </a:r>
            <a:endParaRPr sz="1800">
              <a:solidFill>
                <a:schemeClr val="lt1"/>
              </a:solidFill>
              <a:latin typeface="Titillium Web"/>
              <a:ea typeface="Titillium Web"/>
              <a:cs typeface="Titillium Web"/>
              <a:sym typeface="Titillium Web"/>
            </a:endParaRPr>
          </a:p>
        </p:txBody>
      </p:sp>
      <p:sp>
        <p:nvSpPr>
          <p:cNvPr id="58" name="Google Shape;58;p13"/>
          <p:cNvSpPr txBox="1"/>
          <p:nvPr/>
        </p:nvSpPr>
        <p:spPr>
          <a:xfrm>
            <a:off x="538625" y="4304825"/>
            <a:ext cx="2355000" cy="41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Titillium Web"/>
                <a:ea typeface="Titillium Web"/>
                <a:cs typeface="Titillium Web"/>
                <a:sym typeface="Titillium Web"/>
              </a:rPr>
              <a:t>UCLA STATS 421</a:t>
            </a:r>
            <a:br>
              <a:rPr lang="en" sz="1800">
                <a:solidFill>
                  <a:schemeClr val="lt1"/>
                </a:solidFill>
                <a:latin typeface="Titillium Web"/>
                <a:ea typeface="Titillium Web"/>
                <a:cs typeface="Titillium Web"/>
                <a:sym typeface="Titillium Web"/>
              </a:rPr>
            </a:br>
            <a:r>
              <a:rPr lang="en" sz="1800">
                <a:solidFill>
                  <a:schemeClr val="lt1"/>
                </a:solidFill>
                <a:latin typeface="Titillium Web"/>
                <a:ea typeface="Titillium Web"/>
                <a:cs typeface="Titillium Web"/>
                <a:sym typeface="Titillium Web"/>
              </a:rPr>
              <a:t>Group 6</a:t>
            </a:r>
            <a:endParaRPr sz="1800">
              <a:solidFill>
                <a:schemeClr val="lt1"/>
              </a:solidFill>
              <a:latin typeface="Titillium Web"/>
              <a:ea typeface="Titillium Web"/>
              <a:cs typeface="Titillium Web"/>
              <a:sym typeface="Titillium Web"/>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4"/>
          <p:cNvSpPr txBox="1"/>
          <p:nvPr>
            <p:ph type="title"/>
          </p:nvPr>
        </p:nvSpPr>
        <p:spPr>
          <a:xfrm>
            <a:off x="311700" y="445025"/>
            <a:ext cx="3633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300">
                <a:latin typeface="Bungee"/>
                <a:ea typeface="Bungee"/>
                <a:cs typeface="Bungee"/>
                <a:sym typeface="Bungee"/>
              </a:rPr>
              <a:t>2028 Olympic Games</a:t>
            </a:r>
            <a:endParaRPr sz="2300">
              <a:latin typeface="Bungee"/>
              <a:ea typeface="Bungee"/>
              <a:cs typeface="Bungee"/>
              <a:sym typeface="Bungee"/>
            </a:endParaRPr>
          </a:p>
        </p:txBody>
      </p:sp>
      <p:sp>
        <p:nvSpPr>
          <p:cNvPr id="64" name="Google Shape;64;p14"/>
          <p:cNvSpPr txBox="1"/>
          <p:nvPr>
            <p:ph idx="1" type="body"/>
          </p:nvPr>
        </p:nvSpPr>
        <p:spPr>
          <a:xfrm>
            <a:off x="311700" y="1152475"/>
            <a:ext cx="36330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Titillium Web"/>
                <a:ea typeface="Titillium Web"/>
                <a:cs typeface="Titillium Web"/>
                <a:sym typeface="Titillium Web"/>
              </a:rPr>
              <a:t>The 2028 </a:t>
            </a:r>
            <a:r>
              <a:rPr lang="en" sz="2000">
                <a:latin typeface="Titillium Web"/>
                <a:ea typeface="Titillium Web"/>
                <a:cs typeface="Titillium Web"/>
                <a:sym typeface="Titillium Web"/>
              </a:rPr>
              <a:t>Olympics will take place in greater Los Angeles.</a:t>
            </a:r>
            <a:endParaRPr sz="1800">
              <a:latin typeface="Titillium Web"/>
              <a:ea typeface="Titillium Web"/>
              <a:cs typeface="Titillium Web"/>
              <a:sym typeface="Titillium Web"/>
            </a:endParaRPr>
          </a:p>
          <a:p>
            <a:pPr indent="0" lvl="0" marL="0" rtl="0" algn="l">
              <a:spcBef>
                <a:spcPts val="1200"/>
              </a:spcBef>
              <a:spcAft>
                <a:spcPts val="0"/>
              </a:spcAft>
              <a:buNone/>
            </a:pPr>
            <a:r>
              <a:rPr lang="en" sz="2000">
                <a:latin typeface="Titillium Web"/>
                <a:ea typeface="Titillium Web"/>
                <a:cs typeface="Titillium Web"/>
                <a:sym typeface="Titillium Web"/>
              </a:rPr>
              <a:t>This will strain all local transportation networks.</a:t>
            </a:r>
            <a:endParaRPr sz="2000">
              <a:latin typeface="Titillium Web"/>
              <a:ea typeface="Titillium Web"/>
              <a:cs typeface="Titillium Web"/>
              <a:sym typeface="Titillium Web"/>
            </a:endParaRPr>
          </a:p>
          <a:p>
            <a:pPr indent="0" lvl="0" marL="0" rtl="0" algn="l">
              <a:spcBef>
                <a:spcPts val="1200"/>
              </a:spcBef>
              <a:spcAft>
                <a:spcPts val="1200"/>
              </a:spcAft>
              <a:buNone/>
            </a:pPr>
            <a:r>
              <a:rPr lang="en" sz="2000">
                <a:latin typeface="Titillium Web"/>
                <a:ea typeface="Titillium Web"/>
                <a:cs typeface="Titillium Web"/>
                <a:sym typeface="Titillium Web"/>
              </a:rPr>
              <a:t>Forecasting traffic will help </a:t>
            </a:r>
            <a:br>
              <a:rPr lang="en" sz="2000">
                <a:latin typeface="Titillium Web"/>
                <a:ea typeface="Titillium Web"/>
                <a:cs typeface="Titillium Web"/>
                <a:sym typeface="Titillium Web"/>
              </a:rPr>
            </a:br>
            <a:r>
              <a:rPr b="1" lang="en" sz="2000">
                <a:latin typeface="Titillium Web"/>
                <a:ea typeface="Titillium Web"/>
                <a:cs typeface="Titillium Web"/>
                <a:sym typeface="Titillium Web"/>
              </a:rPr>
              <a:t>local governments</a:t>
            </a:r>
            <a:r>
              <a:rPr lang="en" sz="2000">
                <a:latin typeface="Titillium Web"/>
                <a:ea typeface="Titillium Web"/>
                <a:cs typeface="Titillium Web"/>
                <a:sym typeface="Titillium Web"/>
              </a:rPr>
              <a:t>, </a:t>
            </a:r>
            <a:r>
              <a:rPr b="1" lang="en" sz="2000">
                <a:latin typeface="Titillium Web"/>
                <a:ea typeface="Titillium Web"/>
                <a:cs typeface="Titillium Web"/>
                <a:sym typeface="Titillium Web"/>
              </a:rPr>
              <a:t>Olympic organizers</a:t>
            </a:r>
            <a:r>
              <a:rPr lang="en" sz="2000">
                <a:latin typeface="Titillium Web"/>
                <a:ea typeface="Titillium Web"/>
                <a:cs typeface="Titillium Web"/>
                <a:sym typeface="Titillium Web"/>
              </a:rPr>
              <a:t>, and </a:t>
            </a:r>
            <a:r>
              <a:rPr b="1" lang="en" sz="2000">
                <a:latin typeface="Titillium Web"/>
                <a:ea typeface="Titillium Web"/>
                <a:cs typeface="Titillium Web"/>
                <a:sym typeface="Titillium Web"/>
              </a:rPr>
              <a:t>you</a:t>
            </a:r>
            <a:r>
              <a:rPr lang="en" sz="2000">
                <a:latin typeface="Titillium Web"/>
                <a:ea typeface="Titillium Web"/>
                <a:cs typeface="Titillium Web"/>
                <a:sym typeface="Titillium Web"/>
              </a:rPr>
              <a:t>!</a:t>
            </a:r>
            <a:endParaRPr sz="1800">
              <a:latin typeface="Titillium Web"/>
              <a:ea typeface="Titillium Web"/>
              <a:cs typeface="Titillium Web"/>
              <a:sym typeface="Titillium Web"/>
            </a:endParaRPr>
          </a:p>
        </p:txBody>
      </p:sp>
      <p:sp>
        <p:nvSpPr>
          <p:cNvPr id="65" name="Google Shape;65;p14"/>
          <p:cNvSpPr txBox="1"/>
          <p:nvPr/>
        </p:nvSpPr>
        <p:spPr>
          <a:xfrm>
            <a:off x="182575" y="4643450"/>
            <a:ext cx="4556100" cy="4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rPr>
              <a:t>Image Source: </a:t>
            </a:r>
            <a:r>
              <a:rPr lang="en" sz="800" u="sng">
                <a:solidFill>
                  <a:srgbClr val="2200CC"/>
                </a:solidFill>
                <a:hlinkClick r:id="rId3">
                  <a:extLst>
                    <a:ext uri="{A12FA001-AC4F-418D-AE19-62706E023703}">
                      <ahyp:hlinkClr val="tx"/>
                    </a:ext>
                  </a:extLst>
                </a:hlinkClick>
              </a:rPr>
              <a:t>https://www.roadtrips.com/summer-games/los-angeles-packages-2028/venues/</a:t>
            </a:r>
            <a:endParaRPr sz="800">
              <a:solidFill>
                <a:schemeClr val="dk2"/>
              </a:solidFill>
            </a:endParaRPr>
          </a:p>
          <a:p>
            <a:pPr indent="0" lvl="0" marL="0" rtl="0" algn="l">
              <a:spcBef>
                <a:spcPts val="0"/>
              </a:spcBef>
              <a:spcAft>
                <a:spcPts val="0"/>
              </a:spcAft>
              <a:buClr>
                <a:schemeClr val="dk1"/>
              </a:buClr>
              <a:buSzPts val="1100"/>
              <a:buFont typeface="Arial"/>
              <a:buNone/>
            </a:pPr>
            <a:r>
              <a:rPr lang="en" sz="800">
                <a:solidFill>
                  <a:schemeClr val="dk1"/>
                </a:solidFill>
              </a:rPr>
              <a:t>Locations of Olympics Source: </a:t>
            </a:r>
            <a:r>
              <a:rPr lang="en" sz="800" u="sng">
                <a:solidFill>
                  <a:srgbClr val="2200CC"/>
                </a:solidFill>
                <a:hlinkClick r:id="rId4">
                  <a:extLst>
                    <a:ext uri="{A12FA001-AC4F-418D-AE19-62706E023703}">
                      <ahyp:hlinkClr val="tx"/>
                    </a:ext>
                  </a:extLst>
                </a:hlinkClick>
              </a:rPr>
              <a:t>https://la28.org/en/games-plan/venues.html</a:t>
            </a:r>
            <a:endParaRPr sz="800">
              <a:solidFill>
                <a:schemeClr val="dk2"/>
              </a:solidFill>
            </a:endParaRPr>
          </a:p>
        </p:txBody>
      </p:sp>
      <p:pic>
        <p:nvPicPr>
          <p:cNvPr id="66" name="Google Shape;66;p14"/>
          <p:cNvPicPr preferRelativeResize="0"/>
          <p:nvPr/>
        </p:nvPicPr>
        <p:blipFill>
          <a:blip r:embed="rId5">
            <a:alphaModFix/>
          </a:blip>
          <a:stretch>
            <a:fillRect/>
          </a:stretch>
        </p:blipFill>
        <p:spPr>
          <a:xfrm>
            <a:off x="4699000" y="150"/>
            <a:ext cx="4441576" cy="5143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445025"/>
            <a:ext cx="8216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Bungee"/>
                <a:ea typeface="Bungee"/>
                <a:cs typeface="Bungee"/>
                <a:sym typeface="Bungee"/>
              </a:rPr>
              <a:t>Methodology</a:t>
            </a:r>
            <a:endParaRPr>
              <a:latin typeface="Bungee"/>
              <a:ea typeface="Bungee"/>
              <a:cs typeface="Bungee"/>
              <a:sym typeface="Bungee"/>
            </a:endParaRPr>
          </a:p>
        </p:txBody>
      </p:sp>
      <p:grpSp>
        <p:nvGrpSpPr>
          <p:cNvPr id="72" name="Google Shape;72;p15"/>
          <p:cNvGrpSpPr/>
          <p:nvPr/>
        </p:nvGrpSpPr>
        <p:grpSpPr>
          <a:xfrm>
            <a:off x="611900" y="1598875"/>
            <a:ext cx="1678200" cy="1610100"/>
            <a:chOff x="430900" y="1598875"/>
            <a:chExt cx="1678200" cy="1610100"/>
          </a:xfrm>
        </p:grpSpPr>
        <p:sp>
          <p:nvSpPr>
            <p:cNvPr id="73" name="Google Shape;73;p15"/>
            <p:cNvSpPr txBox="1"/>
            <p:nvPr/>
          </p:nvSpPr>
          <p:spPr>
            <a:xfrm>
              <a:off x="430900" y="2097775"/>
              <a:ext cx="1678200" cy="1111200"/>
            </a:xfrm>
            <a:prstGeom prst="rect">
              <a:avLst/>
            </a:prstGeom>
            <a:noFill/>
            <a:ln cap="flat" cmpd="sng" w="9525">
              <a:solidFill>
                <a:srgbClr val="4A86E8"/>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latin typeface="Titillium Web"/>
                  <a:ea typeface="Titillium Web"/>
                  <a:cs typeface="Titillium Web"/>
                  <a:sym typeface="Titillium Web"/>
                </a:rPr>
                <a:t>Identify</a:t>
              </a:r>
              <a:r>
                <a:rPr lang="en" sz="1800">
                  <a:solidFill>
                    <a:schemeClr val="dk2"/>
                  </a:solidFill>
                  <a:latin typeface="Titillium Web"/>
                  <a:ea typeface="Titillium Web"/>
                  <a:cs typeface="Titillium Web"/>
                  <a:sym typeface="Titillium Web"/>
                </a:rPr>
                <a:t> </a:t>
              </a:r>
              <a:r>
                <a:rPr lang="en" sz="1800">
                  <a:solidFill>
                    <a:schemeClr val="dk2"/>
                  </a:solidFill>
                  <a:latin typeface="Titillium Web"/>
                  <a:ea typeface="Titillium Web"/>
                  <a:cs typeface="Titillium Web"/>
                  <a:sym typeface="Titillium Web"/>
                </a:rPr>
                <a:t>a high-traffic event in LA</a:t>
              </a:r>
              <a:endParaRPr sz="1800">
                <a:solidFill>
                  <a:schemeClr val="dk2"/>
                </a:solidFill>
                <a:latin typeface="Titillium Web"/>
                <a:ea typeface="Titillium Web"/>
                <a:cs typeface="Titillium Web"/>
                <a:sym typeface="Titillium Web"/>
              </a:endParaRPr>
            </a:p>
          </p:txBody>
        </p:sp>
        <p:sp>
          <p:nvSpPr>
            <p:cNvPr id="74" name="Google Shape;74;p15"/>
            <p:cNvSpPr txBox="1"/>
            <p:nvPr/>
          </p:nvSpPr>
          <p:spPr>
            <a:xfrm>
              <a:off x="430900" y="1598875"/>
              <a:ext cx="1678200" cy="498900"/>
            </a:xfrm>
            <a:prstGeom prst="rect">
              <a:avLst/>
            </a:prstGeom>
            <a:solidFill>
              <a:srgbClr val="A4C2F4"/>
            </a:solidFill>
            <a:ln cap="flat" cmpd="sng" w="9525">
              <a:solidFill>
                <a:srgbClr val="4A86E8"/>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Bungee"/>
                  <a:ea typeface="Bungee"/>
                  <a:cs typeface="Bungee"/>
                  <a:sym typeface="Bungee"/>
                </a:rPr>
                <a:t>1</a:t>
              </a:r>
              <a:endParaRPr sz="2400">
                <a:solidFill>
                  <a:schemeClr val="dk1"/>
                </a:solidFill>
                <a:latin typeface="Bungee"/>
                <a:ea typeface="Bungee"/>
                <a:cs typeface="Bungee"/>
                <a:sym typeface="Bungee"/>
              </a:endParaRPr>
            </a:p>
          </p:txBody>
        </p:sp>
      </p:grpSp>
      <p:grpSp>
        <p:nvGrpSpPr>
          <p:cNvPr id="75" name="Google Shape;75;p15"/>
          <p:cNvGrpSpPr/>
          <p:nvPr/>
        </p:nvGrpSpPr>
        <p:grpSpPr>
          <a:xfrm>
            <a:off x="2692550" y="1598875"/>
            <a:ext cx="1678200" cy="1610100"/>
            <a:chOff x="430900" y="1598875"/>
            <a:chExt cx="1678200" cy="1610100"/>
          </a:xfrm>
        </p:grpSpPr>
        <p:sp>
          <p:nvSpPr>
            <p:cNvPr id="76" name="Google Shape;76;p15"/>
            <p:cNvSpPr txBox="1"/>
            <p:nvPr/>
          </p:nvSpPr>
          <p:spPr>
            <a:xfrm>
              <a:off x="430900" y="2097775"/>
              <a:ext cx="1678200" cy="1111200"/>
            </a:xfrm>
            <a:prstGeom prst="rect">
              <a:avLst/>
            </a:prstGeom>
            <a:noFill/>
            <a:ln cap="flat" cmpd="sng" w="9525">
              <a:solidFill>
                <a:srgbClr val="FFD966"/>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latin typeface="Titillium Web"/>
                  <a:ea typeface="Titillium Web"/>
                  <a:cs typeface="Titillium Web"/>
                  <a:sym typeface="Titillium Web"/>
                </a:rPr>
                <a:t>Collect high resolution traffic data</a:t>
              </a:r>
              <a:endParaRPr sz="1800">
                <a:solidFill>
                  <a:schemeClr val="dk2"/>
                </a:solidFill>
                <a:latin typeface="Titillium Web"/>
                <a:ea typeface="Titillium Web"/>
                <a:cs typeface="Titillium Web"/>
                <a:sym typeface="Titillium Web"/>
              </a:endParaRPr>
            </a:p>
          </p:txBody>
        </p:sp>
        <p:sp>
          <p:nvSpPr>
            <p:cNvPr id="77" name="Google Shape;77;p15"/>
            <p:cNvSpPr txBox="1"/>
            <p:nvPr/>
          </p:nvSpPr>
          <p:spPr>
            <a:xfrm>
              <a:off x="430900" y="1598875"/>
              <a:ext cx="1678200" cy="498900"/>
            </a:xfrm>
            <a:prstGeom prst="rect">
              <a:avLst/>
            </a:prstGeom>
            <a:solidFill>
              <a:srgbClr val="FFE599"/>
            </a:solidFill>
            <a:ln cap="flat" cmpd="sng" w="9525">
              <a:solidFill>
                <a:srgbClr val="FFD966"/>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Bungee"/>
                  <a:ea typeface="Bungee"/>
                  <a:cs typeface="Bungee"/>
                  <a:sym typeface="Bungee"/>
                </a:rPr>
                <a:t>2</a:t>
              </a:r>
              <a:endParaRPr sz="2400">
                <a:solidFill>
                  <a:schemeClr val="dk1"/>
                </a:solidFill>
                <a:latin typeface="Bungee"/>
                <a:ea typeface="Bungee"/>
                <a:cs typeface="Bungee"/>
                <a:sym typeface="Bungee"/>
              </a:endParaRPr>
            </a:p>
          </p:txBody>
        </p:sp>
      </p:grpSp>
      <p:grpSp>
        <p:nvGrpSpPr>
          <p:cNvPr id="78" name="Google Shape;78;p15"/>
          <p:cNvGrpSpPr/>
          <p:nvPr/>
        </p:nvGrpSpPr>
        <p:grpSpPr>
          <a:xfrm>
            <a:off x="4773213" y="1598875"/>
            <a:ext cx="1678200" cy="1610100"/>
            <a:chOff x="430900" y="1598875"/>
            <a:chExt cx="1678200" cy="1610100"/>
          </a:xfrm>
        </p:grpSpPr>
        <p:sp>
          <p:nvSpPr>
            <p:cNvPr id="79" name="Google Shape;79;p15"/>
            <p:cNvSpPr txBox="1"/>
            <p:nvPr/>
          </p:nvSpPr>
          <p:spPr>
            <a:xfrm>
              <a:off x="430900" y="2097775"/>
              <a:ext cx="1678200" cy="1111200"/>
            </a:xfrm>
            <a:prstGeom prst="rect">
              <a:avLst/>
            </a:prstGeom>
            <a:noFill/>
            <a:ln cap="flat" cmpd="sng" w="9525">
              <a:solidFill>
                <a:srgbClr val="93C47D"/>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latin typeface="Titillium Web"/>
                  <a:ea typeface="Titillium Web"/>
                  <a:cs typeface="Titillium Web"/>
                  <a:sym typeface="Titillium Web"/>
                </a:rPr>
                <a:t>Analyze</a:t>
              </a:r>
              <a:r>
                <a:rPr lang="en" sz="1800">
                  <a:solidFill>
                    <a:schemeClr val="dk2"/>
                  </a:solidFill>
                  <a:latin typeface="Titillium Web"/>
                  <a:ea typeface="Titillium Web"/>
                  <a:cs typeface="Titillium Web"/>
                  <a:sym typeface="Titillium Web"/>
                </a:rPr>
                <a:t> traits of high-volume event traffic </a:t>
              </a:r>
              <a:endParaRPr sz="1800">
                <a:solidFill>
                  <a:schemeClr val="dk2"/>
                </a:solidFill>
                <a:latin typeface="Titillium Web"/>
                <a:ea typeface="Titillium Web"/>
                <a:cs typeface="Titillium Web"/>
                <a:sym typeface="Titillium Web"/>
              </a:endParaRPr>
            </a:p>
          </p:txBody>
        </p:sp>
        <p:sp>
          <p:nvSpPr>
            <p:cNvPr id="80" name="Google Shape;80;p15"/>
            <p:cNvSpPr txBox="1"/>
            <p:nvPr/>
          </p:nvSpPr>
          <p:spPr>
            <a:xfrm>
              <a:off x="430900" y="1598875"/>
              <a:ext cx="1678200" cy="498900"/>
            </a:xfrm>
            <a:prstGeom prst="rect">
              <a:avLst/>
            </a:prstGeom>
            <a:solidFill>
              <a:srgbClr val="B6D7A8"/>
            </a:solidFill>
            <a:ln cap="flat" cmpd="sng" w="9525">
              <a:solidFill>
                <a:srgbClr val="93C47D"/>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Bungee"/>
                  <a:ea typeface="Bungee"/>
                  <a:cs typeface="Bungee"/>
                  <a:sym typeface="Bungee"/>
                </a:rPr>
                <a:t>3</a:t>
              </a:r>
              <a:endParaRPr sz="2400">
                <a:solidFill>
                  <a:schemeClr val="dk1"/>
                </a:solidFill>
                <a:latin typeface="Bungee"/>
                <a:ea typeface="Bungee"/>
                <a:cs typeface="Bungee"/>
                <a:sym typeface="Bungee"/>
              </a:endParaRPr>
            </a:p>
          </p:txBody>
        </p:sp>
      </p:grpSp>
      <p:grpSp>
        <p:nvGrpSpPr>
          <p:cNvPr id="81" name="Google Shape;81;p15"/>
          <p:cNvGrpSpPr/>
          <p:nvPr/>
        </p:nvGrpSpPr>
        <p:grpSpPr>
          <a:xfrm>
            <a:off x="6853888" y="1598875"/>
            <a:ext cx="1678200" cy="1610100"/>
            <a:chOff x="430900" y="1598875"/>
            <a:chExt cx="1678200" cy="1610100"/>
          </a:xfrm>
        </p:grpSpPr>
        <p:sp>
          <p:nvSpPr>
            <p:cNvPr id="82" name="Google Shape;82;p15"/>
            <p:cNvSpPr txBox="1"/>
            <p:nvPr/>
          </p:nvSpPr>
          <p:spPr>
            <a:xfrm>
              <a:off x="430900" y="2097775"/>
              <a:ext cx="1678200" cy="1111200"/>
            </a:xfrm>
            <a:prstGeom prst="rect">
              <a:avLst/>
            </a:prstGeom>
            <a:noFill/>
            <a:ln cap="flat" cmpd="sng" w="9525">
              <a:solidFill>
                <a:srgbClr val="E06666"/>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latin typeface="Titillium Web"/>
                  <a:ea typeface="Titillium Web"/>
                  <a:cs typeface="Titillium Web"/>
                  <a:sym typeface="Titillium Web"/>
                </a:rPr>
                <a:t>Model traffic conditions for the Olympics</a:t>
              </a:r>
              <a:endParaRPr sz="1800">
                <a:solidFill>
                  <a:schemeClr val="dk2"/>
                </a:solidFill>
                <a:latin typeface="Titillium Web"/>
                <a:ea typeface="Titillium Web"/>
                <a:cs typeface="Titillium Web"/>
                <a:sym typeface="Titillium Web"/>
              </a:endParaRPr>
            </a:p>
          </p:txBody>
        </p:sp>
        <p:sp>
          <p:nvSpPr>
            <p:cNvPr id="83" name="Google Shape;83;p15"/>
            <p:cNvSpPr txBox="1"/>
            <p:nvPr/>
          </p:nvSpPr>
          <p:spPr>
            <a:xfrm>
              <a:off x="430900" y="1598875"/>
              <a:ext cx="1678200" cy="498900"/>
            </a:xfrm>
            <a:prstGeom prst="rect">
              <a:avLst/>
            </a:prstGeom>
            <a:solidFill>
              <a:srgbClr val="EA9999"/>
            </a:solidFill>
            <a:ln cap="flat" cmpd="sng" w="9525">
              <a:solidFill>
                <a:srgbClr val="E06666"/>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Bungee"/>
                  <a:ea typeface="Bungee"/>
                  <a:cs typeface="Bungee"/>
                  <a:sym typeface="Bungee"/>
                </a:rPr>
                <a:t>4</a:t>
              </a:r>
              <a:endParaRPr sz="2400">
                <a:solidFill>
                  <a:schemeClr val="dk1"/>
                </a:solidFill>
                <a:latin typeface="Bungee"/>
                <a:ea typeface="Bungee"/>
                <a:cs typeface="Bungee"/>
                <a:sym typeface="Bungee"/>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6"/>
          <p:cNvSpPr txBox="1"/>
          <p:nvPr>
            <p:ph type="title"/>
          </p:nvPr>
        </p:nvSpPr>
        <p:spPr>
          <a:xfrm>
            <a:off x="311700" y="445025"/>
            <a:ext cx="4260300" cy="572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lang="en" sz="2400">
                <a:latin typeface="Bungee"/>
                <a:ea typeface="Bungee"/>
                <a:cs typeface="Bungee"/>
                <a:sym typeface="Bungee"/>
              </a:rPr>
              <a:t>SUper Bowl </a:t>
            </a:r>
            <a:r>
              <a:rPr lang="en" sz="2400">
                <a:latin typeface="Bungee"/>
                <a:ea typeface="Bungee"/>
                <a:cs typeface="Bungee"/>
                <a:sym typeface="Bungee"/>
              </a:rPr>
              <a:t>Week </a:t>
            </a:r>
            <a:r>
              <a:rPr lang="en" sz="2400">
                <a:latin typeface="Bungee"/>
                <a:ea typeface="Bungee"/>
                <a:cs typeface="Bungee"/>
                <a:sym typeface="Bungee"/>
              </a:rPr>
              <a:t>2022</a:t>
            </a:r>
            <a:endParaRPr sz="2400">
              <a:latin typeface="Bungee"/>
              <a:ea typeface="Bungee"/>
              <a:cs typeface="Bungee"/>
              <a:sym typeface="Bungee"/>
            </a:endParaRPr>
          </a:p>
        </p:txBody>
      </p:sp>
      <p:pic>
        <p:nvPicPr>
          <p:cNvPr id="89" name="Google Shape;89;p16"/>
          <p:cNvPicPr preferRelativeResize="0"/>
          <p:nvPr/>
        </p:nvPicPr>
        <p:blipFill>
          <a:blip r:embed="rId3">
            <a:alphaModFix/>
          </a:blip>
          <a:stretch>
            <a:fillRect/>
          </a:stretch>
        </p:blipFill>
        <p:spPr>
          <a:xfrm>
            <a:off x="4599179" y="0"/>
            <a:ext cx="7718573" cy="5143499"/>
          </a:xfrm>
          <a:prstGeom prst="rect">
            <a:avLst/>
          </a:prstGeom>
          <a:noFill/>
          <a:ln>
            <a:noFill/>
          </a:ln>
        </p:spPr>
      </p:pic>
      <p:sp>
        <p:nvSpPr>
          <p:cNvPr id="90" name="Google Shape;90;p16"/>
          <p:cNvSpPr txBox="1"/>
          <p:nvPr>
            <p:ph idx="2" type="body"/>
          </p:nvPr>
        </p:nvSpPr>
        <p:spPr>
          <a:xfrm>
            <a:off x="311700" y="1152475"/>
            <a:ext cx="36330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Titillium Web"/>
                <a:ea typeface="Titillium Web"/>
                <a:cs typeface="Titillium Web"/>
                <a:sym typeface="Titillium Web"/>
              </a:rPr>
              <a:t>Super Bowl Week in LA drew over </a:t>
            </a:r>
            <a:r>
              <a:rPr b="1" lang="en">
                <a:latin typeface="Titillium Web"/>
                <a:ea typeface="Titillium Web"/>
                <a:cs typeface="Titillium Web"/>
                <a:sym typeface="Titillium Web"/>
              </a:rPr>
              <a:t>100,000</a:t>
            </a:r>
            <a:r>
              <a:rPr lang="en">
                <a:latin typeface="Titillium Web"/>
                <a:ea typeface="Titillium Web"/>
                <a:cs typeface="Titillium Web"/>
                <a:sym typeface="Titillium Web"/>
              </a:rPr>
              <a:t> new visitors</a:t>
            </a:r>
            <a:br>
              <a:rPr lang="en">
                <a:latin typeface="Titillium Web"/>
                <a:ea typeface="Titillium Web"/>
                <a:cs typeface="Titillium Web"/>
                <a:sym typeface="Titillium Web"/>
              </a:rPr>
            </a:br>
            <a:r>
              <a:rPr lang="en">
                <a:latin typeface="Titillium Web"/>
                <a:ea typeface="Titillium Web"/>
                <a:cs typeface="Titillium Web"/>
                <a:sym typeface="Titillium Web"/>
              </a:rPr>
              <a:t>(</a:t>
            </a:r>
            <a:r>
              <a:rPr b="1" lang="en">
                <a:latin typeface="Titillium Web"/>
                <a:ea typeface="Titillium Web"/>
                <a:cs typeface="Titillium Web"/>
                <a:sym typeface="Titillium Web"/>
              </a:rPr>
              <a:t>77%</a:t>
            </a:r>
            <a:r>
              <a:rPr lang="en">
                <a:latin typeface="Titillium Web"/>
                <a:ea typeface="Titillium Web"/>
                <a:cs typeface="Titillium Web"/>
                <a:sym typeface="Titillium Web"/>
              </a:rPr>
              <a:t> increase over normal tourism).</a:t>
            </a:r>
            <a:endParaRPr>
              <a:latin typeface="Titillium Web"/>
              <a:ea typeface="Titillium Web"/>
              <a:cs typeface="Titillium Web"/>
              <a:sym typeface="Titillium Web"/>
            </a:endParaRPr>
          </a:p>
          <a:p>
            <a:pPr indent="0" lvl="0" marL="0" rtl="0" algn="l">
              <a:spcBef>
                <a:spcPts val="1200"/>
              </a:spcBef>
              <a:spcAft>
                <a:spcPts val="1200"/>
              </a:spcAft>
              <a:buNone/>
            </a:pPr>
            <a:r>
              <a:rPr lang="en">
                <a:latin typeface="Titillium Web"/>
                <a:ea typeface="Titillium Web"/>
                <a:cs typeface="Titillium Web"/>
                <a:sym typeface="Titillium Web"/>
              </a:rPr>
              <a:t>Numerous fan and marketing events are held across the host city. </a:t>
            </a:r>
            <a:endParaRPr>
              <a:latin typeface="Titillium Web"/>
              <a:ea typeface="Titillium Web"/>
              <a:cs typeface="Titillium Web"/>
              <a:sym typeface="Titillium Web"/>
            </a:endParaRPr>
          </a:p>
        </p:txBody>
      </p:sp>
      <p:pic>
        <p:nvPicPr>
          <p:cNvPr id="91" name="Google Shape;91;p16"/>
          <p:cNvPicPr preferRelativeResize="0"/>
          <p:nvPr/>
        </p:nvPicPr>
        <p:blipFill>
          <a:blip r:embed="rId4">
            <a:alphaModFix/>
          </a:blip>
          <a:stretch>
            <a:fillRect/>
          </a:stretch>
        </p:blipFill>
        <p:spPr>
          <a:xfrm>
            <a:off x="393954" y="3893588"/>
            <a:ext cx="1109900" cy="846225"/>
          </a:xfrm>
          <a:prstGeom prst="rect">
            <a:avLst/>
          </a:prstGeom>
          <a:noFill/>
          <a:ln>
            <a:noFill/>
          </a:ln>
        </p:spPr>
      </p:pic>
      <p:pic>
        <p:nvPicPr>
          <p:cNvPr id="92" name="Google Shape;92;p16"/>
          <p:cNvPicPr preferRelativeResize="0"/>
          <p:nvPr/>
        </p:nvPicPr>
        <p:blipFill>
          <a:blip r:embed="rId5">
            <a:alphaModFix/>
          </a:blip>
          <a:stretch>
            <a:fillRect/>
          </a:stretch>
        </p:blipFill>
        <p:spPr>
          <a:xfrm>
            <a:off x="1774852" y="3831012"/>
            <a:ext cx="706698" cy="9714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7"/>
          <p:cNvSpPr txBox="1"/>
          <p:nvPr>
            <p:ph type="title"/>
          </p:nvPr>
        </p:nvSpPr>
        <p:spPr>
          <a:xfrm>
            <a:off x="1516932" y="445025"/>
            <a:ext cx="7357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220">
                <a:latin typeface="Bungee"/>
                <a:ea typeface="Bungee"/>
                <a:cs typeface="Bungee"/>
                <a:sym typeface="Bungee"/>
              </a:rPr>
              <a:t>Performance Measurement System (PeMS)</a:t>
            </a:r>
            <a:endParaRPr sz="2220">
              <a:latin typeface="Bungee"/>
              <a:ea typeface="Bungee"/>
              <a:cs typeface="Bungee"/>
              <a:sym typeface="Bungee"/>
            </a:endParaRPr>
          </a:p>
        </p:txBody>
      </p:sp>
      <p:sp>
        <p:nvSpPr>
          <p:cNvPr id="98" name="Google Shape;98;p17"/>
          <p:cNvSpPr txBox="1"/>
          <p:nvPr/>
        </p:nvSpPr>
        <p:spPr>
          <a:xfrm>
            <a:off x="1353125" y="4896226"/>
            <a:ext cx="5940600" cy="232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sz="800">
                <a:solidFill>
                  <a:schemeClr val="accent3"/>
                </a:solidFill>
                <a:latin typeface="Titillium Web"/>
                <a:ea typeface="Titillium Web"/>
                <a:cs typeface="Titillium Web"/>
                <a:sym typeface="Titillium Web"/>
              </a:rPr>
              <a:t>* https://dot.ca.gov/programs/traffic-operations/mpr/pems-source</a:t>
            </a:r>
            <a:endParaRPr sz="1500">
              <a:solidFill>
                <a:schemeClr val="accent3"/>
              </a:solidFill>
              <a:latin typeface="Titillium Web"/>
              <a:ea typeface="Titillium Web"/>
              <a:cs typeface="Titillium Web"/>
              <a:sym typeface="Titillium Web"/>
            </a:endParaRPr>
          </a:p>
        </p:txBody>
      </p:sp>
      <p:graphicFrame>
        <p:nvGraphicFramePr>
          <p:cNvPr id="99" name="Google Shape;99;p17"/>
          <p:cNvGraphicFramePr/>
          <p:nvPr/>
        </p:nvGraphicFramePr>
        <p:xfrm>
          <a:off x="1337068" y="1091946"/>
          <a:ext cx="3000000" cy="3000000"/>
        </p:xfrm>
        <a:graphic>
          <a:graphicData uri="http://schemas.openxmlformats.org/drawingml/2006/table">
            <a:tbl>
              <a:tblPr>
                <a:noFill/>
                <a:tableStyleId>{C1734F47-3D7B-4536-96E7-72D0CDD179DB}</a:tableStyleId>
              </a:tblPr>
              <a:tblGrid>
                <a:gridCol w="2156625"/>
                <a:gridCol w="2156625"/>
                <a:gridCol w="2156625"/>
              </a:tblGrid>
              <a:tr h="248125">
                <a:tc>
                  <a:txBody>
                    <a:bodyPr/>
                    <a:lstStyle/>
                    <a:p>
                      <a:pPr indent="0" lvl="0" marL="0" rtl="0" algn="l">
                        <a:spcBef>
                          <a:spcPts val="0"/>
                        </a:spcBef>
                        <a:spcAft>
                          <a:spcPts val="0"/>
                        </a:spcAft>
                        <a:buNone/>
                      </a:pPr>
                      <a:r>
                        <a:t/>
                      </a:r>
                      <a:endParaRPr b="1" sz="1100">
                        <a:solidFill>
                          <a:schemeClr val="dk1"/>
                        </a:solidFill>
                        <a:latin typeface="Titillium Web"/>
                        <a:ea typeface="Titillium Web"/>
                        <a:cs typeface="Titillium Web"/>
                        <a:sym typeface="Titillium Web"/>
                      </a:endParaRPr>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b="1" lang="en" sz="1100">
                          <a:solidFill>
                            <a:schemeClr val="dk1"/>
                          </a:solidFill>
                          <a:latin typeface="Titillium Web"/>
                          <a:ea typeface="Titillium Web"/>
                          <a:cs typeface="Titillium Web"/>
                          <a:sym typeface="Titillium Web"/>
                        </a:rPr>
                        <a:t>Description</a:t>
                      </a:r>
                      <a:endParaRPr b="1" sz="1100">
                        <a:solidFill>
                          <a:schemeClr val="dk1"/>
                        </a:solidFill>
                        <a:latin typeface="Titillium Web"/>
                        <a:ea typeface="Titillium Web"/>
                        <a:cs typeface="Titillium Web"/>
                        <a:sym typeface="Titillium Web"/>
                      </a:endParaRPr>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b="1" lang="en" sz="1100">
                          <a:solidFill>
                            <a:schemeClr val="dk1"/>
                          </a:solidFill>
                          <a:latin typeface="Titillium Web"/>
                          <a:ea typeface="Titillium Web"/>
                          <a:cs typeface="Titillium Web"/>
                          <a:sym typeface="Titillium Web"/>
                        </a:rPr>
                        <a:t>Format</a:t>
                      </a:r>
                      <a:endParaRPr b="1" sz="1100">
                        <a:solidFill>
                          <a:schemeClr val="dk1"/>
                        </a:solidFill>
                        <a:latin typeface="Titillium Web"/>
                        <a:ea typeface="Titillium Web"/>
                        <a:cs typeface="Titillium Web"/>
                        <a:sym typeface="Titillium Web"/>
                      </a:endParaRPr>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2"/>
                    </a:solidFill>
                  </a:tcPr>
                </a:tc>
              </a:tr>
              <a:tr h="226600">
                <a:tc>
                  <a:txBody>
                    <a:bodyPr/>
                    <a:lstStyle/>
                    <a:p>
                      <a:pPr indent="0" lvl="0" marL="0" rtl="0" algn="l">
                        <a:lnSpc>
                          <a:spcPct val="115000"/>
                        </a:lnSpc>
                        <a:spcBef>
                          <a:spcPts val="0"/>
                        </a:spcBef>
                        <a:spcAft>
                          <a:spcPts val="1200"/>
                        </a:spcAft>
                        <a:buNone/>
                      </a:pPr>
                      <a:r>
                        <a:rPr b="1" lang="en" sz="1100">
                          <a:solidFill>
                            <a:schemeClr val="dk1"/>
                          </a:solidFill>
                          <a:latin typeface="Titillium Web"/>
                          <a:ea typeface="Titillium Web"/>
                          <a:cs typeface="Titillium Web"/>
                          <a:sym typeface="Titillium Web"/>
                        </a:rPr>
                        <a:t>Station</a:t>
                      </a:r>
                      <a:endParaRPr b="1" sz="1100">
                        <a:solidFill>
                          <a:schemeClr val="dk1"/>
                        </a:solidFill>
                        <a:latin typeface="Titillium Web"/>
                        <a:ea typeface="Titillium Web"/>
                        <a:cs typeface="Titillium Web"/>
                        <a:sym typeface="Titillium Web"/>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1200"/>
                        </a:spcAft>
                        <a:buNone/>
                      </a:pPr>
                      <a:r>
                        <a:rPr lang="en" sz="1100">
                          <a:solidFill>
                            <a:schemeClr val="dk1"/>
                          </a:solidFill>
                          <a:latin typeface="Titillium Web"/>
                          <a:ea typeface="Titillium Web"/>
                          <a:cs typeface="Titillium Web"/>
                          <a:sym typeface="Titillium Web"/>
                        </a:rPr>
                        <a:t>Sensor Station ID</a:t>
                      </a:r>
                      <a:endParaRPr sz="1100">
                        <a:solidFill>
                          <a:schemeClr val="dk1"/>
                        </a:solidFill>
                        <a:latin typeface="Titillium Web"/>
                        <a:ea typeface="Titillium Web"/>
                        <a:cs typeface="Titillium Web"/>
                        <a:sym typeface="Titillium Web"/>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1200"/>
                        </a:spcAft>
                        <a:buNone/>
                      </a:pPr>
                      <a:r>
                        <a:rPr lang="en" sz="1100">
                          <a:solidFill>
                            <a:schemeClr val="dk1"/>
                          </a:solidFill>
                          <a:latin typeface="Titillium Web"/>
                          <a:ea typeface="Titillium Web"/>
                          <a:cs typeface="Titillium Web"/>
                          <a:sym typeface="Titillium Web"/>
                        </a:rPr>
                        <a:t>Primary Key/Unique ID</a:t>
                      </a:r>
                      <a:endParaRPr sz="1100">
                        <a:solidFill>
                          <a:schemeClr val="dk1"/>
                        </a:solidFill>
                        <a:latin typeface="Titillium Web"/>
                        <a:ea typeface="Titillium Web"/>
                        <a:cs typeface="Titillium Web"/>
                        <a:sym typeface="Titillium Web"/>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248150">
                <a:tc>
                  <a:txBody>
                    <a:bodyPr/>
                    <a:lstStyle/>
                    <a:p>
                      <a:pPr indent="0" lvl="0" marL="0" rtl="0" algn="l">
                        <a:spcBef>
                          <a:spcPts val="0"/>
                        </a:spcBef>
                        <a:spcAft>
                          <a:spcPts val="0"/>
                        </a:spcAft>
                        <a:buNone/>
                      </a:pPr>
                      <a:r>
                        <a:rPr b="1" lang="en" sz="1100">
                          <a:solidFill>
                            <a:schemeClr val="dk1"/>
                          </a:solidFill>
                          <a:latin typeface="Titillium Web"/>
                          <a:ea typeface="Titillium Web"/>
                          <a:cs typeface="Titillium Web"/>
                          <a:sym typeface="Titillium Web"/>
                        </a:rPr>
                        <a:t>Timestamp</a:t>
                      </a:r>
                      <a:endParaRPr b="1" sz="1100">
                        <a:solidFill>
                          <a:schemeClr val="dk1"/>
                        </a:solidFill>
                        <a:latin typeface="Titillium Web"/>
                        <a:ea typeface="Titillium Web"/>
                        <a:cs typeface="Titillium Web"/>
                        <a:sym typeface="Titillium Web"/>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1100">
                          <a:solidFill>
                            <a:schemeClr val="dk1"/>
                          </a:solidFill>
                          <a:latin typeface="Titillium Web"/>
                          <a:ea typeface="Titillium Web"/>
                          <a:cs typeface="Titillium Web"/>
                          <a:sym typeface="Titillium Web"/>
                        </a:rPr>
                        <a:t>Ob</a:t>
                      </a:r>
                      <a:r>
                        <a:rPr lang="en" sz="1100">
                          <a:solidFill>
                            <a:schemeClr val="dk1"/>
                          </a:solidFill>
                          <a:latin typeface="Titillium Web"/>
                          <a:ea typeface="Titillium Web"/>
                          <a:cs typeface="Titillium Web"/>
                          <a:sym typeface="Titillium Web"/>
                        </a:rPr>
                        <a:t>servation Time</a:t>
                      </a:r>
                      <a:endParaRPr sz="1100">
                        <a:solidFill>
                          <a:schemeClr val="dk1"/>
                        </a:solidFill>
                        <a:latin typeface="Titillium Web"/>
                        <a:ea typeface="Titillium Web"/>
                        <a:cs typeface="Titillium Web"/>
                        <a:sym typeface="Titillium Web"/>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1100">
                          <a:solidFill>
                            <a:schemeClr val="dk1"/>
                          </a:solidFill>
                          <a:latin typeface="Titillium Web"/>
                          <a:ea typeface="Titillium Web"/>
                          <a:cs typeface="Titillium Web"/>
                          <a:sym typeface="Titillium Web"/>
                        </a:rPr>
                        <a:t>YYYY/MM/DD HH:MM:SS</a:t>
                      </a:r>
                      <a:endParaRPr sz="1100">
                        <a:solidFill>
                          <a:schemeClr val="dk1"/>
                        </a:solidFill>
                        <a:latin typeface="Titillium Web"/>
                        <a:ea typeface="Titillium Web"/>
                        <a:cs typeface="Titillium Web"/>
                        <a:sym typeface="Titillium Web"/>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221225">
                <a:tc>
                  <a:txBody>
                    <a:bodyPr/>
                    <a:lstStyle/>
                    <a:p>
                      <a:pPr indent="0" lvl="0" marL="0" rtl="0" algn="l">
                        <a:lnSpc>
                          <a:spcPct val="115000"/>
                        </a:lnSpc>
                        <a:spcBef>
                          <a:spcPts val="0"/>
                        </a:spcBef>
                        <a:spcAft>
                          <a:spcPts val="1200"/>
                        </a:spcAft>
                        <a:buNone/>
                      </a:pPr>
                      <a:r>
                        <a:rPr b="1" lang="en" sz="1100">
                          <a:solidFill>
                            <a:schemeClr val="dk1"/>
                          </a:solidFill>
                          <a:latin typeface="Titillium Web"/>
                          <a:ea typeface="Titillium Web"/>
                          <a:cs typeface="Titillium Web"/>
                          <a:sym typeface="Titillium Web"/>
                        </a:rPr>
                        <a:t>District</a:t>
                      </a:r>
                      <a:endParaRPr b="1" sz="1100">
                        <a:solidFill>
                          <a:schemeClr val="dk1"/>
                        </a:solidFill>
                        <a:latin typeface="Titillium Web"/>
                        <a:ea typeface="Titillium Web"/>
                        <a:cs typeface="Titillium Web"/>
                        <a:sym typeface="Titillium Web"/>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1200"/>
                        </a:spcAft>
                        <a:buNone/>
                      </a:pPr>
                      <a:r>
                        <a:rPr lang="en" sz="1100">
                          <a:solidFill>
                            <a:schemeClr val="dk1"/>
                          </a:solidFill>
                          <a:latin typeface="Titillium Web"/>
                          <a:ea typeface="Titillium Web"/>
                          <a:cs typeface="Titillium Web"/>
                          <a:sym typeface="Titillium Web"/>
                        </a:rPr>
                        <a:t>District 7 (Los Angeles)</a:t>
                      </a:r>
                      <a:endParaRPr sz="1100">
                        <a:solidFill>
                          <a:schemeClr val="dk1"/>
                        </a:solidFill>
                        <a:latin typeface="Titillium Web"/>
                        <a:ea typeface="Titillium Web"/>
                        <a:cs typeface="Titillium Web"/>
                        <a:sym typeface="Titillium Web"/>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1100">
                          <a:solidFill>
                            <a:schemeClr val="dk1"/>
                          </a:solidFill>
                          <a:latin typeface="Titillium Web"/>
                          <a:ea typeface="Titillium Web"/>
                          <a:cs typeface="Titillium Web"/>
                          <a:sym typeface="Titillium Web"/>
                        </a:rPr>
                        <a:t>Numeric</a:t>
                      </a:r>
                      <a:endParaRPr sz="1100">
                        <a:solidFill>
                          <a:schemeClr val="dk1"/>
                        </a:solidFill>
                        <a:latin typeface="Titillium Web"/>
                        <a:ea typeface="Titillium Web"/>
                        <a:cs typeface="Titillium Web"/>
                        <a:sym typeface="Titillium Web"/>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478500">
                <a:tc>
                  <a:txBody>
                    <a:bodyPr/>
                    <a:lstStyle/>
                    <a:p>
                      <a:pPr indent="0" lvl="0" marL="0" rtl="0" algn="l">
                        <a:lnSpc>
                          <a:spcPct val="115000"/>
                        </a:lnSpc>
                        <a:spcBef>
                          <a:spcPts val="0"/>
                        </a:spcBef>
                        <a:spcAft>
                          <a:spcPts val="1200"/>
                        </a:spcAft>
                        <a:buNone/>
                      </a:pPr>
                      <a:r>
                        <a:rPr b="1" lang="en" sz="1100">
                          <a:solidFill>
                            <a:schemeClr val="dk1"/>
                          </a:solidFill>
                          <a:latin typeface="Titillium Web"/>
                          <a:ea typeface="Titillium Web"/>
                          <a:cs typeface="Titillium Web"/>
                          <a:sym typeface="Titillium Web"/>
                        </a:rPr>
                        <a:t>Percentage</a:t>
                      </a:r>
                      <a:r>
                        <a:rPr b="1" lang="en" sz="1100">
                          <a:solidFill>
                            <a:schemeClr val="dk1"/>
                          </a:solidFill>
                          <a:latin typeface="Titillium Web"/>
                          <a:ea typeface="Titillium Web"/>
                          <a:cs typeface="Titillium Web"/>
                          <a:sym typeface="Titillium Web"/>
                        </a:rPr>
                        <a:t> Observed</a:t>
                      </a:r>
                      <a:endParaRPr b="1" sz="1100">
                        <a:solidFill>
                          <a:schemeClr val="dk1"/>
                        </a:solidFill>
                        <a:latin typeface="Titillium Web"/>
                        <a:ea typeface="Titillium Web"/>
                        <a:cs typeface="Titillium Web"/>
                        <a:sym typeface="Titillium Web"/>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1050">
                          <a:solidFill>
                            <a:schemeClr val="dk1"/>
                          </a:solidFill>
                          <a:latin typeface="Titillium Web"/>
                          <a:ea typeface="Titillium Web"/>
                          <a:cs typeface="Titillium Web"/>
                          <a:sym typeface="Titillium Web"/>
                        </a:rPr>
                        <a:t>5-minute lane points that were observed</a:t>
                      </a:r>
                      <a:endParaRPr sz="1100">
                        <a:solidFill>
                          <a:schemeClr val="dk1"/>
                        </a:solidFill>
                        <a:latin typeface="Titillium Web"/>
                        <a:ea typeface="Titillium Web"/>
                        <a:cs typeface="Titillium Web"/>
                        <a:sym typeface="Titillium Web"/>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1100">
                          <a:solidFill>
                            <a:schemeClr val="dk1"/>
                          </a:solidFill>
                          <a:latin typeface="Titillium Web"/>
                          <a:ea typeface="Titillium Web"/>
                          <a:cs typeface="Titillium Web"/>
                          <a:sym typeface="Titillium Web"/>
                        </a:rPr>
                        <a:t>Percentage</a:t>
                      </a:r>
                      <a:endParaRPr sz="1100">
                        <a:solidFill>
                          <a:schemeClr val="dk1"/>
                        </a:solidFill>
                        <a:latin typeface="Titillium Web"/>
                        <a:ea typeface="Titillium Web"/>
                        <a:cs typeface="Titillium Web"/>
                        <a:sym typeface="Titillium Web"/>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362825">
                <a:tc>
                  <a:txBody>
                    <a:bodyPr/>
                    <a:lstStyle/>
                    <a:p>
                      <a:pPr indent="0" lvl="0" marL="0" rtl="0" algn="l">
                        <a:lnSpc>
                          <a:spcPct val="115000"/>
                        </a:lnSpc>
                        <a:spcBef>
                          <a:spcPts val="0"/>
                        </a:spcBef>
                        <a:spcAft>
                          <a:spcPts val="1200"/>
                        </a:spcAft>
                        <a:buNone/>
                      </a:pPr>
                      <a:r>
                        <a:rPr b="1" lang="en" sz="1100">
                          <a:solidFill>
                            <a:schemeClr val="dk1"/>
                          </a:solidFill>
                          <a:latin typeface="Titillium Web"/>
                          <a:ea typeface="Titillium Web"/>
                          <a:cs typeface="Titillium Web"/>
                          <a:sym typeface="Titillium Web"/>
                        </a:rPr>
                        <a:t>Average Speed</a:t>
                      </a:r>
                      <a:endParaRPr b="1" sz="1100">
                        <a:solidFill>
                          <a:schemeClr val="dk1"/>
                        </a:solidFill>
                        <a:latin typeface="Titillium Web"/>
                        <a:ea typeface="Titillium Web"/>
                        <a:cs typeface="Titillium Web"/>
                        <a:sym typeface="Titillium Web"/>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1050">
                          <a:solidFill>
                            <a:schemeClr val="dk1"/>
                          </a:solidFill>
                          <a:latin typeface="Titillium Web"/>
                          <a:ea typeface="Titillium Web"/>
                          <a:cs typeface="Titillium Web"/>
                          <a:sym typeface="Titillium Web"/>
                        </a:rPr>
                        <a:t>Flow-weighted average of 5-minute station speeds</a:t>
                      </a:r>
                      <a:endParaRPr sz="1100">
                        <a:solidFill>
                          <a:schemeClr val="dk1"/>
                        </a:solidFill>
                        <a:latin typeface="Titillium Web"/>
                        <a:ea typeface="Titillium Web"/>
                        <a:cs typeface="Titillium Web"/>
                        <a:sym typeface="Titillium Web"/>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1100">
                          <a:solidFill>
                            <a:schemeClr val="dk1"/>
                          </a:solidFill>
                          <a:latin typeface="Titillium Web"/>
                          <a:ea typeface="Titillium Web"/>
                          <a:cs typeface="Titillium Web"/>
                          <a:sym typeface="Titillium Web"/>
                        </a:rPr>
                        <a:t>Miles Per Hour (mph)</a:t>
                      </a:r>
                      <a:endParaRPr sz="1100">
                        <a:solidFill>
                          <a:schemeClr val="dk1"/>
                        </a:solidFill>
                        <a:latin typeface="Titillium Web"/>
                        <a:ea typeface="Titillium Web"/>
                        <a:cs typeface="Titillium Web"/>
                        <a:sym typeface="Titillium Web"/>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319775">
                <a:tc>
                  <a:txBody>
                    <a:bodyPr/>
                    <a:lstStyle/>
                    <a:p>
                      <a:pPr indent="0" lvl="0" marL="0" rtl="0" algn="l">
                        <a:lnSpc>
                          <a:spcPct val="115000"/>
                        </a:lnSpc>
                        <a:spcBef>
                          <a:spcPts val="0"/>
                        </a:spcBef>
                        <a:spcAft>
                          <a:spcPts val="1200"/>
                        </a:spcAft>
                        <a:buNone/>
                      </a:pPr>
                      <a:r>
                        <a:rPr b="1" lang="en" sz="1100">
                          <a:solidFill>
                            <a:schemeClr val="dk1"/>
                          </a:solidFill>
                          <a:latin typeface="Titillium Web"/>
                          <a:ea typeface="Titillium Web"/>
                          <a:cs typeface="Titillium Web"/>
                          <a:sym typeface="Titillium Web"/>
                        </a:rPr>
                        <a:t>Average Occupancy</a:t>
                      </a:r>
                      <a:endParaRPr b="1" sz="1100">
                        <a:solidFill>
                          <a:schemeClr val="dk1"/>
                        </a:solidFill>
                        <a:latin typeface="Titillium Web"/>
                        <a:ea typeface="Titillium Web"/>
                        <a:cs typeface="Titillium Web"/>
                        <a:sym typeface="Titillium Web"/>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1050">
                          <a:solidFill>
                            <a:schemeClr val="dk1"/>
                          </a:solidFill>
                          <a:latin typeface="Titillium Web"/>
                          <a:ea typeface="Titillium Web"/>
                          <a:cs typeface="Titillium Web"/>
                          <a:sym typeface="Titillium Web"/>
                        </a:rPr>
                        <a:t>Average of 5-minute station occupancies over the hour</a:t>
                      </a:r>
                      <a:endParaRPr sz="1100">
                        <a:solidFill>
                          <a:schemeClr val="dk1"/>
                        </a:solidFill>
                        <a:latin typeface="Titillium Web"/>
                        <a:ea typeface="Titillium Web"/>
                        <a:cs typeface="Titillium Web"/>
                        <a:sym typeface="Titillium Web"/>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1100">
                          <a:solidFill>
                            <a:schemeClr val="dk1"/>
                          </a:solidFill>
                          <a:latin typeface="Titillium Web"/>
                          <a:ea typeface="Titillium Web"/>
                          <a:cs typeface="Titillium Web"/>
                          <a:sym typeface="Titillium Web"/>
                        </a:rPr>
                        <a:t>Percentage</a:t>
                      </a:r>
                      <a:endParaRPr sz="1100">
                        <a:solidFill>
                          <a:schemeClr val="dk1"/>
                        </a:solidFill>
                        <a:latin typeface="Titillium Web"/>
                        <a:ea typeface="Titillium Web"/>
                        <a:cs typeface="Titillium Web"/>
                        <a:sym typeface="Titillium Web"/>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292825">
                <a:tc>
                  <a:txBody>
                    <a:bodyPr/>
                    <a:lstStyle/>
                    <a:p>
                      <a:pPr indent="0" lvl="0" marL="0" rtl="0" algn="l">
                        <a:lnSpc>
                          <a:spcPct val="115000"/>
                        </a:lnSpc>
                        <a:spcBef>
                          <a:spcPts val="0"/>
                        </a:spcBef>
                        <a:spcAft>
                          <a:spcPts val="1200"/>
                        </a:spcAft>
                        <a:buNone/>
                      </a:pPr>
                      <a:r>
                        <a:rPr b="1" lang="en" sz="1100">
                          <a:solidFill>
                            <a:schemeClr val="dk1"/>
                          </a:solidFill>
                          <a:latin typeface="Titillium Web"/>
                          <a:ea typeface="Titillium Web"/>
                          <a:cs typeface="Titillium Web"/>
                          <a:sym typeface="Titillium Web"/>
                        </a:rPr>
                        <a:t>Total Flow</a:t>
                      </a:r>
                      <a:endParaRPr b="1" sz="1100">
                        <a:solidFill>
                          <a:schemeClr val="dk1"/>
                        </a:solidFill>
                        <a:latin typeface="Titillium Web"/>
                        <a:ea typeface="Titillium Web"/>
                        <a:cs typeface="Titillium Web"/>
                        <a:sym typeface="Titillium Web"/>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1050">
                          <a:solidFill>
                            <a:schemeClr val="dk1"/>
                          </a:solidFill>
                          <a:latin typeface="Titillium Web"/>
                          <a:ea typeface="Titillium Web"/>
                          <a:cs typeface="Titillium Web"/>
                          <a:sym typeface="Titillium Web"/>
                        </a:rPr>
                        <a:t>Sum of 5-minute flows / hour </a:t>
                      </a:r>
                      <a:endParaRPr sz="1100">
                        <a:solidFill>
                          <a:schemeClr val="dk1"/>
                        </a:solidFill>
                        <a:latin typeface="Titillium Web"/>
                        <a:ea typeface="Titillium Web"/>
                        <a:cs typeface="Titillium Web"/>
                        <a:sym typeface="Titillium Web"/>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1100">
                          <a:solidFill>
                            <a:schemeClr val="dk1"/>
                          </a:solidFill>
                          <a:latin typeface="Titillium Web"/>
                          <a:ea typeface="Titillium Web"/>
                          <a:cs typeface="Titillium Web"/>
                          <a:sym typeface="Titillium Web"/>
                        </a:rPr>
                        <a:t>Cars per Hour</a:t>
                      </a:r>
                      <a:endParaRPr sz="1100">
                        <a:solidFill>
                          <a:schemeClr val="dk1"/>
                        </a:solidFill>
                        <a:latin typeface="Titillium Web"/>
                        <a:ea typeface="Titillium Web"/>
                        <a:cs typeface="Titillium Web"/>
                        <a:sym typeface="Titillium Web"/>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335575">
                <a:tc>
                  <a:txBody>
                    <a:bodyPr/>
                    <a:lstStyle/>
                    <a:p>
                      <a:pPr indent="0" lvl="0" marL="0" rtl="0" algn="l">
                        <a:lnSpc>
                          <a:spcPct val="115000"/>
                        </a:lnSpc>
                        <a:spcBef>
                          <a:spcPts val="0"/>
                        </a:spcBef>
                        <a:spcAft>
                          <a:spcPts val="1200"/>
                        </a:spcAft>
                        <a:buNone/>
                      </a:pPr>
                      <a:r>
                        <a:rPr b="1" lang="en" sz="1100">
                          <a:solidFill>
                            <a:schemeClr val="dk1"/>
                          </a:solidFill>
                          <a:latin typeface="Titillium Web"/>
                          <a:ea typeface="Titillium Web"/>
                          <a:cs typeface="Titillium Web"/>
                          <a:sym typeface="Titillium Web"/>
                        </a:rPr>
                        <a:t>Latitude / Longitude: </a:t>
                      </a:r>
                      <a:endParaRPr b="1" sz="1100">
                        <a:solidFill>
                          <a:schemeClr val="dk1"/>
                        </a:solidFill>
                        <a:latin typeface="Titillium Web"/>
                        <a:ea typeface="Titillium Web"/>
                        <a:cs typeface="Titillium Web"/>
                        <a:sym typeface="Titillium Web"/>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1200"/>
                        </a:spcAft>
                        <a:buNone/>
                      </a:pPr>
                      <a:r>
                        <a:rPr lang="en" sz="1100">
                          <a:solidFill>
                            <a:schemeClr val="dk1"/>
                          </a:solidFill>
                          <a:latin typeface="Titillium Web"/>
                          <a:ea typeface="Titillium Web"/>
                          <a:cs typeface="Titillium Web"/>
                          <a:sym typeface="Titillium Web"/>
                        </a:rPr>
                        <a:t>Station Location</a:t>
                      </a:r>
                      <a:br>
                        <a:rPr lang="en" sz="1100">
                          <a:solidFill>
                            <a:schemeClr val="dk1"/>
                          </a:solidFill>
                          <a:latin typeface="Titillium Web"/>
                          <a:ea typeface="Titillium Web"/>
                          <a:cs typeface="Titillium Web"/>
                          <a:sym typeface="Titillium Web"/>
                        </a:rPr>
                      </a:br>
                      <a:endParaRPr sz="1100">
                        <a:solidFill>
                          <a:schemeClr val="dk1"/>
                        </a:solidFill>
                        <a:latin typeface="Titillium Web"/>
                        <a:ea typeface="Titillium Web"/>
                        <a:cs typeface="Titillium Web"/>
                        <a:sym typeface="Titillium Web"/>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1200"/>
                        </a:spcAft>
                        <a:buNone/>
                      </a:pPr>
                      <a:r>
                        <a:rPr lang="en" sz="1100">
                          <a:solidFill>
                            <a:schemeClr val="dk1"/>
                          </a:solidFill>
                          <a:latin typeface="Titillium Web"/>
                          <a:ea typeface="Titillium Web"/>
                          <a:cs typeface="Titillium Web"/>
                          <a:sym typeface="Titillium Web"/>
                        </a:rPr>
                        <a:t>Foreign Key</a:t>
                      </a:r>
                      <a:endParaRPr sz="1100">
                        <a:solidFill>
                          <a:schemeClr val="dk1"/>
                        </a:solidFill>
                        <a:latin typeface="Titillium Web"/>
                        <a:ea typeface="Titillium Web"/>
                        <a:cs typeface="Titillium Web"/>
                        <a:sym typeface="Titillium Web"/>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bl>
          </a:graphicData>
        </a:graphic>
      </p:graphicFrame>
      <p:pic>
        <p:nvPicPr>
          <p:cNvPr id="100" name="Google Shape;100;p17"/>
          <p:cNvPicPr preferRelativeResize="0"/>
          <p:nvPr/>
        </p:nvPicPr>
        <p:blipFill>
          <a:blip r:embed="rId3">
            <a:alphaModFix/>
          </a:blip>
          <a:stretch>
            <a:fillRect/>
          </a:stretch>
        </p:blipFill>
        <p:spPr>
          <a:xfrm>
            <a:off x="449273" y="368438"/>
            <a:ext cx="903850" cy="7258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Bungee"/>
                <a:ea typeface="Bungee"/>
                <a:cs typeface="Bungee"/>
                <a:sym typeface="Bungee"/>
              </a:rPr>
              <a:t>Normal Traffic Conditions</a:t>
            </a:r>
            <a:endParaRPr>
              <a:latin typeface="Bungee"/>
              <a:ea typeface="Bungee"/>
              <a:cs typeface="Bungee"/>
              <a:sym typeface="Bungee"/>
            </a:endParaRPr>
          </a:p>
        </p:txBody>
      </p:sp>
      <p:sp>
        <p:nvSpPr>
          <p:cNvPr id="106" name="Google Shape;106;p18"/>
          <p:cNvSpPr txBox="1"/>
          <p:nvPr>
            <p:ph idx="1" type="body"/>
          </p:nvPr>
        </p:nvSpPr>
        <p:spPr>
          <a:xfrm>
            <a:off x="3713838" y="1152479"/>
            <a:ext cx="1716300" cy="903000"/>
          </a:xfrm>
          <a:prstGeom prst="rect">
            <a:avLst/>
          </a:prstGeom>
          <a:solidFill>
            <a:schemeClr val="lt2"/>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b="1" lang="en" sz="2500">
                <a:solidFill>
                  <a:schemeClr val="dk1"/>
                </a:solidFill>
                <a:latin typeface="Bungee"/>
                <a:ea typeface="Bungee"/>
                <a:cs typeface="Bungee"/>
                <a:sym typeface="Bungee"/>
              </a:rPr>
              <a:t>Friday 8-9 AM</a:t>
            </a:r>
            <a:endParaRPr sz="2500">
              <a:solidFill>
                <a:schemeClr val="dk1"/>
              </a:solidFill>
              <a:latin typeface="Bungee"/>
              <a:ea typeface="Bungee"/>
              <a:cs typeface="Bungee"/>
              <a:sym typeface="Bungee"/>
            </a:endParaRPr>
          </a:p>
          <a:p>
            <a:pPr indent="0" lvl="0" marL="0" rtl="0" algn="ctr">
              <a:spcBef>
                <a:spcPts val="1200"/>
              </a:spcBef>
              <a:spcAft>
                <a:spcPts val="0"/>
              </a:spcAft>
              <a:buNone/>
            </a:pPr>
            <a:r>
              <a:t/>
            </a:r>
            <a:endParaRPr sz="2500">
              <a:solidFill>
                <a:schemeClr val="dk1"/>
              </a:solidFill>
              <a:latin typeface="Bungee"/>
              <a:ea typeface="Bungee"/>
              <a:cs typeface="Bungee"/>
              <a:sym typeface="Bungee"/>
            </a:endParaRPr>
          </a:p>
          <a:p>
            <a:pPr indent="0" lvl="0" marL="0" rtl="0" algn="ctr">
              <a:spcBef>
                <a:spcPts val="1200"/>
              </a:spcBef>
              <a:spcAft>
                <a:spcPts val="0"/>
              </a:spcAft>
              <a:buNone/>
            </a:pPr>
            <a:r>
              <a:t/>
            </a:r>
            <a:endParaRPr sz="2500">
              <a:solidFill>
                <a:schemeClr val="dk1"/>
              </a:solidFill>
              <a:latin typeface="Bungee"/>
              <a:ea typeface="Bungee"/>
              <a:cs typeface="Bungee"/>
              <a:sym typeface="Bungee"/>
            </a:endParaRPr>
          </a:p>
          <a:p>
            <a:pPr indent="0" lvl="0" marL="0" rtl="0" algn="ctr">
              <a:spcBef>
                <a:spcPts val="1200"/>
              </a:spcBef>
              <a:spcAft>
                <a:spcPts val="1200"/>
              </a:spcAft>
              <a:buNone/>
            </a:pPr>
            <a:r>
              <a:t/>
            </a:r>
            <a:endParaRPr sz="2500">
              <a:solidFill>
                <a:schemeClr val="dk1"/>
              </a:solidFill>
              <a:latin typeface="Bungee"/>
              <a:ea typeface="Bungee"/>
              <a:cs typeface="Bungee"/>
              <a:sym typeface="Bungee"/>
            </a:endParaRPr>
          </a:p>
        </p:txBody>
      </p:sp>
      <p:pic>
        <p:nvPicPr>
          <p:cNvPr id="107" name="Google Shape;107;p18" title="animation.gif"/>
          <p:cNvPicPr preferRelativeResize="0"/>
          <p:nvPr/>
        </p:nvPicPr>
        <p:blipFill>
          <a:blip r:embed="rId3">
            <a:alphaModFix/>
          </a:blip>
          <a:stretch>
            <a:fillRect/>
          </a:stretch>
        </p:blipFill>
        <p:spPr>
          <a:xfrm>
            <a:off x="847775" y="1152475"/>
            <a:ext cx="2202675" cy="3524300"/>
          </a:xfrm>
          <a:prstGeom prst="rect">
            <a:avLst/>
          </a:prstGeom>
          <a:noFill/>
          <a:ln cap="flat" cmpd="sng" w="9525">
            <a:solidFill>
              <a:schemeClr val="lt1"/>
            </a:solidFill>
            <a:prstDash val="solid"/>
            <a:round/>
            <a:headEnd len="sm" w="sm" type="none"/>
            <a:tailEnd len="sm" w="sm" type="none"/>
          </a:ln>
        </p:spPr>
      </p:pic>
      <p:pic>
        <p:nvPicPr>
          <p:cNvPr id="108" name="Google Shape;108;p18"/>
          <p:cNvPicPr preferRelativeResize="0"/>
          <p:nvPr/>
        </p:nvPicPr>
        <p:blipFill rotWithShape="1">
          <a:blip r:embed="rId4">
            <a:alphaModFix/>
          </a:blip>
          <a:srcRect b="2299" l="0" r="0" t="2290"/>
          <a:stretch/>
        </p:blipFill>
        <p:spPr>
          <a:xfrm>
            <a:off x="3713900" y="2117675"/>
            <a:ext cx="1716201" cy="2587774"/>
          </a:xfrm>
          <a:prstGeom prst="rect">
            <a:avLst/>
          </a:prstGeom>
          <a:noFill/>
          <a:ln>
            <a:noFill/>
          </a:ln>
        </p:spPr>
      </p:pic>
      <p:pic>
        <p:nvPicPr>
          <p:cNvPr id="109" name="Google Shape;109;p18"/>
          <p:cNvPicPr preferRelativeResize="0"/>
          <p:nvPr/>
        </p:nvPicPr>
        <p:blipFill>
          <a:blip r:embed="rId5">
            <a:alphaModFix/>
          </a:blip>
          <a:stretch>
            <a:fillRect/>
          </a:stretch>
        </p:blipFill>
        <p:spPr>
          <a:xfrm>
            <a:off x="6093636" y="2026779"/>
            <a:ext cx="1716176" cy="2678676"/>
          </a:xfrm>
          <a:prstGeom prst="rect">
            <a:avLst/>
          </a:prstGeom>
          <a:noFill/>
          <a:ln>
            <a:noFill/>
          </a:ln>
        </p:spPr>
      </p:pic>
      <p:sp>
        <p:nvSpPr>
          <p:cNvPr id="110" name="Google Shape;110;p18"/>
          <p:cNvSpPr txBox="1"/>
          <p:nvPr>
            <p:ph idx="1" type="body"/>
          </p:nvPr>
        </p:nvSpPr>
        <p:spPr>
          <a:xfrm>
            <a:off x="6093550" y="1123791"/>
            <a:ext cx="1716300" cy="903000"/>
          </a:xfrm>
          <a:prstGeom prst="rect">
            <a:avLst/>
          </a:prstGeom>
          <a:solidFill>
            <a:schemeClr val="lt2"/>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b="1" lang="en" sz="2500">
                <a:solidFill>
                  <a:schemeClr val="dk1"/>
                </a:solidFill>
                <a:latin typeface="Bungee"/>
                <a:ea typeface="Bungee"/>
                <a:cs typeface="Bungee"/>
                <a:sym typeface="Bungee"/>
              </a:rPr>
              <a:t>Friday 4-5 PM</a:t>
            </a:r>
            <a:endParaRPr sz="2500">
              <a:solidFill>
                <a:schemeClr val="dk1"/>
              </a:solidFill>
              <a:latin typeface="Bungee"/>
              <a:ea typeface="Bungee"/>
              <a:cs typeface="Bungee"/>
              <a:sym typeface="Bungee"/>
            </a:endParaRPr>
          </a:p>
          <a:p>
            <a:pPr indent="0" lvl="0" marL="0" rtl="0" algn="ctr">
              <a:spcBef>
                <a:spcPts val="1200"/>
              </a:spcBef>
              <a:spcAft>
                <a:spcPts val="0"/>
              </a:spcAft>
              <a:buNone/>
            </a:pPr>
            <a:r>
              <a:t/>
            </a:r>
            <a:endParaRPr sz="2500">
              <a:solidFill>
                <a:schemeClr val="dk1"/>
              </a:solidFill>
              <a:latin typeface="Bungee"/>
              <a:ea typeface="Bungee"/>
              <a:cs typeface="Bungee"/>
              <a:sym typeface="Bungee"/>
            </a:endParaRPr>
          </a:p>
          <a:p>
            <a:pPr indent="0" lvl="0" marL="0" rtl="0" algn="ctr">
              <a:spcBef>
                <a:spcPts val="1200"/>
              </a:spcBef>
              <a:spcAft>
                <a:spcPts val="0"/>
              </a:spcAft>
              <a:buNone/>
            </a:pPr>
            <a:r>
              <a:t/>
            </a:r>
            <a:endParaRPr sz="2500">
              <a:solidFill>
                <a:schemeClr val="dk1"/>
              </a:solidFill>
              <a:latin typeface="Bungee"/>
              <a:ea typeface="Bungee"/>
              <a:cs typeface="Bungee"/>
              <a:sym typeface="Bungee"/>
            </a:endParaRPr>
          </a:p>
          <a:p>
            <a:pPr indent="0" lvl="0" marL="0" rtl="0" algn="ctr">
              <a:spcBef>
                <a:spcPts val="1200"/>
              </a:spcBef>
              <a:spcAft>
                <a:spcPts val="1200"/>
              </a:spcAft>
              <a:buNone/>
            </a:pPr>
            <a:r>
              <a:t/>
            </a:r>
            <a:endParaRPr sz="2500">
              <a:solidFill>
                <a:schemeClr val="dk1"/>
              </a:solidFill>
              <a:latin typeface="Bungee"/>
              <a:ea typeface="Bungee"/>
              <a:cs typeface="Bungee"/>
              <a:sym typeface="Bungee"/>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latin typeface="Bungee"/>
                <a:ea typeface="Bungee"/>
                <a:cs typeface="Bungee"/>
                <a:sym typeface="Bungee"/>
              </a:rPr>
              <a:t>Normal Traffic Conditions</a:t>
            </a:r>
            <a:endParaRPr>
              <a:latin typeface="Bungee"/>
              <a:ea typeface="Bungee"/>
              <a:cs typeface="Bungee"/>
              <a:sym typeface="Bungee"/>
            </a:endParaRPr>
          </a:p>
          <a:p>
            <a:pPr indent="0" lvl="0" marL="0" rtl="0" algn="l">
              <a:spcBef>
                <a:spcPts val="0"/>
              </a:spcBef>
              <a:spcAft>
                <a:spcPts val="0"/>
              </a:spcAft>
              <a:buNone/>
            </a:pPr>
            <a:r>
              <a:t/>
            </a:r>
            <a:endParaRPr/>
          </a:p>
        </p:txBody>
      </p:sp>
      <p:sp>
        <p:nvSpPr>
          <p:cNvPr id="116" name="Google Shape;116;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latin typeface="Titillium Web"/>
                <a:ea typeface="Titillium Web"/>
                <a:cs typeface="Titillium Web"/>
                <a:sym typeface="Titillium Web"/>
              </a:rPr>
              <a:t>Interactive Map</a:t>
            </a:r>
            <a:endParaRPr>
              <a:latin typeface="Titillium Web"/>
              <a:ea typeface="Titillium Web"/>
              <a:cs typeface="Titillium Web"/>
              <a:sym typeface="Titillium Web"/>
            </a:endParaRPr>
          </a:p>
        </p:txBody>
      </p:sp>
      <p:pic>
        <p:nvPicPr>
          <p:cNvPr id="117" name="Google Shape;117;p19"/>
          <p:cNvPicPr preferRelativeResize="0"/>
          <p:nvPr/>
        </p:nvPicPr>
        <p:blipFill>
          <a:blip r:embed="rId3">
            <a:alphaModFix/>
          </a:blip>
          <a:stretch>
            <a:fillRect/>
          </a:stretch>
        </p:blipFill>
        <p:spPr>
          <a:xfrm>
            <a:off x="4572000" y="1596358"/>
            <a:ext cx="4049024" cy="2518774"/>
          </a:xfrm>
          <a:prstGeom prst="rect">
            <a:avLst/>
          </a:prstGeom>
          <a:noFill/>
          <a:ln cap="flat" cmpd="sng" w="9525">
            <a:solidFill>
              <a:srgbClr val="383838"/>
            </a:solidFill>
            <a:prstDash val="solid"/>
            <a:round/>
            <a:headEnd len="sm" w="sm" type="none"/>
            <a:tailEnd len="sm" w="sm" type="none"/>
          </a:ln>
        </p:spPr>
      </p:pic>
      <p:pic>
        <p:nvPicPr>
          <p:cNvPr id="118" name="Google Shape;118;p19"/>
          <p:cNvPicPr preferRelativeResize="0"/>
          <p:nvPr/>
        </p:nvPicPr>
        <p:blipFill>
          <a:blip r:embed="rId4">
            <a:alphaModFix/>
          </a:blip>
          <a:stretch>
            <a:fillRect/>
          </a:stretch>
        </p:blipFill>
        <p:spPr>
          <a:xfrm>
            <a:off x="353000" y="1596345"/>
            <a:ext cx="4049024" cy="2528666"/>
          </a:xfrm>
          <a:prstGeom prst="rect">
            <a:avLst/>
          </a:prstGeom>
          <a:noFill/>
          <a:ln cap="flat" cmpd="sng" w="9525">
            <a:solidFill>
              <a:srgbClr val="383838"/>
            </a:solidFill>
            <a:prstDash val="solid"/>
            <a:round/>
            <a:headEnd len="sm" w="sm" type="none"/>
            <a:tailEnd len="sm" w="sm" type="none"/>
          </a:ln>
        </p:spPr>
      </p:pic>
      <p:sp>
        <p:nvSpPr>
          <p:cNvPr id="119" name="Google Shape;119;p19"/>
          <p:cNvSpPr txBox="1"/>
          <p:nvPr/>
        </p:nvSpPr>
        <p:spPr>
          <a:xfrm>
            <a:off x="349063" y="4302425"/>
            <a:ext cx="4056900" cy="501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Titillium Web"/>
                <a:ea typeface="Titillium Web"/>
                <a:cs typeface="Titillium Web"/>
                <a:sym typeface="Titillium Web"/>
              </a:rPr>
              <a:t>Friday </a:t>
            </a:r>
            <a:r>
              <a:rPr b="1" lang="en" sz="1800">
                <a:solidFill>
                  <a:schemeClr val="dk1"/>
                </a:solidFill>
                <a:latin typeface="Titillium Web"/>
                <a:ea typeface="Titillium Web"/>
                <a:cs typeface="Titillium Web"/>
                <a:sym typeface="Titillium Web"/>
              </a:rPr>
              <a:t>8-9 AM</a:t>
            </a:r>
            <a:endParaRPr b="1" sz="1800">
              <a:solidFill>
                <a:schemeClr val="dk1"/>
              </a:solidFill>
              <a:highlight>
                <a:schemeClr val="lt1"/>
              </a:highlight>
              <a:latin typeface="Bungee"/>
              <a:ea typeface="Bungee"/>
              <a:cs typeface="Bungee"/>
              <a:sym typeface="Bungee"/>
            </a:endParaRPr>
          </a:p>
        </p:txBody>
      </p:sp>
      <p:sp>
        <p:nvSpPr>
          <p:cNvPr id="120" name="Google Shape;120;p19"/>
          <p:cNvSpPr txBox="1"/>
          <p:nvPr/>
        </p:nvSpPr>
        <p:spPr>
          <a:xfrm>
            <a:off x="4295467" y="4302425"/>
            <a:ext cx="4056900" cy="501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Titillium Web"/>
                <a:ea typeface="Titillium Web"/>
                <a:cs typeface="Titillium Web"/>
                <a:sym typeface="Titillium Web"/>
              </a:rPr>
              <a:t>Friday </a:t>
            </a:r>
            <a:r>
              <a:rPr b="1" lang="en" sz="1800">
                <a:solidFill>
                  <a:schemeClr val="dk1"/>
                </a:solidFill>
                <a:latin typeface="Titillium Web"/>
                <a:ea typeface="Titillium Web"/>
                <a:cs typeface="Titillium Web"/>
                <a:sym typeface="Titillium Web"/>
              </a:rPr>
              <a:t>4-5 PM</a:t>
            </a:r>
            <a:endParaRPr b="1" sz="1800">
              <a:solidFill>
                <a:schemeClr val="dk1"/>
              </a:solidFill>
              <a:highlight>
                <a:srgbClr val="FF0000"/>
              </a:highlight>
              <a:latin typeface="Titillium Web"/>
              <a:ea typeface="Titillium Web"/>
              <a:cs typeface="Titillium Web"/>
              <a:sym typeface="Titillium Web"/>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Bungee"/>
                <a:ea typeface="Bungee"/>
                <a:cs typeface="Bungee"/>
                <a:sym typeface="Bungee"/>
              </a:rPr>
              <a:t>SUPER BOWL TRAFFIC Analyzed</a:t>
            </a:r>
            <a:endParaRPr>
              <a:latin typeface="Bungee"/>
              <a:ea typeface="Bungee"/>
              <a:cs typeface="Bungee"/>
              <a:sym typeface="Bungee"/>
            </a:endParaRPr>
          </a:p>
          <a:p>
            <a:pPr indent="0" lvl="0" marL="0" rtl="0" algn="l">
              <a:spcBef>
                <a:spcPts val="0"/>
              </a:spcBef>
              <a:spcAft>
                <a:spcPts val="0"/>
              </a:spcAft>
              <a:buNone/>
            </a:pPr>
            <a:r>
              <a:t/>
            </a:r>
            <a:endParaRPr/>
          </a:p>
        </p:txBody>
      </p:sp>
      <p:sp>
        <p:nvSpPr>
          <p:cNvPr id="126" name="Google Shape;126;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Titillium Web"/>
              <a:buChar char="-"/>
            </a:pPr>
            <a:r>
              <a:rPr lang="en">
                <a:latin typeface="Titillium Web"/>
                <a:ea typeface="Titillium Web"/>
                <a:cs typeface="Titillium Web"/>
                <a:sym typeface="Titillium Web"/>
              </a:rPr>
              <a:t>Event data base on 2022 Super bowl</a:t>
            </a:r>
            <a:endParaRPr>
              <a:latin typeface="Titillium Web"/>
              <a:ea typeface="Titillium Web"/>
              <a:cs typeface="Titillium Web"/>
              <a:sym typeface="Titillium Web"/>
            </a:endParaRPr>
          </a:p>
          <a:p>
            <a:pPr indent="-342900" lvl="0" marL="457200" rtl="0" algn="l">
              <a:spcBef>
                <a:spcPts val="0"/>
              </a:spcBef>
              <a:spcAft>
                <a:spcPts val="0"/>
              </a:spcAft>
              <a:buSzPts val="1800"/>
              <a:buFont typeface="Titillium Web"/>
              <a:buChar char="-"/>
            </a:pPr>
            <a:r>
              <a:rPr lang="en">
                <a:latin typeface="Titillium Web"/>
                <a:ea typeface="Titillium Web"/>
                <a:cs typeface="Titillium Web"/>
                <a:sym typeface="Titillium Web"/>
              </a:rPr>
              <a:t>Event Date: Feb 13, 2022 (Sunday)</a:t>
            </a:r>
            <a:endParaRPr>
              <a:latin typeface="Titillium Web"/>
              <a:ea typeface="Titillium Web"/>
              <a:cs typeface="Titillium Web"/>
              <a:sym typeface="Titillium Web"/>
            </a:endParaRPr>
          </a:p>
          <a:p>
            <a:pPr indent="-342900" lvl="0" marL="457200" rtl="0" algn="l">
              <a:spcBef>
                <a:spcPts val="0"/>
              </a:spcBef>
              <a:spcAft>
                <a:spcPts val="0"/>
              </a:spcAft>
              <a:buSzPts val="1800"/>
              <a:buFont typeface="Titillium Web"/>
              <a:buChar char="-"/>
            </a:pPr>
            <a:r>
              <a:rPr lang="en">
                <a:latin typeface="Titillium Web"/>
                <a:ea typeface="Titillium Web"/>
                <a:cs typeface="Titillium Web"/>
                <a:sym typeface="Titillium Web"/>
              </a:rPr>
              <a:t>Grouping Stations:</a:t>
            </a:r>
            <a:endParaRPr>
              <a:latin typeface="Titillium Web"/>
              <a:ea typeface="Titillium Web"/>
              <a:cs typeface="Titillium Web"/>
              <a:sym typeface="Titillium Web"/>
            </a:endParaRPr>
          </a:p>
          <a:p>
            <a:pPr indent="-317500" lvl="1" marL="914400" rtl="0" algn="l">
              <a:spcBef>
                <a:spcPts val="0"/>
              </a:spcBef>
              <a:spcAft>
                <a:spcPts val="0"/>
              </a:spcAft>
              <a:buSzPts val="1400"/>
              <a:buFont typeface="Titillium Web"/>
              <a:buChar char="-"/>
            </a:pPr>
            <a:r>
              <a:rPr lang="en">
                <a:latin typeface="Titillium Web"/>
                <a:ea typeface="Titillium Web"/>
                <a:cs typeface="Titillium Web"/>
                <a:sym typeface="Titillium Web"/>
              </a:rPr>
              <a:t>R1 - 3 miles </a:t>
            </a:r>
            <a:endParaRPr>
              <a:latin typeface="Titillium Web"/>
              <a:ea typeface="Titillium Web"/>
              <a:cs typeface="Titillium Web"/>
              <a:sym typeface="Titillium Web"/>
            </a:endParaRPr>
          </a:p>
          <a:p>
            <a:pPr indent="-317500" lvl="1" marL="914400" rtl="0" algn="l">
              <a:spcBef>
                <a:spcPts val="0"/>
              </a:spcBef>
              <a:spcAft>
                <a:spcPts val="0"/>
              </a:spcAft>
              <a:buSzPts val="1400"/>
              <a:buFont typeface="Titillium Web"/>
              <a:buChar char="-"/>
            </a:pPr>
            <a:r>
              <a:rPr lang="en">
                <a:latin typeface="Titillium Web"/>
                <a:ea typeface="Titillium Web"/>
                <a:cs typeface="Titillium Web"/>
                <a:sym typeface="Titillium Web"/>
              </a:rPr>
              <a:t>R2 - 5 miles</a:t>
            </a:r>
            <a:endParaRPr>
              <a:latin typeface="Titillium Web"/>
              <a:ea typeface="Titillium Web"/>
              <a:cs typeface="Titillium Web"/>
              <a:sym typeface="Titillium Web"/>
            </a:endParaRPr>
          </a:p>
          <a:p>
            <a:pPr indent="-317500" lvl="1" marL="914400" rtl="0" algn="l">
              <a:spcBef>
                <a:spcPts val="0"/>
              </a:spcBef>
              <a:spcAft>
                <a:spcPts val="0"/>
              </a:spcAft>
              <a:buSzPts val="1400"/>
              <a:buFont typeface="Titillium Web"/>
              <a:buChar char="-"/>
            </a:pPr>
            <a:r>
              <a:rPr lang="en">
                <a:latin typeface="Titillium Web"/>
                <a:ea typeface="Titillium Web"/>
                <a:cs typeface="Titillium Web"/>
                <a:sym typeface="Titillium Web"/>
              </a:rPr>
              <a:t>R3 - 10 miles</a:t>
            </a:r>
            <a:endParaRPr>
              <a:latin typeface="Titillium Web"/>
              <a:ea typeface="Titillium Web"/>
              <a:cs typeface="Titillium Web"/>
              <a:sym typeface="Titillium Web"/>
            </a:endParaRPr>
          </a:p>
          <a:p>
            <a:pPr indent="-342900" lvl="0" marL="457200" rtl="0" algn="l">
              <a:spcBef>
                <a:spcPts val="0"/>
              </a:spcBef>
              <a:spcAft>
                <a:spcPts val="0"/>
              </a:spcAft>
              <a:buSzPts val="1800"/>
              <a:buFont typeface="Titillium Web"/>
              <a:buChar char="-"/>
            </a:pPr>
            <a:r>
              <a:rPr lang="en">
                <a:latin typeface="Titillium Web"/>
                <a:ea typeface="Titillium Web"/>
                <a:cs typeface="Titillium Web"/>
                <a:sym typeface="Titillium Web"/>
              </a:rPr>
              <a:t>Control: “</a:t>
            </a:r>
            <a:r>
              <a:rPr b="1" lang="en">
                <a:latin typeface="Titillium Web"/>
                <a:ea typeface="Titillium Web"/>
                <a:cs typeface="Titillium Web"/>
                <a:sym typeface="Titillium Web"/>
              </a:rPr>
              <a:t>Normal Sundays</a:t>
            </a:r>
            <a:r>
              <a:rPr lang="en">
                <a:latin typeface="Titillium Web"/>
                <a:ea typeface="Titillium Web"/>
                <a:cs typeface="Titillium Web"/>
                <a:sym typeface="Titillium Web"/>
              </a:rPr>
              <a:t>” 2-3 weeks later</a:t>
            </a:r>
            <a:endParaRPr>
              <a:latin typeface="Titillium Web"/>
              <a:ea typeface="Titillium Web"/>
              <a:cs typeface="Titillium Web"/>
              <a:sym typeface="Titillium Web"/>
            </a:endParaRPr>
          </a:p>
          <a:p>
            <a:pPr indent="-342900" lvl="0" marL="457200" rtl="0" algn="l">
              <a:spcBef>
                <a:spcPts val="0"/>
              </a:spcBef>
              <a:spcAft>
                <a:spcPts val="0"/>
              </a:spcAft>
              <a:buSzPts val="1800"/>
              <a:buFont typeface="Titillium Web"/>
              <a:buChar char="-"/>
            </a:pPr>
            <a:r>
              <a:rPr lang="en">
                <a:latin typeface="Titillium Web"/>
                <a:ea typeface="Titillium Web"/>
                <a:cs typeface="Titillium Web"/>
                <a:sym typeface="Titillium Web"/>
              </a:rPr>
              <a:t>Purpose: Event vs. Normal Traffic patterns</a:t>
            </a:r>
            <a:endParaRPr>
              <a:latin typeface="Titillium Web"/>
              <a:ea typeface="Titillium Web"/>
              <a:cs typeface="Titillium Web"/>
              <a:sym typeface="Titillium Web"/>
            </a:endParaRPr>
          </a:p>
          <a:p>
            <a:pPr indent="0" lvl="0" marL="457200" rtl="0" algn="l">
              <a:spcBef>
                <a:spcPts val="1200"/>
              </a:spcBef>
              <a:spcAft>
                <a:spcPts val="1200"/>
              </a:spcAft>
              <a:buNone/>
            </a:pPr>
            <a:r>
              <a:t/>
            </a:r>
            <a:endParaRPr>
              <a:latin typeface="Titillium Web"/>
              <a:ea typeface="Titillium Web"/>
              <a:cs typeface="Titillium Web"/>
              <a:sym typeface="Titillium Web"/>
            </a:endParaRPr>
          </a:p>
        </p:txBody>
      </p:sp>
      <p:pic>
        <p:nvPicPr>
          <p:cNvPr id="127" name="Google Shape;127;p20"/>
          <p:cNvPicPr preferRelativeResize="0"/>
          <p:nvPr/>
        </p:nvPicPr>
        <p:blipFill>
          <a:blip r:embed="rId3">
            <a:alphaModFix/>
          </a:blip>
          <a:stretch>
            <a:fillRect/>
          </a:stretch>
        </p:blipFill>
        <p:spPr>
          <a:xfrm>
            <a:off x="5112099" y="1243888"/>
            <a:ext cx="3785549" cy="3233575"/>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Bungee"/>
                <a:ea typeface="Bungee"/>
                <a:cs typeface="Bungee"/>
                <a:sym typeface="Bungee"/>
              </a:rPr>
              <a:t>SUPER BOWL TRAFFIC Analyzed</a:t>
            </a:r>
            <a:endParaRPr>
              <a:latin typeface="Bungee"/>
              <a:ea typeface="Bungee"/>
              <a:cs typeface="Bungee"/>
              <a:sym typeface="Bungee"/>
            </a:endParaRPr>
          </a:p>
          <a:p>
            <a:pPr indent="0" lvl="0" marL="0" rtl="0" algn="l">
              <a:spcBef>
                <a:spcPts val="0"/>
              </a:spcBef>
              <a:spcAft>
                <a:spcPts val="0"/>
              </a:spcAft>
              <a:buNone/>
            </a:pPr>
            <a:r>
              <a:t/>
            </a:r>
            <a:endParaRPr/>
          </a:p>
        </p:txBody>
      </p:sp>
      <p:pic>
        <p:nvPicPr>
          <p:cNvPr id="133" name="Google Shape;133;p21"/>
          <p:cNvPicPr preferRelativeResize="0"/>
          <p:nvPr/>
        </p:nvPicPr>
        <p:blipFill>
          <a:blip r:embed="rId3">
            <a:alphaModFix/>
          </a:blip>
          <a:stretch>
            <a:fillRect/>
          </a:stretch>
        </p:blipFill>
        <p:spPr>
          <a:xfrm>
            <a:off x="400550" y="1363500"/>
            <a:ext cx="4095039" cy="1659733"/>
          </a:xfrm>
          <a:prstGeom prst="rect">
            <a:avLst/>
          </a:prstGeom>
          <a:noFill/>
          <a:ln>
            <a:noFill/>
          </a:ln>
        </p:spPr>
      </p:pic>
      <p:pic>
        <p:nvPicPr>
          <p:cNvPr id="134" name="Google Shape;134;p21"/>
          <p:cNvPicPr preferRelativeResize="0"/>
          <p:nvPr/>
        </p:nvPicPr>
        <p:blipFill>
          <a:blip r:embed="rId4">
            <a:alphaModFix/>
          </a:blip>
          <a:stretch>
            <a:fillRect/>
          </a:stretch>
        </p:blipFill>
        <p:spPr>
          <a:xfrm>
            <a:off x="402325" y="3048875"/>
            <a:ext cx="4075125" cy="1659750"/>
          </a:xfrm>
          <a:prstGeom prst="rect">
            <a:avLst/>
          </a:prstGeom>
          <a:noFill/>
          <a:ln>
            <a:noFill/>
          </a:ln>
        </p:spPr>
      </p:pic>
      <p:graphicFrame>
        <p:nvGraphicFramePr>
          <p:cNvPr id="135" name="Google Shape;135;p21"/>
          <p:cNvGraphicFramePr/>
          <p:nvPr/>
        </p:nvGraphicFramePr>
        <p:xfrm>
          <a:off x="4564763" y="1478769"/>
          <a:ext cx="3000000" cy="3000000"/>
        </p:xfrm>
        <a:graphic>
          <a:graphicData uri="http://schemas.openxmlformats.org/drawingml/2006/table">
            <a:tbl>
              <a:tblPr>
                <a:noFill/>
                <a:tableStyleId>{C1734F47-3D7B-4536-96E7-72D0CDD179DB}</a:tableStyleId>
              </a:tblPr>
              <a:tblGrid>
                <a:gridCol w="870500"/>
                <a:gridCol w="1300350"/>
                <a:gridCol w="1188200"/>
                <a:gridCol w="982650"/>
              </a:tblGrid>
              <a:tr h="248125">
                <a:tc>
                  <a:txBody>
                    <a:bodyPr/>
                    <a:lstStyle/>
                    <a:p>
                      <a:pPr indent="0" lvl="0" marL="0" rtl="0" algn="l">
                        <a:spcBef>
                          <a:spcPts val="0"/>
                        </a:spcBef>
                        <a:spcAft>
                          <a:spcPts val="0"/>
                        </a:spcAft>
                        <a:buNone/>
                      </a:pPr>
                      <a:r>
                        <a:rPr b="1" lang="en" sz="1100">
                          <a:solidFill>
                            <a:schemeClr val="dk1"/>
                          </a:solidFill>
                          <a:latin typeface="Titillium Web"/>
                          <a:ea typeface="Titillium Web"/>
                          <a:cs typeface="Titillium Web"/>
                          <a:sym typeface="Titillium Web"/>
                        </a:rPr>
                        <a:t>Radius</a:t>
                      </a:r>
                      <a:endParaRPr b="1" sz="1100">
                        <a:solidFill>
                          <a:schemeClr val="dk1"/>
                        </a:solidFill>
                        <a:latin typeface="Titillium Web"/>
                        <a:ea typeface="Titillium Web"/>
                        <a:cs typeface="Titillium Web"/>
                        <a:sym typeface="Titillium Web"/>
                      </a:endParaRPr>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b="1" lang="en" sz="1100">
                          <a:solidFill>
                            <a:schemeClr val="dk1"/>
                          </a:solidFill>
                          <a:latin typeface="Titillium Web"/>
                          <a:ea typeface="Titillium Web"/>
                          <a:cs typeface="Titillium Web"/>
                          <a:sym typeface="Titillium Web"/>
                        </a:rPr>
                        <a:t>Peak Congestion</a:t>
                      </a:r>
                      <a:endParaRPr b="1" sz="1100">
                        <a:solidFill>
                          <a:schemeClr val="dk1"/>
                        </a:solidFill>
                        <a:latin typeface="Titillium Web"/>
                        <a:ea typeface="Titillium Web"/>
                        <a:cs typeface="Titillium Web"/>
                        <a:sym typeface="Titillium Web"/>
                      </a:endParaRPr>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2"/>
                    </a:solidFill>
                  </a:tcPr>
                </a:tc>
                <a:tc>
                  <a:txBody>
                    <a:bodyPr/>
                    <a:lstStyle/>
                    <a:p>
                      <a:pPr indent="0" lvl="0" marL="0" rtl="0" algn="l">
                        <a:lnSpc>
                          <a:spcPct val="115000"/>
                        </a:lnSpc>
                        <a:spcBef>
                          <a:spcPts val="0"/>
                        </a:spcBef>
                        <a:spcAft>
                          <a:spcPts val="0"/>
                        </a:spcAft>
                        <a:buNone/>
                      </a:pPr>
                      <a:r>
                        <a:rPr b="1" lang="en" sz="1100">
                          <a:solidFill>
                            <a:schemeClr val="dk1"/>
                          </a:solidFill>
                          <a:latin typeface="Titillium Web"/>
                          <a:ea typeface="Titillium Web"/>
                          <a:cs typeface="Titillium Web"/>
                          <a:sym typeface="Titillium Web"/>
                        </a:rPr>
                        <a:t>Speed</a:t>
                      </a:r>
                      <a:r>
                        <a:rPr b="1" lang="en" sz="1100">
                          <a:solidFill>
                            <a:schemeClr val="dk1"/>
                          </a:solidFill>
                        </a:rPr>
                        <a:t> Δ </a:t>
                      </a:r>
                      <a:r>
                        <a:rPr b="1" lang="en" sz="1100">
                          <a:solidFill>
                            <a:schemeClr val="dk1"/>
                          </a:solidFill>
                          <a:latin typeface="Titillium Web"/>
                          <a:ea typeface="Titillium Web"/>
                          <a:cs typeface="Titillium Web"/>
                          <a:sym typeface="Titillium Web"/>
                        </a:rPr>
                        <a:t>(mph)</a:t>
                      </a:r>
                      <a:endParaRPr b="1" sz="1100">
                        <a:solidFill>
                          <a:schemeClr val="dk1"/>
                        </a:solidFill>
                        <a:latin typeface="Titillium Web"/>
                        <a:ea typeface="Titillium Web"/>
                        <a:cs typeface="Titillium Web"/>
                        <a:sym typeface="Titillium Web"/>
                      </a:endParaRPr>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2"/>
                    </a:solidFill>
                  </a:tcPr>
                </a:tc>
                <a:tc>
                  <a:txBody>
                    <a:bodyPr/>
                    <a:lstStyle/>
                    <a:p>
                      <a:pPr indent="0" lvl="0" marL="0" rtl="0" algn="l">
                        <a:lnSpc>
                          <a:spcPct val="115000"/>
                        </a:lnSpc>
                        <a:spcBef>
                          <a:spcPts val="0"/>
                        </a:spcBef>
                        <a:spcAft>
                          <a:spcPts val="0"/>
                        </a:spcAft>
                        <a:buNone/>
                      </a:pPr>
                      <a:r>
                        <a:rPr b="1" lang="en" sz="1100">
                          <a:solidFill>
                            <a:schemeClr val="dk1"/>
                          </a:solidFill>
                          <a:latin typeface="Titillium Web"/>
                          <a:ea typeface="Titillium Web"/>
                          <a:cs typeface="Titillium Web"/>
                          <a:sym typeface="Titillium Web"/>
                        </a:rPr>
                        <a:t>Occupancy</a:t>
                      </a:r>
                      <a:r>
                        <a:rPr b="1" lang="en" sz="1100">
                          <a:solidFill>
                            <a:schemeClr val="dk1"/>
                          </a:solidFill>
                        </a:rPr>
                        <a:t> Δ</a:t>
                      </a:r>
                      <a:endParaRPr b="1" sz="1100">
                        <a:solidFill>
                          <a:schemeClr val="dk1"/>
                        </a:solidFill>
                        <a:latin typeface="Titillium Web"/>
                        <a:ea typeface="Titillium Web"/>
                        <a:cs typeface="Titillium Web"/>
                        <a:sym typeface="Titillium Web"/>
                      </a:endParaRPr>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2"/>
                    </a:solidFill>
                  </a:tcPr>
                </a:tc>
              </a:tr>
              <a:tr h="226600">
                <a:tc>
                  <a:txBody>
                    <a:bodyPr/>
                    <a:lstStyle/>
                    <a:p>
                      <a:pPr indent="0" lvl="0" marL="0" rtl="0" algn="l">
                        <a:lnSpc>
                          <a:spcPct val="115000"/>
                        </a:lnSpc>
                        <a:spcBef>
                          <a:spcPts val="0"/>
                        </a:spcBef>
                        <a:spcAft>
                          <a:spcPts val="1200"/>
                        </a:spcAft>
                        <a:buNone/>
                      </a:pPr>
                      <a:r>
                        <a:rPr b="1" lang="en" sz="1100">
                          <a:solidFill>
                            <a:schemeClr val="dk1"/>
                          </a:solidFill>
                          <a:latin typeface="Titillium Web"/>
                          <a:ea typeface="Titillium Web"/>
                          <a:cs typeface="Titillium Web"/>
                          <a:sym typeface="Titillium Web"/>
                        </a:rPr>
                        <a:t>3 </a:t>
                      </a:r>
                      <a:r>
                        <a:rPr b="1" lang="en" sz="1100">
                          <a:solidFill>
                            <a:schemeClr val="dk1"/>
                          </a:solidFill>
                          <a:latin typeface="Titillium Web"/>
                          <a:ea typeface="Titillium Web"/>
                          <a:cs typeface="Titillium Web"/>
                          <a:sym typeface="Titillium Web"/>
                        </a:rPr>
                        <a:t>m</a:t>
                      </a:r>
                      <a:r>
                        <a:rPr b="1" lang="en" sz="1100">
                          <a:solidFill>
                            <a:schemeClr val="dk1"/>
                          </a:solidFill>
                          <a:latin typeface="Titillium Web"/>
                          <a:ea typeface="Titillium Web"/>
                          <a:cs typeface="Titillium Web"/>
                          <a:sym typeface="Titillium Web"/>
                        </a:rPr>
                        <a:t>iles</a:t>
                      </a:r>
                      <a:endParaRPr b="1" sz="1100">
                        <a:solidFill>
                          <a:schemeClr val="dk1"/>
                        </a:solidFill>
                        <a:latin typeface="Titillium Web"/>
                        <a:ea typeface="Titillium Web"/>
                        <a:cs typeface="Titillium Web"/>
                        <a:sym typeface="Titillium Web"/>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1200"/>
                        </a:spcAft>
                        <a:buNone/>
                      </a:pPr>
                      <a:r>
                        <a:rPr lang="en" sz="1100">
                          <a:solidFill>
                            <a:schemeClr val="dk1"/>
                          </a:solidFill>
                          <a:latin typeface="Titillium Web"/>
                          <a:ea typeface="Titillium Web"/>
                          <a:cs typeface="Titillium Web"/>
                          <a:sym typeface="Titillium Web"/>
                        </a:rPr>
                        <a:t>9 PM</a:t>
                      </a:r>
                      <a:endParaRPr sz="1100">
                        <a:solidFill>
                          <a:schemeClr val="dk1"/>
                        </a:solidFill>
                        <a:latin typeface="Titillium Web"/>
                        <a:ea typeface="Titillium Web"/>
                        <a:cs typeface="Titillium Web"/>
                        <a:sym typeface="Titillium Web"/>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1200"/>
                        </a:spcAft>
                        <a:buNone/>
                      </a:pPr>
                      <a:r>
                        <a:rPr lang="en" sz="1100">
                          <a:solidFill>
                            <a:schemeClr val="dk1"/>
                          </a:solidFill>
                          <a:latin typeface="Titillium Web"/>
                          <a:ea typeface="Titillium Web"/>
                          <a:cs typeface="Titillium Web"/>
                          <a:sym typeface="Titillium Web"/>
                        </a:rPr>
                        <a:t>-2.40</a:t>
                      </a:r>
                      <a:endParaRPr sz="1100">
                        <a:solidFill>
                          <a:schemeClr val="dk1"/>
                        </a:solidFill>
                        <a:latin typeface="Titillium Web"/>
                        <a:ea typeface="Titillium Web"/>
                        <a:cs typeface="Titillium Web"/>
                        <a:sym typeface="Titillium Web"/>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1200"/>
                        </a:spcAft>
                        <a:buNone/>
                      </a:pPr>
                      <a:r>
                        <a:rPr lang="en" sz="1100">
                          <a:solidFill>
                            <a:schemeClr val="dk1"/>
                          </a:solidFill>
                          <a:latin typeface="Titillium Web"/>
                          <a:ea typeface="Titillium Web"/>
                          <a:cs typeface="Titillium Web"/>
                          <a:sym typeface="Titillium Web"/>
                        </a:rPr>
                        <a:t>+0.01</a:t>
                      </a:r>
                      <a:endParaRPr sz="1100">
                        <a:solidFill>
                          <a:schemeClr val="dk1"/>
                        </a:solidFill>
                        <a:latin typeface="Titillium Web"/>
                        <a:ea typeface="Titillium Web"/>
                        <a:cs typeface="Titillium Web"/>
                        <a:sym typeface="Titillium Web"/>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248150">
                <a:tc>
                  <a:txBody>
                    <a:bodyPr/>
                    <a:lstStyle/>
                    <a:p>
                      <a:pPr indent="0" lvl="0" marL="0" rtl="0" algn="l">
                        <a:spcBef>
                          <a:spcPts val="0"/>
                        </a:spcBef>
                        <a:spcAft>
                          <a:spcPts val="0"/>
                        </a:spcAft>
                        <a:buNone/>
                      </a:pPr>
                      <a:r>
                        <a:rPr b="1" lang="en" sz="1100">
                          <a:solidFill>
                            <a:schemeClr val="dk1"/>
                          </a:solidFill>
                          <a:latin typeface="Titillium Web"/>
                          <a:ea typeface="Titillium Web"/>
                          <a:cs typeface="Titillium Web"/>
                          <a:sym typeface="Titillium Web"/>
                        </a:rPr>
                        <a:t>5 </a:t>
                      </a:r>
                      <a:r>
                        <a:rPr b="1" lang="en" sz="1100">
                          <a:solidFill>
                            <a:schemeClr val="dk1"/>
                          </a:solidFill>
                          <a:latin typeface="Titillium Web"/>
                          <a:ea typeface="Titillium Web"/>
                          <a:cs typeface="Titillium Web"/>
                          <a:sym typeface="Titillium Web"/>
                        </a:rPr>
                        <a:t>m</a:t>
                      </a:r>
                      <a:r>
                        <a:rPr b="1" lang="en" sz="1100">
                          <a:solidFill>
                            <a:schemeClr val="dk1"/>
                          </a:solidFill>
                          <a:latin typeface="Titillium Web"/>
                          <a:ea typeface="Titillium Web"/>
                          <a:cs typeface="Titillium Web"/>
                          <a:sym typeface="Titillium Web"/>
                        </a:rPr>
                        <a:t>iles</a:t>
                      </a:r>
                      <a:endParaRPr b="1" sz="1100">
                        <a:solidFill>
                          <a:schemeClr val="dk1"/>
                        </a:solidFill>
                        <a:latin typeface="Titillium Web"/>
                        <a:ea typeface="Titillium Web"/>
                        <a:cs typeface="Titillium Web"/>
                        <a:sym typeface="Titillium Web"/>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1200"/>
                        </a:spcAft>
                        <a:buClr>
                          <a:schemeClr val="dk1"/>
                        </a:buClr>
                        <a:buSzPts val="1100"/>
                        <a:buFont typeface="Arial"/>
                        <a:buNone/>
                      </a:pPr>
                      <a:r>
                        <a:rPr lang="en" sz="1100">
                          <a:solidFill>
                            <a:schemeClr val="dk1"/>
                          </a:solidFill>
                          <a:latin typeface="Titillium Web"/>
                          <a:ea typeface="Titillium Web"/>
                          <a:cs typeface="Titillium Web"/>
                          <a:sym typeface="Titillium Web"/>
                        </a:rPr>
                        <a:t>9 PM</a:t>
                      </a:r>
                      <a:endParaRPr sz="1100">
                        <a:solidFill>
                          <a:schemeClr val="dk1"/>
                        </a:solidFill>
                        <a:latin typeface="Titillium Web"/>
                        <a:ea typeface="Titillium Web"/>
                        <a:cs typeface="Titillium Web"/>
                        <a:sym typeface="Titillium Web"/>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1100">
                          <a:solidFill>
                            <a:schemeClr val="dk1"/>
                          </a:solidFill>
                          <a:latin typeface="Titillium Web"/>
                          <a:ea typeface="Titillium Web"/>
                          <a:cs typeface="Titillium Web"/>
                          <a:sym typeface="Titillium Web"/>
                        </a:rPr>
                        <a:t>-3.10</a:t>
                      </a:r>
                      <a:endParaRPr sz="1100">
                        <a:solidFill>
                          <a:schemeClr val="dk1"/>
                        </a:solidFill>
                        <a:latin typeface="Titillium Web"/>
                        <a:ea typeface="Titillium Web"/>
                        <a:cs typeface="Titillium Web"/>
                        <a:sym typeface="Titillium Web"/>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1200"/>
                        </a:spcAft>
                        <a:buClr>
                          <a:schemeClr val="dk1"/>
                        </a:buClr>
                        <a:buSzPts val="1100"/>
                        <a:buFont typeface="Arial"/>
                        <a:buNone/>
                      </a:pPr>
                      <a:r>
                        <a:rPr lang="en" sz="1100">
                          <a:solidFill>
                            <a:schemeClr val="dk1"/>
                          </a:solidFill>
                          <a:latin typeface="Titillium Web"/>
                          <a:ea typeface="Titillium Web"/>
                          <a:cs typeface="Titillium Web"/>
                          <a:sym typeface="Titillium Web"/>
                        </a:rPr>
                        <a:t>+0.01</a:t>
                      </a:r>
                      <a:endParaRPr sz="1100">
                        <a:solidFill>
                          <a:schemeClr val="dk1"/>
                        </a:solidFill>
                        <a:latin typeface="Titillium Web"/>
                        <a:ea typeface="Titillium Web"/>
                        <a:cs typeface="Titillium Web"/>
                        <a:sym typeface="Titillium Web"/>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221225">
                <a:tc>
                  <a:txBody>
                    <a:bodyPr/>
                    <a:lstStyle/>
                    <a:p>
                      <a:pPr indent="0" lvl="0" marL="0" rtl="0" algn="l">
                        <a:lnSpc>
                          <a:spcPct val="115000"/>
                        </a:lnSpc>
                        <a:spcBef>
                          <a:spcPts val="0"/>
                        </a:spcBef>
                        <a:spcAft>
                          <a:spcPts val="1200"/>
                        </a:spcAft>
                        <a:buNone/>
                      </a:pPr>
                      <a:r>
                        <a:rPr b="1" lang="en" sz="1100">
                          <a:solidFill>
                            <a:schemeClr val="dk1"/>
                          </a:solidFill>
                          <a:latin typeface="Titillium Web"/>
                          <a:ea typeface="Titillium Web"/>
                          <a:cs typeface="Titillium Web"/>
                          <a:sym typeface="Titillium Web"/>
                        </a:rPr>
                        <a:t>10 miles</a:t>
                      </a:r>
                      <a:endParaRPr b="1" sz="1100">
                        <a:solidFill>
                          <a:schemeClr val="dk1"/>
                        </a:solidFill>
                        <a:latin typeface="Titillium Web"/>
                        <a:ea typeface="Titillium Web"/>
                        <a:cs typeface="Titillium Web"/>
                        <a:sym typeface="Titillium Web"/>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1200"/>
                        </a:spcAft>
                        <a:buClr>
                          <a:schemeClr val="dk1"/>
                        </a:buClr>
                        <a:buSzPts val="1100"/>
                        <a:buFont typeface="Arial"/>
                        <a:buNone/>
                      </a:pPr>
                      <a:r>
                        <a:rPr lang="en" sz="1100">
                          <a:solidFill>
                            <a:schemeClr val="dk1"/>
                          </a:solidFill>
                          <a:latin typeface="Titillium Web"/>
                          <a:ea typeface="Titillium Web"/>
                          <a:cs typeface="Titillium Web"/>
                          <a:sym typeface="Titillium Web"/>
                        </a:rPr>
                        <a:t>9 PM</a:t>
                      </a:r>
                      <a:endParaRPr sz="1100">
                        <a:solidFill>
                          <a:schemeClr val="dk1"/>
                        </a:solidFill>
                        <a:latin typeface="Titillium Web"/>
                        <a:ea typeface="Titillium Web"/>
                        <a:cs typeface="Titillium Web"/>
                        <a:sym typeface="Titillium Web"/>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1100">
                          <a:solidFill>
                            <a:schemeClr val="dk1"/>
                          </a:solidFill>
                          <a:latin typeface="Titillium Web"/>
                          <a:ea typeface="Titillium Web"/>
                          <a:cs typeface="Titillium Web"/>
                          <a:sym typeface="Titillium Web"/>
                        </a:rPr>
                        <a:t>-2.66</a:t>
                      </a:r>
                      <a:endParaRPr sz="1100">
                        <a:solidFill>
                          <a:schemeClr val="dk1"/>
                        </a:solidFill>
                        <a:latin typeface="Titillium Web"/>
                        <a:ea typeface="Titillium Web"/>
                        <a:cs typeface="Titillium Web"/>
                        <a:sym typeface="Titillium Web"/>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1200"/>
                        </a:spcAft>
                        <a:buClr>
                          <a:schemeClr val="dk1"/>
                        </a:buClr>
                        <a:buSzPts val="1100"/>
                        <a:buFont typeface="Arial"/>
                        <a:buNone/>
                      </a:pPr>
                      <a:r>
                        <a:rPr lang="en" sz="1100">
                          <a:solidFill>
                            <a:schemeClr val="dk1"/>
                          </a:solidFill>
                          <a:latin typeface="Titillium Web"/>
                          <a:ea typeface="Titillium Web"/>
                          <a:cs typeface="Titillium Web"/>
                          <a:sym typeface="Titillium Web"/>
                        </a:rPr>
                        <a:t>+0.01</a:t>
                      </a:r>
                      <a:endParaRPr sz="1100">
                        <a:solidFill>
                          <a:schemeClr val="dk1"/>
                        </a:solidFill>
                        <a:latin typeface="Titillium Web"/>
                        <a:ea typeface="Titillium Web"/>
                        <a:cs typeface="Titillium Web"/>
                        <a:sym typeface="Titillium Web"/>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2"/>
          <p:cNvSpPr txBox="1"/>
          <p:nvPr>
            <p:ph idx="1" type="body"/>
          </p:nvPr>
        </p:nvSpPr>
        <p:spPr>
          <a:xfrm>
            <a:off x="311700" y="1166075"/>
            <a:ext cx="8520600" cy="3416400"/>
          </a:xfrm>
          <a:prstGeom prst="rect">
            <a:avLst/>
          </a:prstGeom>
        </p:spPr>
        <p:txBody>
          <a:bodyPr anchorCtr="0" anchor="t" bIns="91425" lIns="91425" spcFirstLastPara="1" rIns="91425" wrap="square" tIns="91425">
            <a:normAutofit/>
          </a:bodyPr>
          <a:lstStyle/>
          <a:p>
            <a:pPr indent="-355600" lvl="0" marL="457200" rtl="0" algn="l">
              <a:lnSpc>
                <a:spcPct val="115000"/>
              </a:lnSpc>
              <a:spcBef>
                <a:spcPts val="0"/>
              </a:spcBef>
              <a:spcAft>
                <a:spcPts val="0"/>
              </a:spcAft>
              <a:buSzPts val="2000"/>
              <a:buFont typeface="Titillium Web"/>
              <a:buChar char="●"/>
            </a:pPr>
            <a:r>
              <a:rPr lang="en" sz="2000">
                <a:latin typeface="Titillium Web"/>
                <a:ea typeface="Titillium Web"/>
                <a:cs typeface="Titillium Web"/>
                <a:sym typeface="Titillium Web"/>
              </a:rPr>
              <a:t>Mann-Whitney U Test</a:t>
            </a:r>
            <a:endParaRPr sz="2000">
              <a:latin typeface="Titillium Web"/>
              <a:ea typeface="Titillium Web"/>
              <a:cs typeface="Titillium Web"/>
              <a:sym typeface="Titillium Web"/>
            </a:endParaRPr>
          </a:p>
          <a:p>
            <a:pPr indent="0" lvl="0" marL="0" rtl="0" algn="l">
              <a:lnSpc>
                <a:spcPct val="115000"/>
              </a:lnSpc>
              <a:spcBef>
                <a:spcPts val="1200"/>
              </a:spcBef>
              <a:spcAft>
                <a:spcPts val="0"/>
              </a:spcAft>
              <a:buNone/>
            </a:pPr>
            <a:r>
              <a:t/>
            </a:r>
            <a:endParaRPr sz="1200">
              <a:latin typeface="Titillium Web"/>
              <a:ea typeface="Titillium Web"/>
              <a:cs typeface="Titillium Web"/>
              <a:sym typeface="Titillium Web"/>
            </a:endParaRPr>
          </a:p>
          <a:p>
            <a:pPr indent="0" lvl="0" marL="0" rtl="0" algn="l">
              <a:lnSpc>
                <a:spcPct val="115000"/>
              </a:lnSpc>
              <a:spcBef>
                <a:spcPts val="1200"/>
              </a:spcBef>
              <a:spcAft>
                <a:spcPts val="0"/>
              </a:spcAft>
              <a:buNone/>
            </a:pPr>
            <a:r>
              <a:t/>
            </a:r>
            <a:endParaRPr>
              <a:latin typeface="Titillium Web"/>
              <a:ea typeface="Titillium Web"/>
              <a:cs typeface="Titillium Web"/>
              <a:sym typeface="Titillium Web"/>
            </a:endParaRPr>
          </a:p>
          <a:p>
            <a:pPr indent="0" lvl="0" marL="0" rtl="0" algn="l">
              <a:lnSpc>
                <a:spcPct val="115000"/>
              </a:lnSpc>
              <a:spcBef>
                <a:spcPts val="1200"/>
              </a:spcBef>
              <a:spcAft>
                <a:spcPts val="0"/>
              </a:spcAft>
              <a:buNone/>
            </a:pPr>
            <a:r>
              <a:t/>
            </a:r>
            <a:endParaRPr>
              <a:latin typeface="Titillium Web"/>
              <a:ea typeface="Titillium Web"/>
              <a:cs typeface="Titillium Web"/>
              <a:sym typeface="Titillium Web"/>
            </a:endParaRPr>
          </a:p>
          <a:p>
            <a:pPr indent="-355600" lvl="0" marL="457200" rtl="0" algn="l">
              <a:lnSpc>
                <a:spcPct val="115000"/>
              </a:lnSpc>
              <a:spcBef>
                <a:spcPts val="1200"/>
              </a:spcBef>
              <a:spcAft>
                <a:spcPts val="0"/>
              </a:spcAft>
              <a:buSzPts val="2000"/>
              <a:buFont typeface="Titillium Web"/>
              <a:buChar char="●"/>
            </a:pPr>
            <a:r>
              <a:rPr lang="en" sz="2000">
                <a:latin typeface="Titillium Web"/>
                <a:ea typeface="Titillium Web"/>
                <a:cs typeface="Titillium Web"/>
                <a:sym typeface="Titillium Web"/>
              </a:rPr>
              <a:t>Comparing two days to their regular counterparts</a:t>
            </a:r>
            <a:endParaRPr sz="2000">
              <a:latin typeface="Titillium Web"/>
              <a:ea typeface="Titillium Web"/>
              <a:cs typeface="Titillium Web"/>
              <a:sym typeface="Titillium Web"/>
            </a:endParaRPr>
          </a:p>
          <a:p>
            <a:pPr indent="-330200" lvl="1" marL="914400" rtl="0" algn="l">
              <a:lnSpc>
                <a:spcPct val="115000"/>
              </a:lnSpc>
              <a:spcBef>
                <a:spcPts val="0"/>
              </a:spcBef>
              <a:spcAft>
                <a:spcPts val="0"/>
              </a:spcAft>
              <a:buSzPts val="1600"/>
              <a:buFont typeface="Titillium Web"/>
              <a:buChar char="○"/>
            </a:pPr>
            <a:r>
              <a:rPr lang="en" sz="1600">
                <a:latin typeface="Titillium Web"/>
                <a:ea typeface="Titillium Web"/>
                <a:cs typeface="Titillium Web"/>
                <a:sym typeface="Titillium Web"/>
              </a:rPr>
              <a:t>Friday (non-event day) </a:t>
            </a:r>
            <a:endParaRPr sz="1600">
              <a:latin typeface="Titillium Web"/>
              <a:ea typeface="Titillium Web"/>
              <a:cs typeface="Titillium Web"/>
              <a:sym typeface="Titillium Web"/>
            </a:endParaRPr>
          </a:p>
          <a:p>
            <a:pPr indent="-330200" lvl="1" marL="914400" rtl="0" algn="l">
              <a:lnSpc>
                <a:spcPct val="115000"/>
              </a:lnSpc>
              <a:spcBef>
                <a:spcPts val="0"/>
              </a:spcBef>
              <a:spcAft>
                <a:spcPts val="0"/>
              </a:spcAft>
              <a:buSzPts val="1600"/>
              <a:buFont typeface="Titillium Web"/>
              <a:buChar char="○"/>
            </a:pPr>
            <a:r>
              <a:rPr lang="en" sz="1600">
                <a:latin typeface="Titillium Web"/>
                <a:ea typeface="Titillium Web"/>
                <a:cs typeface="Titillium Web"/>
                <a:sym typeface="Titillium Web"/>
              </a:rPr>
              <a:t>Sunday (Super bowl)</a:t>
            </a:r>
            <a:endParaRPr sz="1600">
              <a:latin typeface="Titillium Web"/>
              <a:ea typeface="Titillium Web"/>
              <a:cs typeface="Titillium Web"/>
              <a:sym typeface="Titillium Web"/>
            </a:endParaRPr>
          </a:p>
          <a:p>
            <a:pPr indent="-355600" lvl="0" marL="457200" rtl="0" algn="l">
              <a:lnSpc>
                <a:spcPct val="115000"/>
              </a:lnSpc>
              <a:spcBef>
                <a:spcPts val="0"/>
              </a:spcBef>
              <a:spcAft>
                <a:spcPts val="0"/>
              </a:spcAft>
              <a:buSzPts val="2000"/>
              <a:buFont typeface="Titillium Web"/>
              <a:buChar char="●"/>
            </a:pPr>
            <a:r>
              <a:rPr lang="en" sz="2000">
                <a:latin typeface="Titillium Web"/>
                <a:ea typeface="Titillium Web"/>
                <a:cs typeface="Titillium Web"/>
                <a:sym typeface="Titillium Web"/>
              </a:rPr>
              <a:t>Average Occupancy</a:t>
            </a:r>
            <a:endParaRPr sz="2000">
              <a:latin typeface="Titillium Web"/>
              <a:ea typeface="Titillium Web"/>
              <a:cs typeface="Titillium Web"/>
              <a:sym typeface="Titillium Web"/>
            </a:endParaRPr>
          </a:p>
        </p:txBody>
      </p:sp>
      <p:sp>
        <p:nvSpPr>
          <p:cNvPr id="141" name="Google Shape;141;p22"/>
          <p:cNvSpPr txBox="1"/>
          <p:nvPr>
            <p:ph type="title"/>
          </p:nvPr>
        </p:nvSpPr>
        <p:spPr>
          <a:xfrm>
            <a:off x="311700" y="531363"/>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Bungee"/>
                <a:ea typeface="Bungee"/>
                <a:cs typeface="Bungee"/>
                <a:sym typeface="Bungee"/>
              </a:rPr>
              <a:t>Where can we see Differences?</a:t>
            </a:r>
            <a:endParaRPr>
              <a:latin typeface="Bungee"/>
              <a:ea typeface="Bungee"/>
              <a:cs typeface="Bungee"/>
              <a:sym typeface="Bungee"/>
            </a:endParaRPr>
          </a:p>
        </p:txBody>
      </p:sp>
      <p:pic>
        <p:nvPicPr>
          <p:cNvPr id="142" name="Google Shape;142;p22"/>
          <p:cNvPicPr preferRelativeResize="0"/>
          <p:nvPr/>
        </p:nvPicPr>
        <p:blipFill>
          <a:blip r:embed="rId3">
            <a:alphaModFix/>
          </a:blip>
          <a:stretch>
            <a:fillRect/>
          </a:stretch>
        </p:blipFill>
        <p:spPr>
          <a:xfrm>
            <a:off x="3398475" y="1166077"/>
            <a:ext cx="5040651" cy="17702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Bungee"/>
                <a:ea typeface="Bungee"/>
                <a:cs typeface="Bungee"/>
                <a:sym typeface="Bungee"/>
              </a:rPr>
              <a:t>Mann-Whitney for friday</a:t>
            </a:r>
            <a:endParaRPr>
              <a:latin typeface="Bungee"/>
              <a:ea typeface="Bungee"/>
              <a:cs typeface="Bungee"/>
              <a:sym typeface="Bungee"/>
            </a:endParaRPr>
          </a:p>
        </p:txBody>
      </p:sp>
      <p:pic>
        <p:nvPicPr>
          <p:cNvPr id="148" name="Google Shape;148;p23"/>
          <p:cNvPicPr preferRelativeResize="0"/>
          <p:nvPr/>
        </p:nvPicPr>
        <p:blipFill>
          <a:blip r:embed="rId3">
            <a:alphaModFix/>
          </a:blip>
          <a:stretch>
            <a:fillRect/>
          </a:stretch>
        </p:blipFill>
        <p:spPr>
          <a:xfrm>
            <a:off x="3662525" y="1017725"/>
            <a:ext cx="5251425" cy="3751014"/>
          </a:xfrm>
          <a:prstGeom prst="rect">
            <a:avLst/>
          </a:prstGeom>
          <a:noFill/>
          <a:ln cap="flat" cmpd="sng" w="9525">
            <a:solidFill>
              <a:srgbClr val="666666"/>
            </a:solidFill>
            <a:prstDash val="solid"/>
            <a:round/>
            <a:headEnd len="sm" w="sm" type="none"/>
            <a:tailEnd len="sm" w="sm" type="none"/>
          </a:ln>
        </p:spPr>
      </p:pic>
      <p:pic>
        <p:nvPicPr>
          <p:cNvPr id="149" name="Google Shape;149;p23"/>
          <p:cNvPicPr preferRelativeResize="0"/>
          <p:nvPr/>
        </p:nvPicPr>
        <p:blipFill>
          <a:blip r:embed="rId4">
            <a:alphaModFix/>
          </a:blip>
          <a:stretch>
            <a:fillRect/>
          </a:stretch>
        </p:blipFill>
        <p:spPr>
          <a:xfrm>
            <a:off x="147921" y="1017725"/>
            <a:ext cx="3378529" cy="3751025"/>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None/>
            </a:pPr>
            <a:r>
              <a:rPr lang="en">
                <a:latin typeface="Bungee"/>
                <a:ea typeface="Bungee"/>
                <a:cs typeface="Bungee"/>
                <a:sym typeface="Bungee"/>
              </a:rPr>
              <a:t>Wilcoxon Test </a:t>
            </a:r>
            <a:r>
              <a:rPr lang="en">
                <a:latin typeface="Bungee"/>
                <a:ea typeface="Bungee"/>
                <a:cs typeface="Bungee"/>
                <a:sym typeface="Bungee"/>
              </a:rPr>
              <a:t>for </a:t>
            </a:r>
            <a:r>
              <a:rPr lang="en">
                <a:latin typeface="Bungee"/>
                <a:ea typeface="Bungee"/>
                <a:cs typeface="Bungee"/>
                <a:sym typeface="Bungee"/>
              </a:rPr>
              <a:t>Sunday</a:t>
            </a:r>
            <a:endParaRPr/>
          </a:p>
        </p:txBody>
      </p:sp>
      <p:pic>
        <p:nvPicPr>
          <p:cNvPr id="155" name="Google Shape;155;p24"/>
          <p:cNvPicPr preferRelativeResize="0"/>
          <p:nvPr/>
        </p:nvPicPr>
        <p:blipFill>
          <a:blip r:embed="rId3">
            <a:alphaModFix/>
          </a:blip>
          <a:stretch>
            <a:fillRect/>
          </a:stretch>
        </p:blipFill>
        <p:spPr>
          <a:xfrm>
            <a:off x="3428764" y="1017725"/>
            <a:ext cx="5371711" cy="3836949"/>
          </a:xfrm>
          <a:prstGeom prst="rect">
            <a:avLst/>
          </a:prstGeom>
          <a:noFill/>
          <a:ln cap="flat" cmpd="sng" w="9525">
            <a:solidFill>
              <a:srgbClr val="666666"/>
            </a:solidFill>
            <a:prstDash val="solid"/>
            <a:round/>
            <a:headEnd len="sm" w="sm" type="none"/>
            <a:tailEnd len="sm" w="sm" type="none"/>
          </a:ln>
        </p:spPr>
      </p:pic>
      <p:pic>
        <p:nvPicPr>
          <p:cNvPr id="156" name="Google Shape;156;p24"/>
          <p:cNvPicPr preferRelativeResize="0"/>
          <p:nvPr/>
        </p:nvPicPr>
        <p:blipFill>
          <a:blip r:embed="rId4">
            <a:alphaModFix/>
          </a:blip>
          <a:stretch>
            <a:fillRect/>
          </a:stretch>
        </p:blipFill>
        <p:spPr>
          <a:xfrm>
            <a:off x="311700" y="1017725"/>
            <a:ext cx="2599039" cy="3820975"/>
          </a:xfrm>
          <a:prstGeom prst="rect">
            <a:avLst/>
          </a:prstGeom>
          <a:noFill/>
          <a:ln cap="flat" cmpd="sng" w="9525">
            <a:solidFill>
              <a:schemeClr val="dk2"/>
            </a:solidFill>
            <a:prstDash val="solid"/>
            <a:round/>
            <a:headEnd len="sm" w="sm" type="none"/>
            <a:tailEnd len="sm" w="sm" type="none"/>
          </a:ln>
        </p:spPr>
      </p:pic>
      <p:sp>
        <p:nvSpPr>
          <p:cNvPr id="157" name="Google Shape;157;p24"/>
          <p:cNvSpPr txBox="1"/>
          <p:nvPr/>
        </p:nvSpPr>
        <p:spPr>
          <a:xfrm>
            <a:off x="311775" y="3303175"/>
            <a:ext cx="2599200" cy="504000"/>
          </a:xfrm>
          <a:prstGeom prst="rect">
            <a:avLst/>
          </a:prstGeom>
          <a:noFill/>
          <a:ln cap="flat" cmpd="sng" w="2857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5"/>
          <p:cNvSpPr txBox="1"/>
          <p:nvPr>
            <p:ph idx="1" type="body"/>
          </p:nvPr>
        </p:nvSpPr>
        <p:spPr>
          <a:xfrm>
            <a:off x="311700" y="1152475"/>
            <a:ext cx="25308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Titillium Web"/>
                <a:ea typeface="Titillium Web"/>
                <a:cs typeface="Titillium Web"/>
                <a:sym typeface="Titillium Web"/>
              </a:rPr>
              <a:t>Large, </a:t>
            </a:r>
            <a:r>
              <a:rPr b="1" lang="en">
                <a:latin typeface="Titillium Web"/>
                <a:ea typeface="Titillium Web"/>
                <a:cs typeface="Titillium Web"/>
                <a:sym typeface="Titillium Web"/>
              </a:rPr>
              <a:t>20-30%</a:t>
            </a:r>
            <a:r>
              <a:rPr lang="en">
                <a:latin typeface="Titillium Web"/>
                <a:ea typeface="Titillium Web"/>
                <a:cs typeface="Titillium Web"/>
                <a:sym typeface="Titillium Web"/>
              </a:rPr>
              <a:t> effect Sunday evening </a:t>
            </a:r>
            <a:br>
              <a:rPr lang="en">
                <a:latin typeface="Titillium Web"/>
                <a:ea typeface="Titillium Web"/>
                <a:cs typeface="Titillium Web"/>
                <a:sym typeface="Titillium Web"/>
              </a:rPr>
            </a:br>
            <a:r>
              <a:rPr lang="en">
                <a:latin typeface="Titillium Web"/>
                <a:ea typeface="Titillium Web"/>
                <a:cs typeface="Titillium Web"/>
                <a:sym typeface="Titillium Web"/>
              </a:rPr>
              <a:t>(during/after the event).</a:t>
            </a:r>
            <a:endParaRPr>
              <a:latin typeface="Titillium Web"/>
              <a:ea typeface="Titillium Web"/>
              <a:cs typeface="Titillium Web"/>
              <a:sym typeface="Titillium Web"/>
            </a:endParaRPr>
          </a:p>
          <a:p>
            <a:pPr indent="0" lvl="0" marL="0" rtl="0" algn="l">
              <a:spcBef>
                <a:spcPts val="1200"/>
              </a:spcBef>
              <a:spcAft>
                <a:spcPts val="1200"/>
              </a:spcAft>
              <a:buNone/>
            </a:pPr>
            <a:r>
              <a:rPr lang="en">
                <a:latin typeface="Titillium Web"/>
                <a:ea typeface="Titillium Web"/>
                <a:cs typeface="Titillium Web"/>
                <a:sym typeface="Titillium Web"/>
              </a:rPr>
              <a:t>Smaller </a:t>
            </a:r>
            <a:r>
              <a:rPr b="1" lang="en">
                <a:latin typeface="Titillium Web"/>
                <a:ea typeface="Titillium Web"/>
                <a:cs typeface="Titillium Web"/>
                <a:sym typeface="Titillium Web"/>
              </a:rPr>
              <a:t>3-7%</a:t>
            </a:r>
            <a:r>
              <a:rPr lang="en">
                <a:latin typeface="Titillium Web"/>
                <a:ea typeface="Titillium Web"/>
                <a:cs typeface="Titillium Web"/>
                <a:sym typeface="Titillium Web"/>
              </a:rPr>
              <a:t> effect on normal rush hour traffic.</a:t>
            </a:r>
            <a:endParaRPr>
              <a:latin typeface="Titillium Web"/>
              <a:ea typeface="Titillium Web"/>
              <a:cs typeface="Titillium Web"/>
              <a:sym typeface="Titillium Web"/>
            </a:endParaRPr>
          </a:p>
        </p:txBody>
      </p:sp>
      <p:sp>
        <p:nvSpPr>
          <p:cNvPr id="163" name="Google Shape;163;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Bungee"/>
                <a:ea typeface="Bungee"/>
                <a:cs typeface="Bungee"/>
                <a:sym typeface="Bungee"/>
              </a:rPr>
              <a:t>Results</a:t>
            </a:r>
            <a:endParaRPr>
              <a:latin typeface="Bungee"/>
              <a:ea typeface="Bungee"/>
              <a:cs typeface="Bungee"/>
              <a:sym typeface="Bungee"/>
            </a:endParaRPr>
          </a:p>
        </p:txBody>
      </p:sp>
      <p:pic>
        <p:nvPicPr>
          <p:cNvPr id="164" name="Google Shape;164;p25"/>
          <p:cNvPicPr preferRelativeResize="0"/>
          <p:nvPr/>
        </p:nvPicPr>
        <p:blipFill>
          <a:blip r:embed="rId3">
            <a:alphaModFix/>
          </a:blip>
          <a:stretch>
            <a:fillRect/>
          </a:stretch>
        </p:blipFill>
        <p:spPr>
          <a:xfrm>
            <a:off x="2902031" y="1148288"/>
            <a:ext cx="5996700" cy="284691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Bungee"/>
                <a:ea typeface="Bungee"/>
                <a:cs typeface="Bungee"/>
                <a:sym typeface="Bungee"/>
              </a:rPr>
              <a:t>Olympics Forecasting</a:t>
            </a:r>
            <a:endParaRPr>
              <a:latin typeface="Bungee"/>
              <a:ea typeface="Bungee"/>
              <a:cs typeface="Bungee"/>
              <a:sym typeface="Bungee"/>
            </a:endParaRPr>
          </a:p>
        </p:txBody>
      </p:sp>
      <p:sp>
        <p:nvSpPr>
          <p:cNvPr id="170" name="Google Shape;170;p26"/>
          <p:cNvSpPr txBox="1"/>
          <p:nvPr>
            <p:ph idx="1" type="body"/>
          </p:nvPr>
        </p:nvSpPr>
        <p:spPr>
          <a:xfrm>
            <a:off x="425925" y="1050125"/>
            <a:ext cx="2967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Titillium Web"/>
                <a:ea typeface="Titillium Web"/>
                <a:cs typeface="Titillium Web"/>
                <a:sym typeface="Titillium Web"/>
              </a:rPr>
              <a:t>~</a:t>
            </a:r>
            <a:r>
              <a:rPr b="1" lang="en">
                <a:latin typeface="Titillium Web"/>
                <a:ea typeface="Titillium Web"/>
                <a:cs typeface="Titillium Web"/>
                <a:sym typeface="Titillium Web"/>
              </a:rPr>
              <a:t>130k</a:t>
            </a:r>
            <a:r>
              <a:rPr lang="en">
                <a:latin typeface="Titillium Web"/>
                <a:ea typeface="Titillium Web"/>
                <a:cs typeface="Titillium Web"/>
                <a:sym typeface="Titillium Web"/>
              </a:rPr>
              <a:t> Super Bowl visitors.</a:t>
            </a:r>
            <a:endParaRPr>
              <a:latin typeface="Titillium Web"/>
              <a:ea typeface="Titillium Web"/>
              <a:cs typeface="Titillium Web"/>
              <a:sym typeface="Titillium Web"/>
            </a:endParaRPr>
          </a:p>
          <a:p>
            <a:pPr indent="0" lvl="0" marL="0" rtl="0" algn="l">
              <a:spcBef>
                <a:spcPts val="1200"/>
              </a:spcBef>
              <a:spcAft>
                <a:spcPts val="0"/>
              </a:spcAft>
              <a:buNone/>
            </a:pPr>
            <a:r>
              <a:rPr lang="en">
                <a:latin typeface="Titillium Web"/>
                <a:ea typeface="Titillium Web"/>
                <a:cs typeface="Titillium Web"/>
                <a:sym typeface="Titillium Web"/>
              </a:rPr>
              <a:t>~</a:t>
            </a:r>
            <a:r>
              <a:rPr b="1" lang="en">
                <a:latin typeface="Titillium Web"/>
                <a:ea typeface="Titillium Web"/>
                <a:cs typeface="Titillium Web"/>
                <a:sym typeface="Titillium Web"/>
              </a:rPr>
              <a:t>300-400k</a:t>
            </a:r>
            <a:r>
              <a:rPr lang="en">
                <a:latin typeface="Titillium Web"/>
                <a:ea typeface="Titillium Web"/>
                <a:cs typeface="Titillium Web"/>
                <a:sym typeface="Titillium Web"/>
              </a:rPr>
              <a:t> daily visitors for the 2024 Paris Olympics.</a:t>
            </a:r>
            <a:endParaRPr>
              <a:latin typeface="Titillium Web"/>
              <a:ea typeface="Titillium Web"/>
              <a:cs typeface="Titillium Web"/>
              <a:sym typeface="Titillium Web"/>
            </a:endParaRPr>
          </a:p>
          <a:p>
            <a:pPr indent="0" lvl="0" marL="0" rtl="0" algn="l">
              <a:spcBef>
                <a:spcPts val="1200"/>
              </a:spcBef>
              <a:spcAft>
                <a:spcPts val="0"/>
              </a:spcAft>
              <a:buNone/>
            </a:pPr>
            <a:r>
              <a:rPr lang="en">
                <a:latin typeface="Titillium Web"/>
                <a:ea typeface="Titillium Web"/>
                <a:cs typeface="Titillium Web"/>
                <a:sym typeface="Titillium Web"/>
              </a:rPr>
              <a:t>Assuming ~</a:t>
            </a:r>
            <a:r>
              <a:rPr b="1" lang="en">
                <a:latin typeface="Titillium Web"/>
                <a:ea typeface="Titillium Web"/>
                <a:cs typeface="Titillium Web"/>
                <a:sym typeface="Titillium Web"/>
              </a:rPr>
              <a:t>100k</a:t>
            </a:r>
            <a:r>
              <a:rPr lang="en">
                <a:latin typeface="Titillium Web"/>
                <a:ea typeface="Titillium Web"/>
                <a:cs typeface="Titillium Web"/>
                <a:sym typeface="Titillium Web"/>
              </a:rPr>
              <a:t> normal tourism in major cities.</a:t>
            </a:r>
            <a:endParaRPr>
              <a:latin typeface="Titillium Web"/>
              <a:ea typeface="Titillium Web"/>
              <a:cs typeface="Titillium Web"/>
              <a:sym typeface="Titillium Web"/>
            </a:endParaRPr>
          </a:p>
          <a:p>
            <a:pPr indent="0" lvl="0" marL="0" rtl="0" algn="l">
              <a:spcBef>
                <a:spcPts val="1200"/>
              </a:spcBef>
              <a:spcAft>
                <a:spcPts val="1200"/>
              </a:spcAft>
              <a:buNone/>
            </a:pPr>
            <a:r>
              <a:rPr b="1" lang="en">
                <a:latin typeface="Titillium Web"/>
                <a:ea typeface="Titillium Web"/>
                <a:cs typeface="Titillium Web"/>
                <a:sym typeface="Titillium Web"/>
              </a:rPr>
              <a:t>30-75%</a:t>
            </a:r>
            <a:r>
              <a:rPr lang="en">
                <a:latin typeface="Titillium Web"/>
                <a:ea typeface="Titillium Web"/>
                <a:cs typeface="Titillium Web"/>
                <a:sym typeface="Titillium Web"/>
              </a:rPr>
              <a:t> more total visitors</a:t>
            </a:r>
            <a:br>
              <a:rPr lang="en">
                <a:latin typeface="Titillium Web"/>
                <a:ea typeface="Titillium Web"/>
                <a:cs typeface="Titillium Web"/>
                <a:sym typeface="Titillium Web"/>
              </a:rPr>
            </a:br>
            <a:r>
              <a:rPr lang="en">
                <a:latin typeface="Titillium Web"/>
                <a:ea typeface="Titillium Web"/>
                <a:cs typeface="Titillium Web"/>
                <a:sym typeface="Titillium Web"/>
              </a:rPr>
              <a:t>(1.5-2x event-specific)</a:t>
            </a:r>
            <a:endParaRPr>
              <a:latin typeface="Titillium Web"/>
              <a:ea typeface="Titillium Web"/>
              <a:cs typeface="Titillium Web"/>
              <a:sym typeface="Titillium Web"/>
            </a:endParaRPr>
          </a:p>
        </p:txBody>
      </p:sp>
      <p:pic>
        <p:nvPicPr>
          <p:cNvPr id="171" name="Google Shape;171;p26"/>
          <p:cNvPicPr preferRelativeResize="0"/>
          <p:nvPr/>
        </p:nvPicPr>
        <p:blipFill>
          <a:blip r:embed="rId3">
            <a:alphaModFix/>
          </a:blip>
          <a:stretch>
            <a:fillRect/>
          </a:stretch>
        </p:blipFill>
        <p:spPr>
          <a:xfrm>
            <a:off x="4099150" y="1152988"/>
            <a:ext cx="4622871" cy="3448800"/>
          </a:xfrm>
          <a:prstGeom prst="rect">
            <a:avLst/>
          </a:prstGeom>
          <a:noFill/>
          <a:ln>
            <a:noFill/>
          </a:ln>
        </p:spPr>
      </p:pic>
      <p:pic>
        <p:nvPicPr>
          <p:cNvPr id="172" name="Google Shape;172;p26" title="lagrida_latex_editor.png"/>
          <p:cNvPicPr preferRelativeResize="0"/>
          <p:nvPr/>
        </p:nvPicPr>
        <p:blipFill>
          <a:blip r:embed="rId4">
            <a:alphaModFix/>
          </a:blip>
          <a:stretch>
            <a:fillRect/>
          </a:stretch>
        </p:blipFill>
        <p:spPr>
          <a:xfrm>
            <a:off x="425925" y="4229613"/>
            <a:ext cx="3449445" cy="23691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Bungee"/>
                <a:ea typeface="Bungee"/>
                <a:cs typeface="Bungee"/>
                <a:sym typeface="Bungee"/>
              </a:rPr>
              <a:t>Limitations and Assumptions</a:t>
            </a:r>
            <a:endParaRPr/>
          </a:p>
        </p:txBody>
      </p:sp>
      <p:grpSp>
        <p:nvGrpSpPr>
          <p:cNvPr id="178" name="Google Shape;178;p27"/>
          <p:cNvGrpSpPr/>
          <p:nvPr/>
        </p:nvGrpSpPr>
        <p:grpSpPr>
          <a:xfrm>
            <a:off x="2802640" y="1598913"/>
            <a:ext cx="1655233" cy="1970265"/>
            <a:chOff x="430875" y="1598875"/>
            <a:chExt cx="1678225" cy="1822800"/>
          </a:xfrm>
        </p:grpSpPr>
        <p:sp>
          <p:nvSpPr>
            <p:cNvPr id="179" name="Google Shape;179;p27"/>
            <p:cNvSpPr txBox="1"/>
            <p:nvPr/>
          </p:nvSpPr>
          <p:spPr>
            <a:xfrm>
              <a:off x="430875" y="2310475"/>
              <a:ext cx="1678200" cy="1111200"/>
            </a:xfrm>
            <a:prstGeom prst="rect">
              <a:avLst/>
            </a:prstGeom>
            <a:noFill/>
            <a:ln cap="flat" cmpd="sng" w="9525">
              <a:solidFill>
                <a:srgbClr val="FFD966"/>
              </a:solidFill>
              <a:prstDash val="solid"/>
              <a:round/>
              <a:headEnd len="sm" w="sm" type="none"/>
              <a:tailEnd len="sm" w="sm" type="none"/>
            </a:ln>
          </p:spPr>
          <p:txBody>
            <a:bodyPr anchorCtr="0" anchor="t" bIns="90175" lIns="90175" spcFirstLastPara="1" rIns="90175" wrap="square" tIns="90175">
              <a:noAutofit/>
            </a:bodyPr>
            <a:lstStyle/>
            <a:p>
              <a:pPr indent="0" lvl="0" marL="0" rtl="0" algn="ctr">
                <a:spcBef>
                  <a:spcPts val="0"/>
                </a:spcBef>
                <a:spcAft>
                  <a:spcPts val="0"/>
                </a:spcAft>
                <a:buNone/>
              </a:pPr>
              <a:r>
                <a:rPr lang="en" sz="1578">
                  <a:solidFill>
                    <a:schemeClr val="dk2"/>
                  </a:solidFill>
                  <a:latin typeface="Titillium Web"/>
                  <a:ea typeface="Titillium Web"/>
                  <a:cs typeface="Titillium Web"/>
                  <a:sym typeface="Titillium Web"/>
                </a:rPr>
                <a:t>New public transit options will be available for the Olympics.</a:t>
              </a:r>
              <a:endParaRPr sz="1578">
                <a:solidFill>
                  <a:schemeClr val="dk2"/>
                </a:solidFill>
                <a:latin typeface="Titillium Web"/>
                <a:ea typeface="Titillium Web"/>
                <a:cs typeface="Titillium Web"/>
                <a:sym typeface="Titillium Web"/>
              </a:endParaRPr>
            </a:p>
          </p:txBody>
        </p:sp>
        <p:sp>
          <p:nvSpPr>
            <p:cNvPr id="180" name="Google Shape;180;p27"/>
            <p:cNvSpPr txBox="1"/>
            <p:nvPr/>
          </p:nvSpPr>
          <p:spPr>
            <a:xfrm>
              <a:off x="430900" y="1598875"/>
              <a:ext cx="1678200" cy="711600"/>
            </a:xfrm>
            <a:prstGeom prst="rect">
              <a:avLst/>
            </a:prstGeom>
            <a:solidFill>
              <a:srgbClr val="FFE599"/>
            </a:solidFill>
            <a:ln>
              <a:noFill/>
            </a:ln>
          </p:spPr>
          <p:txBody>
            <a:bodyPr anchorCtr="0" anchor="t" bIns="90175" lIns="90175" spcFirstLastPara="1" rIns="90175" wrap="square" tIns="90175">
              <a:noAutofit/>
            </a:bodyPr>
            <a:lstStyle/>
            <a:p>
              <a:pPr indent="0" lvl="0" marL="0" rtl="0" algn="ctr">
                <a:spcBef>
                  <a:spcPts val="0"/>
                </a:spcBef>
                <a:spcAft>
                  <a:spcPts val="0"/>
                </a:spcAft>
                <a:buNone/>
              </a:pPr>
              <a:r>
                <a:rPr lang="en" sz="1578">
                  <a:solidFill>
                    <a:schemeClr val="dk1"/>
                  </a:solidFill>
                  <a:latin typeface="Bungee"/>
                  <a:ea typeface="Bungee"/>
                  <a:cs typeface="Bungee"/>
                  <a:sym typeface="Bungee"/>
                </a:rPr>
                <a:t>Public Transit</a:t>
              </a:r>
              <a:endParaRPr sz="1578">
                <a:solidFill>
                  <a:schemeClr val="dk1"/>
                </a:solidFill>
                <a:latin typeface="Bungee"/>
                <a:ea typeface="Bungee"/>
                <a:cs typeface="Bungee"/>
                <a:sym typeface="Bungee"/>
              </a:endParaRPr>
            </a:p>
          </p:txBody>
        </p:sp>
      </p:grpSp>
      <p:grpSp>
        <p:nvGrpSpPr>
          <p:cNvPr id="181" name="Google Shape;181;p27"/>
          <p:cNvGrpSpPr/>
          <p:nvPr/>
        </p:nvGrpSpPr>
        <p:grpSpPr>
          <a:xfrm>
            <a:off x="4827725" y="1598863"/>
            <a:ext cx="1678225" cy="1970265"/>
            <a:chOff x="351525" y="1598875"/>
            <a:chExt cx="1678225" cy="1846200"/>
          </a:xfrm>
        </p:grpSpPr>
        <p:sp>
          <p:nvSpPr>
            <p:cNvPr id="182" name="Google Shape;182;p27"/>
            <p:cNvSpPr txBox="1"/>
            <p:nvPr/>
          </p:nvSpPr>
          <p:spPr>
            <a:xfrm>
              <a:off x="351550" y="2310475"/>
              <a:ext cx="1678200" cy="1134600"/>
            </a:xfrm>
            <a:prstGeom prst="rect">
              <a:avLst/>
            </a:prstGeom>
            <a:solidFill>
              <a:schemeClr val="lt1"/>
            </a:solidFill>
            <a:ln cap="flat" cmpd="sng" w="9525">
              <a:solidFill>
                <a:srgbClr val="93C47D"/>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2"/>
                  </a:solidFill>
                  <a:latin typeface="Titillium Web"/>
                  <a:ea typeface="Titillium Web"/>
                  <a:cs typeface="Titillium Web"/>
                  <a:sym typeface="Titillium Web"/>
                </a:rPr>
                <a:t>Super Bowl traffic focused at Sofi Stadium and Inglewood area.</a:t>
              </a:r>
              <a:endParaRPr sz="1600">
                <a:solidFill>
                  <a:schemeClr val="dk2"/>
                </a:solidFill>
                <a:latin typeface="Titillium Web"/>
                <a:ea typeface="Titillium Web"/>
                <a:cs typeface="Titillium Web"/>
                <a:sym typeface="Titillium Web"/>
              </a:endParaRPr>
            </a:p>
          </p:txBody>
        </p:sp>
        <p:sp>
          <p:nvSpPr>
            <p:cNvPr id="183" name="Google Shape;183;p27"/>
            <p:cNvSpPr txBox="1"/>
            <p:nvPr/>
          </p:nvSpPr>
          <p:spPr>
            <a:xfrm>
              <a:off x="351525" y="1598875"/>
              <a:ext cx="1678200" cy="711600"/>
            </a:xfrm>
            <a:prstGeom prst="rect">
              <a:avLst/>
            </a:prstGeom>
            <a:solidFill>
              <a:srgbClr val="B6D7A8"/>
            </a:solidFill>
            <a:ln cap="flat" cmpd="sng" w="9525">
              <a:solidFill>
                <a:srgbClr val="93C47D"/>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1"/>
                  </a:solidFill>
                  <a:latin typeface="Bungee"/>
                  <a:ea typeface="Bungee"/>
                  <a:cs typeface="Bungee"/>
                  <a:sym typeface="Bungee"/>
                </a:rPr>
                <a:t>Localized Impact</a:t>
              </a:r>
              <a:endParaRPr sz="1600">
                <a:solidFill>
                  <a:schemeClr val="dk1"/>
                </a:solidFill>
                <a:latin typeface="Bungee"/>
                <a:ea typeface="Bungee"/>
                <a:cs typeface="Bungee"/>
                <a:sym typeface="Bungee"/>
              </a:endParaRPr>
            </a:p>
          </p:txBody>
        </p:sp>
      </p:grpSp>
      <p:grpSp>
        <p:nvGrpSpPr>
          <p:cNvPr id="184" name="Google Shape;184;p27"/>
          <p:cNvGrpSpPr/>
          <p:nvPr/>
        </p:nvGrpSpPr>
        <p:grpSpPr>
          <a:xfrm>
            <a:off x="767100" y="1598913"/>
            <a:ext cx="1678200" cy="1970265"/>
            <a:chOff x="637288" y="490031"/>
            <a:chExt cx="1678200" cy="1822800"/>
          </a:xfrm>
        </p:grpSpPr>
        <p:sp>
          <p:nvSpPr>
            <p:cNvPr id="185" name="Google Shape;185;p27"/>
            <p:cNvSpPr txBox="1"/>
            <p:nvPr/>
          </p:nvSpPr>
          <p:spPr>
            <a:xfrm>
              <a:off x="637288" y="1201631"/>
              <a:ext cx="1678200" cy="1111200"/>
            </a:xfrm>
            <a:prstGeom prst="rect">
              <a:avLst/>
            </a:prstGeom>
            <a:noFill/>
            <a:ln cap="flat" cmpd="sng" w="9525">
              <a:solidFill>
                <a:srgbClr val="3C78D8"/>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2"/>
                  </a:solidFill>
                  <a:latin typeface="Titillium Web"/>
                  <a:ea typeface="Titillium Web"/>
                  <a:cs typeface="Titillium Web"/>
                  <a:sym typeface="Titillium Web"/>
                </a:rPr>
                <a:t>Projecting demographic changes, etc. before 2028.</a:t>
              </a:r>
              <a:endParaRPr sz="1600">
                <a:solidFill>
                  <a:schemeClr val="dk2"/>
                </a:solidFill>
                <a:latin typeface="Titillium Web"/>
                <a:ea typeface="Titillium Web"/>
                <a:cs typeface="Titillium Web"/>
                <a:sym typeface="Titillium Web"/>
              </a:endParaRPr>
            </a:p>
          </p:txBody>
        </p:sp>
        <p:sp>
          <p:nvSpPr>
            <p:cNvPr id="186" name="Google Shape;186;p27"/>
            <p:cNvSpPr txBox="1"/>
            <p:nvPr/>
          </p:nvSpPr>
          <p:spPr>
            <a:xfrm>
              <a:off x="637288" y="490031"/>
              <a:ext cx="1678200" cy="711600"/>
            </a:xfrm>
            <a:prstGeom prst="rect">
              <a:avLst/>
            </a:prstGeom>
            <a:solidFill>
              <a:srgbClr val="9FC5E8"/>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1"/>
                  </a:solidFill>
                  <a:latin typeface="Bungee"/>
                  <a:ea typeface="Bungee"/>
                  <a:cs typeface="Bungee"/>
                  <a:sym typeface="Bungee"/>
                </a:rPr>
                <a:t>Population Changes</a:t>
              </a:r>
              <a:endParaRPr sz="1600">
                <a:solidFill>
                  <a:schemeClr val="dk1"/>
                </a:solidFill>
                <a:latin typeface="Bungee"/>
                <a:ea typeface="Bungee"/>
                <a:cs typeface="Bungee"/>
                <a:sym typeface="Bungee"/>
              </a:endParaRPr>
            </a:p>
          </p:txBody>
        </p:sp>
      </p:grpSp>
      <p:grpSp>
        <p:nvGrpSpPr>
          <p:cNvPr id="187" name="Google Shape;187;p27"/>
          <p:cNvGrpSpPr/>
          <p:nvPr/>
        </p:nvGrpSpPr>
        <p:grpSpPr>
          <a:xfrm>
            <a:off x="6853878" y="1598888"/>
            <a:ext cx="1678238" cy="1970265"/>
            <a:chOff x="430875" y="1598875"/>
            <a:chExt cx="1678238" cy="1822800"/>
          </a:xfrm>
        </p:grpSpPr>
        <p:sp>
          <p:nvSpPr>
            <p:cNvPr id="188" name="Google Shape;188;p27"/>
            <p:cNvSpPr txBox="1"/>
            <p:nvPr/>
          </p:nvSpPr>
          <p:spPr>
            <a:xfrm>
              <a:off x="430875" y="2310475"/>
              <a:ext cx="1678200" cy="1111200"/>
            </a:xfrm>
            <a:prstGeom prst="rect">
              <a:avLst/>
            </a:prstGeom>
            <a:noFill/>
            <a:ln cap="flat" cmpd="sng" w="9525">
              <a:solidFill>
                <a:srgbClr val="E06666"/>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2"/>
                  </a:solidFill>
                  <a:latin typeface="Titillium Web"/>
                  <a:ea typeface="Titillium Web"/>
                  <a:cs typeface="Titillium Web"/>
                  <a:sym typeface="Titillium Web"/>
                </a:rPr>
                <a:t>Los Angeles is unique, </a:t>
              </a:r>
              <a:r>
                <a:rPr lang="en" sz="1600">
                  <a:solidFill>
                    <a:schemeClr val="dk2"/>
                  </a:solidFill>
                  <a:latin typeface="Titillium Web"/>
                  <a:ea typeface="Titillium Web"/>
                  <a:cs typeface="Titillium Web"/>
                  <a:sym typeface="Titillium Web"/>
                </a:rPr>
                <a:t>unlike</a:t>
              </a:r>
              <a:r>
                <a:rPr lang="en" sz="1600">
                  <a:solidFill>
                    <a:schemeClr val="dk2"/>
                  </a:solidFill>
                  <a:latin typeface="Titillium Web"/>
                  <a:ea typeface="Titillium Web"/>
                  <a:cs typeface="Titillium Web"/>
                  <a:sym typeface="Titillium Web"/>
                </a:rPr>
                <a:t> past Olympic host cities.</a:t>
              </a:r>
              <a:endParaRPr sz="1600">
                <a:solidFill>
                  <a:schemeClr val="dk2"/>
                </a:solidFill>
                <a:latin typeface="Titillium Web"/>
                <a:ea typeface="Titillium Web"/>
                <a:cs typeface="Titillium Web"/>
                <a:sym typeface="Titillium Web"/>
              </a:endParaRPr>
            </a:p>
          </p:txBody>
        </p:sp>
        <p:sp>
          <p:nvSpPr>
            <p:cNvPr id="189" name="Google Shape;189;p27"/>
            <p:cNvSpPr txBox="1"/>
            <p:nvPr/>
          </p:nvSpPr>
          <p:spPr>
            <a:xfrm>
              <a:off x="430913" y="1598875"/>
              <a:ext cx="1678200" cy="711600"/>
            </a:xfrm>
            <a:prstGeom prst="rect">
              <a:avLst/>
            </a:prstGeom>
            <a:solidFill>
              <a:srgbClr val="EA9999"/>
            </a:solidFill>
            <a:ln cap="flat" cmpd="sng" w="9525">
              <a:solidFill>
                <a:srgbClr val="E06666"/>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600">
                  <a:latin typeface="Bungee"/>
                  <a:ea typeface="Bungee"/>
                  <a:cs typeface="Bungee"/>
                  <a:sym typeface="Bungee"/>
                </a:rPr>
                <a:t>Unique Factors</a:t>
              </a:r>
              <a:endParaRPr sz="1600">
                <a:latin typeface="Bungee"/>
                <a:ea typeface="Bungee"/>
                <a:cs typeface="Bungee"/>
                <a:sym typeface="Bungee"/>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Bungee"/>
                <a:ea typeface="Bungee"/>
                <a:cs typeface="Bungee"/>
                <a:sym typeface="Bungee"/>
              </a:rPr>
              <a:t>NExT Steps</a:t>
            </a:r>
            <a:endParaRPr/>
          </a:p>
        </p:txBody>
      </p:sp>
      <p:grpSp>
        <p:nvGrpSpPr>
          <p:cNvPr id="195" name="Google Shape;195;p28"/>
          <p:cNvGrpSpPr/>
          <p:nvPr/>
        </p:nvGrpSpPr>
        <p:grpSpPr>
          <a:xfrm>
            <a:off x="1083350" y="1580025"/>
            <a:ext cx="1678225" cy="1822800"/>
            <a:chOff x="430875" y="1598875"/>
            <a:chExt cx="1678225" cy="1822800"/>
          </a:xfrm>
        </p:grpSpPr>
        <p:sp>
          <p:nvSpPr>
            <p:cNvPr id="196" name="Google Shape;196;p28"/>
            <p:cNvSpPr txBox="1"/>
            <p:nvPr/>
          </p:nvSpPr>
          <p:spPr>
            <a:xfrm>
              <a:off x="430875" y="2310475"/>
              <a:ext cx="1678200" cy="1111200"/>
            </a:xfrm>
            <a:prstGeom prst="rect">
              <a:avLst/>
            </a:prstGeom>
            <a:noFill/>
            <a:ln cap="flat" cmpd="sng" w="9525">
              <a:solidFill>
                <a:srgbClr val="8E7CC3"/>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2"/>
                  </a:solidFill>
                  <a:latin typeface="Titillium Web"/>
                  <a:ea typeface="Titillium Web"/>
                  <a:cs typeface="Titillium Web"/>
                  <a:sym typeface="Titillium Web"/>
                </a:rPr>
                <a:t>Incorporate detailed traffic data from past host cities.</a:t>
              </a:r>
              <a:endParaRPr sz="1600">
                <a:solidFill>
                  <a:schemeClr val="dk2"/>
                </a:solidFill>
                <a:latin typeface="Titillium Web"/>
                <a:ea typeface="Titillium Web"/>
                <a:cs typeface="Titillium Web"/>
                <a:sym typeface="Titillium Web"/>
              </a:endParaRPr>
            </a:p>
          </p:txBody>
        </p:sp>
        <p:sp>
          <p:nvSpPr>
            <p:cNvPr id="197" name="Google Shape;197;p28"/>
            <p:cNvSpPr txBox="1"/>
            <p:nvPr/>
          </p:nvSpPr>
          <p:spPr>
            <a:xfrm>
              <a:off x="430900" y="1598875"/>
              <a:ext cx="1678200" cy="711600"/>
            </a:xfrm>
            <a:prstGeom prst="rect">
              <a:avLst/>
            </a:prstGeom>
            <a:solidFill>
              <a:srgbClr val="B4A7D6"/>
            </a:solidFill>
            <a:ln cap="flat" cmpd="sng" w="9525">
              <a:solidFill>
                <a:srgbClr val="8E7CC3"/>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1"/>
                  </a:solidFill>
                  <a:latin typeface="Bungee"/>
                  <a:ea typeface="Bungee"/>
                  <a:cs typeface="Bungee"/>
                  <a:sym typeface="Bungee"/>
                </a:rPr>
                <a:t>Other Cities</a:t>
              </a:r>
              <a:endParaRPr sz="1600">
                <a:solidFill>
                  <a:schemeClr val="dk1"/>
                </a:solidFill>
                <a:latin typeface="Bungee"/>
                <a:ea typeface="Bungee"/>
                <a:cs typeface="Bungee"/>
                <a:sym typeface="Bungee"/>
              </a:endParaRPr>
            </a:p>
          </p:txBody>
        </p:sp>
      </p:grpSp>
      <p:grpSp>
        <p:nvGrpSpPr>
          <p:cNvPr id="198" name="Google Shape;198;p28"/>
          <p:cNvGrpSpPr/>
          <p:nvPr/>
        </p:nvGrpSpPr>
        <p:grpSpPr>
          <a:xfrm>
            <a:off x="3732888" y="1580025"/>
            <a:ext cx="1678213" cy="1822800"/>
            <a:chOff x="430900" y="1598875"/>
            <a:chExt cx="1678213" cy="1822800"/>
          </a:xfrm>
        </p:grpSpPr>
        <p:sp>
          <p:nvSpPr>
            <p:cNvPr id="199" name="Google Shape;199;p28"/>
            <p:cNvSpPr txBox="1"/>
            <p:nvPr/>
          </p:nvSpPr>
          <p:spPr>
            <a:xfrm>
              <a:off x="430913" y="2310475"/>
              <a:ext cx="1678200" cy="1111200"/>
            </a:xfrm>
            <a:prstGeom prst="rect">
              <a:avLst/>
            </a:prstGeom>
            <a:noFill/>
            <a:ln cap="flat" cmpd="sng" w="9525">
              <a:solidFill>
                <a:srgbClr val="C27BA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2"/>
                  </a:solidFill>
                  <a:latin typeface="Titillium Web"/>
                  <a:ea typeface="Titillium Web"/>
                  <a:cs typeface="Titillium Web"/>
                  <a:sym typeface="Titillium Web"/>
                </a:rPr>
                <a:t>More granular predictions for  areas, Metros, and streets.</a:t>
              </a:r>
              <a:endParaRPr sz="1600">
                <a:solidFill>
                  <a:schemeClr val="dk2"/>
                </a:solidFill>
                <a:latin typeface="Titillium Web"/>
                <a:ea typeface="Titillium Web"/>
                <a:cs typeface="Titillium Web"/>
                <a:sym typeface="Titillium Web"/>
              </a:endParaRPr>
            </a:p>
          </p:txBody>
        </p:sp>
        <p:sp>
          <p:nvSpPr>
            <p:cNvPr id="200" name="Google Shape;200;p28"/>
            <p:cNvSpPr txBox="1"/>
            <p:nvPr/>
          </p:nvSpPr>
          <p:spPr>
            <a:xfrm>
              <a:off x="430900" y="1598875"/>
              <a:ext cx="1678200" cy="711600"/>
            </a:xfrm>
            <a:prstGeom prst="rect">
              <a:avLst/>
            </a:prstGeom>
            <a:solidFill>
              <a:srgbClr val="D5A6BD"/>
            </a:solidFill>
            <a:ln cap="flat" cmpd="sng" w="9525">
              <a:solidFill>
                <a:srgbClr val="C27BA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1"/>
                  </a:solidFill>
                  <a:latin typeface="Bungee"/>
                  <a:ea typeface="Bungee"/>
                  <a:cs typeface="Bungee"/>
                  <a:sym typeface="Bungee"/>
                </a:rPr>
                <a:t>Localized Impact</a:t>
              </a:r>
              <a:endParaRPr sz="1600">
                <a:solidFill>
                  <a:schemeClr val="dk1"/>
                </a:solidFill>
                <a:latin typeface="Bungee"/>
                <a:ea typeface="Bungee"/>
                <a:cs typeface="Bungee"/>
                <a:sym typeface="Bungee"/>
              </a:endParaRPr>
            </a:p>
          </p:txBody>
        </p:sp>
      </p:grpSp>
      <p:grpSp>
        <p:nvGrpSpPr>
          <p:cNvPr id="201" name="Google Shape;201;p28"/>
          <p:cNvGrpSpPr/>
          <p:nvPr/>
        </p:nvGrpSpPr>
        <p:grpSpPr>
          <a:xfrm>
            <a:off x="6390200" y="1580025"/>
            <a:ext cx="1678200" cy="1822800"/>
            <a:chOff x="430913" y="1598875"/>
            <a:chExt cx="1678200" cy="1822800"/>
          </a:xfrm>
        </p:grpSpPr>
        <p:sp>
          <p:nvSpPr>
            <p:cNvPr id="202" name="Google Shape;202;p28"/>
            <p:cNvSpPr txBox="1"/>
            <p:nvPr/>
          </p:nvSpPr>
          <p:spPr>
            <a:xfrm>
              <a:off x="430913" y="2310475"/>
              <a:ext cx="1678200" cy="1111200"/>
            </a:xfrm>
            <a:prstGeom prst="rect">
              <a:avLst/>
            </a:prstGeom>
            <a:noFill/>
            <a:ln cap="flat" cmpd="sng" w="9525">
              <a:solidFill>
                <a:srgbClr val="DD7E6B"/>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2"/>
                  </a:solidFill>
                  <a:latin typeface="Titillium Web"/>
                  <a:ea typeface="Titillium Web"/>
                  <a:cs typeface="Titillium Web"/>
                  <a:sym typeface="Titillium Web"/>
                </a:rPr>
                <a:t>Use time-series methods to capture traffic behaviors.</a:t>
              </a:r>
              <a:endParaRPr sz="1600">
                <a:solidFill>
                  <a:schemeClr val="dk2"/>
                </a:solidFill>
                <a:latin typeface="Titillium Web"/>
                <a:ea typeface="Titillium Web"/>
                <a:cs typeface="Titillium Web"/>
                <a:sym typeface="Titillium Web"/>
              </a:endParaRPr>
            </a:p>
          </p:txBody>
        </p:sp>
        <p:sp>
          <p:nvSpPr>
            <p:cNvPr id="203" name="Google Shape;203;p28"/>
            <p:cNvSpPr txBox="1"/>
            <p:nvPr/>
          </p:nvSpPr>
          <p:spPr>
            <a:xfrm>
              <a:off x="430913" y="1598875"/>
              <a:ext cx="1678200" cy="711600"/>
            </a:xfrm>
            <a:prstGeom prst="rect">
              <a:avLst/>
            </a:prstGeom>
            <a:solidFill>
              <a:srgbClr val="E6B8AF"/>
            </a:solidFill>
            <a:ln cap="flat" cmpd="sng" w="9525">
              <a:solidFill>
                <a:srgbClr val="DD7E6B"/>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1"/>
                  </a:solidFill>
                  <a:latin typeface="Bungee"/>
                  <a:ea typeface="Bungee"/>
                  <a:cs typeface="Bungee"/>
                  <a:sym typeface="Bungee"/>
                </a:rPr>
                <a:t>Time-Series Analysis</a:t>
              </a:r>
              <a:endParaRPr sz="1600">
                <a:solidFill>
                  <a:schemeClr val="dk1"/>
                </a:solidFill>
                <a:latin typeface="Bungee"/>
                <a:ea typeface="Bungee"/>
                <a:cs typeface="Bungee"/>
                <a:sym typeface="Bungee"/>
              </a:endParaRPr>
            </a:p>
          </p:txBody>
        </p:sp>
      </p:grpSp>
      <p:sp>
        <p:nvSpPr>
          <p:cNvPr id="204" name="Google Shape;204;p28"/>
          <p:cNvSpPr txBox="1"/>
          <p:nvPr/>
        </p:nvSpPr>
        <p:spPr>
          <a:xfrm>
            <a:off x="361225" y="4615125"/>
            <a:ext cx="8556300" cy="50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rgbClr val="9E9E9E"/>
                </a:solidFill>
                <a:latin typeface="Titillium Web"/>
                <a:ea typeface="Titillium Web"/>
                <a:cs typeface="Titillium Web"/>
                <a:sym typeface="Titillium Web"/>
              </a:rPr>
              <a:t>*</a:t>
            </a:r>
            <a:r>
              <a:rPr lang="en" sz="700" u="sng">
                <a:solidFill>
                  <a:srgbClr val="9E9E9E"/>
                </a:solidFill>
                <a:latin typeface="Titillium Web"/>
                <a:ea typeface="Titillium Web"/>
                <a:cs typeface="Titillium Web"/>
                <a:sym typeface="Titillium Web"/>
                <a:hlinkClick r:id="rId3">
                  <a:extLst>
                    <a:ext uri="{A12FA001-AC4F-418D-AE19-62706E023703}">
                      <ahyp:hlinkClr val="tx"/>
                    </a:ext>
                  </a:extLst>
                </a:hlinkClick>
              </a:rPr>
              <a:t>https://storymaps.arcgis.com/stories/5266177c064d4ef2adf4c5088445c6da</a:t>
            </a:r>
            <a:br>
              <a:rPr lang="en" sz="700">
                <a:solidFill>
                  <a:srgbClr val="9E9E9E"/>
                </a:solidFill>
                <a:latin typeface="Titillium Web"/>
                <a:ea typeface="Titillium Web"/>
                <a:cs typeface="Titillium Web"/>
                <a:sym typeface="Titillium Web"/>
              </a:rPr>
            </a:br>
            <a:r>
              <a:rPr lang="en" sz="700">
                <a:solidFill>
                  <a:srgbClr val="9E9E9E"/>
                </a:solidFill>
                <a:latin typeface="Titillium Web"/>
                <a:ea typeface="Titillium Web"/>
                <a:cs typeface="Titillium Web"/>
                <a:sym typeface="Titillium Web"/>
              </a:rPr>
              <a:t>**</a:t>
            </a:r>
            <a:r>
              <a:rPr lang="en" sz="700" u="sng">
                <a:solidFill>
                  <a:srgbClr val="9E9E9E"/>
                </a:solidFill>
                <a:latin typeface="Titillium Web"/>
                <a:ea typeface="Titillium Web"/>
                <a:cs typeface="Titillium Web"/>
                <a:sym typeface="Titillium Web"/>
                <a:hlinkClick r:id="rId4">
                  <a:extLst>
                    <a:ext uri="{A12FA001-AC4F-418D-AE19-62706E023703}">
                      <ahyp:hlinkClr val="tx"/>
                    </a:ext>
                  </a:extLst>
                </a:hlinkClick>
              </a:rPr>
              <a:t>https://www.dropbox.com/scl/fo/lx4rqn21oanibe0lfc2ov/AIGhXzOXcRo8uSEmZiiQeM8/_Executive%20Summaries?e=1&amp;preview=Metro_Vision2028_Plan_ExecSummary_English.pdf&amp;rlkey=teex9wmqu97kyh3um5iip6ul4&amp;subfolder_nav_tracking=1&amp;dl=0</a:t>
            </a:r>
            <a:endParaRPr sz="700">
              <a:solidFill>
                <a:srgbClr val="9E9E9E"/>
              </a:solidFill>
              <a:latin typeface="Titillium Web"/>
              <a:ea typeface="Titillium Web"/>
              <a:cs typeface="Titillium Web"/>
              <a:sym typeface="Titillium Web"/>
            </a:endParaRPr>
          </a:p>
          <a:p>
            <a:pPr indent="0" lvl="0" marL="0" rtl="0" algn="l">
              <a:spcBef>
                <a:spcPts val="0"/>
              </a:spcBef>
              <a:spcAft>
                <a:spcPts val="0"/>
              </a:spcAft>
              <a:buNone/>
            </a:pPr>
            <a:r>
              <a:t/>
            </a:r>
            <a:endParaRPr sz="700">
              <a:solidFill>
                <a:srgbClr val="9E9E9E"/>
              </a:solidFill>
              <a:latin typeface="Titillium Web"/>
              <a:ea typeface="Titillium Web"/>
              <a:cs typeface="Titillium Web"/>
              <a:sym typeface="Titillium Web"/>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None/>
            </a:pPr>
            <a:r>
              <a:rPr lang="en">
                <a:latin typeface="Bungee"/>
                <a:ea typeface="Bungee"/>
                <a:cs typeface="Bungee"/>
                <a:sym typeface="Bungee"/>
              </a:rPr>
              <a:t>References</a:t>
            </a:r>
            <a:endParaRPr/>
          </a:p>
        </p:txBody>
      </p:sp>
      <p:sp>
        <p:nvSpPr>
          <p:cNvPr id="210" name="Google Shape;210;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04800" lvl="0" marL="457200" rtl="0" algn="l">
              <a:lnSpc>
                <a:spcPct val="115000"/>
              </a:lnSpc>
              <a:spcBef>
                <a:spcPts val="0"/>
              </a:spcBef>
              <a:spcAft>
                <a:spcPts val="0"/>
              </a:spcAft>
              <a:buSzPts val="1200"/>
              <a:buChar char="●"/>
            </a:pPr>
            <a:r>
              <a:rPr b="1" lang="en" sz="1200">
                <a:solidFill>
                  <a:schemeClr val="dk1"/>
                </a:solidFill>
                <a:latin typeface="Titillium Web"/>
                <a:ea typeface="Titillium Web"/>
                <a:cs typeface="Titillium Web"/>
                <a:sym typeface="Titillium Web"/>
              </a:rPr>
              <a:t>Image Source</a:t>
            </a:r>
            <a:r>
              <a:rPr lang="en" sz="1200">
                <a:solidFill>
                  <a:schemeClr val="dk1"/>
                </a:solidFill>
                <a:latin typeface="Titillium Web"/>
                <a:ea typeface="Titillium Web"/>
                <a:cs typeface="Titillium Web"/>
                <a:sym typeface="Titillium Web"/>
              </a:rPr>
              <a:t>: </a:t>
            </a:r>
            <a:r>
              <a:rPr lang="en" sz="1200" u="sng">
                <a:solidFill>
                  <a:srgbClr val="2200CC"/>
                </a:solidFill>
                <a:latin typeface="Titillium Web"/>
                <a:ea typeface="Titillium Web"/>
                <a:cs typeface="Titillium Web"/>
                <a:sym typeface="Titillium Web"/>
                <a:hlinkClick r:id="rId3">
                  <a:extLst>
                    <a:ext uri="{A12FA001-AC4F-418D-AE19-62706E023703}">
                      <ahyp:hlinkClr val="tx"/>
                    </a:ext>
                  </a:extLst>
                </a:hlinkClick>
              </a:rPr>
              <a:t>https://www.roadtrips.com/summer-games/los-angeles-packages-2028/venues/</a:t>
            </a:r>
            <a:endParaRPr sz="1200">
              <a:solidFill>
                <a:schemeClr val="dk1"/>
              </a:solidFill>
              <a:latin typeface="Titillium Web"/>
              <a:ea typeface="Titillium Web"/>
              <a:cs typeface="Titillium Web"/>
              <a:sym typeface="Titillium Web"/>
            </a:endParaRPr>
          </a:p>
          <a:p>
            <a:pPr indent="-304800" lvl="0" marL="457200" rtl="0" algn="l">
              <a:lnSpc>
                <a:spcPct val="115000"/>
              </a:lnSpc>
              <a:spcBef>
                <a:spcPts val="0"/>
              </a:spcBef>
              <a:spcAft>
                <a:spcPts val="0"/>
              </a:spcAft>
              <a:buSzPts val="1200"/>
              <a:buChar char="●"/>
            </a:pPr>
            <a:r>
              <a:rPr b="1" lang="en" sz="1200">
                <a:solidFill>
                  <a:schemeClr val="dk1"/>
                </a:solidFill>
                <a:latin typeface="Titillium Web"/>
                <a:ea typeface="Titillium Web"/>
                <a:cs typeface="Titillium Web"/>
                <a:sym typeface="Titillium Web"/>
              </a:rPr>
              <a:t>Locations of Olympics Source</a:t>
            </a:r>
            <a:r>
              <a:rPr lang="en" sz="1200">
                <a:solidFill>
                  <a:schemeClr val="dk1"/>
                </a:solidFill>
                <a:latin typeface="Titillium Web"/>
                <a:ea typeface="Titillium Web"/>
                <a:cs typeface="Titillium Web"/>
                <a:sym typeface="Titillium Web"/>
              </a:rPr>
              <a:t>: </a:t>
            </a:r>
            <a:r>
              <a:rPr lang="en" sz="1200" u="sng">
                <a:solidFill>
                  <a:srgbClr val="2200CC"/>
                </a:solidFill>
                <a:latin typeface="Titillium Web"/>
                <a:ea typeface="Titillium Web"/>
                <a:cs typeface="Titillium Web"/>
                <a:sym typeface="Titillium Web"/>
                <a:hlinkClick r:id="rId4">
                  <a:extLst>
                    <a:ext uri="{A12FA001-AC4F-418D-AE19-62706E023703}">
                      <ahyp:hlinkClr val="tx"/>
                    </a:ext>
                  </a:extLst>
                </a:hlinkClick>
              </a:rPr>
              <a:t>https://la28.org/en/games-plan/venues.html</a:t>
            </a:r>
            <a:endParaRPr sz="1200">
              <a:latin typeface="Titillium Web"/>
              <a:ea typeface="Titillium Web"/>
              <a:cs typeface="Titillium Web"/>
              <a:sym typeface="Titillium Web"/>
            </a:endParaRPr>
          </a:p>
          <a:p>
            <a:pPr indent="-304800" lvl="0" marL="457200" marR="0" rtl="0" algn="l">
              <a:lnSpc>
                <a:spcPct val="115000"/>
              </a:lnSpc>
              <a:spcBef>
                <a:spcPts val="0"/>
              </a:spcBef>
              <a:spcAft>
                <a:spcPts val="0"/>
              </a:spcAft>
              <a:buSzPts val="1200"/>
              <a:buChar char="●"/>
            </a:pPr>
            <a:r>
              <a:rPr b="1" lang="en" sz="1200">
                <a:solidFill>
                  <a:schemeClr val="dk1"/>
                </a:solidFill>
                <a:latin typeface="Titillium Web"/>
                <a:ea typeface="Titillium Web"/>
                <a:cs typeface="Titillium Web"/>
                <a:sym typeface="Titillium Web"/>
              </a:rPr>
              <a:t>Data source</a:t>
            </a:r>
            <a:r>
              <a:rPr lang="en" sz="1200">
                <a:solidFill>
                  <a:schemeClr val="dk1"/>
                </a:solidFill>
                <a:latin typeface="Titillium Web"/>
                <a:ea typeface="Titillium Web"/>
                <a:cs typeface="Titillium Web"/>
                <a:sym typeface="Titillium Web"/>
              </a:rPr>
              <a:t>:  </a:t>
            </a:r>
            <a:r>
              <a:rPr lang="en" sz="1200" u="sng">
                <a:solidFill>
                  <a:schemeClr val="hlink"/>
                </a:solidFill>
                <a:latin typeface="Titillium Web"/>
                <a:ea typeface="Titillium Web"/>
                <a:cs typeface="Titillium Web"/>
                <a:sym typeface="Titillium Web"/>
                <a:hlinkClick r:id="rId5"/>
              </a:rPr>
              <a:t>https://dot.ca.gov/programs/traffic-operations/mpr/pems-source</a:t>
            </a:r>
            <a:endParaRPr sz="1200">
              <a:solidFill>
                <a:schemeClr val="dk1"/>
              </a:solidFill>
              <a:latin typeface="Titillium Web"/>
              <a:ea typeface="Titillium Web"/>
              <a:cs typeface="Titillium Web"/>
              <a:sym typeface="Titillium Web"/>
            </a:endParaRPr>
          </a:p>
          <a:p>
            <a:pPr indent="-304800" lvl="0" marL="457200" marR="0" rtl="0" algn="l">
              <a:lnSpc>
                <a:spcPct val="115000"/>
              </a:lnSpc>
              <a:spcBef>
                <a:spcPts val="0"/>
              </a:spcBef>
              <a:spcAft>
                <a:spcPts val="0"/>
              </a:spcAft>
              <a:buSzPts val="1200"/>
              <a:buChar char="●"/>
            </a:pPr>
            <a:r>
              <a:rPr b="1" lang="en" sz="1200">
                <a:solidFill>
                  <a:schemeClr val="dk1"/>
                </a:solidFill>
                <a:latin typeface="Titillium Web"/>
                <a:ea typeface="Titillium Web"/>
                <a:cs typeface="Titillium Web"/>
                <a:sym typeface="Titillium Web"/>
              </a:rPr>
              <a:t>World Population Review</a:t>
            </a:r>
            <a:r>
              <a:rPr lang="en" sz="1200">
                <a:solidFill>
                  <a:schemeClr val="dk1"/>
                </a:solidFill>
                <a:latin typeface="Titillium Web"/>
                <a:ea typeface="Titillium Web"/>
                <a:cs typeface="Titillium Web"/>
                <a:sym typeface="Titillium Web"/>
              </a:rPr>
              <a:t>:</a:t>
            </a:r>
            <a:r>
              <a:rPr lang="en" sz="1200" u="sng">
                <a:solidFill>
                  <a:schemeClr val="hlink"/>
                </a:solidFill>
                <a:latin typeface="Titillium Web"/>
                <a:ea typeface="Titillium Web"/>
                <a:cs typeface="Titillium Web"/>
                <a:sym typeface="Titillium Web"/>
                <a:hlinkClick r:id="rId6"/>
              </a:rPr>
              <a:t> https://worldpopulationreview.com/us-cities/california/los-angeles</a:t>
            </a:r>
            <a:endParaRPr sz="1200">
              <a:solidFill>
                <a:schemeClr val="dk1"/>
              </a:solidFill>
              <a:latin typeface="Titillium Web"/>
              <a:ea typeface="Titillium Web"/>
              <a:cs typeface="Titillium Web"/>
              <a:sym typeface="Titillium Web"/>
            </a:endParaRPr>
          </a:p>
          <a:p>
            <a:pPr indent="-304800" lvl="0" marL="457200" marR="0" rtl="0" algn="l">
              <a:lnSpc>
                <a:spcPct val="115000"/>
              </a:lnSpc>
              <a:spcBef>
                <a:spcPts val="0"/>
              </a:spcBef>
              <a:spcAft>
                <a:spcPts val="0"/>
              </a:spcAft>
              <a:buSzPts val="1200"/>
              <a:buChar char="●"/>
            </a:pPr>
            <a:r>
              <a:rPr b="1" lang="en" sz="1200">
                <a:solidFill>
                  <a:schemeClr val="dk1"/>
                </a:solidFill>
                <a:latin typeface="Titillium Web"/>
                <a:ea typeface="Titillium Web"/>
                <a:cs typeface="Titillium Web"/>
                <a:sym typeface="Titillium Web"/>
              </a:rPr>
              <a:t>Paris's Website:</a:t>
            </a:r>
            <a:r>
              <a:rPr lang="en" sz="1200" u="sng">
                <a:solidFill>
                  <a:schemeClr val="hlink"/>
                </a:solidFill>
                <a:latin typeface="Titillium Web"/>
                <a:ea typeface="Titillium Web"/>
                <a:cs typeface="Titillium Web"/>
                <a:sym typeface="Titillium Web"/>
                <a:hlinkClick r:id="rId7"/>
              </a:rPr>
              <a:t> https://www.paris.fr/en/pages/paris-2024-games-11-2-million-visitors-to-greater-paris-28160</a:t>
            </a:r>
            <a:r>
              <a:rPr lang="en" sz="1200">
                <a:solidFill>
                  <a:schemeClr val="dk1"/>
                </a:solidFill>
                <a:latin typeface="Titillium Web"/>
                <a:ea typeface="Titillium Web"/>
                <a:cs typeface="Titillium Web"/>
                <a:sym typeface="Titillium Web"/>
              </a:rPr>
              <a:t> </a:t>
            </a:r>
            <a:endParaRPr sz="1200">
              <a:solidFill>
                <a:schemeClr val="dk1"/>
              </a:solidFill>
              <a:latin typeface="Titillium Web"/>
              <a:ea typeface="Titillium Web"/>
              <a:cs typeface="Titillium Web"/>
              <a:sym typeface="Titillium Web"/>
            </a:endParaRPr>
          </a:p>
          <a:p>
            <a:pPr indent="-304800" lvl="0" marL="457200" marR="0" rtl="0" algn="l">
              <a:lnSpc>
                <a:spcPct val="115000"/>
              </a:lnSpc>
              <a:spcBef>
                <a:spcPts val="0"/>
              </a:spcBef>
              <a:spcAft>
                <a:spcPts val="0"/>
              </a:spcAft>
              <a:buSzPts val="1200"/>
              <a:buChar char="●"/>
            </a:pPr>
            <a:r>
              <a:rPr b="1" lang="en" sz="1200">
                <a:solidFill>
                  <a:schemeClr val="dk1"/>
                </a:solidFill>
                <a:latin typeface="Titillium Web"/>
                <a:ea typeface="Titillium Web"/>
                <a:cs typeface="Titillium Web"/>
                <a:sym typeface="Titillium Web"/>
              </a:rPr>
              <a:t>Paris Population Data:</a:t>
            </a:r>
            <a:r>
              <a:rPr lang="en" sz="1200" u="sng">
                <a:solidFill>
                  <a:schemeClr val="hlink"/>
                </a:solidFill>
                <a:latin typeface="Titillium Web"/>
                <a:ea typeface="Titillium Web"/>
                <a:cs typeface="Titillium Web"/>
                <a:sym typeface="Titillium Web"/>
                <a:hlinkClick r:id="rId8"/>
              </a:rPr>
              <a:t> https://www.macrotrends.net/global-metrics/cities/20985/paris/population</a:t>
            </a:r>
            <a:r>
              <a:rPr lang="en" sz="1200">
                <a:solidFill>
                  <a:schemeClr val="dk1"/>
                </a:solidFill>
                <a:latin typeface="Titillium Web"/>
                <a:ea typeface="Titillium Web"/>
                <a:cs typeface="Titillium Web"/>
                <a:sym typeface="Titillium Web"/>
              </a:rPr>
              <a:t> </a:t>
            </a:r>
            <a:endParaRPr sz="1200">
              <a:solidFill>
                <a:schemeClr val="dk1"/>
              </a:solidFill>
              <a:latin typeface="Titillium Web"/>
              <a:ea typeface="Titillium Web"/>
              <a:cs typeface="Titillium Web"/>
              <a:sym typeface="Titillium Web"/>
            </a:endParaRPr>
          </a:p>
          <a:p>
            <a:pPr indent="-304800" lvl="0" marL="457200" marR="0" rtl="0" algn="l">
              <a:lnSpc>
                <a:spcPct val="115000"/>
              </a:lnSpc>
              <a:spcBef>
                <a:spcPts val="0"/>
              </a:spcBef>
              <a:spcAft>
                <a:spcPts val="0"/>
              </a:spcAft>
              <a:buSzPts val="1200"/>
              <a:buChar char="●"/>
            </a:pPr>
            <a:r>
              <a:rPr b="1" lang="en" sz="1200">
                <a:solidFill>
                  <a:schemeClr val="dk1"/>
                </a:solidFill>
                <a:latin typeface="Titillium Web"/>
                <a:ea typeface="Titillium Web"/>
                <a:cs typeface="Titillium Web"/>
                <a:sym typeface="Titillium Web"/>
              </a:rPr>
              <a:t>Paris's "Barometer" Tourism Service:</a:t>
            </a:r>
            <a:r>
              <a:rPr lang="en" sz="1200" u="sng">
                <a:solidFill>
                  <a:schemeClr val="hlink"/>
                </a:solidFill>
                <a:latin typeface="Titillium Web"/>
                <a:ea typeface="Titillium Web"/>
                <a:cs typeface="Titillium Web"/>
                <a:sym typeface="Titillium Web"/>
                <a:hlinkClick r:id="rId9"/>
              </a:rPr>
              <a:t> https://parisjetaime.com/eng/media/article/preliminary-report-olympic-games-a1755</a:t>
            </a:r>
            <a:endParaRPr sz="1200">
              <a:solidFill>
                <a:schemeClr val="dk1"/>
              </a:solidFill>
              <a:latin typeface="Titillium Web"/>
              <a:ea typeface="Titillium Web"/>
              <a:cs typeface="Titillium Web"/>
              <a:sym typeface="Titillium Web"/>
            </a:endParaRPr>
          </a:p>
          <a:p>
            <a:pPr indent="-304800" lvl="0" marL="457200" marR="0" rtl="0" algn="l">
              <a:lnSpc>
                <a:spcPct val="115000"/>
              </a:lnSpc>
              <a:spcBef>
                <a:spcPts val="0"/>
              </a:spcBef>
              <a:spcAft>
                <a:spcPts val="0"/>
              </a:spcAft>
              <a:buSzPts val="1200"/>
              <a:buChar char="●"/>
            </a:pPr>
            <a:r>
              <a:rPr b="1" lang="en" sz="1200">
                <a:solidFill>
                  <a:schemeClr val="dk1"/>
                </a:solidFill>
                <a:latin typeface="Titillium Web"/>
                <a:ea typeface="Titillium Web"/>
                <a:cs typeface="Titillium Web"/>
                <a:sym typeface="Titillium Web"/>
              </a:rPr>
              <a:t>LA Metro Vision 2028 Plan Exec Summary:</a:t>
            </a:r>
            <a:r>
              <a:rPr lang="en" sz="1200">
                <a:solidFill>
                  <a:schemeClr val="dk1"/>
                </a:solidFill>
                <a:uFill>
                  <a:noFill/>
                </a:uFill>
                <a:latin typeface="Titillium Web"/>
                <a:ea typeface="Titillium Web"/>
                <a:cs typeface="Titillium Web"/>
                <a:sym typeface="Titillium Web"/>
                <a:hlinkClick r:id="rId10">
                  <a:extLst>
                    <a:ext uri="{A12FA001-AC4F-418D-AE19-62706E023703}">
                      <ahyp:hlinkClr val="tx"/>
                    </a:ext>
                  </a:extLst>
                </a:hlinkClick>
              </a:rPr>
              <a:t> </a:t>
            </a:r>
            <a:r>
              <a:rPr lang="en" sz="1200" u="sng">
                <a:solidFill>
                  <a:schemeClr val="hlink"/>
                </a:solidFill>
                <a:latin typeface="Titillium Web"/>
                <a:ea typeface="Titillium Web"/>
                <a:cs typeface="Titillium Web"/>
                <a:sym typeface="Titillium Web"/>
                <a:hlinkClick r:id="rId11"/>
              </a:rPr>
              <a:t>https://www.dropbox.com/scl/fo/lx4rqn21oanibe0lfc2ov/AIGhXzOXcRo8uSEmZiiQeM8/_Executive%20Summaries?dl=0&amp;preview=Metro_Vision2028_Plan_ExecSummary_English.pdf&amp;rlkey=teex9wmqu97kyh3um5iip6ul4&amp;subfolder_nav_tracking=1</a:t>
            </a:r>
            <a:endParaRPr sz="1200">
              <a:solidFill>
                <a:schemeClr val="dk1"/>
              </a:solidFill>
              <a:latin typeface="Titillium Web"/>
              <a:ea typeface="Titillium Web"/>
              <a:cs typeface="Titillium Web"/>
              <a:sym typeface="Titillium Web"/>
            </a:endParaRPr>
          </a:p>
          <a:p>
            <a:pPr indent="-304800" lvl="0" marL="457200" marR="0" rtl="0" algn="l">
              <a:lnSpc>
                <a:spcPct val="115000"/>
              </a:lnSpc>
              <a:spcBef>
                <a:spcPts val="0"/>
              </a:spcBef>
              <a:spcAft>
                <a:spcPts val="0"/>
              </a:spcAft>
              <a:buClr>
                <a:schemeClr val="dk1"/>
              </a:buClr>
              <a:buSzPts val="1200"/>
              <a:buChar char="●"/>
            </a:pPr>
            <a:r>
              <a:rPr b="1" lang="en" sz="1200">
                <a:solidFill>
                  <a:schemeClr val="dk1"/>
                </a:solidFill>
                <a:latin typeface="Titillium Web"/>
                <a:ea typeface="Titillium Web"/>
                <a:cs typeface="Titillium Web"/>
                <a:sym typeface="Titillium Web"/>
              </a:rPr>
              <a:t>Public Transportation in LA:</a:t>
            </a:r>
            <a:r>
              <a:rPr lang="en" sz="1200" u="sng">
                <a:solidFill>
                  <a:schemeClr val="hlink"/>
                </a:solidFill>
                <a:latin typeface="Titillium Web"/>
                <a:ea typeface="Titillium Web"/>
                <a:cs typeface="Titillium Web"/>
                <a:sym typeface="Titillium Web"/>
                <a:hlinkClick r:id="rId12"/>
              </a:rPr>
              <a:t> https://storymaps.arcgis.com/stories/5266177c064d4ef2adf4c5088445c6da</a:t>
            </a:r>
            <a:endParaRPr sz="1200">
              <a:solidFill>
                <a:schemeClr val="dk1"/>
              </a:solidFill>
              <a:latin typeface="Titillium Web"/>
              <a:ea typeface="Titillium Web"/>
              <a:cs typeface="Titillium Web"/>
              <a:sym typeface="Titillium Web"/>
            </a:endParaRPr>
          </a:p>
          <a:p>
            <a:pPr indent="-304800" lvl="0" marL="457200" marR="0" rtl="0" algn="l">
              <a:lnSpc>
                <a:spcPct val="115000"/>
              </a:lnSpc>
              <a:spcBef>
                <a:spcPts val="0"/>
              </a:spcBef>
              <a:spcAft>
                <a:spcPts val="0"/>
              </a:spcAft>
              <a:buClr>
                <a:schemeClr val="dk1"/>
              </a:buClr>
              <a:buSzPts val="1200"/>
              <a:buFont typeface="Titillium Web"/>
              <a:buChar char="●"/>
            </a:pPr>
            <a:r>
              <a:rPr b="1" lang="en" sz="1200">
                <a:solidFill>
                  <a:schemeClr val="dk1"/>
                </a:solidFill>
                <a:latin typeface="Titillium Web"/>
                <a:ea typeface="Titillium Web"/>
                <a:cs typeface="Titillium Web"/>
                <a:sym typeface="Titillium Web"/>
              </a:rPr>
              <a:t>Credits (Github repo):</a:t>
            </a:r>
            <a:endParaRPr b="1" sz="1200">
              <a:solidFill>
                <a:schemeClr val="dk1"/>
              </a:solidFill>
              <a:latin typeface="Titillium Web"/>
              <a:ea typeface="Titillium Web"/>
              <a:cs typeface="Titillium Web"/>
              <a:sym typeface="Titillium Web"/>
            </a:endParaRPr>
          </a:p>
          <a:p>
            <a:pPr indent="-304800" lvl="1" marL="914400" marR="0" rtl="0" algn="l">
              <a:lnSpc>
                <a:spcPct val="115000"/>
              </a:lnSpc>
              <a:spcBef>
                <a:spcPts val="0"/>
              </a:spcBef>
              <a:spcAft>
                <a:spcPts val="0"/>
              </a:spcAft>
              <a:buClr>
                <a:schemeClr val="dk1"/>
              </a:buClr>
              <a:buSzPts val="1200"/>
              <a:buChar char="○"/>
            </a:pPr>
            <a:r>
              <a:rPr b="1" lang="en" sz="1200">
                <a:solidFill>
                  <a:schemeClr val="dk1"/>
                </a:solidFill>
                <a:latin typeface="Titillium Web"/>
                <a:ea typeface="Titillium Web"/>
                <a:cs typeface="Titillium Web"/>
                <a:sym typeface="Titillium Web"/>
              </a:rPr>
              <a:t>Liyaguang:</a:t>
            </a:r>
            <a:r>
              <a:rPr lang="en" sz="1200" u="sng">
                <a:solidFill>
                  <a:schemeClr val="hlink"/>
                </a:solidFill>
                <a:latin typeface="Titillium Web"/>
                <a:ea typeface="Titillium Web"/>
                <a:cs typeface="Titillium Web"/>
                <a:sym typeface="Titillium Web"/>
                <a:hlinkClick r:id="rId13"/>
              </a:rPr>
              <a:t>https://raw.githubusercontent.com/liyaguang/DCRNN/refs/heads/master/data/sensor_graph/graph_sensor_locations.csv</a:t>
            </a:r>
            <a:endParaRPr sz="1200">
              <a:solidFill>
                <a:schemeClr val="dk1"/>
              </a:solidFill>
              <a:latin typeface="Titillium Web"/>
              <a:ea typeface="Titillium Web"/>
              <a:cs typeface="Titillium Web"/>
              <a:sym typeface="Titillium Web"/>
            </a:endParaRPr>
          </a:p>
          <a:p>
            <a:pPr indent="-304800" lvl="1" marL="914400" marR="0" rtl="0" algn="l">
              <a:lnSpc>
                <a:spcPct val="115000"/>
              </a:lnSpc>
              <a:spcBef>
                <a:spcPts val="0"/>
              </a:spcBef>
              <a:spcAft>
                <a:spcPts val="0"/>
              </a:spcAft>
              <a:buClr>
                <a:schemeClr val="dk1"/>
              </a:buClr>
              <a:buSzPts val="1200"/>
              <a:buChar char="○"/>
            </a:pPr>
            <a:r>
              <a:rPr b="1" lang="en" sz="1200">
                <a:solidFill>
                  <a:schemeClr val="dk1"/>
                </a:solidFill>
                <a:latin typeface="Titillium Web"/>
                <a:ea typeface="Titillium Web"/>
                <a:cs typeface="Titillium Web"/>
                <a:sym typeface="Titillium Web"/>
              </a:rPr>
              <a:t>Llenmann</a:t>
            </a:r>
            <a:r>
              <a:rPr lang="en" sz="1200">
                <a:solidFill>
                  <a:schemeClr val="dk1"/>
                </a:solidFill>
                <a:latin typeface="Titillium Web"/>
                <a:ea typeface="Titillium Web"/>
                <a:cs typeface="Titillium Web"/>
                <a:sym typeface="Titillium Web"/>
              </a:rPr>
              <a:t>: </a:t>
            </a:r>
            <a:r>
              <a:rPr lang="en" sz="1200" u="sng">
                <a:solidFill>
                  <a:schemeClr val="hlink"/>
                </a:solidFill>
                <a:latin typeface="Titillium Web"/>
                <a:ea typeface="Titillium Web"/>
                <a:cs typeface="Titillium Web"/>
                <a:sym typeface="Titillium Web"/>
                <a:hlinkClick r:id="rId14"/>
              </a:rPr>
              <a:t>https://github.com/llennemann/los-angeles-traffic-forecasting</a:t>
            </a:r>
            <a:endParaRPr sz="1200">
              <a:solidFill>
                <a:schemeClr val="dk1"/>
              </a:solidFill>
              <a:latin typeface="Titillium Web"/>
              <a:ea typeface="Titillium Web"/>
              <a:cs typeface="Titillium Web"/>
              <a:sym typeface="Titillium Web"/>
            </a:endParaRPr>
          </a:p>
          <a:p>
            <a:pPr indent="0" lvl="0" marL="0" marR="0" rtl="0" algn="l">
              <a:lnSpc>
                <a:spcPct val="115000"/>
              </a:lnSpc>
              <a:spcBef>
                <a:spcPts val="0"/>
              </a:spcBef>
              <a:spcAft>
                <a:spcPts val="0"/>
              </a:spcAft>
              <a:buNone/>
            </a:pPr>
            <a:r>
              <a:t/>
            </a:r>
            <a:endParaRPr sz="1200">
              <a:solidFill>
                <a:schemeClr val="dk1"/>
              </a:solidFill>
              <a:latin typeface="Titillium Web"/>
              <a:ea typeface="Titillium Web"/>
              <a:cs typeface="Titillium Web"/>
              <a:sym typeface="Titillium Web"/>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grpSp>
        <p:nvGrpSpPr>
          <p:cNvPr id="215" name="Google Shape;215;p30"/>
          <p:cNvGrpSpPr/>
          <p:nvPr/>
        </p:nvGrpSpPr>
        <p:grpSpPr>
          <a:xfrm>
            <a:off x="3732900" y="1660350"/>
            <a:ext cx="1678200" cy="1822800"/>
            <a:chOff x="631088" y="1598875"/>
            <a:chExt cx="1678200" cy="1822800"/>
          </a:xfrm>
        </p:grpSpPr>
        <p:sp>
          <p:nvSpPr>
            <p:cNvPr id="216" name="Google Shape;216;p30"/>
            <p:cNvSpPr txBox="1"/>
            <p:nvPr/>
          </p:nvSpPr>
          <p:spPr>
            <a:xfrm>
              <a:off x="631088" y="2310475"/>
              <a:ext cx="1678200" cy="1111200"/>
            </a:xfrm>
            <a:prstGeom prst="rect">
              <a:avLst/>
            </a:prstGeom>
            <a:no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5300">
                  <a:solidFill>
                    <a:schemeClr val="dk2"/>
                  </a:solidFill>
                  <a:latin typeface="Bungee"/>
                  <a:ea typeface="Bungee"/>
                  <a:cs typeface="Bungee"/>
                  <a:sym typeface="Bungee"/>
                </a:rPr>
                <a:t>?</a:t>
              </a:r>
              <a:endParaRPr sz="5300">
                <a:solidFill>
                  <a:schemeClr val="dk2"/>
                </a:solidFill>
                <a:latin typeface="Bungee"/>
                <a:ea typeface="Bungee"/>
                <a:cs typeface="Bungee"/>
                <a:sym typeface="Bungee"/>
              </a:endParaRPr>
            </a:p>
          </p:txBody>
        </p:sp>
        <p:sp>
          <p:nvSpPr>
            <p:cNvPr id="217" name="Google Shape;217;p30"/>
            <p:cNvSpPr txBox="1"/>
            <p:nvPr/>
          </p:nvSpPr>
          <p:spPr>
            <a:xfrm>
              <a:off x="631088" y="1598875"/>
              <a:ext cx="1678200" cy="711600"/>
            </a:xfrm>
            <a:prstGeom prst="rect">
              <a:avLst/>
            </a:prstGeom>
            <a:solidFill>
              <a:srgbClr val="595959"/>
            </a:solid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lt1"/>
                  </a:solidFill>
                  <a:latin typeface="Bungee"/>
                  <a:ea typeface="Bungee"/>
                  <a:cs typeface="Bungee"/>
                  <a:sym typeface="Bungee"/>
                </a:rPr>
                <a:t>Questions</a:t>
              </a:r>
              <a:br>
                <a:rPr lang="en" sz="1600">
                  <a:solidFill>
                    <a:schemeClr val="lt1"/>
                  </a:solidFill>
                  <a:latin typeface="Bungee"/>
                  <a:ea typeface="Bungee"/>
                  <a:cs typeface="Bungee"/>
                  <a:sym typeface="Bungee"/>
                </a:rPr>
              </a:br>
              <a:r>
                <a:rPr lang="en" sz="1600">
                  <a:solidFill>
                    <a:schemeClr val="lt1"/>
                  </a:solidFill>
                  <a:latin typeface="Bungee"/>
                  <a:ea typeface="Bungee"/>
                  <a:cs typeface="Bungee"/>
                  <a:sym typeface="Bungee"/>
                </a:rPr>
                <a:t>Feedback</a:t>
              </a:r>
              <a:endParaRPr sz="1600">
                <a:solidFill>
                  <a:schemeClr val="lt1"/>
                </a:solidFill>
                <a:latin typeface="Bungee"/>
                <a:ea typeface="Bungee"/>
                <a:cs typeface="Bungee"/>
                <a:sym typeface="Bungee"/>
              </a:endParaRPr>
            </a:p>
          </p:txBody>
        </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