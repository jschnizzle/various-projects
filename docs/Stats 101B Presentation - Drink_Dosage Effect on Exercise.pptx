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Merriweath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E9CB9C-BC23-4DF9-AE5E-B2A0A51C4CF1}">
  <a:tblStyle styleId="{ACE9CB9C-BC23-4DF9-AE5E-B2A0A51C4C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4bd784ce3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4bd784ce3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4bd784ce3f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4bd784ce3f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4bd784ce3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4bd784ce3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4bd784ce3f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4bd784ce3f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bd784ce3f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4bd784ce3f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25e9544975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25e9544975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4bd784ce3f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4bd784ce3f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25e9544975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25e9544975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25e9544975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25e9544975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25e9544975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25e9544975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26b891b1ae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26b891b1ae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26b891b1ae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26b891b1ae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25e9544975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25e9544975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4e485632d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4e485632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4bd784ce3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4bd784ce3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2744475" y="894150"/>
            <a:ext cx="5779500" cy="12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</a:t>
            </a:r>
            <a:r>
              <a:rPr lang="en"/>
              <a:t>Pre-Workout</a:t>
            </a:r>
            <a:r>
              <a:rPr lang="en"/>
              <a:t> Drink and Dosage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2268048" y="4400060"/>
            <a:ext cx="65517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By Jeremy Shiu, Luke Shen, Kai Zheng, and Derek Nakagawa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350" y="400350"/>
            <a:ext cx="2665201" cy="266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161800" y="318375"/>
            <a:ext cx="3980100" cy="10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/>
              <a:t>Research Question &amp; Motivation</a:t>
            </a:r>
            <a:endParaRPr sz="2920"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409125" y="226775"/>
            <a:ext cx="4499400" cy="26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Many companies and</a:t>
            </a:r>
            <a:r>
              <a:rPr lang="en" sz="1600">
                <a:solidFill>
                  <a:schemeClr val="dk1"/>
                </a:solidFill>
              </a:rPr>
              <a:t> “fitness influencers” have many different methods which they claim can improve your athletic performance. 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How accurate are they? Who to trust?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Some of these methods include runners consuming a lot of carbohydrates leading up to a big run or gym bros taking pre-workout loaded with caffeine.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111850" y="1763375"/>
            <a:ext cx="3980100" cy="14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We Want To Know: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lang="en" sz="1600">
                <a:solidFill>
                  <a:schemeClr val="lt1"/>
                </a:solidFill>
              </a:rPr>
              <a:t>Does consuming certain drinks before you exercise have a significant impact on your performance?</a:t>
            </a:r>
            <a:endParaRPr sz="1600">
              <a:solidFill>
                <a:schemeClr val="lt1"/>
              </a:solidFill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3">
            <a:alphaModFix/>
          </a:blip>
          <a:srcRect b="7520" l="0" r="0" t="7221"/>
          <a:stretch/>
        </p:blipFill>
        <p:spPr>
          <a:xfrm>
            <a:off x="5384700" y="2834375"/>
            <a:ext cx="2548251" cy="21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0" y="265325"/>
            <a:ext cx="3775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Experiment Design</a:t>
            </a:r>
            <a:endParaRPr sz="3600"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882425" y="615250"/>
            <a:ext cx="3127500" cy="19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Experimental Design: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factor ANOV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with inte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raction.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of 9 Treatment Groups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375" y="2384975"/>
            <a:ext cx="4876647" cy="25397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233175" y="1524825"/>
            <a:ext cx="3076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Treatment 1: (Drinks)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Water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Sugar-Free Sports Drink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Sugar Water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233175" y="2756325"/>
            <a:ext cx="2373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Treatment 2: (Dosage)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250 mL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500 mL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750 mL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6863" y="329450"/>
            <a:ext cx="1898568" cy="15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233175" y="3987825"/>
            <a:ext cx="30768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Percent change in bicep curl repetitions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832550" y="213000"/>
            <a:ext cx="3706500" cy="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Literature Review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4227600" y="852386"/>
            <a:ext cx="4916400" cy="38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Ingesting caffeine produces a small, but noticeable and significant difference in muscular strength and overall athletic performance for both trained and untrained individuals. Consuming too much caffeine, however, does tend to produce negative side effects. [1]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Ingesting carbohydrates (sugar) in general is important for maximizing athletic performance and does produce a noticeable difference compared to not in</a:t>
            </a:r>
            <a:r>
              <a:rPr lang="en" sz="1500">
                <a:solidFill>
                  <a:schemeClr val="dk1"/>
                </a:solidFill>
              </a:rPr>
              <a:t>g</a:t>
            </a:r>
            <a:r>
              <a:rPr lang="en" sz="1500">
                <a:solidFill>
                  <a:schemeClr val="dk1"/>
                </a:solidFill>
              </a:rPr>
              <a:t>esting sugar shortly before exercising. [2]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Being hydrated (consuming liquid shortly before exercise) does improve muscle endurance but is more noticeable in endurance sports rather than short bursts of exercise. [3]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088" y="2145600"/>
            <a:ext cx="285750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075" y="437950"/>
            <a:ext cx="1419226" cy="141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3875" y="437938"/>
            <a:ext cx="1181149" cy="1181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 rotWithShape="1">
          <a:blip r:embed="rId6">
            <a:alphaModFix/>
          </a:blip>
          <a:srcRect b="0" l="19421" r="16633" t="0"/>
          <a:stretch/>
        </p:blipFill>
        <p:spPr>
          <a:xfrm>
            <a:off x="1312625" y="3853250"/>
            <a:ext cx="569075" cy="112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/>
          <p:cNvPicPr preferRelativeResize="0"/>
          <p:nvPr/>
        </p:nvPicPr>
        <p:blipFill rotWithShape="1">
          <a:blip r:embed="rId6">
            <a:alphaModFix/>
          </a:blip>
          <a:srcRect b="0" l="19421" r="16633" t="0"/>
          <a:stretch/>
        </p:blipFill>
        <p:spPr>
          <a:xfrm>
            <a:off x="1846288" y="3853250"/>
            <a:ext cx="569075" cy="112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 rotWithShape="1">
          <a:blip r:embed="rId6">
            <a:alphaModFix/>
          </a:blip>
          <a:srcRect b="0" l="19421" r="16633" t="0"/>
          <a:stretch/>
        </p:blipFill>
        <p:spPr>
          <a:xfrm>
            <a:off x="2448525" y="3853250"/>
            <a:ext cx="569075" cy="112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25" y="317700"/>
            <a:ext cx="3706500" cy="10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Size Determination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4663600" y="591750"/>
            <a:ext cx="3976200" cy="3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Desired </a:t>
            </a:r>
            <a:r>
              <a:rPr lang="en" sz="1900">
                <a:solidFill>
                  <a:schemeClr val="dk1"/>
                </a:solidFill>
              </a:rPr>
              <a:t>Power: 80%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Total of 9 Treatment Groups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Effect Size = 0.25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Significance Level: 0.05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Total of 252 participants needed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~28 Participants per Treatment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900" y="1583206"/>
            <a:ext cx="3798150" cy="3309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Methodology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207000" y="144025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Participants</a:t>
            </a:r>
            <a:endParaRPr sz="19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We chose to sample specifically men in the age bracket of 18-30 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Significant effect of age and gender on muscular strength </a:t>
            </a:r>
            <a:r>
              <a:rPr lang="en" sz="1500">
                <a:solidFill>
                  <a:schemeClr val="dk1"/>
                </a:solidFill>
              </a:rPr>
              <a:t>[4]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Minimize effect of </a:t>
            </a:r>
            <a:r>
              <a:rPr lang="en" sz="1500">
                <a:solidFill>
                  <a:schemeClr val="dk1"/>
                </a:solidFill>
              </a:rPr>
              <a:t>individual</a:t>
            </a:r>
            <a:r>
              <a:rPr lang="en" sz="1500">
                <a:solidFill>
                  <a:schemeClr val="dk1"/>
                </a:solidFill>
              </a:rPr>
              <a:t> variation in raw strength with percent difference as the response variable.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832425" y="144025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Methodology</a:t>
            </a:r>
            <a:endParaRPr sz="19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Take baseline measurement, wait at least a day, and then apply treatment and measure again.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NOT A RANDOM SAMPLE</a:t>
            </a:r>
            <a:r>
              <a:rPr lang="en" sz="1500">
                <a:solidFill>
                  <a:schemeClr val="dk1"/>
                </a:solidFill>
              </a:rPr>
              <a:t> from the population as that was logistically impossible.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We did pseudo-randomly assign the samples into groups and then pseudo-randomly assigned a treatment to each group.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25" y="317700"/>
            <a:ext cx="3706500" cy="10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Response Variable</a:t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715950" y="391161"/>
            <a:ext cx="3976200" cy="33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X1 = Baseline Test (drink nothing)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X2 = New Value (treatment drink)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Response Variable = (X2-X1)/(X1)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Need to compare relative to their own </a:t>
            </a:r>
            <a:r>
              <a:rPr b="1" lang="en" sz="1900">
                <a:solidFill>
                  <a:schemeClr val="dk1"/>
                </a:solidFill>
              </a:rPr>
              <a:t>baseline</a:t>
            </a:r>
            <a:r>
              <a:rPr b="1" lang="en" sz="1900">
                <a:solidFill>
                  <a:schemeClr val="dk1"/>
                </a:solidFill>
              </a:rPr>
              <a:t> performance!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601225" y="1070950"/>
            <a:ext cx="3127500" cy="13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treatment drink (X2), we wait 30 minutes after finishing the drink before testing strength</a:t>
            </a:r>
            <a:endParaRPr b="1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950" y="3357950"/>
            <a:ext cx="1707025" cy="17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5125" y="3357950"/>
            <a:ext cx="1707025" cy="170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692825" y="2571750"/>
            <a:ext cx="3127500" cy="9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Takes ~30 minutes for both caffeine &amp; sugar to make it into the bloodstream</a:t>
            </a:r>
            <a:endParaRPr b="1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601225" y="4221375"/>
            <a:ext cx="3127500" cy="8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(also similar to amount of time it takes to drive to gym)</a:t>
            </a:r>
            <a:endParaRPr b="1"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ANOVA Table</a:t>
            </a:r>
            <a:endParaRPr/>
          </a:p>
        </p:txBody>
      </p:sp>
      <p:graphicFrame>
        <p:nvGraphicFramePr>
          <p:cNvPr id="128" name="Google Shape;128;p20"/>
          <p:cNvGraphicFramePr/>
          <p:nvPr/>
        </p:nvGraphicFramePr>
        <p:xfrm>
          <a:off x="811475" y="176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{ACE9CB9C-BC23-4DF9-AE5E-B2A0A51C4CF1}</a:tableStyleId>
              </a:tblPr>
              <a:tblGrid>
                <a:gridCol w="1324575"/>
                <a:gridCol w="1213075"/>
                <a:gridCol w="1232750"/>
                <a:gridCol w="1337700"/>
                <a:gridCol w="1206500"/>
                <a:gridCol w="1206500"/>
              </a:tblGrid>
              <a:tr h="31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DF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Sum Squares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Mean Squares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F-Value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P-Value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Dosage (mL)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0.0047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0.002347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0.294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0.7458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Drink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0.0207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0.010370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1.298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0.2750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Dosage:Drink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0.0631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0.015786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1.975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0.0989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Residuals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243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1.9419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0.007991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idx="2" type="body"/>
          </p:nvPr>
        </p:nvSpPr>
        <p:spPr>
          <a:xfrm>
            <a:off x="4879025" y="270925"/>
            <a:ext cx="39540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Residual vs. Fitted Plot</a:t>
            </a:r>
            <a:endParaRPr sz="2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4" name="Google Shape;134;p21"/>
          <p:cNvSpPr txBox="1"/>
          <p:nvPr>
            <p:ph idx="1" type="subTitle"/>
          </p:nvPr>
        </p:nvSpPr>
        <p:spPr>
          <a:xfrm>
            <a:off x="854500" y="270925"/>
            <a:ext cx="28137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Merriweather"/>
                <a:ea typeface="Merriweather"/>
                <a:cs typeface="Merriweather"/>
                <a:sym typeface="Merriweather"/>
              </a:rPr>
              <a:t>Normal Q-Q Plot</a:t>
            </a:r>
            <a:endParaRPr sz="25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13" y="1641700"/>
            <a:ext cx="4183476" cy="258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5950" y="1670325"/>
            <a:ext cx="4137076" cy="255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idx="2" type="body"/>
          </p:nvPr>
        </p:nvSpPr>
        <p:spPr>
          <a:xfrm>
            <a:off x="4879025" y="270925"/>
            <a:ext cx="39540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Constant Leverage Plot</a:t>
            </a:r>
            <a:endParaRPr sz="25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2" name="Google Shape;142;p22"/>
          <p:cNvSpPr txBox="1"/>
          <p:nvPr>
            <p:ph idx="1" type="subTitle"/>
          </p:nvPr>
        </p:nvSpPr>
        <p:spPr>
          <a:xfrm>
            <a:off x="450059" y="293734"/>
            <a:ext cx="3651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513">
                <a:latin typeface="Merriweather"/>
                <a:ea typeface="Merriweather"/>
                <a:cs typeface="Merriweather"/>
                <a:sym typeface="Merriweather"/>
              </a:rPr>
              <a:t>Scale-Location Plot</a:t>
            </a:r>
            <a:endParaRPr sz="2513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325" y="1619900"/>
            <a:ext cx="4229400" cy="26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961" y="1619912"/>
            <a:ext cx="3954001" cy="2440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Tukey Test</a:t>
            </a:r>
            <a:endParaRPr/>
          </a:p>
        </p:txBody>
      </p:sp>
      <p:graphicFrame>
        <p:nvGraphicFramePr>
          <p:cNvPr id="150" name="Google Shape;150;p23"/>
          <p:cNvGraphicFramePr/>
          <p:nvPr/>
        </p:nvGraphicFramePr>
        <p:xfrm>
          <a:off x="394000" y="181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{ACE9CB9C-BC23-4DF9-AE5E-B2A0A51C4CF1}</a:tableStyleId>
              </a:tblPr>
              <a:tblGrid>
                <a:gridCol w="1671200"/>
                <a:gridCol w="1671200"/>
                <a:gridCol w="1671200"/>
                <a:gridCol w="1671200"/>
                <a:gridCol w="1671200"/>
              </a:tblGrid>
              <a:tr h="52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Dosage(mL)</a:t>
                      </a: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diff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lwr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upr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 adj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500-250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-0.004826190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-0.03735409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0.02770171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0.9347685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750-250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-0.010558333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-0.04308623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0.02196957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0.7245535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750-500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-0.005732143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-0.03826004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0.02679576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0.9092478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Tukey Test</a:t>
            </a:r>
            <a:endParaRPr/>
          </a:p>
        </p:txBody>
      </p:sp>
      <p:graphicFrame>
        <p:nvGraphicFramePr>
          <p:cNvPr id="156" name="Google Shape;156;p24"/>
          <p:cNvGraphicFramePr/>
          <p:nvPr/>
        </p:nvGraphicFramePr>
        <p:xfrm>
          <a:off x="311725" y="173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{ACE9CB9C-BC23-4DF9-AE5E-B2A0A51C4CF1}</a:tableStyleId>
              </a:tblPr>
              <a:tblGrid>
                <a:gridCol w="2089550"/>
                <a:gridCol w="1535900"/>
                <a:gridCol w="1611050"/>
                <a:gridCol w="1579975"/>
                <a:gridCol w="1704125"/>
              </a:tblGrid>
              <a:tr h="4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Drink</a:t>
                      </a:r>
                      <a:endParaRPr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diff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lwr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upr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 adj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sugar water    —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sugar free energy drink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-0.004826190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-0.03735409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0.02770171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0.9347685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w</a:t>
                      </a: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ater              —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sugar free energy drink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-0.010558333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-0.04308623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0.02196957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0.7245535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w</a:t>
                      </a: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ater              —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sugar water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-0.005732143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-0.03826004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0.02679576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0.9092478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Boxplot</a:t>
            </a:r>
            <a:endParaRPr/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850" y="375188"/>
            <a:ext cx="5085924" cy="43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0" y="265325"/>
            <a:ext cx="3775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Conclusions!</a:t>
            </a:r>
            <a:endParaRPr sz="3600"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324000" y="1594500"/>
            <a:ext cx="3127500" cy="19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data seems to fit the model based on graphs in previous slide, so it’s safe to make assumptions!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3860957" y="270730"/>
            <a:ext cx="5057400" cy="46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No significant factors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: Based on the data, both type of energy drinks and dosage of energy drink did not achieve significant p-values. 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○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Unexpected result 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based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 on literature review - perhaps we should try a new exercise test next time.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On average, the sugar-free energy drink had the strongest positive effect on bicep curls (as expected), but it was not enough to reach statistical significance.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" sz="1700">
                <a:latin typeface="Roboto"/>
                <a:ea typeface="Roboto"/>
                <a:cs typeface="Roboto"/>
                <a:sym typeface="Roboto"/>
              </a:rPr>
              <a:t>No significant interaction between factors</a:t>
            </a:r>
            <a:r>
              <a:rPr lang="en" sz="1700">
                <a:latin typeface="Roboto"/>
                <a:ea typeface="Roboto"/>
                <a:cs typeface="Roboto"/>
                <a:sym typeface="Roboto"/>
              </a:rPr>
              <a:t>: However, out of all of the F-tests, the p-value for dosage:drink interaction was closest to significant.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Diagnostic plots look great, so we can conclude that the model was valid.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Research Questions</a:t>
            </a: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524875" y="1624100"/>
            <a:ext cx="8096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do varying amounts of caffeine content within the same drink affect bicep strength?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long should one wait after drinking an energy drink in order to see the maximum boost in athletic performance?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do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different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drinks and/or dosages affect performance in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exercises besides bicep curls (sprinting, long-distance running, maximum bench press, etc.)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Are athletic performance improvements from energy drinks purely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physiological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or is some of the effect attributable to psychological effects (placebo effect)?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81" name="Google Shape;181;p28"/>
          <p:cNvSpPr txBox="1"/>
          <p:nvPr>
            <p:ph idx="4294967295" type="body"/>
          </p:nvPr>
        </p:nvSpPr>
        <p:spPr>
          <a:xfrm>
            <a:off x="311700" y="1400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Guest, Nanci S., et al. “International Society of Sports Nutrition Position Stand: Caffeine and Exercise Performance - Journal of the International Society of Sports Nutrition.” </a:t>
            </a:r>
            <a:r>
              <a:rPr i="1" lang="en" sz="1400">
                <a:solidFill>
                  <a:schemeClr val="dk1"/>
                </a:solidFill>
              </a:rPr>
              <a:t>BioMed Central</a:t>
            </a:r>
            <a:r>
              <a:rPr lang="en" sz="1400">
                <a:solidFill>
                  <a:schemeClr val="dk1"/>
                </a:solidFill>
              </a:rPr>
              <a:t>, 2 Jan. 2021, jissn.biomedcentral.com/articles/10.1186/s12970-020-00383-4.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Peinado, Ana B et al. “El azúcar y el ejercicio físico: su importancia en los deportistas” [Sugar and exercise: its importance in athletes]. </a:t>
            </a:r>
            <a:r>
              <a:rPr i="1" lang="en" sz="1400">
                <a:solidFill>
                  <a:schemeClr val="dk1"/>
                </a:solidFill>
                <a:highlight>
                  <a:srgbClr val="FFFFFF"/>
                </a:highlight>
              </a:rPr>
              <a:t>Nutricion hospitalaria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 vol. 28 Suppl 4 (2013): 48-56. doi:10.3305/nh.2013.28.sup4.6796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Von Duvillard, Serge P et al. “Fluids and hydration in prolonged endurance performance.” </a:t>
            </a:r>
            <a:r>
              <a:rPr i="1"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Nutrition (Burbank, Los Angeles County, Calif.)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vol. 20,7-8 (2004): 651-6. doi:10.1016/j.nut.2004.04.011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Guest, Nanci S., et al. “International Society of Sports Nutrition Position Stand: Caffeine and Exercise Performance - Journal of the International Society of Sports Nutrition.” </a:t>
            </a:r>
            <a:r>
              <a:rPr i="1" lang="en" sz="1400">
                <a:solidFill>
                  <a:schemeClr val="dk1"/>
                </a:solidFill>
              </a:rPr>
              <a:t>BioMed Central</a:t>
            </a:r>
            <a:r>
              <a:rPr lang="en" sz="1400">
                <a:solidFill>
                  <a:schemeClr val="dk1"/>
                </a:solidFill>
              </a:rPr>
              <a:t>, 2 Jan. 2021, jissn.biomedcentral.com/articles/10.1186/s12970-020-00383-4. </a:t>
            </a:r>
            <a:endParaRPr sz="1400">
              <a:solidFill>
                <a:schemeClr val="accent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