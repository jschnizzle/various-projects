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Space Mono"/>
      <p:regular r:id="rId30"/>
      <p:bold r:id="rId31"/>
      <p:italic r:id="rId32"/>
      <p:boldItalic r:id="rId33"/>
    </p:embeddedFont>
    <p:embeddedFont>
      <p:font typeface="Inter Tight Medium"/>
      <p:regular r:id="rId34"/>
      <p:bold r:id="rId35"/>
      <p:italic r:id="rId36"/>
      <p:boldItalic r:id="rId37"/>
    </p:embeddedFont>
    <p:embeddedFont>
      <p:font typeface="Inter Tight ExtraBold"/>
      <p:bold r:id="rId38"/>
      <p:boldItalic r:id="rId39"/>
    </p:embeddedFont>
    <p:embeddedFont>
      <p:font typeface="Inter Tight"/>
      <p:regular r:id="rId40"/>
      <p:bold r:id="rId41"/>
      <p:italic r:id="rId42"/>
      <p:boldItalic r:id="rId43"/>
    </p:embeddedFont>
    <p:embeddedFont>
      <p:font typeface="Inter Tight SemiBold"/>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907A41-1D0B-4578-A4FD-13F027A7D952}">
  <a:tblStyle styleId="{C2907A41-1D0B-4578-A4FD-13F027A7D95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B66E5CE-1FAA-4199-BB46-567A2A697CA8}"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Tight-regular.fntdata"/><Relationship Id="rId20" Type="http://schemas.openxmlformats.org/officeDocument/2006/relationships/slide" Target="slides/slide14.xml"/><Relationship Id="rId42" Type="http://schemas.openxmlformats.org/officeDocument/2006/relationships/font" Target="fonts/InterTight-italic.fntdata"/><Relationship Id="rId41" Type="http://schemas.openxmlformats.org/officeDocument/2006/relationships/font" Target="fonts/InterTight-bold.fntdata"/><Relationship Id="rId22" Type="http://schemas.openxmlformats.org/officeDocument/2006/relationships/slide" Target="slides/slide16.xml"/><Relationship Id="rId44" Type="http://schemas.openxmlformats.org/officeDocument/2006/relationships/font" Target="fonts/InterTightSemiBold-regular.fntdata"/><Relationship Id="rId21" Type="http://schemas.openxmlformats.org/officeDocument/2006/relationships/slide" Target="slides/slide15.xml"/><Relationship Id="rId43" Type="http://schemas.openxmlformats.org/officeDocument/2006/relationships/font" Target="fonts/InterTight-boldItalic.fntdata"/><Relationship Id="rId24" Type="http://schemas.openxmlformats.org/officeDocument/2006/relationships/slide" Target="slides/slide18.xml"/><Relationship Id="rId46" Type="http://schemas.openxmlformats.org/officeDocument/2006/relationships/font" Target="fonts/InterTightSemiBold-italic.fntdata"/><Relationship Id="rId23" Type="http://schemas.openxmlformats.org/officeDocument/2006/relationships/slide" Target="slides/slide17.xml"/><Relationship Id="rId45" Type="http://schemas.openxmlformats.org/officeDocument/2006/relationships/font" Target="fonts/InterTight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InterTightSemiBold-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SpaceMono-bold.fntdata"/><Relationship Id="rId30" Type="http://schemas.openxmlformats.org/officeDocument/2006/relationships/font" Target="fonts/SpaceMono-regular.fntdata"/><Relationship Id="rId11" Type="http://schemas.openxmlformats.org/officeDocument/2006/relationships/slide" Target="slides/slide5.xml"/><Relationship Id="rId33" Type="http://schemas.openxmlformats.org/officeDocument/2006/relationships/font" Target="fonts/SpaceMono-boldItalic.fntdata"/><Relationship Id="rId10" Type="http://schemas.openxmlformats.org/officeDocument/2006/relationships/slide" Target="slides/slide4.xml"/><Relationship Id="rId32" Type="http://schemas.openxmlformats.org/officeDocument/2006/relationships/font" Target="fonts/SpaceMono-italic.fntdata"/><Relationship Id="rId13" Type="http://schemas.openxmlformats.org/officeDocument/2006/relationships/slide" Target="slides/slide7.xml"/><Relationship Id="rId35" Type="http://schemas.openxmlformats.org/officeDocument/2006/relationships/font" Target="fonts/InterTightMedium-bold.fntdata"/><Relationship Id="rId12" Type="http://schemas.openxmlformats.org/officeDocument/2006/relationships/slide" Target="slides/slide6.xml"/><Relationship Id="rId34" Type="http://schemas.openxmlformats.org/officeDocument/2006/relationships/font" Target="fonts/InterTightMedium-regular.fntdata"/><Relationship Id="rId15" Type="http://schemas.openxmlformats.org/officeDocument/2006/relationships/slide" Target="slides/slide9.xml"/><Relationship Id="rId37" Type="http://schemas.openxmlformats.org/officeDocument/2006/relationships/font" Target="fonts/InterTightMedium-boldItalic.fntdata"/><Relationship Id="rId14" Type="http://schemas.openxmlformats.org/officeDocument/2006/relationships/slide" Target="slides/slide8.xml"/><Relationship Id="rId36" Type="http://schemas.openxmlformats.org/officeDocument/2006/relationships/font" Target="fonts/InterTightMedium-italic.fntdata"/><Relationship Id="rId17" Type="http://schemas.openxmlformats.org/officeDocument/2006/relationships/slide" Target="slides/slide11.xml"/><Relationship Id="rId39" Type="http://schemas.openxmlformats.org/officeDocument/2006/relationships/font" Target="fonts/InterTightExtraBold-boldItalic.fntdata"/><Relationship Id="rId16" Type="http://schemas.openxmlformats.org/officeDocument/2006/relationships/slide" Target="slides/slide10.xml"/><Relationship Id="rId38" Type="http://schemas.openxmlformats.org/officeDocument/2006/relationships/font" Target="fonts/InterTightExtraBold-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Welcome, prospective investors!</a:t>
            </a:r>
            <a:endParaRPr/>
          </a:p>
          <a:p>
            <a:pPr indent="0" lvl="0" marL="0" rtl="0" algn="l">
              <a:lnSpc>
                <a:spcPct val="115000"/>
              </a:lnSpc>
              <a:spcBef>
                <a:spcPts val="1200"/>
              </a:spcBef>
              <a:spcAft>
                <a:spcPts val="0"/>
              </a:spcAft>
              <a:buClr>
                <a:schemeClr val="dk1"/>
              </a:buClr>
              <a:buSzPts val="1100"/>
              <a:buFont typeface="Arial"/>
              <a:buNone/>
            </a:pPr>
            <a:r>
              <a:rPr lang="en"/>
              <a:t>Today, my team of DarkPebble analysts and I will walk you through several proposed real estate investment portfolios.</a:t>
            </a:r>
            <a:endParaRPr/>
          </a:p>
          <a:p>
            <a:pPr indent="0" lvl="0" marL="0" rtl="0" algn="l">
              <a:lnSpc>
                <a:spcPct val="115000"/>
              </a:lnSpc>
              <a:spcBef>
                <a:spcPts val="1200"/>
              </a:spcBef>
              <a:spcAft>
                <a:spcPts val="1200"/>
              </a:spcAft>
              <a:buNone/>
            </a:pPr>
            <a:r>
              <a:rPr lang="en"/>
              <a:t>Our goal is simple: extract as much value as possible from California’s overburdened, supply-constrained housing markets—and turn around and fill your pockets, all while California residents remain none the wiser.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b5a77b4c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b5a77b4c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SECTION 3</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b5a77b4c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b5a77b4c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DAN: Now is an excellent time to significantly increase our real estate investment. After a post-COVID downturn, the global economy is finally moving closer to its strength from the mid-2010s. There’s now a </a:t>
            </a:r>
            <a:r>
              <a:rPr lang="en"/>
              <a:t>consensus</a:t>
            </a:r>
            <a:r>
              <a:rPr lang="en"/>
              <a:t> among investment firms that conditions are more favorable, especially with regard to interest rates. We should use our strength in the scale of committed capital to strike early in this upswing, rather than </a:t>
            </a:r>
            <a:r>
              <a:rPr lang="en"/>
              <a:t>chasing</a:t>
            </a:r>
            <a:r>
              <a:rPr lang="en"/>
              <a:t> higher valuations later. </a:t>
            </a:r>
            <a:br>
              <a:rPr lang="en"/>
            </a:br>
            <a:br>
              <a:rPr b="1" lang="en"/>
            </a:br>
            <a:r>
              <a:rPr b="1" lang="en"/>
              <a:t>Proposed Finance Villain Edit: </a:t>
            </a:r>
            <a:r>
              <a:rPr lang="en"/>
              <a:t>Now is an excellent time to dramatically expand our real estate positions. After the post-COVID downturn, the global economy is finally snapping back toward the strength we enjoyed in the mid-2010s. There’s growing consensus across major investment firms that conditions are turning decisively in our favor, especially with respect to interest rates. We should leverage our advantage in committed capital to move aggressively at the front end of this upswing… before less-capitalized buyers push valuations higher. The window to capture distressed assets and reposition them for maximum shareholder value won’t stay open long, and hesitation only leaves margin on the table for others.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b5a77b4c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b5a77b4c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a:solidFill>
                  <a:srgbClr val="595959"/>
                </a:solidFill>
              </a:rPr>
              <a:t>DAN: So, with that in mind, as we enter this cycle aiming to proactively predict market market opportunities, it will be vital to leverage the many new, complex sources of information which were simply not available in the last cyclical peak in the 2010s. This modern data is larger and more diverse, and you will see that we have used it to extensively analyze numerous interrelated factors at play in real estate markets.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b5a77b4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b5a77b4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595959"/>
                </a:solidFill>
                <a:latin typeface="Inter Tight"/>
                <a:ea typeface="Inter Tight"/>
                <a:cs typeface="Inter Tight"/>
                <a:sym typeface="Inter Tight"/>
              </a:rPr>
              <a:t>We have the rare opportunity to drive massive growth in previously underutilized areas, in synergy with our already high AI and technology investments. </a:t>
            </a:r>
            <a:r>
              <a:rPr lang="en">
                <a:solidFill>
                  <a:srgbClr val="595959"/>
                </a:solidFill>
                <a:latin typeface="Inter Tight"/>
                <a:ea typeface="Inter Tight"/>
                <a:cs typeface="Inter Tight"/>
                <a:sym typeface="Inter Tight"/>
              </a:rPr>
              <a:t>Mega forces like digitalization and AI are increasing the global opportunity set for private infrastructure investment. While office real estate continues to see decreased leverage, residential and especially industrial markets are showing clear signs of recovery. </a:t>
            </a:r>
            <a:endParaRPr>
              <a:solidFill>
                <a:srgbClr val="595959"/>
              </a:solidFill>
              <a:latin typeface="Inter Tight"/>
              <a:ea typeface="Inter Tight"/>
              <a:cs typeface="Inter Tight"/>
              <a:sym typeface="Inter T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acd18aae8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acd18aae8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SECTION 3:</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d546a2dea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d546a2dea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Sungjin Choi</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Proposed Edit: </a:t>
            </a:r>
            <a:br>
              <a:rPr lang="en"/>
            </a:br>
            <a:r>
              <a:rPr lang="en">
                <a:solidFill>
                  <a:schemeClr val="dk1"/>
                </a:solidFill>
              </a:rPr>
              <a:t>For our housing/rental analysis…</a:t>
            </a:r>
            <a:endParaRPr>
              <a:solidFill>
                <a:schemeClr val="dk1"/>
              </a:solidFill>
            </a:endParaRPr>
          </a:p>
          <a:p>
            <a:pPr indent="0" lvl="0" marL="0" rtl="0" algn="l">
              <a:spcBef>
                <a:spcPts val="0"/>
              </a:spcBef>
              <a:spcAft>
                <a:spcPts val="0"/>
              </a:spcAft>
              <a:buNone/>
            </a:pPr>
            <a:br>
              <a:rPr lang="en">
                <a:solidFill>
                  <a:schemeClr val="dk1"/>
                </a:solidFill>
              </a:rPr>
            </a:br>
            <a:r>
              <a:rPr lang="en">
                <a:solidFill>
                  <a:schemeClr val="dk1"/>
                </a:solidFill>
              </a:rPr>
              <a:t>We rely on Zillow’s Home Value Index, or ZHVI, as our home price benchmark. Then we reference one-year price changes and the three-year compounded annual growth rates, capturing both short and long term trends.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For rentals, we use the latest fair-market rent estimate, the year-over-year change in rent, and a simple actual yield–these help us capture both rent momentum and basic cash-flow potential.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we understand investors might be concerned about income and demographic differences between portfolio worthy counties, so we’ve standardized these characteristics then placed each county on a 0-100 ranking, giving you all the clearest picture of investment worthiness. </a:t>
            </a:r>
            <a:endParaRPr>
              <a:solidFill>
                <a:schemeClr val="dk1"/>
              </a:solidFill>
            </a:endParaRPr>
          </a:p>
          <a:p>
            <a:pPr indent="0" lvl="0" marL="0" rtl="0" algn="l">
              <a:spcBef>
                <a:spcPts val="1200"/>
              </a:spcBef>
              <a:spcAft>
                <a:spcPts val="0"/>
              </a:spcAft>
              <a:buNone/>
            </a:pPr>
            <a:r>
              <a:rPr lang="en">
                <a:solidFill>
                  <a:schemeClr val="dk1"/>
                </a:solidFill>
              </a:rPr>
              <a:t>If you’re interested in our workflow, on the right is the diagram where we start with raw, county-level features. Once the data is cleaned, we engineered features to monitor growth rates, market tightness, etc. allowing us to identify the highest ROI regions that will also put up the least fight when we scoop up underdeveloped property and kick-out financially constrained tenants in favor of deep-pocketed migrants. </a:t>
            </a:r>
            <a:endParaRPr>
              <a:solidFill>
                <a:schemeClr val="dk1"/>
              </a:solidFill>
            </a:endParaRPr>
          </a:p>
          <a:p>
            <a:pPr indent="0" lvl="0" marL="0" rtl="0" algn="l">
              <a:spcBef>
                <a:spcPts val="0"/>
              </a:spcBef>
              <a:spcAft>
                <a:spcPts val="0"/>
              </a:spcAft>
              <a:buClr>
                <a:schemeClr val="dk1"/>
              </a:buClr>
              <a:buSzPts val="1100"/>
              <a:buFont typeface="Arial"/>
              <a:buNone/>
            </a:pPr>
            <a:br>
              <a:rPr lang="en"/>
            </a:b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d546a2dea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d546a2dea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Sungjin Choi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 we look at county-level price growth in California.</a:t>
            </a:r>
            <a:br>
              <a:rPr lang="en">
                <a:solidFill>
                  <a:schemeClr val="dk1"/>
                </a:solidFill>
              </a:rPr>
            </a:br>
            <a:r>
              <a:rPr lang="en">
                <a:solidFill>
                  <a:schemeClr val="dk1"/>
                </a:solidFill>
              </a:rPr>
              <a:t> On the left, the 3-year ranking shows that Imperial County leads by a large margin, and counties like San Luis Obispo, Kings, and Santa Clara also appear consistently near the top.</a:t>
            </a:r>
            <a:br>
              <a:rPr lang="en">
                <a:solidFill>
                  <a:schemeClr val="dk1"/>
                </a:solidFill>
              </a:rPr>
            </a:br>
            <a:r>
              <a:rPr lang="en">
                <a:solidFill>
                  <a:schemeClr val="dk1"/>
                </a:solidFill>
              </a:rPr>
              <a:t> The 1-year ranking on the right is softer overall, but the same counties still show positive momentum.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When we compare this to the metro trends below, we can see that major metros flattened after 2022, while several smaller counties continued to grow.</a:t>
            </a:r>
            <a:br>
              <a:rPr lang="en">
                <a:solidFill>
                  <a:schemeClr val="dk1"/>
                </a:solidFill>
              </a:rPr>
            </a:br>
            <a:r>
              <a:rPr lang="en">
                <a:solidFill>
                  <a:schemeClr val="dk1"/>
                </a:solidFill>
              </a:rPr>
              <a:t> This suggests that some of the emerging </a:t>
            </a:r>
            <a:r>
              <a:rPr lang="en">
                <a:solidFill>
                  <a:schemeClr val="dk1"/>
                </a:solidFill>
              </a:rPr>
              <a:t>countries</a:t>
            </a:r>
            <a:r>
              <a:rPr lang="en">
                <a:solidFill>
                  <a:schemeClr val="dk1"/>
                </a:solidFill>
              </a:rPr>
              <a:t> are holding their momentum better than the large coastal markets</a:t>
            </a:r>
            <a:endParaRPr>
              <a:solidFill>
                <a:schemeClr val="dk1"/>
              </a:solidFill>
            </a:endParaRPr>
          </a:p>
          <a:p>
            <a:pPr indent="0" lvl="0" marL="0" rtl="0" algn="l">
              <a:spcBef>
                <a:spcPts val="1200"/>
              </a:spcBef>
              <a:spcAft>
                <a:spcPts val="0"/>
              </a:spcAft>
              <a:buNone/>
            </a:pPr>
            <a:r>
              <a:rPr b="1" lang="en"/>
              <a:t>Proposed Edit: </a:t>
            </a:r>
            <a:endParaRPr b="1"/>
          </a:p>
          <a:p>
            <a:pPr indent="0" lvl="0" marL="0" rtl="0" algn="l">
              <a:spcBef>
                <a:spcPts val="0"/>
              </a:spcBef>
              <a:spcAft>
                <a:spcPts val="0"/>
              </a:spcAft>
              <a:buNone/>
            </a:pPr>
            <a:r>
              <a:rPr lang="en"/>
              <a:t>Here we examine county-level price growth across California.</a:t>
            </a:r>
            <a:br>
              <a:rPr lang="en"/>
            </a:br>
            <a:r>
              <a:rPr lang="en"/>
              <a:t> On the left, the three-year ranking shows Imperial County pulling far ahead of the rest of the state, with San Luis Obispo, Kings, and Santa Clara also delivering reliably strong appreciation.</a:t>
            </a:r>
            <a:br>
              <a:rPr lang="en"/>
            </a:br>
            <a:r>
              <a:rPr lang="en"/>
              <a:t> The one-year ranking on the right is softer, but these same counties continue to post meaningful gains. These are clear clear signs that momentum hasn’t bled out the way it has elsewhere.</a:t>
            </a:r>
            <a:endParaRPr/>
          </a:p>
          <a:p>
            <a:pPr indent="0" lvl="0" marL="0" rtl="0" algn="l">
              <a:lnSpc>
                <a:spcPct val="115000"/>
              </a:lnSpc>
              <a:spcBef>
                <a:spcPts val="1200"/>
              </a:spcBef>
              <a:spcAft>
                <a:spcPts val="0"/>
              </a:spcAft>
              <a:buNone/>
            </a:pPr>
            <a:r>
              <a:rPr lang="en"/>
              <a:t>Comparing this to the metro trends below, we see major metros flattening after 2022, effectively capping their upside, while several smaller counties kept compounding unchecked.</a:t>
            </a:r>
            <a:br>
              <a:rPr lang="en"/>
            </a:br>
            <a:r>
              <a:rPr lang="en"/>
              <a:t> This split makes the opportunity obvious: these emerging counties are still generating growth while the coastal markets stall. They represent regions where we can move ahead of slower capital, capture appreciation while others hesitate, and extract value from markets that are still running hot beneath the surface.</a:t>
            </a:r>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d582418cf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d582418cf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solidFill>
                  <a:schemeClr val="dk1"/>
                </a:solidFill>
              </a:rPr>
              <a:t>Hochan</a:t>
            </a: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This is the standardized investment score model (a.k.a z-score)  to maximize our investment regions.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The score has calculated based on the various dimensions then normalized. Such as Growth, Income.</a:t>
            </a:r>
            <a:endParaRPr b="1" sz="1800"/>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d582418cf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d582418cf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500">
                <a:solidFill>
                  <a:schemeClr val="dk1"/>
                </a:solidFill>
              </a:rPr>
              <a:t>Hochan</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 sz="1500">
                <a:solidFill>
                  <a:schemeClr val="dk1"/>
                </a:solidFill>
              </a:rPr>
              <a:t>On the left, </a:t>
            </a:r>
            <a:r>
              <a:rPr lang="en" sz="1500">
                <a:solidFill>
                  <a:schemeClr val="dk1"/>
                </a:solidFill>
              </a:rPr>
              <a:t>w</a:t>
            </a:r>
            <a:r>
              <a:rPr lang="en" sz="1500">
                <a:solidFill>
                  <a:schemeClr val="dk1"/>
                </a:solidFill>
              </a:rPr>
              <a:t>e’ve selected three counties as our top choices for investment: </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1.</a:t>
            </a:r>
            <a:r>
              <a:rPr lang="en" sz="1500">
                <a:solidFill>
                  <a:schemeClr val="dk1"/>
                </a:solidFill>
              </a:rPr>
              <a:t> </a:t>
            </a:r>
            <a:r>
              <a:rPr b="1" lang="en" sz="1500">
                <a:solidFill>
                  <a:schemeClr val="dk1"/>
                </a:solidFill>
              </a:rPr>
              <a:t>Riverside , 2. Imperial , and 3. SLO</a:t>
            </a:r>
            <a:endParaRPr b="1"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On the right</a:t>
            </a:r>
            <a:r>
              <a:rPr lang="en" sz="1500">
                <a:solidFill>
                  <a:schemeClr val="dk1"/>
                </a:solidFill>
              </a:rPr>
              <a:t>, we see the </a:t>
            </a:r>
            <a:r>
              <a:rPr b="1" lang="en" sz="1500">
                <a:solidFill>
                  <a:schemeClr val="dk1"/>
                </a:solidFill>
              </a:rPr>
              <a:t>Growth vs. Yield Trade off</a:t>
            </a:r>
            <a:r>
              <a:rPr lang="en" sz="1500">
                <a:solidFill>
                  <a:schemeClr val="dk1"/>
                </a:solidFill>
              </a:rPr>
              <a:t>. </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We would love to offer investments in the unicorn quadrant, </a:t>
            </a:r>
            <a:r>
              <a:rPr b="1" lang="en" sz="1500">
                <a:solidFill>
                  <a:schemeClr val="dk1"/>
                </a:solidFill>
              </a:rPr>
              <a:t>but those are rare opportunities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So, we’re left only with picking from the </a:t>
            </a:r>
            <a:r>
              <a:rPr b="1" lang="en" sz="1500">
                <a:solidFill>
                  <a:schemeClr val="dk1"/>
                </a:solidFill>
              </a:rPr>
              <a:t>high growth-low yield quadrant</a:t>
            </a:r>
            <a:r>
              <a:rPr lang="en" sz="1500">
                <a:solidFill>
                  <a:schemeClr val="dk1"/>
                </a:solidFill>
              </a:rPr>
              <a:t> ( SLO and Riverside)</a:t>
            </a:r>
            <a:endParaRPr i="1">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d9278477c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ad9278477c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2100">
                <a:solidFill>
                  <a:schemeClr val="dk1"/>
                </a:solidFill>
              </a:rPr>
              <a:t>Hochan</a:t>
            </a:r>
            <a:endParaRPr sz="2100">
              <a:solidFill>
                <a:schemeClr val="dk1"/>
              </a:solidFill>
            </a:endParaRPr>
          </a:p>
          <a:p>
            <a:pPr indent="-361950" lvl="0" marL="457200" rtl="0" algn="l">
              <a:lnSpc>
                <a:spcPct val="150000"/>
              </a:lnSpc>
              <a:spcBef>
                <a:spcPts val="900"/>
              </a:spcBef>
              <a:spcAft>
                <a:spcPts val="0"/>
              </a:spcAft>
              <a:buClr>
                <a:schemeClr val="dk1"/>
              </a:buClr>
              <a:buSzPts val="2100"/>
              <a:buChar char="●"/>
            </a:pPr>
            <a:r>
              <a:rPr lang="en" sz="2100">
                <a:solidFill>
                  <a:schemeClr val="dk1"/>
                </a:solidFill>
              </a:rPr>
              <a:t>Our analysis of </a:t>
            </a:r>
            <a:r>
              <a:rPr b="1" lang="en" sz="2100">
                <a:solidFill>
                  <a:schemeClr val="dk1"/>
                </a:solidFill>
              </a:rPr>
              <a:t>IRS migration data</a:t>
            </a:r>
            <a:r>
              <a:rPr lang="en" sz="2100">
                <a:solidFill>
                  <a:schemeClr val="dk1"/>
                </a:solidFill>
              </a:rPr>
              <a:t> reveals a historic shift of capital moving away from the coastal giants </a:t>
            </a:r>
            <a:endParaRPr sz="2100">
              <a:solidFill>
                <a:schemeClr val="dk1"/>
              </a:solidFill>
            </a:endParaRPr>
          </a:p>
          <a:p>
            <a:pPr indent="-361950" lvl="0" marL="457200" rtl="0" algn="l">
              <a:lnSpc>
                <a:spcPct val="150000"/>
              </a:lnSpc>
              <a:spcBef>
                <a:spcPts val="0"/>
              </a:spcBef>
              <a:spcAft>
                <a:spcPts val="0"/>
              </a:spcAft>
              <a:buClr>
                <a:schemeClr val="dk1"/>
              </a:buClr>
              <a:buSzPts val="2100"/>
              <a:buChar char="●"/>
            </a:pPr>
            <a:r>
              <a:rPr lang="en" sz="2100">
                <a:solidFill>
                  <a:schemeClr val="dk1"/>
                </a:solidFill>
              </a:rPr>
              <a:t>And, pouring into </a:t>
            </a:r>
            <a:r>
              <a:rPr b="1" lang="en" sz="2100">
                <a:solidFill>
                  <a:schemeClr val="dk1"/>
                </a:solidFill>
              </a:rPr>
              <a:t>emerging inland markets</a:t>
            </a:r>
            <a:r>
              <a:rPr lang="en" sz="2100">
                <a:solidFill>
                  <a:schemeClr val="dk1"/>
                </a:solidFill>
              </a:rPr>
              <a:t>. </a:t>
            </a:r>
            <a:endParaRPr sz="2100">
              <a:solidFill>
                <a:schemeClr val="dk1"/>
              </a:solidFill>
            </a:endParaRPr>
          </a:p>
          <a:p>
            <a:pPr indent="-361950" lvl="0" marL="457200" rtl="0" algn="l">
              <a:lnSpc>
                <a:spcPct val="150000"/>
              </a:lnSpc>
              <a:spcBef>
                <a:spcPts val="0"/>
              </a:spcBef>
              <a:spcAft>
                <a:spcPts val="0"/>
              </a:spcAft>
              <a:buClr>
                <a:schemeClr val="dk1"/>
              </a:buClr>
              <a:buSzPts val="2100"/>
              <a:buChar char="●"/>
            </a:pPr>
            <a:r>
              <a:rPr lang="en" sz="2100">
                <a:solidFill>
                  <a:schemeClr val="dk1"/>
                </a:solidFill>
              </a:rPr>
              <a:t>While Los Angeles and the Bay Area saw a combined exodus (of over $60 billion in net adjusted gross income)</a:t>
            </a:r>
            <a:endParaRPr sz="2100">
              <a:solidFill>
                <a:schemeClr val="dk1"/>
              </a:solidFill>
            </a:endParaRPr>
          </a:p>
          <a:p>
            <a:pPr indent="-361950" lvl="0" marL="457200" rtl="0" algn="l">
              <a:lnSpc>
                <a:spcPct val="150000"/>
              </a:lnSpc>
              <a:spcBef>
                <a:spcPts val="0"/>
              </a:spcBef>
              <a:spcAft>
                <a:spcPts val="0"/>
              </a:spcAft>
              <a:buClr>
                <a:schemeClr val="dk1"/>
              </a:buClr>
              <a:buSzPts val="2100"/>
              <a:buChar char="●"/>
            </a:pPr>
            <a:r>
              <a:rPr lang="en" sz="2100">
                <a:solidFill>
                  <a:schemeClr val="dk1"/>
                </a:solidFill>
              </a:rPr>
              <a:t>that wealth is finding a new home, the </a:t>
            </a:r>
            <a:r>
              <a:rPr b="1" lang="en" sz="2100">
                <a:solidFill>
                  <a:schemeClr val="dk1"/>
                </a:solidFill>
              </a:rPr>
              <a:t>Riverside</a:t>
            </a:r>
            <a:r>
              <a:rPr lang="en" sz="2100">
                <a:solidFill>
                  <a:schemeClr val="dk1"/>
                </a:solidFill>
              </a:rPr>
              <a:t> county</a:t>
            </a:r>
            <a:endParaRPr sz="21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b5a77b4c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ab5a77b4c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Hochan</a:t>
            </a:r>
            <a:endParaRPr sz="1700"/>
          </a:p>
          <a:p>
            <a:pPr indent="-349250" lvl="0" marL="457200" rtl="0" algn="l">
              <a:lnSpc>
                <a:spcPct val="115000"/>
              </a:lnSpc>
              <a:spcBef>
                <a:spcPts val="0"/>
              </a:spcBef>
              <a:spcAft>
                <a:spcPts val="0"/>
              </a:spcAft>
              <a:buSzPts val="1900"/>
              <a:buChar char="●"/>
            </a:pPr>
            <a:r>
              <a:rPr lang="en" sz="1900"/>
              <a:t>So here comes our pick for the investment </a:t>
            </a:r>
            <a:endParaRPr sz="1900"/>
          </a:p>
          <a:p>
            <a:pPr indent="-349250" lvl="0" marL="457200" rtl="0" algn="l">
              <a:lnSpc>
                <a:spcPct val="115000"/>
              </a:lnSpc>
              <a:spcBef>
                <a:spcPts val="0"/>
              </a:spcBef>
              <a:spcAft>
                <a:spcPts val="0"/>
              </a:spcAft>
              <a:buSzPts val="1900"/>
              <a:buChar char="●"/>
            </a:pPr>
            <a:r>
              <a:rPr lang="en" sz="1900"/>
              <a:t>We also consider each categories for our pick</a:t>
            </a:r>
            <a:endParaRPr sz="1900"/>
          </a:p>
          <a:p>
            <a:pPr indent="-349250" lvl="0" marL="457200" rtl="0" algn="l">
              <a:lnSpc>
                <a:spcPct val="115000"/>
              </a:lnSpc>
              <a:spcBef>
                <a:spcPts val="0"/>
              </a:spcBef>
              <a:spcAft>
                <a:spcPts val="0"/>
              </a:spcAft>
              <a:buSzPts val="1900"/>
              <a:buChar char="●"/>
            </a:pPr>
            <a:r>
              <a:rPr lang="en" sz="1900"/>
              <a:t>For Supply and demand, We choose SLO</a:t>
            </a:r>
            <a:endParaRPr sz="1900"/>
          </a:p>
          <a:p>
            <a:pPr indent="-349250" lvl="0" marL="457200" rtl="0" algn="l">
              <a:lnSpc>
                <a:spcPct val="115000"/>
              </a:lnSpc>
              <a:spcBef>
                <a:spcPts val="0"/>
              </a:spcBef>
              <a:spcAft>
                <a:spcPts val="0"/>
              </a:spcAft>
              <a:buSzPts val="1900"/>
              <a:buChar char="●"/>
            </a:pPr>
            <a:r>
              <a:rPr lang="en" sz="1900"/>
              <a:t>For Wealth migration, Riverside</a:t>
            </a:r>
            <a:endParaRPr sz="1900"/>
          </a:p>
          <a:p>
            <a:pPr indent="-349250" lvl="0" marL="457200" rtl="0" algn="l">
              <a:lnSpc>
                <a:spcPct val="115000"/>
              </a:lnSpc>
              <a:spcBef>
                <a:spcPts val="0"/>
              </a:spcBef>
              <a:spcAft>
                <a:spcPts val="0"/>
              </a:spcAft>
              <a:buSzPts val="1900"/>
              <a:buChar char="●"/>
            </a:pPr>
            <a:r>
              <a:rPr lang="en" sz="1900"/>
              <a:t>The Imperial County for </a:t>
            </a:r>
            <a:r>
              <a:rPr lang="en" sz="1900"/>
              <a:t>Development prospective.</a:t>
            </a:r>
            <a:endParaRPr sz="19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d9278477c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d9278477c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t>Nils Berzins</a:t>
            </a:r>
            <a:endParaRPr b="1"/>
          </a:p>
          <a:p>
            <a:pPr indent="0" lvl="0" marL="0" rtl="0" algn="l">
              <a:lnSpc>
                <a:spcPct val="115000"/>
              </a:lnSpc>
              <a:spcBef>
                <a:spcPts val="1200"/>
              </a:spcBef>
              <a:spcAft>
                <a:spcPts val="0"/>
              </a:spcAft>
              <a:buClr>
                <a:schemeClr val="dk1"/>
              </a:buClr>
              <a:buSzPts val="1100"/>
              <a:buFont typeface="Arial"/>
              <a:buNone/>
            </a:pPr>
            <a:r>
              <a:rPr lang="en"/>
              <a:t>**“San Luis Obispo is a top-tier scarcity market where the supply constraints do most of the work for us. Coastal protections, tight zoning, and entrenched homeowner politics keep new development throttled, which means any asset we control in this county appreciates simply because no one else can build around us. That creates exceptional upside for premium remodels and student housing plays where rent deltas are steep and turnover is guaranteed.</a:t>
            </a:r>
            <a:endParaRPr/>
          </a:p>
          <a:p>
            <a:pPr indent="0" lvl="0" marL="0" rtl="0" algn="l">
              <a:lnSpc>
                <a:spcPct val="115000"/>
              </a:lnSpc>
              <a:spcBef>
                <a:spcPts val="1200"/>
              </a:spcBef>
              <a:spcAft>
                <a:spcPts val="1200"/>
              </a:spcAft>
              <a:buNone/>
            </a:pPr>
            <a:r>
              <a:rPr lang="en"/>
              <a:t>The moderate-NIMBY environment actually benefits us—homeowners fight density, not rent escalation—so existing stock becomes more valuable over time. And with SLO’s amenity profile pulling in affluent remote workers, retirees, and Cal Poly demand, we’re operating in a market where people will pay almost anything to live in the ‘Happiest City in the United States.’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d9278477c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ad9278477c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t>Nils Berzins</a:t>
            </a:r>
            <a:endParaRPr b="1"/>
          </a:p>
          <a:p>
            <a:pPr indent="0" lvl="0" marL="0" rtl="0" algn="l">
              <a:lnSpc>
                <a:spcPct val="115000"/>
              </a:lnSpc>
              <a:spcBef>
                <a:spcPts val="1200"/>
              </a:spcBef>
              <a:spcAft>
                <a:spcPts val="0"/>
              </a:spcAft>
              <a:buNone/>
            </a:pPr>
            <a:r>
              <a:rPr lang="en"/>
              <a:t>**“Riverside is an ideal growth market because it gives us everything we want with almost no resistance. The county is under-regulated, politically focused on growth over tenant welfare, and willing to absorb large volumes of acquisition and development without scrutiny.</a:t>
            </a:r>
            <a:endParaRPr/>
          </a:p>
          <a:p>
            <a:pPr indent="0" lvl="0" marL="0" rtl="0" algn="l">
              <a:lnSpc>
                <a:spcPct val="115000"/>
              </a:lnSpc>
              <a:spcBef>
                <a:spcPts val="1200"/>
              </a:spcBef>
              <a:spcAft>
                <a:spcPts val="0"/>
              </a:spcAft>
              <a:buNone/>
            </a:pPr>
            <a:r>
              <a:rPr lang="en"/>
              <a:t>Demand pressure works entirely in our favor: higher-income coastal migrants push prices upward, giving us room to systematically reposition assets into higher-rent categories. And with steady supply pipelines, we can scale aggressively while still capturing appreciation driven by households who have no choice but to move inland. Riverside offers predictable upside with minimal regulatory drag.”**</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cfbca556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acfbca556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DAN: Finally, Imperial county blends high growth with low cost outside the traditional Southern California markets. This represents a perfect area to drive near limitless expansion from the ground up, developing digital infrastructure like data centers, and creating a new population center to also drive </a:t>
            </a:r>
            <a:r>
              <a:rPr lang="en"/>
              <a:t>residential</a:t>
            </a:r>
            <a:r>
              <a:rPr lang="en"/>
              <a:t> and retail real estate growth.</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d546a2dea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d546a2dea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METHODS: variables, criteria for selection, data source?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cede1400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cede1400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cede1400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acede1400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d582418c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ad582418c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SECTION 3</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cede1400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acede1400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 existing social stigma around rising prices in California as a potential </a:t>
            </a:r>
            <a:r>
              <a:rPr lang="en"/>
              <a:t>deterrent to buyers/renters, expanded potential for public scrutiny because of California’s negative reputation, buyers may be more quickly dissuaded from buying in California compared to other markets if they see prices rising too quickly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d4460e65a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d4460e65a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Relocation challenge being that we have to buy out their property from under them and “subtly” encourage them to move, potential for increased media scrutiny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are a little exposed in that local businesses may make “suboptimal” decisions and collapse, preventing buyers from being drawn in, or grow slower than hoped, thus capping our ability to effectively raise prices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Anti-outsider sentiment mostly refers to Santa Barbara, “they will have to be dissuaded by any means necessary”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d582418cf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ad582418cf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preserve full pricing freedom and avoid AB 1482, DarkPebble will concentrate on </a:t>
            </a:r>
            <a:r>
              <a:rPr b="1" lang="en">
                <a:solidFill>
                  <a:schemeClr val="dk1"/>
                </a:solidFill>
              </a:rPr>
              <a:t>new construction, SFR portfolios, and owner-occupied duplex structures</a:t>
            </a:r>
            <a:r>
              <a:rPr lang="en">
                <a:solidFill>
                  <a:schemeClr val="dk1"/>
                </a:solidFill>
              </a:rPr>
              <a:t>, falling outside of the statewide rent caps. We’ll be able to set and reset rents at market levels </a:t>
            </a:r>
            <a:r>
              <a:rPr lang="en">
                <a:solidFill>
                  <a:schemeClr val="dk1"/>
                </a:solidFill>
              </a:rPr>
              <a:t>without</a:t>
            </a:r>
            <a:r>
              <a:rPr lang="en">
                <a:solidFill>
                  <a:schemeClr val="dk1"/>
                </a:solidFill>
              </a:rPr>
              <a:t> restriction. Plus, any no-fault evictions or  relocation payments required by AB 1482 are pretty insignificant line item for operators at our scale.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a:t>
            </a:r>
            <a:r>
              <a:rPr b="1" lang="en">
                <a:solidFill>
                  <a:schemeClr val="dk1"/>
                </a:solidFill>
              </a:rPr>
              <a:t>low-enforcement counties</a:t>
            </a:r>
            <a:r>
              <a:rPr lang="en">
                <a:solidFill>
                  <a:schemeClr val="dk1"/>
                </a:solidFill>
              </a:rPr>
              <a:t>— like Imperial or Riverside—the regulatory landscape is even more advantageous. Weak tenant-rights, understaffed compliance agencies, and fragmented local oversight will give us </a:t>
            </a:r>
            <a:r>
              <a:rPr b="1" lang="en">
                <a:solidFill>
                  <a:schemeClr val="dk1"/>
                </a:solidFill>
              </a:rPr>
              <a:t>rapid turnover, strategic renovictions, and accelerated repositioning</a:t>
            </a:r>
            <a:r>
              <a:rPr lang="en">
                <a:solidFill>
                  <a:schemeClr val="dk1"/>
                </a:solidFill>
              </a:rPr>
              <a:t> that would be impossible in more heavily regulated markets.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But, we account for local constraints—Growth Management Ordinances, STR enforcement, environmental caps (water/sewer limits, Coastal Act restrictions, dust mitigation zones, habitat protections), and conflicting industrial zoning (logistics corridors, cannabis zones, lithium extraction buffers).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But we </a:t>
            </a:r>
            <a:r>
              <a:rPr lang="en">
                <a:solidFill>
                  <a:schemeClr val="dk1"/>
                </a:solidFill>
              </a:rPr>
              <a:t>shouldn't</a:t>
            </a:r>
            <a:r>
              <a:rPr lang="en">
                <a:solidFill>
                  <a:schemeClr val="dk1"/>
                </a:solidFill>
              </a:rPr>
              <a:t> deter investment, these kinds of constraints actually </a:t>
            </a:r>
            <a:r>
              <a:rPr b="1" lang="en">
                <a:solidFill>
                  <a:schemeClr val="dk1"/>
                </a:solidFill>
              </a:rPr>
              <a:t>manufacture scarcity</a:t>
            </a:r>
            <a:r>
              <a:rPr lang="en">
                <a:solidFill>
                  <a:schemeClr val="dk1"/>
                </a:solidFill>
              </a:rPr>
              <a:t>. When regulatory friction suppresses new supply, our ability to secure land, entitlements, or existing stock early will translate directly into long-term pricing power and stable above-market returns.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We will operate where oversight is weak, where controls exempt us from rent caps, and leverage regulatory bottlenecks that constrain our competition. Thank You</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519164966aed794e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519164966aed794e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2"/>
          <p:cNvSpPr txBox="1"/>
          <p:nvPr>
            <p:ph idx="12" type="sldNum"/>
          </p:nvPr>
        </p:nvSpPr>
        <p:spPr>
          <a:xfrm>
            <a:off x="8472450" y="4790451"/>
            <a:ext cx="671700" cy="353100"/>
          </a:xfrm>
          <a:prstGeom prst="rect">
            <a:avLst/>
          </a:prstGeom>
        </p:spPr>
        <p:txBody>
          <a:bodyPr anchorCtr="0" anchor="ctr" bIns="91425" lIns="91425" spcFirstLastPara="1" rIns="365750" wrap="square" tIns="91425">
            <a:norm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grpSp>
        <p:nvGrpSpPr>
          <p:cNvPr id="12" name="Google Shape;12;p2"/>
          <p:cNvGrpSpPr/>
          <p:nvPr/>
        </p:nvGrpSpPr>
        <p:grpSpPr>
          <a:xfrm>
            <a:off x="-883025" y="-308811"/>
            <a:ext cx="9355500" cy="6587811"/>
            <a:chOff x="629775" y="2658514"/>
            <a:chExt cx="9355500" cy="6587811"/>
          </a:xfrm>
        </p:grpSpPr>
        <p:grpSp>
          <p:nvGrpSpPr>
            <p:cNvPr id="13" name="Google Shape;13;p2"/>
            <p:cNvGrpSpPr/>
            <p:nvPr/>
          </p:nvGrpSpPr>
          <p:grpSpPr>
            <a:xfrm>
              <a:off x="629775" y="2961250"/>
              <a:ext cx="9355500" cy="6285075"/>
              <a:chOff x="629775" y="2961250"/>
              <a:chExt cx="9355500" cy="6285075"/>
            </a:xfrm>
          </p:grpSpPr>
          <p:sp>
            <p:nvSpPr>
              <p:cNvPr id="14" name="Google Shape;14;p2"/>
              <p:cNvSpPr/>
              <p:nvPr/>
            </p:nvSpPr>
            <p:spPr>
              <a:xfrm>
                <a:off x="629775" y="4886425"/>
                <a:ext cx="9355500" cy="4359900"/>
              </a:xfrm>
              <a:prstGeom prst="roundRect">
                <a:avLst>
                  <a:gd fmla="val 10781"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5" name="Google Shape;15;p2"/>
              <p:cNvSpPr/>
              <p:nvPr/>
            </p:nvSpPr>
            <p:spPr>
              <a:xfrm>
                <a:off x="1464601" y="2961250"/>
                <a:ext cx="1617000" cy="22662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16" name="Google Shape;16;p2"/>
            <p:cNvSpPr/>
            <p:nvPr/>
          </p:nvSpPr>
          <p:spPr>
            <a:xfrm>
              <a:off x="1943678" y="2658514"/>
              <a:ext cx="2179800" cy="2213700"/>
            </a:xfrm>
            <a:prstGeom prst="roundRect">
              <a:avLst>
                <a:gd fmla="val 10781"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17" name="Google Shape;17;p2"/>
          <p:cNvSpPr txBox="1"/>
          <p:nvPr>
            <p:ph type="ctrTitle"/>
          </p:nvPr>
        </p:nvSpPr>
        <p:spPr>
          <a:xfrm>
            <a:off x="408005" y="2525450"/>
            <a:ext cx="3772500" cy="20526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cxnSp>
        <p:nvCxnSpPr>
          <p:cNvPr id="18" name="Google Shape;18;p2"/>
          <p:cNvCxnSpPr/>
          <p:nvPr/>
        </p:nvCxnSpPr>
        <p:spPr>
          <a:xfrm>
            <a:off x="247487" y="2878900"/>
            <a:ext cx="0" cy="1337700"/>
          </a:xfrm>
          <a:prstGeom prst="straightConnector1">
            <a:avLst/>
          </a:prstGeom>
          <a:noFill/>
          <a:ln cap="flat" cmpd="sng" w="38100">
            <a:solidFill>
              <a:srgbClr val="E06666"/>
            </a:solidFill>
            <a:prstDash val="solid"/>
            <a:round/>
            <a:headEnd len="med" w="med" type="none"/>
            <a:tailEnd len="med" w="med" type="none"/>
          </a:ln>
        </p:spPr>
      </p:cxnSp>
      <p:sp>
        <p:nvSpPr>
          <p:cNvPr id="19" name="Google Shape;19;p2"/>
          <p:cNvSpPr txBox="1"/>
          <p:nvPr/>
        </p:nvSpPr>
        <p:spPr>
          <a:xfrm>
            <a:off x="2182267" y="4242225"/>
            <a:ext cx="5933100" cy="353100"/>
          </a:xfrm>
          <a:prstGeom prst="rect">
            <a:avLst/>
          </a:prstGeom>
          <a:noFill/>
          <a:ln>
            <a:noFill/>
          </a:ln>
        </p:spPr>
        <p:txBody>
          <a:bodyPr anchorCtr="0" anchor="b" bIns="0" lIns="91425" spcFirstLastPara="1" rIns="91425" wrap="square" tIns="91425">
            <a:noAutofit/>
          </a:bodyPr>
          <a:lstStyle/>
          <a:p>
            <a:pPr indent="0" lvl="0" marL="0" rtl="0" algn="r">
              <a:spcBef>
                <a:spcPts val="0"/>
              </a:spcBef>
              <a:spcAft>
                <a:spcPts val="0"/>
              </a:spcAft>
              <a:buNone/>
            </a:pPr>
            <a:r>
              <a:rPr lang="en" sz="3200">
                <a:solidFill>
                  <a:schemeClr val="lt1"/>
                </a:solidFill>
                <a:latin typeface="Inter Tight ExtraBold"/>
                <a:ea typeface="Inter Tight ExtraBold"/>
                <a:cs typeface="Inter Tight ExtraBold"/>
                <a:sym typeface="Inter Tight ExtraBold"/>
              </a:rPr>
              <a:t>DarkPebble</a:t>
            </a:r>
            <a:endParaRPr sz="3200">
              <a:solidFill>
                <a:schemeClr val="lt1"/>
              </a:solidFill>
              <a:latin typeface="Inter Tight ExtraBold"/>
              <a:ea typeface="Inter Tight ExtraBold"/>
              <a:cs typeface="Inter Tight ExtraBold"/>
              <a:sym typeface="Inter Tight ExtraBo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grpSp>
        <p:nvGrpSpPr>
          <p:cNvPr id="21" name="Google Shape;21;p3"/>
          <p:cNvGrpSpPr/>
          <p:nvPr/>
        </p:nvGrpSpPr>
        <p:grpSpPr>
          <a:xfrm>
            <a:off x="629775" y="-893575"/>
            <a:ext cx="9594300" cy="6394975"/>
            <a:chOff x="629775" y="-893575"/>
            <a:chExt cx="9594300" cy="6394975"/>
          </a:xfrm>
        </p:grpSpPr>
        <p:grpSp>
          <p:nvGrpSpPr>
            <p:cNvPr id="22" name="Google Shape;22;p3"/>
            <p:cNvGrpSpPr/>
            <p:nvPr/>
          </p:nvGrpSpPr>
          <p:grpSpPr>
            <a:xfrm>
              <a:off x="629775" y="-893575"/>
              <a:ext cx="9594300" cy="6132225"/>
              <a:chOff x="629775" y="-893575"/>
              <a:chExt cx="9594300" cy="6132225"/>
            </a:xfrm>
          </p:grpSpPr>
          <p:sp>
            <p:nvSpPr>
              <p:cNvPr id="23" name="Google Shape;23;p3"/>
              <p:cNvSpPr/>
              <p:nvPr/>
            </p:nvSpPr>
            <p:spPr>
              <a:xfrm>
                <a:off x="629775" y="-893575"/>
                <a:ext cx="9594300" cy="4359900"/>
              </a:xfrm>
              <a:prstGeom prst="roundRect">
                <a:avLst>
                  <a:gd fmla="val 10781"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4" name="Google Shape;24;p3"/>
              <p:cNvSpPr/>
              <p:nvPr/>
            </p:nvSpPr>
            <p:spPr>
              <a:xfrm>
                <a:off x="7040650" y="2972450"/>
                <a:ext cx="2179800" cy="22662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5" name="Google Shape;25;p3"/>
            <p:cNvSpPr/>
            <p:nvPr/>
          </p:nvSpPr>
          <p:spPr>
            <a:xfrm>
              <a:off x="5081325" y="3475200"/>
              <a:ext cx="2179800" cy="2026200"/>
            </a:xfrm>
            <a:prstGeom prst="roundRect">
              <a:avLst>
                <a:gd fmla="val 10781"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6" name="Google Shape;26;p3"/>
          <p:cNvSpPr txBox="1"/>
          <p:nvPr>
            <p:ph type="title"/>
          </p:nvPr>
        </p:nvSpPr>
        <p:spPr>
          <a:xfrm>
            <a:off x="1182075" y="952475"/>
            <a:ext cx="4828500" cy="19251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7" name="Google Shape;27;p3"/>
          <p:cNvSpPr txBox="1"/>
          <p:nvPr>
            <p:ph idx="12" type="sldNum"/>
          </p:nvPr>
        </p:nvSpPr>
        <p:spPr>
          <a:xfrm>
            <a:off x="8472450" y="4790451"/>
            <a:ext cx="671700" cy="353100"/>
          </a:xfrm>
          <a:prstGeom prst="rect">
            <a:avLst/>
          </a:prstGeom>
        </p:spPr>
        <p:txBody>
          <a:bodyPr anchorCtr="0" anchor="ctr" bIns="91425" lIns="91425" spcFirstLastPara="1" rIns="365750"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3"/>
          <p:cNvSpPr txBox="1"/>
          <p:nvPr>
            <p:ph idx="2" type="title"/>
          </p:nvPr>
        </p:nvSpPr>
        <p:spPr>
          <a:xfrm>
            <a:off x="997450" y="3612175"/>
            <a:ext cx="2651400" cy="1355400"/>
          </a:xfrm>
          <a:prstGeom prst="rect">
            <a:avLst/>
          </a:prstGeom>
        </p:spPr>
        <p:txBody>
          <a:bodyPr anchorCtr="0" anchor="ctr"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4800"/>
              <a:buNone/>
              <a:defRPr sz="4800">
                <a:highlight>
                  <a:schemeClr val="dk1"/>
                </a:highlight>
              </a:defRPr>
            </a:lvl2pPr>
            <a:lvl3pPr lvl="2">
              <a:spcBef>
                <a:spcPts val="0"/>
              </a:spcBef>
              <a:spcAft>
                <a:spcPts val="0"/>
              </a:spcAft>
              <a:buSzPts val="4800"/>
              <a:buNone/>
              <a:defRPr sz="4800">
                <a:highlight>
                  <a:schemeClr val="dk1"/>
                </a:highlight>
              </a:defRPr>
            </a:lvl3pPr>
            <a:lvl4pPr lvl="3">
              <a:spcBef>
                <a:spcPts val="0"/>
              </a:spcBef>
              <a:spcAft>
                <a:spcPts val="0"/>
              </a:spcAft>
              <a:buSzPts val="4800"/>
              <a:buNone/>
              <a:defRPr sz="4800">
                <a:highlight>
                  <a:schemeClr val="dk1"/>
                </a:highlight>
              </a:defRPr>
            </a:lvl4pPr>
            <a:lvl5pPr lvl="4">
              <a:spcBef>
                <a:spcPts val="0"/>
              </a:spcBef>
              <a:spcAft>
                <a:spcPts val="0"/>
              </a:spcAft>
              <a:buSzPts val="4800"/>
              <a:buNone/>
              <a:defRPr sz="4800">
                <a:highlight>
                  <a:schemeClr val="dk1"/>
                </a:highlight>
              </a:defRPr>
            </a:lvl5pPr>
            <a:lvl6pPr lvl="5">
              <a:spcBef>
                <a:spcPts val="0"/>
              </a:spcBef>
              <a:spcAft>
                <a:spcPts val="0"/>
              </a:spcAft>
              <a:buSzPts val="4800"/>
              <a:buNone/>
              <a:defRPr sz="4800">
                <a:highlight>
                  <a:schemeClr val="dk1"/>
                </a:highlight>
              </a:defRPr>
            </a:lvl6pPr>
            <a:lvl7pPr lvl="6">
              <a:spcBef>
                <a:spcPts val="0"/>
              </a:spcBef>
              <a:spcAft>
                <a:spcPts val="0"/>
              </a:spcAft>
              <a:buSzPts val="4800"/>
              <a:buNone/>
              <a:defRPr sz="4800">
                <a:highlight>
                  <a:schemeClr val="dk1"/>
                </a:highlight>
              </a:defRPr>
            </a:lvl7pPr>
            <a:lvl8pPr lvl="7">
              <a:spcBef>
                <a:spcPts val="0"/>
              </a:spcBef>
              <a:spcAft>
                <a:spcPts val="0"/>
              </a:spcAft>
              <a:buSzPts val="4800"/>
              <a:buNone/>
              <a:defRPr sz="4800">
                <a:highlight>
                  <a:schemeClr val="dk1"/>
                </a:highlight>
              </a:defRPr>
            </a:lvl8pPr>
            <a:lvl9pPr lvl="8">
              <a:spcBef>
                <a:spcPts val="0"/>
              </a:spcBef>
              <a:spcAft>
                <a:spcPts val="0"/>
              </a:spcAft>
              <a:buSzPts val="4800"/>
              <a:buNone/>
              <a:defRPr sz="4800">
                <a:highlight>
                  <a:schemeClr val="dk1"/>
                </a:highlight>
              </a:defRPr>
            </a:lvl9pPr>
          </a:lstStyle>
          <a:p/>
        </p:txBody>
      </p:sp>
      <p:cxnSp>
        <p:nvCxnSpPr>
          <p:cNvPr id="29" name="Google Shape;29;p3"/>
          <p:cNvCxnSpPr/>
          <p:nvPr/>
        </p:nvCxnSpPr>
        <p:spPr>
          <a:xfrm>
            <a:off x="997450" y="3963856"/>
            <a:ext cx="0" cy="644700"/>
          </a:xfrm>
          <a:prstGeom prst="straightConnector1">
            <a:avLst/>
          </a:prstGeom>
          <a:noFill/>
          <a:ln cap="flat" cmpd="sng" w="19050">
            <a:solidFill>
              <a:srgbClr val="E06666"/>
            </a:solidFill>
            <a:prstDash val="solid"/>
            <a:round/>
            <a:headEnd len="med" w="med" type="none"/>
            <a:tailEnd len="med" w="med" type="none"/>
          </a:ln>
        </p:spPr>
      </p:cxnSp>
      <p:sp>
        <p:nvSpPr>
          <p:cNvPr id="30" name="Google Shape;30;p3"/>
          <p:cNvSpPr txBox="1"/>
          <p:nvPr/>
        </p:nvSpPr>
        <p:spPr>
          <a:xfrm>
            <a:off x="997450" y="4255450"/>
            <a:ext cx="5933100" cy="353100"/>
          </a:xfrm>
          <a:prstGeom prst="rect">
            <a:avLst/>
          </a:prstGeom>
          <a:noFill/>
          <a:ln>
            <a:noFill/>
          </a:ln>
        </p:spPr>
        <p:txBody>
          <a:bodyPr anchorCtr="0" anchor="b" bIns="0" lIns="91425" spcFirstLastPara="1" rIns="91425" wrap="square" tIns="91425">
            <a:noAutofit/>
          </a:bodyPr>
          <a:lstStyle/>
          <a:p>
            <a:pPr indent="0" lvl="0" marL="0" rtl="0" algn="r">
              <a:spcBef>
                <a:spcPts val="0"/>
              </a:spcBef>
              <a:spcAft>
                <a:spcPts val="0"/>
              </a:spcAft>
              <a:buNone/>
            </a:pPr>
            <a:r>
              <a:rPr lang="en" sz="1300">
                <a:solidFill>
                  <a:schemeClr val="dk1"/>
                </a:solidFill>
                <a:latin typeface="Inter Tight ExtraBold"/>
                <a:ea typeface="Inter Tight ExtraBold"/>
                <a:cs typeface="Inter Tight ExtraBold"/>
                <a:sym typeface="Inter Tight ExtraBold"/>
              </a:rPr>
              <a:t>DarkPebble</a:t>
            </a:r>
            <a:endParaRPr sz="1300">
              <a:solidFill>
                <a:schemeClr val="dk1"/>
              </a:solidFill>
              <a:latin typeface="Inter Tight ExtraBold"/>
              <a:ea typeface="Inter Tight ExtraBold"/>
              <a:cs typeface="Inter Tight ExtraBold"/>
              <a:sym typeface="Inter Tight ExtraBo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sp>
        <p:nvSpPr>
          <p:cNvPr id="32" name="Google Shape;32;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33" name="Google Shape;33;p4"/>
          <p:cNvSpPr txBox="1"/>
          <p:nvPr>
            <p:ph idx="1" type="body"/>
          </p:nvPr>
        </p:nvSpPr>
        <p:spPr>
          <a:xfrm>
            <a:off x="311700" y="1017725"/>
            <a:ext cx="8520600" cy="35511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4" name="Google Shape;34;p4"/>
          <p:cNvSpPr txBox="1"/>
          <p:nvPr/>
        </p:nvSpPr>
        <p:spPr>
          <a:xfrm>
            <a:off x="0" y="4790450"/>
            <a:ext cx="9144000" cy="353100"/>
          </a:xfrm>
          <a:prstGeom prst="rect">
            <a:avLst/>
          </a:prstGeom>
          <a:solidFill>
            <a:schemeClr val="dk1"/>
          </a:solidFill>
          <a:ln>
            <a:noFill/>
          </a:ln>
        </p:spPr>
        <p:txBody>
          <a:bodyPr anchorCtr="0" anchor="ctr" bIns="91425" lIns="365750" spcFirstLastPara="1" rIns="91425" wrap="square" tIns="91425">
            <a:noAutofit/>
          </a:bodyPr>
          <a:lstStyle/>
          <a:p>
            <a:pPr indent="0" lvl="0" marL="0" rtl="0" algn="l">
              <a:spcBef>
                <a:spcPts val="0"/>
              </a:spcBef>
              <a:spcAft>
                <a:spcPts val="0"/>
              </a:spcAft>
              <a:buNone/>
            </a:pPr>
            <a:r>
              <a:rPr lang="en" sz="1300">
                <a:solidFill>
                  <a:schemeClr val="lt1"/>
                </a:solidFill>
                <a:latin typeface="Inter Tight ExtraBold"/>
                <a:ea typeface="Inter Tight ExtraBold"/>
                <a:cs typeface="Inter Tight ExtraBold"/>
                <a:sym typeface="Inter Tight ExtraBold"/>
              </a:rPr>
              <a:t>DarkPebble</a:t>
            </a:r>
            <a:endParaRPr sz="1300">
              <a:solidFill>
                <a:schemeClr val="lt1"/>
              </a:solidFill>
              <a:latin typeface="Inter Tight ExtraBold"/>
              <a:ea typeface="Inter Tight ExtraBold"/>
              <a:cs typeface="Inter Tight ExtraBold"/>
              <a:sym typeface="Inter Tight ExtraBold"/>
            </a:endParaRPr>
          </a:p>
        </p:txBody>
      </p:sp>
      <p:sp>
        <p:nvSpPr>
          <p:cNvPr id="35" name="Google Shape;35;p4"/>
          <p:cNvSpPr txBox="1"/>
          <p:nvPr>
            <p:ph idx="12" type="sldNum"/>
          </p:nvPr>
        </p:nvSpPr>
        <p:spPr>
          <a:xfrm>
            <a:off x="8472450" y="4790451"/>
            <a:ext cx="671700" cy="353100"/>
          </a:xfrm>
          <a:prstGeom prst="rect">
            <a:avLst/>
          </a:prstGeom>
        </p:spPr>
        <p:txBody>
          <a:bodyPr anchorCtr="0" anchor="ctr" bIns="91425" lIns="91425" spcFirstLastPara="1" rIns="365750"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 name="Shape 36"/>
        <p:cNvGrpSpPr/>
        <p:nvPr/>
      </p:nvGrpSpPr>
      <p:grpSpPr>
        <a:xfrm>
          <a:off x="0" y="0"/>
          <a:ext cx="0" cy="0"/>
          <a:chOff x="0" y="0"/>
          <a:chExt cx="0" cy="0"/>
        </a:xfrm>
      </p:grpSpPr>
      <p:sp>
        <p:nvSpPr>
          <p:cNvPr id="37" name="Google Shape;37;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38" name="Google Shape;38;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9" name="Google Shape;39;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 name="Google Shape;40;p5"/>
          <p:cNvSpPr txBox="1"/>
          <p:nvPr/>
        </p:nvSpPr>
        <p:spPr>
          <a:xfrm>
            <a:off x="0" y="4790450"/>
            <a:ext cx="9144000" cy="353100"/>
          </a:xfrm>
          <a:prstGeom prst="rect">
            <a:avLst/>
          </a:prstGeom>
          <a:solidFill>
            <a:schemeClr val="dk1"/>
          </a:solidFill>
          <a:ln>
            <a:noFill/>
          </a:ln>
        </p:spPr>
        <p:txBody>
          <a:bodyPr anchorCtr="0" anchor="ctr" bIns="91425" lIns="365750" spcFirstLastPara="1" rIns="91425" wrap="square" tIns="91425">
            <a:noAutofit/>
          </a:bodyPr>
          <a:lstStyle/>
          <a:p>
            <a:pPr indent="0" lvl="0" marL="0" rtl="0" algn="l">
              <a:spcBef>
                <a:spcPts val="0"/>
              </a:spcBef>
              <a:spcAft>
                <a:spcPts val="0"/>
              </a:spcAft>
              <a:buNone/>
            </a:pPr>
            <a:r>
              <a:rPr lang="en" sz="1300">
                <a:solidFill>
                  <a:schemeClr val="lt1"/>
                </a:solidFill>
                <a:latin typeface="Inter Tight ExtraBold"/>
                <a:ea typeface="Inter Tight ExtraBold"/>
                <a:cs typeface="Inter Tight ExtraBold"/>
                <a:sym typeface="Inter Tight ExtraBold"/>
              </a:rPr>
              <a:t>DarkPebble</a:t>
            </a:r>
            <a:endParaRPr sz="1300">
              <a:solidFill>
                <a:schemeClr val="lt1"/>
              </a:solidFill>
              <a:latin typeface="Inter Tight ExtraBold"/>
              <a:ea typeface="Inter Tight ExtraBold"/>
              <a:cs typeface="Inter Tight ExtraBold"/>
              <a:sym typeface="Inter Tight ExtraBold"/>
            </a:endParaRPr>
          </a:p>
        </p:txBody>
      </p:sp>
      <p:sp>
        <p:nvSpPr>
          <p:cNvPr id="41" name="Google Shape;41;p5"/>
          <p:cNvSpPr txBox="1"/>
          <p:nvPr>
            <p:ph idx="12" type="sldNum"/>
          </p:nvPr>
        </p:nvSpPr>
        <p:spPr>
          <a:xfrm>
            <a:off x="8472450" y="4790451"/>
            <a:ext cx="671700" cy="353100"/>
          </a:xfrm>
          <a:prstGeom prst="rect">
            <a:avLst/>
          </a:prstGeom>
        </p:spPr>
        <p:txBody>
          <a:bodyPr anchorCtr="0" anchor="ctr" bIns="91425" lIns="91425" spcFirstLastPara="1" rIns="365750"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44" name="Google Shape;44;p6"/>
          <p:cNvSpPr txBox="1"/>
          <p:nvPr/>
        </p:nvSpPr>
        <p:spPr>
          <a:xfrm>
            <a:off x="0" y="4790450"/>
            <a:ext cx="9144000" cy="353100"/>
          </a:xfrm>
          <a:prstGeom prst="rect">
            <a:avLst/>
          </a:prstGeom>
          <a:solidFill>
            <a:schemeClr val="dk1"/>
          </a:solidFill>
          <a:ln>
            <a:noFill/>
          </a:ln>
        </p:spPr>
        <p:txBody>
          <a:bodyPr anchorCtr="0" anchor="ctr" bIns="91425" lIns="365750" spcFirstLastPara="1" rIns="91425" wrap="square" tIns="91425">
            <a:noAutofit/>
          </a:bodyPr>
          <a:lstStyle/>
          <a:p>
            <a:pPr indent="0" lvl="0" marL="0" rtl="0" algn="l">
              <a:spcBef>
                <a:spcPts val="0"/>
              </a:spcBef>
              <a:spcAft>
                <a:spcPts val="0"/>
              </a:spcAft>
              <a:buNone/>
            </a:pPr>
            <a:r>
              <a:rPr lang="en" sz="1300">
                <a:solidFill>
                  <a:schemeClr val="lt1"/>
                </a:solidFill>
                <a:latin typeface="Inter Tight ExtraBold"/>
                <a:ea typeface="Inter Tight ExtraBold"/>
                <a:cs typeface="Inter Tight ExtraBold"/>
                <a:sym typeface="Inter Tight ExtraBold"/>
              </a:rPr>
              <a:t>DarkPebble</a:t>
            </a:r>
            <a:endParaRPr sz="1300">
              <a:solidFill>
                <a:schemeClr val="lt1"/>
              </a:solidFill>
              <a:latin typeface="Inter Tight ExtraBold"/>
              <a:ea typeface="Inter Tight ExtraBold"/>
              <a:cs typeface="Inter Tight ExtraBold"/>
              <a:sym typeface="Inter Tight ExtraBold"/>
            </a:endParaRPr>
          </a:p>
        </p:txBody>
      </p:sp>
      <p:sp>
        <p:nvSpPr>
          <p:cNvPr id="45" name="Google Shape;45;p6"/>
          <p:cNvSpPr txBox="1"/>
          <p:nvPr>
            <p:ph idx="12" type="sldNum"/>
          </p:nvPr>
        </p:nvSpPr>
        <p:spPr>
          <a:xfrm>
            <a:off x="8472450" y="4790451"/>
            <a:ext cx="671700" cy="353100"/>
          </a:xfrm>
          <a:prstGeom prst="rect">
            <a:avLst/>
          </a:prstGeom>
        </p:spPr>
        <p:txBody>
          <a:bodyPr anchorCtr="0" anchor="ctr" bIns="91425" lIns="91425" spcFirstLastPara="1" rIns="365750"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nvSpPr>
        <p:spPr>
          <a:xfrm>
            <a:off x="0" y="4790450"/>
            <a:ext cx="9144000" cy="353100"/>
          </a:xfrm>
          <a:prstGeom prst="rect">
            <a:avLst/>
          </a:prstGeom>
          <a:solidFill>
            <a:schemeClr val="dk1"/>
          </a:solidFill>
          <a:ln>
            <a:noFill/>
          </a:ln>
        </p:spPr>
        <p:txBody>
          <a:bodyPr anchorCtr="0" anchor="ctr" bIns="91425" lIns="365750" spcFirstLastPara="1" rIns="91425" wrap="square" tIns="91425">
            <a:noAutofit/>
          </a:bodyPr>
          <a:lstStyle/>
          <a:p>
            <a:pPr indent="0" lvl="0" marL="0" rtl="0" algn="l">
              <a:spcBef>
                <a:spcPts val="0"/>
              </a:spcBef>
              <a:spcAft>
                <a:spcPts val="0"/>
              </a:spcAft>
              <a:buNone/>
            </a:pPr>
            <a:r>
              <a:rPr lang="en" sz="1300">
                <a:solidFill>
                  <a:schemeClr val="lt1"/>
                </a:solidFill>
                <a:latin typeface="Inter Tight ExtraBold"/>
                <a:ea typeface="Inter Tight ExtraBold"/>
                <a:cs typeface="Inter Tight ExtraBold"/>
                <a:sym typeface="Inter Tight ExtraBold"/>
              </a:rPr>
              <a:t>DarkPebble</a:t>
            </a:r>
            <a:endParaRPr sz="1300">
              <a:solidFill>
                <a:schemeClr val="lt1"/>
              </a:solidFill>
              <a:latin typeface="Inter Tight ExtraBold"/>
              <a:ea typeface="Inter Tight ExtraBold"/>
              <a:cs typeface="Inter Tight ExtraBold"/>
              <a:sym typeface="Inter Tight ExtraBold"/>
            </a:endParaRPr>
          </a:p>
        </p:txBody>
      </p:sp>
      <p:sp>
        <p:nvSpPr>
          <p:cNvPr id="50" name="Google Shape;50;p7"/>
          <p:cNvSpPr txBox="1"/>
          <p:nvPr>
            <p:ph idx="12" type="sldNum"/>
          </p:nvPr>
        </p:nvSpPr>
        <p:spPr>
          <a:xfrm>
            <a:off x="8472450" y="4790451"/>
            <a:ext cx="671700" cy="353100"/>
          </a:xfrm>
          <a:prstGeom prst="rect">
            <a:avLst/>
          </a:prstGeom>
        </p:spPr>
        <p:txBody>
          <a:bodyPr anchorCtr="0" anchor="ctr" bIns="91425" lIns="91425" spcFirstLastPara="1" rIns="365750"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1" name="Shape 51"/>
        <p:cNvGrpSpPr/>
        <p:nvPr/>
      </p:nvGrpSpPr>
      <p:grpSpPr>
        <a:xfrm>
          <a:off x="0" y="0"/>
          <a:ext cx="0" cy="0"/>
          <a:chOff x="0" y="0"/>
          <a:chExt cx="0" cy="0"/>
        </a:xfrm>
      </p:grpSpPr>
      <p:sp>
        <p:nvSpPr>
          <p:cNvPr id="52" name="Google Shape;52;p8"/>
          <p:cNvSpPr txBox="1"/>
          <p:nvPr/>
        </p:nvSpPr>
        <p:spPr>
          <a:xfrm>
            <a:off x="0" y="4790450"/>
            <a:ext cx="9144000" cy="353100"/>
          </a:xfrm>
          <a:prstGeom prst="rect">
            <a:avLst/>
          </a:prstGeom>
          <a:solidFill>
            <a:schemeClr val="dk1"/>
          </a:solidFill>
          <a:ln>
            <a:noFill/>
          </a:ln>
        </p:spPr>
        <p:txBody>
          <a:bodyPr anchorCtr="0" anchor="ctr" bIns="91425" lIns="365750" spcFirstLastPara="1" rIns="91425" wrap="square" tIns="91425">
            <a:noAutofit/>
          </a:bodyPr>
          <a:lstStyle/>
          <a:p>
            <a:pPr indent="0" lvl="0" marL="0" rtl="0" algn="l">
              <a:spcBef>
                <a:spcPts val="0"/>
              </a:spcBef>
              <a:spcAft>
                <a:spcPts val="0"/>
              </a:spcAft>
              <a:buNone/>
            </a:pPr>
            <a:r>
              <a:rPr lang="en" sz="1300">
                <a:solidFill>
                  <a:schemeClr val="lt1"/>
                </a:solidFill>
                <a:latin typeface="Inter Tight ExtraBold"/>
                <a:ea typeface="Inter Tight ExtraBold"/>
                <a:cs typeface="Inter Tight ExtraBold"/>
                <a:sym typeface="Inter Tight ExtraBold"/>
              </a:rPr>
              <a:t>DarkPebble</a:t>
            </a:r>
            <a:endParaRPr sz="1300">
              <a:solidFill>
                <a:schemeClr val="lt1"/>
              </a:solidFill>
              <a:latin typeface="Inter Tight ExtraBold"/>
              <a:ea typeface="Inter Tight ExtraBold"/>
              <a:cs typeface="Inter Tight ExtraBold"/>
              <a:sym typeface="Inter Tight ExtraBold"/>
            </a:endParaRPr>
          </a:p>
        </p:txBody>
      </p:sp>
      <p:sp>
        <p:nvSpPr>
          <p:cNvPr id="53" name="Google Shape;5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4" name="Google Shape;54;p8"/>
          <p:cNvSpPr txBox="1"/>
          <p:nvPr>
            <p:ph idx="12" type="sldNum"/>
          </p:nvPr>
        </p:nvSpPr>
        <p:spPr>
          <a:xfrm>
            <a:off x="8472450" y="4790451"/>
            <a:ext cx="671700" cy="353100"/>
          </a:xfrm>
          <a:prstGeom prst="rect">
            <a:avLst/>
          </a:prstGeom>
        </p:spPr>
        <p:txBody>
          <a:bodyPr anchorCtr="0" anchor="ctr" bIns="91425" lIns="91425" spcFirstLastPara="1" rIns="365750"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5" name="Shape 55"/>
        <p:cNvGrpSpPr/>
        <p:nvPr/>
      </p:nvGrpSpPr>
      <p:grpSpPr>
        <a:xfrm>
          <a:off x="0" y="0"/>
          <a:ext cx="0" cy="0"/>
          <a:chOff x="0" y="0"/>
          <a:chExt cx="0" cy="0"/>
        </a:xfrm>
      </p:grpSpPr>
      <p:sp>
        <p:nvSpPr>
          <p:cNvPr id="56" name="Google Shape;5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8" name="Google Shape;5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9" name="Google Shape;5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0" name="Google Shape;60;p9"/>
          <p:cNvSpPr txBox="1"/>
          <p:nvPr/>
        </p:nvSpPr>
        <p:spPr>
          <a:xfrm>
            <a:off x="0" y="4790450"/>
            <a:ext cx="9144000" cy="353100"/>
          </a:xfrm>
          <a:prstGeom prst="rect">
            <a:avLst/>
          </a:prstGeom>
          <a:solidFill>
            <a:schemeClr val="dk1"/>
          </a:solidFill>
          <a:ln>
            <a:noFill/>
          </a:ln>
        </p:spPr>
        <p:txBody>
          <a:bodyPr anchorCtr="0" anchor="ctr" bIns="91425" lIns="365750" spcFirstLastPara="1" rIns="91425" wrap="square" tIns="91425">
            <a:noAutofit/>
          </a:bodyPr>
          <a:lstStyle/>
          <a:p>
            <a:pPr indent="0" lvl="0" marL="0" rtl="0" algn="l">
              <a:spcBef>
                <a:spcPts val="0"/>
              </a:spcBef>
              <a:spcAft>
                <a:spcPts val="0"/>
              </a:spcAft>
              <a:buNone/>
            </a:pPr>
            <a:r>
              <a:rPr lang="en" sz="1300">
                <a:solidFill>
                  <a:schemeClr val="lt1"/>
                </a:solidFill>
                <a:latin typeface="Inter Tight ExtraBold"/>
                <a:ea typeface="Inter Tight ExtraBold"/>
                <a:cs typeface="Inter Tight ExtraBold"/>
                <a:sym typeface="Inter Tight ExtraBold"/>
              </a:rPr>
              <a:t>DarkPebble</a:t>
            </a:r>
            <a:endParaRPr sz="1300">
              <a:solidFill>
                <a:schemeClr val="lt1"/>
              </a:solidFill>
              <a:latin typeface="Inter Tight ExtraBold"/>
              <a:ea typeface="Inter Tight ExtraBold"/>
              <a:cs typeface="Inter Tight ExtraBold"/>
              <a:sym typeface="Inter Tight ExtraBold"/>
            </a:endParaRPr>
          </a:p>
        </p:txBody>
      </p:sp>
      <p:sp>
        <p:nvSpPr>
          <p:cNvPr id="61" name="Google Shape;61;p9"/>
          <p:cNvSpPr txBox="1"/>
          <p:nvPr>
            <p:ph idx="12" type="sldNum"/>
          </p:nvPr>
        </p:nvSpPr>
        <p:spPr>
          <a:xfrm>
            <a:off x="8472450" y="4790451"/>
            <a:ext cx="671700" cy="353100"/>
          </a:xfrm>
          <a:prstGeom prst="rect">
            <a:avLst/>
          </a:prstGeom>
        </p:spPr>
        <p:txBody>
          <a:bodyPr anchorCtr="0" anchor="ctr" bIns="91425" lIns="91425" spcFirstLastPara="1" rIns="365750"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2" name="Shape 62"/>
        <p:cNvGrpSpPr/>
        <p:nvPr/>
      </p:nvGrpSpPr>
      <p:grpSpPr>
        <a:xfrm>
          <a:off x="0" y="0"/>
          <a:ext cx="0" cy="0"/>
          <a:chOff x="0" y="0"/>
          <a:chExt cx="0" cy="0"/>
        </a:xfrm>
      </p:grpSpPr>
      <p:sp>
        <p:nvSpPr>
          <p:cNvPr id="63" name="Google Shape;6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4" name="Google Shape;64;p10"/>
          <p:cNvSpPr txBox="1"/>
          <p:nvPr/>
        </p:nvSpPr>
        <p:spPr>
          <a:xfrm>
            <a:off x="0" y="4790450"/>
            <a:ext cx="9144000" cy="353100"/>
          </a:xfrm>
          <a:prstGeom prst="rect">
            <a:avLst/>
          </a:prstGeom>
          <a:solidFill>
            <a:schemeClr val="dk1"/>
          </a:solidFill>
          <a:ln>
            <a:noFill/>
          </a:ln>
        </p:spPr>
        <p:txBody>
          <a:bodyPr anchorCtr="0" anchor="ctr" bIns="91425" lIns="365750" spcFirstLastPara="1" rIns="91425" wrap="square" tIns="91425">
            <a:noAutofit/>
          </a:bodyPr>
          <a:lstStyle/>
          <a:p>
            <a:pPr indent="0" lvl="0" marL="0" rtl="0" algn="l">
              <a:spcBef>
                <a:spcPts val="0"/>
              </a:spcBef>
              <a:spcAft>
                <a:spcPts val="0"/>
              </a:spcAft>
              <a:buNone/>
            </a:pPr>
            <a:r>
              <a:rPr lang="en" sz="1300">
                <a:solidFill>
                  <a:schemeClr val="lt1"/>
                </a:solidFill>
                <a:latin typeface="Inter Tight ExtraBold"/>
                <a:ea typeface="Inter Tight ExtraBold"/>
                <a:cs typeface="Inter Tight ExtraBold"/>
                <a:sym typeface="Inter Tight ExtraBold"/>
              </a:rPr>
              <a:t>DarkPebble</a:t>
            </a:r>
            <a:endParaRPr sz="1300">
              <a:solidFill>
                <a:schemeClr val="lt1"/>
              </a:solidFill>
              <a:latin typeface="Inter Tight ExtraBold"/>
              <a:ea typeface="Inter Tight ExtraBold"/>
              <a:cs typeface="Inter Tight ExtraBold"/>
              <a:sym typeface="Inter Tight ExtraBold"/>
            </a:endParaRPr>
          </a:p>
        </p:txBody>
      </p:sp>
      <p:sp>
        <p:nvSpPr>
          <p:cNvPr id="65" name="Google Shape;65;p10"/>
          <p:cNvSpPr txBox="1"/>
          <p:nvPr>
            <p:ph idx="12" type="sldNum"/>
          </p:nvPr>
        </p:nvSpPr>
        <p:spPr>
          <a:xfrm>
            <a:off x="8472450" y="4790451"/>
            <a:ext cx="671700" cy="353100"/>
          </a:xfrm>
          <a:prstGeom prst="rect">
            <a:avLst/>
          </a:prstGeom>
        </p:spPr>
        <p:txBody>
          <a:bodyPr anchorCtr="0" anchor="ctr" bIns="91425" lIns="91425" spcFirstLastPara="1" rIns="365750"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6" name="Shape 66"/>
        <p:cNvGrpSpPr/>
        <p:nvPr/>
      </p:nvGrpSpPr>
      <p:grpSpPr>
        <a:xfrm>
          <a:off x="0" y="0"/>
          <a:ext cx="0" cy="0"/>
          <a:chOff x="0" y="0"/>
          <a:chExt cx="0" cy="0"/>
        </a:xfrm>
      </p:grpSpPr>
      <p:sp>
        <p:nvSpPr>
          <p:cNvPr id="67" name="Google Shape;6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8" name="Google Shape;6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9" name="Google Shape;69;p11"/>
          <p:cNvSpPr txBox="1"/>
          <p:nvPr/>
        </p:nvSpPr>
        <p:spPr>
          <a:xfrm>
            <a:off x="0" y="4790450"/>
            <a:ext cx="9144000" cy="353100"/>
          </a:xfrm>
          <a:prstGeom prst="rect">
            <a:avLst/>
          </a:prstGeom>
          <a:solidFill>
            <a:schemeClr val="dk1"/>
          </a:solidFill>
          <a:ln>
            <a:noFill/>
          </a:ln>
        </p:spPr>
        <p:txBody>
          <a:bodyPr anchorCtr="0" anchor="ctr" bIns="91425" lIns="365750" spcFirstLastPara="1" rIns="91425" wrap="square" tIns="91425">
            <a:noAutofit/>
          </a:bodyPr>
          <a:lstStyle/>
          <a:p>
            <a:pPr indent="0" lvl="0" marL="0" rtl="0" algn="l">
              <a:spcBef>
                <a:spcPts val="0"/>
              </a:spcBef>
              <a:spcAft>
                <a:spcPts val="0"/>
              </a:spcAft>
              <a:buNone/>
            </a:pPr>
            <a:r>
              <a:rPr lang="en" sz="1300">
                <a:solidFill>
                  <a:schemeClr val="lt1"/>
                </a:solidFill>
                <a:latin typeface="Inter Tight ExtraBold"/>
                <a:ea typeface="Inter Tight ExtraBold"/>
                <a:cs typeface="Inter Tight ExtraBold"/>
                <a:sym typeface="Inter Tight ExtraBold"/>
              </a:rPr>
              <a:t>DarkPebble</a:t>
            </a:r>
            <a:endParaRPr sz="1300">
              <a:solidFill>
                <a:schemeClr val="lt1"/>
              </a:solidFill>
              <a:latin typeface="Inter Tight ExtraBold"/>
              <a:ea typeface="Inter Tight ExtraBold"/>
              <a:cs typeface="Inter Tight ExtraBold"/>
              <a:sym typeface="Inter Tight ExtraBold"/>
            </a:endParaRPr>
          </a:p>
        </p:txBody>
      </p:sp>
      <p:sp>
        <p:nvSpPr>
          <p:cNvPr id="70" name="Google Shape;70;p11"/>
          <p:cNvSpPr txBox="1"/>
          <p:nvPr>
            <p:ph idx="12" type="sldNum"/>
          </p:nvPr>
        </p:nvSpPr>
        <p:spPr>
          <a:xfrm>
            <a:off x="8472450" y="4790451"/>
            <a:ext cx="671700" cy="353100"/>
          </a:xfrm>
          <a:prstGeom prst="rect">
            <a:avLst/>
          </a:prstGeom>
        </p:spPr>
        <p:txBody>
          <a:bodyPr anchorCtr="0" anchor="ctr" bIns="91425" lIns="91425" spcFirstLastPara="1" rIns="365750"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1" name="Shape 71"/>
        <p:cNvGrpSpPr/>
        <p:nvPr/>
      </p:nvGrpSpPr>
      <p:grpSpPr>
        <a:xfrm>
          <a:off x="0" y="0"/>
          <a:ext cx="0" cy="0"/>
          <a:chOff x="0" y="0"/>
          <a:chExt cx="0" cy="0"/>
        </a:xfrm>
      </p:grpSpPr>
      <p:sp>
        <p:nvSpPr>
          <p:cNvPr id="72" name="Google Shape;72;p12"/>
          <p:cNvSpPr txBox="1"/>
          <p:nvPr/>
        </p:nvSpPr>
        <p:spPr>
          <a:xfrm>
            <a:off x="0" y="4790450"/>
            <a:ext cx="9144000" cy="353100"/>
          </a:xfrm>
          <a:prstGeom prst="rect">
            <a:avLst/>
          </a:prstGeom>
          <a:solidFill>
            <a:schemeClr val="dk1"/>
          </a:solidFill>
          <a:ln>
            <a:noFill/>
          </a:ln>
        </p:spPr>
        <p:txBody>
          <a:bodyPr anchorCtr="0" anchor="ctr" bIns="91425" lIns="365750" spcFirstLastPara="1" rIns="91425" wrap="square" tIns="91425">
            <a:noAutofit/>
          </a:bodyPr>
          <a:lstStyle/>
          <a:p>
            <a:pPr indent="0" lvl="0" marL="0" rtl="0" algn="l">
              <a:spcBef>
                <a:spcPts val="0"/>
              </a:spcBef>
              <a:spcAft>
                <a:spcPts val="0"/>
              </a:spcAft>
              <a:buNone/>
            </a:pPr>
            <a:r>
              <a:rPr lang="en" sz="1300">
                <a:solidFill>
                  <a:schemeClr val="lt1"/>
                </a:solidFill>
                <a:latin typeface="Inter Tight ExtraBold"/>
                <a:ea typeface="Inter Tight ExtraBold"/>
                <a:cs typeface="Inter Tight ExtraBold"/>
                <a:sym typeface="Inter Tight ExtraBold"/>
              </a:rPr>
              <a:t>DarkPebble</a:t>
            </a:r>
            <a:endParaRPr sz="1300">
              <a:solidFill>
                <a:schemeClr val="lt1"/>
              </a:solidFill>
              <a:latin typeface="Inter Tight ExtraBold"/>
              <a:ea typeface="Inter Tight ExtraBold"/>
              <a:cs typeface="Inter Tight ExtraBold"/>
              <a:sym typeface="Inter Tight ExtraBold"/>
            </a:endParaRPr>
          </a:p>
        </p:txBody>
      </p:sp>
      <p:sp>
        <p:nvSpPr>
          <p:cNvPr id="73" name="Google Shape;73;p12"/>
          <p:cNvSpPr txBox="1"/>
          <p:nvPr>
            <p:ph idx="12" type="sldNum"/>
          </p:nvPr>
        </p:nvSpPr>
        <p:spPr>
          <a:xfrm>
            <a:off x="8472450" y="4790451"/>
            <a:ext cx="671700" cy="353100"/>
          </a:xfrm>
          <a:prstGeom prst="rect">
            <a:avLst/>
          </a:prstGeom>
        </p:spPr>
        <p:txBody>
          <a:bodyPr anchorCtr="0" anchor="ctr" bIns="91425" lIns="91425" spcFirstLastPara="1" rIns="365750"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200"/>
              <a:buFont typeface="Inter Tight ExtraBold"/>
              <a:buNone/>
              <a:defRPr sz="2200">
                <a:solidFill>
                  <a:schemeClr val="dk1"/>
                </a:solidFill>
                <a:latin typeface="Inter Tight ExtraBold"/>
                <a:ea typeface="Inter Tight ExtraBold"/>
                <a:cs typeface="Inter Tight ExtraBold"/>
                <a:sym typeface="Inter Tight ExtraBold"/>
              </a:defRPr>
            </a:lvl1pPr>
            <a:lvl2pPr lvl="1">
              <a:spcBef>
                <a:spcPts val="0"/>
              </a:spcBef>
              <a:spcAft>
                <a:spcPts val="0"/>
              </a:spcAft>
              <a:buClr>
                <a:schemeClr val="dk1"/>
              </a:buClr>
              <a:buSzPts val="2200"/>
              <a:buFont typeface="Inter Tight ExtraBold"/>
              <a:buNone/>
              <a:defRPr sz="2200">
                <a:solidFill>
                  <a:schemeClr val="dk1"/>
                </a:solidFill>
                <a:latin typeface="Inter Tight ExtraBold"/>
                <a:ea typeface="Inter Tight ExtraBold"/>
                <a:cs typeface="Inter Tight ExtraBold"/>
                <a:sym typeface="Inter Tight ExtraBold"/>
              </a:defRPr>
            </a:lvl2pPr>
            <a:lvl3pPr lvl="2">
              <a:spcBef>
                <a:spcPts val="0"/>
              </a:spcBef>
              <a:spcAft>
                <a:spcPts val="0"/>
              </a:spcAft>
              <a:buClr>
                <a:schemeClr val="dk1"/>
              </a:buClr>
              <a:buSzPts val="2200"/>
              <a:buFont typeface="Inter Tight ExtraBold"/>
              <a:buNone/>
              <a:defRPr sz="2200">
                <a:solidFill>
                  <a:schemeClr val="dk1"/>
                </a:solidFill>
                <a:latin typeface="Inter Tight ExtraBold"/>
                <a:ea typeface="Inter Tight ExtraBold"/>
                <a:cs typeface="Inter Tight ExtraBold"/>
                <a:sym typeface="Inter Tight ExtraBold"/>
              </a:defRPr>
            </a:lvl3pPr>
            <a:lvl4pPr lvl="3">
              <a:spcBef>
                <a:spcPts val="0"/>
              </a:spcBef>
              <a:spcAft>
                <a:spcPts val="0"/>
              </a:spcAft>
              <a:buClr>
                <a:schemeClr val="dk1"/>
              </a:buClr>
              <a:buSzPts val="2200"/>
              <a:buFont typeface="Inter Tight ExtraBold"/>
              <a:buNone/>
              <a:defRPr sz="2200">
                <a:solidFill>
                  <a:schemeClr val="dk1"/>
                </a:solidFill>
                <a:latin typeface="Inter Tight ExtraBold"/>
                <a:ea typeface="Inter Tight ExtraBold"/>
                <a:cs typeface="Inter Tight ExtraBold"/>
                <a:sym typeface="Inter Tight ExtraBold"/>
              </a:defRPr>
            </a:lvl4pPr>
            <a:lvl5pPr lvl="4">
              <a:spcBef>
                <a:spcPts val="0"/>
              </a:spcBef>
              <a:spcAft>
                <a:spcPts val="0"/>
              </a:spcAft>
              <a:buClr>
                <a:schemeClr val="dk1"/>
              </a:buClr>
              <a:buSzPts val="2200"/>
              <a:buFont typeface="Inter Tight ExtraBold"/>
              <a:buNone/>
              <a:defRPr sz="2200">
                <a:solidFill>
                  <a:schemeClr val="dk1"/>
                </a:solidFill>
                <a:latin typeface="Inter Tight ExtraBold"/>
                <a:ea typeface="Inter Tight ExtraBold"/>
                <a:cs typeface="Inter Tight ExtraBold"/>
                <a:sym typeface="Inter Tight ExtraBold"/>
              </a:defRPr>
            </a:lvl5pPr>
            <a:lvl6pPr lvl="5">
              <a:spcBef>
                <a:spcPts val="0"/>
              </a:spcBef>
              <a:spcAft>
                <a:spcPts val="0"/>
              </a:spcAft>
              <a:buClr>
                <a:schemeClr val="dk1"/>
              </a:buClr>
              <a:buSzPts val="2200"/>
              <a:buFont typeface="Inter Tight ExtraBold"/>
              <a:buNone/>
              <a:defRPr sz="2200">
                <a:solidFill>
                  <a:schemeClr val="dk1"/>
                </a:solidFill>
                <a:latin typeface="Inter Tight ExtraBold"/>
                <a:ea typeface="Inter Tight ExtraBold"/>
                <a:cs typeface="Inter Tight ExtraBold"/>
                <a:sym typeface="Inter Tight ExtraBold"/>
              </a:defRPr>
            </a:lvl6pPr>
            <a:lvl7pPr lvl="6">
              <a:spcBef>
                <a:spcPts val="0"/>
              </a:spcBef>
              <a:spcAft>
                <a:spcPts val="0"/>
              </a:spcAft>
              <a:buClr>
                <a:schemeClr val="dk1"/>
              </a:buClr>
              <a:buSzPts val="2200"/>
              <a:buFont typeface="Inter Tight ExtraBold"/>
              <a:buNone/>
              <a:defRPr sz="2200">
                <a:solidFill>
                  <a:schemeClr val="dk1"/>
                </a:solidFill>
                <a:latin typeface="Inter Tight ExtraBold"/>
                <a:ea typeface="Inter Tight ExtraBold"/>
                <a:cs typeface="Inter Tight ExtraBold"/>
                <a:sym typeface="Inter Tight ExtraBold"/>
              </a:defRPr>
            </a:lvl7pPr>
            <a:lvl8pPr lvl="7">
              <a:spcBef>
                <a:spcPts val="0"/>
              </a:spcBef>
              <a:spcAft>
                <a:spcPts val="0"/>
              </a:spcAft>
              <a:buClr>
                <a:schemeClr val="dk1"/>
              </a:buClr>
              <a:buSzPts val="2200"/>
              <a:buFont typeface="Inter Tight ExtraBold"/>
              <a:buNone/>
              <a:defRPr sz="2200">
                <a:solidFill>
                  <a:schemeClr val="dk1"/>
                </a:solidFill>
                <a:latin typeface="Inter Tight ExtraBold"/>
                <a:ea typeface="Inter Tight ExtraBold"/>
                <a:cs typeface="Inter Tight ExtraBold"/>
                <a:sym typeface="Inter Tight ExtraBold"/>
              </a:defRPr>
            </a:lvl8pPr>
            <a:lvl9pPr lvl="8">
              <a:spcBef>
                <a:spcPts val="0"/>
              </a:spcBef>
              <a:spcAft>
                <a:spcPts val="0"/>
              </a:spcAft>
              <a:buClr>
                <a:schemeClr val="dk1"/>
              </a:buClr>
              <a:buSzPts val="2200"/>
              <a:buFont typeface="Inter Tight ExtraBold"/>
              <a:buNone/>
              <a:defRPr sz="2200">
                <a:solidFill>
                  <a:schemeClr val="dk1"/>
                </a:solidFill>
                <a:latin typeface="Inter Tight ExtraBold"/>
                <a:ea typeface="Inter Tight ExtraBold"/>
                <a:cs typeface="Inter Tight ExtraBold"/>
                <a:sym typeface="Inter Tight ExtraBold"/>
              </a:defRPr>
            </a:lvl9pPr>
          </a:lstStyle>
          <a:p/>
        </p:txBody>
      </p:sp>
      <p:sp>
        <p:nvSpPr>
          <p:cNvPr id="7" name="Google Shape;7;p1"/>
          <p:cNvSpPr txBox="1"/>
          <p:nvPr>
            <p:ph idx="1" type="body"/>
          </p:nvPr>
        </p:nvSpPr>
        <p:spPr>
          <a:xfrm>
            <a:off x="311700" y="1017725"/>
            <a:ext cx="8520600" cy="35511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Inter Tight"/>
              <a:buChar char="●"/>
              <a:defRPr sz="1800">
                <a:solidFill>
                  <a:schemeClr val="dk2"/>
                </a:solidFill>
                <a:latin typeface="Inter Tight"/>
                <a:ea typeface="Inter Tight"/>
                <a:cs typeface="Inter Tight"/>
                <a:sym typeface="Inter Tight"/>
              </a:defRPr>
            </a:lvl1pPr>
            <a:lvl2pPr indent="-317500" lvl="1" marL="9144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2pPr>
            <a:lvl3pPr indent="-317500" lvl="2" marL="13716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3pPr>
            <a:lvl4pPr indent="-317500" lvl="3" marL="18288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4pPr>
            <a:lvl5pPr indent="-317500" lvl="4" marL="22860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5pPr>
            <a:lvl6pPr indent="-317500" lvl="5" marL="27432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6pPr>
            <a:lvl7pPr indent="-317500" lvl="6" marL="32004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7pPr>
            <a:lvl8pPr indent="-317500" lvl="7" marL="36576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8pPr>
            <a:lvl9pPr indent="-317500" lvl="8" marL="41148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9pPr>
          </a:lstStyle>
          <a:p/>
        </p:txBody>
      </p:sp>
      <p:sp>
        <p:nvSpPr>
          <p:cNvPr id="8" name="Google Shape;8;p1"/>
          <p:cNvSpPr txBox="1"/>
          <p:nvPr>
            <p:ph idx="12" type="sldNum"/>
          </p:nvPr>
        </p:nvSpPr>
        <p:spPr>
          <a:xfrm>
            <a:off x="8472450" y="4790451"/>
            <a:ext cx="671700" cy="353100"/>
          </a:xfrm>
          <a:prstGeom prst="rect">
            <a:avLst/>
          </a:prstGeom>
          <a:noFill/>
          <a:ln>
            <a:noFill/>
          </a:ln>
        </p:spPr>
        <p:txBody>
          <a:bodyPr anchorCtr="0" anchor="ctr" bIns="91425" lIns="91425" spcFirstLastPara="1" rIns="365750" wrap="square" tIns="91425">
            <a:normAutofit/>
          </a:bodyPr>
          <a:lstStyle>
            <a:lvl1pPr lvl="0" algn="r">
              <a:buNone/>
              <a:defRPr sz="1000">
                <a:solidFill>
                  <a:schemeClr val="lt1"/>
                </a:solidFill>
                <a:latin typeface="Inter Tight"/>
                <a:ea typeface="Inter Tight"/>
                <a:cs typeface="Inter Tight"/>
                <a:sym typeface="Inter Tight"/>
              </a:defRPr>
            </a:lvl1pPr>
            <a:lvl2pPr lvl="1" algn="r">
              <a:buNone/>
              <a:defRPr sz="1000">
                <a:solidFill>
                  <a:schemeClr val="lt1"/>
                </a:solidFill>
                <a:latin typeface="Inter Tight"/>
                <a:ea typeface="Inter Tight"/>
                <a:cs typeface="Inter Tight"/>
                <a:sym typeface="Inter Tight"/>
              </a:defRPr>
            </a:lvl2pPr>
            <a:lvl3pPr lvl="2" algn="r">
              <a:buNone/>
              <a:defRPr sz="1000">
                <a:solidFill>
                  <a:schemeClr val="lt1"/>
                </a:solidFill>
                <a:latin typeface="Inter Tight"/>
                <a:ea typeface="Inter Tight"/>
                <a:cs typeface="Inter Tight"/>
                <a:sym typeface="Inter Tight"/>
              </a:defRPr>
            </a:lvl3pPr>
            <a:lvl4pPr lvl="3" algn="r">
              <a:buNone/>
              <a:defRPr sz="1000">
                <a:solidFill>
                  <a:schemeClr val="lt1"/>
                </a:solidFill>
                <a:latin typeface="Inter Tight"/>
                <a:ea typeface="Inter Tight"/>
                <a:cs typeface="Inter Tight"/>
                <a:sym typeface="Inter Tight"/>
              </a:defRPr>
            </a:lvl4pPr>
            <a:lvl5pPr lvl="4" algn="r">
              <a:buNone/>
              <a:defRPr sz="1000">
                <a:solidFill>
                  <a:schemeClr val="lt1"/>
                </a:solidFill>
                <a:latin typeface="Inter Tight"/>
                <a:ea typeface="Inter Tight"/>
                <a:cs typeface="Inter Tight"/>
                <a:sym typeface="Inter Tight"/>
              </a:defRPr>
            </a:lvl5pPr>
            <a:lvl6pPr lvl="5" algn="r">
              <a:buNone/>
              <a:defRPr sz="1000">
                <a:solidFill>
                  <a:schemeClr val="lt1"/>
                </a:solidFill>
                <a:latin typeface="Inter Tight"/>
                <a:ea typeface="Inter Tight"/>
                <a:cs typeface="Inter Tight"/>
                <a:sym typeface="Inter Tight"/>
              </a:defRPr>
            </a:lvl6pPr>
            <a:lvl7pPr lvl="6" algn="r">
              <a:buNone/>
              <a:defRPr sz="1000">
                <a:solidFill>
                  <a:schemeClr val="lt1"/>
                </a:solidFill>
                <a:latin typeface="Inter Tight"/>
                <a:ea typeface="Inter Tight"/>
                <a:cs typeface="Inter Tight"/>
                <a:sym typeface="Inter Tight"/>
              </a:defRPr>
            </a:lvl7pPr>
            <a:lvl8pPr lvl="7" algn="r">
              <a:buNone/>
              <a:defRPr sz="1000">
                <a:solidFill>
                  <a:schemeClr val="lt1"/>
                </a:solidFill>
                <a:latin typeface="Inter Tight"/>
                <a:ea typeface="Inter Tight"/>
                <a:cs typeface="Inter Tight"/>
                <a:sym typeface="Inter Tight"/>
              </a:defRPr>
            </a:lvl8pPr>
            <a:lvl9pPr lvl="8" algn="r">
              <a:buNone/>
              <a:defRPr sz="1000">
                <a:solidFill>
                  <a:schemeClr val="lt1"/>
                </a:solidFill>
                <a:latin typeface="Inter Tight"/>
                <a:ea typeface="Inter Tight"/>
                <a:cs typeface="Inter Tight"/>
                <a:sym typeface="Inter T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3"/>
          <p:cNvSpPr txBox="1"/>
          <p:nvPr>
            <p:ph type="ctrTitle"/>
          </p:nvPr>
        </p:nvSpPr>
        <p:spPr>
          <a:xfrm>
            <a:off x="408005" y="2525450"/>
            <a:ext cx="3772500" cy="2052600"/>
          </a:xfrm>
          <a:prstGeom prst="rect">
            <a:avLst/>
          </a:prstGeom>
        </p:spPr>
        <p:txBody>
          <a:bodyPr anchorCtr="0" anchor="ctr" bIns="91425" lIns="0" spcFirstLastPara="1" rIns="91425" wrap="square" tIns="91425">
            <a:normAutofit/>
          </a:bodyPr>
          <a:lstStyle/>
          <a:p>
            <a:pPr indent="0" lvl="0" marL="0" rtl="0" algn="l">
              <a:spcBef>
                <a:spcPts val="0"/>
              </a:spcBef>
              <a:spcAft>
                <a:spcPts val="0"/>
              </a:spcAft>
              <a:buNone/>
            </a:pPr>
            <a:r>
              <a:rPr lang="en"/>
              <a:t>Investor Day 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4"/>
          <p:cNvSpPr txBox="1"/>
          <p:nvPr>
            <p:ph type="title"/>
          </p:nvPr>
        </p:nvSpPr>
        <p:spPr>
          <a:xfrm>
            <a:off x="1182075" y="952475"/>
            <a:ext cx="4828500" cy="192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2026 Economic Climate</a:t>
            </a:r>
            <a:endParaRPr/>
          </a:p>
        </p:txBody>
      </p:sp>
      <p:sp>
        <p:nvSpPr>
          <p:cNvPr id="84" name="Google Shape;84;p14"/>
          <p:cNvSpPr txBox="1"/>
          <p:nvPr>
            <p:ph idx="2" type="title"/>
          </p:nvPr>
        </p:nvSpPr>
        <p:spPr>
          <a:xfrm>
            <a:off x="997450" y="3612175"/>
            <a:ext cx="1860000" cy="1355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Investor Day 2025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Seize on the cyclical uplift</a:t>
            </a:r>
            <a:endParaRPr/>
          </a:p>
        </p:txBody>
      </p:sp>
      <p:sp>
        <p:nvSpPr>
          <p:cNvPr id="90" name="Google Shape;90;p15"/>
          <p:cNvSpPr txBox="1"/>
          <p:nvPr>
            <p:ph idx="1" type="body"/>
          </p:nvPr>
        </p:nvSpPr>
        <p:spPr>
          <a:xfrm>
            <a:off x="311700" y="1167074"/>
            <a:ext cx="3999900" cy="282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solidFill>
                  <a:schemeClr val="dk1"/>
                </a:solidFill>
                <a:highlight>
                  <a:srgbClr val="FFFFFF"/>
                </a:highlight>
              </a:rPr>
              <a:t>The global real estate market appears to be emerging from the a downturn in capital values.</a:t>
            </a:r>
            <a:endParaRPr sz="1300">
              <a:solidFill>
                <a:schemeClr val="dk1"/>
              </a:solidFill>
              <a:highlight>
                <a:srgbClr val="FFFFFF"/>
              </a:highlight>
            </a:endParaRPr>
          </a:p>
          <a:p>
            <a:pPr indent="0" lvl="0" marL="0" rtl="0" algn="l">
              <a:spcBef>
                <a:spcPts val="1200"/>
              </a:spcBef>
              <a:spcAft>
                <a:spcPts val="0"/>
              </a:spcAft>
              <a:buNone/>
            </a:pPr>
            <a:r>
              <a:rPr lang="en" sz="1300">
                <a:solidFill>
                  <a:schemeClr val="dk1"/>
                </a:solidFill>
                <a:highlight>
                  <a:srgbClr val="FFFFFF"/>
                </a:highlight>
              </a:rPr>
              <a:t>Interest rate stabilization is providing some clarity to pricing and driving more buyers to the table.</a:t>
            </a:r>
            <a:endParaRPr sz="1300">
              <a:solidFill>
                <a:schemeClr val="dk1"/>
              </a:solidFill>
              <a:highlight>
                <a:srgbClr val="FFFFFF"/>
              </a:highlight>
            </a:endParaRPr>
          </a:p>
          <a:p>
            <a:pPr indent="0" lvl="0" marL="0" rtl="0" algn="l">
              <a:spcBef>
                <a:spcPts val="1200"/>
              </a:spcBef>
              <a:spcAft>
                <a:spcPts val="1200"/>
              </a:spcAft>
              <a:buNone/>
            </a:pPr>
            <a:r>
              <a:rPr lang="en" sz="1300">
                <a:solidFill>
                  <a:schemeClr val="dk1"/>
                </a:solidFill>
                <a:highlight>
                  <a:srgbClr val="FFFFFF"/>
                </a:highlight>
              </a:rPr>
              <a:t>The future investment landscape will likely be more volatile. Now is the ideal the time to invest.</a:t>
            </a:r>
            <a:endParaRPr sz="1300">
              <a:solidFill>
                <a:schemeClr val="dk1"/>
              </a:solidFill>
              <a:highlight>
                <a:srgbClr val="FFFFFF"/>
              </a:highlight>
            </a:endParaRPr>
          </a:p>
        </p:txBody>
      </p:sp>
      <p:sp>
        <p:nvSpPr>
          <p:cNvPr id="91" name="Google Shape;91;p15"/>
          <p:cNvSpPr txBox="1"/>
          <p:nvPr/>
        </p:nvSpPr>
        <p:spPr>
          <a:xfrm>
            <a:off x="4550117" y="4406658"/>
            <a:ext cx="4038600" cy="264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600">
                <a:solidFill>
                  <a:srgbClr val="999999"/>
                </a:solidFill>
                <a:latin typeface="Inter Tight"/>
                <a:ea typeface="Inter Tight"/>
                <a:cs typeface="Inter Tight"/>
                <a:sym typeface="Inter Tight"/>
              </a:rPr>
              <a:t>https://docs.columbiathreadneedle.com/documents/Global%20Real%20Estate%20Outlook%202025.pdf</a:t>
            </a:r>
            <a:endParaRPr sz="600">
              <a:solidFill>
                <a:srgbClr val="999999"/>
              </a:solidFill>
              <a:latin typeface="Inter Tight"/>
              <a:ea typeface="Inter Tight"/>
              <a:cs typeface="Inter Tight"/>
              <a:sym typeface="Inter Tight"/>
            </a:endParaRPr>
          </a:p>
        </p:txBody>
      </p:sp>
      <p:grpSp>
        <p:nvGrpSpPr>
          <p:cNvPr id="92" name="Google Shape;92;p15"/>
          <p:cNvGrpSpPr/>
          <p:nvPr/>
        </p:nvGrpSpPr>
        <p:grpSpPr>
          <a:xfrm>
            <a:off x="4572000" y="1057875"/>
            <a:ext cx="4260300" cy="3127974"/>
            <a:chOff x="4572000" y="1057875"/>
            <a:chExt cx="4260300" cy="3127974"/>
          </a:xfrm>
        </p:grpSpPr>
        <p:grpSp>
          <p:nvGrpSpPr>
            <p:cNvPr id="93" name="Google Shape;93;p15"/>
            <p:cNvGrpSpPr/>
            <p:nvPr/>
          </p:nvGrpSpPr>
          <p:grpSpPr>
            <a:xfrm>
              <a:off x="4572000" y="1232975"/>
              <a:ext cx="4260300" cy="2952874"/>
              <a:chOff x="4572000" y="1232975"/>
              <a:chExt cx="4260300" cy="2952874"/>
            </a:xfrm>
          </p:grpSpPr>
          <p:pic>
            <p:nvPicPr>
              <p:cNvPr id="94" name="Google Shape;94;p15" title="Screenshot 2025-12-02 at 9.16.43 PM.png"/>
              <p:cNvPicPr preferRelativeResize="0"/>
              <p:nvPr/>
            </p:nvPicPr>
            <p:blipFill rotWithShape="1">
              <a:blip r:embed="rId3">
                <a:alphaModFix/>
              </a:blip>
              <a:srcRect b="0" l="0" r="0" t="9314"/>
              <a:stretch/>
            </p:blipFill>
            <p:spPr>
              <a:xfrm>
                <a:off x="4572000" y="1362249"/>
                <a:ext cx="4260300" cy="2823600"/>
              </a:xfrm>
              <a:prstGeom prst="rect">
                <a:avLst/>
              </a:prstGeom>
              <a:noFill/>
              <a:ln>
                <a:noFill/>
              </a:ln>
            </p:spPr>
          </p:pic>
          <p:sp>
            <p:nvSpPr>
              <p:cNvPr id="95" name="Google Shape;95;p15"/>
              <p:cNvSpPr/>
              <p:nvPr/>
            </p:nvSpPr>
            <p:spPr>
              <a:xfrm>
                <a:off x="4596325" y="1232975"/>
                <a:ext cx="481500" cy="146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96" name="Google Shape;96;p15"/>
            <p:cNvSpPr txBox="1"/>
            <p:nvPr/>
          </p:nvSpPr>
          <p:spPr>
            <a:xfrm>
              <a:off x="4786000" y="1057875"/>
              <a:ext cx="3939900" cy="32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Inter Tight SemiBold"/>
                  <a:ea typeface="Inter Tight SemiBold"/>
                  <a:cs typeface="Inter Tight SemiBold"/>
                  <a:sym typeface="Inter Tight SemiBold"/>
                </a:rPr>
                <a:t>Net % of Firms Expecting the Economy to Improve in the Next 6 Months</a:t>
              </a:r>
              <a:endParaRPr sz="900">
                <a:solidFill>
                  <a:schemeClr val="dk1"/>
                </a:solidFill>
                <a:latin typeface="Inter Tight SemiBold"/>
                <a:ea typeface="Inter Tight SemiBold"/>
                <a:cs typeface="Inter Tight SemiBold"/>
                <a:sym typeface="Inter Tight SemiBold"/>
              </a:endParaRPr>
            </a:p>
          </p:txBody>
        </p:sp>
      </p:grpSp>
      <p:cxnSp>
        <p:nvCxnSpPr>
          <p:cNvPr id="97" name="Google Shape;97;p15"/>
          <p:cNvCxnSpPr>
            <a:endCxn id="98" idx="2"/>
          </p:cNvCxnSpPr>
          <p:nvPr/>
        </p:nvCxnSpPr>
        <p:spPr>
          <a:xfrm rot="10800000">
            <a:off x="8178599" y="1685347"/>
            <a:ext cx="0" cy="1685400"/>
          </a:xfrm>
          <a:prstGeom prst="straightConnector1">
            <a:avLst/>
          </a:prstGeom>
          <a:noFill/>
          <a:ln cap="flat" cmpd="sng" w="19050">
            <a:solidFill>
              <a:srgbClr val="A61C00"/>
            </a:solidFill>
            <a:prstDash val="dash"/>
            <a:round/>
            <a:headEnd len="med" w="med" type="none"/>
            <a:tailEnd len="med" w="med" type="none"/>
          </a:ln>
        </p:spPr>
      </p:cxnSp>
      <p:sp>
        <p:nvSpPr>
          <p:cNvPr id="98" name="Google Shape;98;p15"/>
          <p:cNvSpPr txBox="1"/>
          <p:nvPr/>
        </p:nvSpPr>
        <p:spPr>
          <a:xfrm>
            <a:off x="7645949" y="1481047"/>
            <a:ext cx="1065300" cy="20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990000"/>
                </a:solidFill>
                <a:latin typeface="Inter Tight Medium"/>
                <a:ea typeface="Inter Tight Medium"/>
                <a:cs typeface="Inter Tight Medium"/>
                <a:sym typeface="Inter Tight Medium"/>
              </a:rPr>
              <a:t>COVID-19</a:t>
            </a:r>
            <a:endParaRPr sz="600">
              <a:solidFill>
                <a:srgbClr val="990000"/>
              </a:solidFill>
              <a:latin typeface="Inter Tight Medium"/>
              <a:ea typeface="Inter Tight Medium"/>
              <a:cs typeface="Inter Tight Medium"/>
              <a:sym typeface="Inter Tigh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Market leverage through data</a:t>
            </a:r>
            <a:endParaRPr/>
          </a:p>
        </p:txBody>
      </p:sp>
      <p:sp>
        <p:nvSpPr>
          <p:cNvPr id="104" name="Google Shape;104;p16"/>
          <p:cNvSpPr txBox="1"/>
          <p:nvPr>
            <p:ph idx="1" type="body"/>
          </p:nvPr>
        </p:nvSpPr>
        <p:spPr>
          <a:xfrm>
            <a:off x="311700" y="1152475"/>
            <a:ext cx="2221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More information available than ever before.</a:t>
            </a:r>
            <a:endParaRPr/>
          </a:p>
          <a:p>
            <a:pPr indent="0" lvl="0" marL="0" rtl="0" algn="l">
              <a:spcBef>
                <a:spcPts val="1200"/>
              </a:spcBef>
              <a:spcAft>
                <a:spcPts val="0"/>
              </a:spcAft>
              <a:buNone/>
            </a:pPr>
            <a:r>
              <a:rPr lang="en"/>
              <a:t>Analyze high-dimensional relationships and trends in real estate markets.</a:t>
            </a:r>
            <a:endParaRPr/>
          </a:p>
          <a:p>
            <a:pPr indent="0" lvl="0" marL="0" rtl="0" algn="l">
              <a:spcBef>
                <a:spcPts val="1200"/>
              </a:spcBef>
              <a:spcAft>
                <a:spcPts val="1200"/>
              </a:spcAft>
              <a:buNone/>
            </a:pPr>
            <a:r>
              <a:rPr lang="en"/>
              <a:t>Private equity is uniquely positioned to make the most of this information.</a:t>
            </a:r>
            <a:endParaRPr/>
          </a:p>
        </p:txBody>
      </p:sp>
      <p:sp>
        <p:nvSpPr>
          <p:cNvPr id="105" name="Google Shape;105;p1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6" name="Google Shape;106;p16" title="Screenshot 2025-12-02 at 9.47.54 PM.png"/>
          <p:cNvPicPr preferRelativeResize="0"/>
          <p:nvPr/>
        </p:nvPicPr>
        <p:blipFill>
          <a:blip r:embed="rId3">
            <a:alphaModFix/>
          </a:blip>
          <a:stretch>
            <a:fillRect/>
          </a:stretch>
        </p:blipFill>
        <p:spPr>
          <a:xfrm>
            <a:off x="2705950" y="1152475"/>
            <a:ext cx="6126362" cy="34163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and digital infrastructure</a:t>
            </a:r>
            <a:endParaRPr/>
          </a:p>
        </p:txBody>
      </p:sp>
      <p:sp>
        <p:nvSpPr>
          <p:cNvPr id="112" name="Google Shape;112;p17"/>
          <p:cNvSpPr txBox="1"/>
          <p:nvPr>
            <p:ph idx="1" type="body"/>
          </p:nvPr>
        </p:nvSpPr>
        <p:spPr>
          <a:xfrm>
            <a:off x="311700" y="1152475"/>
            <a:ext cx="4095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will be a key driver for digital infrastructure (not limited to just data centers).</a:t>
            </a:r>
            <a:endParaRPr/>
          </a:p>
          <a:p>
            <a:pPr indent="0" lvl="0" marL="0" rtl="0" algn="l">
              <a:spcBef>
                <a:spcPts val="1200"/>
              </a:spcBef>
              <a:spcAft>
                <a:spcPts val="0"/>
              </a:spcAft>
              <a:buNone/>
            </a:pPr>
            <a:r>
              <a:rPr lang="en"/>
              <a:t>This represents a unique opportunity for private investment to diversify within an emerging market.</a:t>
            </a:r>
            <a:endParaRPr/>
          </a:p>
          <a:p>
            <a:pPr indent="0" lvl="0" marL="0" rtl="0" algn="l">
              <a:spcBef>
                <a:spcPts val="1200"/>
              </a:spcBef>
              <a:spcAft>
                <a:spcPts val="1200"/>
              </a:spcAft>
              <a:buNone/>
            </a:pPr>
            <a:r>
              <a:rPr lang="en"/>
              <a:t>Highly synergistic investment strategies can pair infrastructure and real estate positions with fast-growing AI startups.</a:t>
            </a:r>
            <a:endParaRPr/>
          </a:p>
        </p:txBody>
      </p:sp>
      <p:pic>
        <p:nvPicPr>
          <p:cNvPr id="113" name="Google Shape;113;p17" title="Screenshot 2025-12-02 at 9.38.24 PM.png"/>
          <p:cNvPicPr preferRelativeResize="0"/>
          <p:nvPr/>
        </p:nvPicPr>
        <p:blipFill rotWithShape="1">
          <a:blip r:embed="rId3">
            <a:alphaModFix/>
          </a:blip>
          <a:srcRect b="0" l="0" r="0" t="15405"/>
          <a:stretch/>
        </p:blipFill>
        <p:spPr>
          <a:xfrm>
            <a:off x="4832400" y="1152475"/>
            <a:ext cx="3007473" cy="3416400"/>
          </a:xfrm>
          <a:prstGeom prst="rect">
            <a:avLst/>
          </a:prstGeom>
          <a:noFill/>
          <a:ln>
            <a:noFill/>
          </a:ln>
        </p:spPr>
      </p:pic>
      <p:sp>
        <p:nvSpPr>
          <p:cNvPr id="114" name="Google Shape;114;p17"/>
          <p:cNvSpPr txBox="1"/>
          <p:nvPr/>
        </p:nvSpPr>
        <p:spPr>
          <a:xfrm>
            <a:off x="4572007" y="920474"/>
            <a:ext cx="3939900" cy="32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Inter Tight SemiBold"/>
                <a:ea typeface="Inter Tight SemiBold"/>
                <a:cs typeface="Inter Tight SemiBold"/>
                <a:sym typeface="Inter Tight SemiBold"/>
              </a:rPr>
              <a:t>Categorical Real Estate Investment</a:t>
            </a:r>
            <a:endParaRPr sz="900">
              <a:solidFill>
                <a:schemeClr val="dk1"/>
              </a:solidFill>
              <a:latin typeface="Inter Tight SemiBold"/>
              <a:ea typeface="Inter Tight SemiBold"/>
              <a:cs typeface="Inter Tight SemiBold"/>
              <a:sym typeface="Inter Tight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1182075" y="952475"/>
            <a:ext cx="4828500" cy="192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DarkPebble’s</a:t>
            </a:r>
            <a:endParaRPr/>
          </a:p>
          <a:p>
            <a:pPr indent="0" lvl="0" marL="0" rtl="0" algn="l">
              <a:spcBef>
                <a:spcPts val="0"/>
              </a:spcBef>
              <a:spcAft>
                <a:spcPts val="0"/>
              </a:spcAft>
              <a:buNone/>
            </a:pPr>
            <a:r>
              <a:rPr lang="en"/>
              <a:t>2030 Ambition</a:t>
            </a:r>
            <a:endParaRPr/>
          </a:p>
        </p:txBody>
      </p:sp>
      <p:sp>
        <p:nvSpPr>
          <p:cNvPr id="120" name="Google Shape;120;p18"/>
          <p:cNvSpPr txBox="1"/>
          <p:nvPr>
            <p:ph idx="2" type="title"/>
          </p:nvPr>
        </p:nvSpPr>
        <p:spPr>
          <a:xfrm>
            <a:off x="997450" y="3612175"/>
            <a:ext cx="1860000" cy="1355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Investor Day 2025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Key Variables &amp; Glossary</a:t>
            </a:r>
            <a:endParaRPr/>
          </a:p>
        </p:txBody>
      </p:sp>
      <p:sp>
        <p:nvSpPr>
          <p:cNvPr id="126" name="Google Shape;126;p1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fontScale="55000" lnSpcReduction="20000"/>
          </a:bodyPr>
          <a:lstStyle/>
          <a:p>
            <a:pPr indent="0" lvl="0" marL="0" rtl="0" algn="l">
              <a:lnSpc>
                <a:spcPct val="100000"/>
              </a:lnSpc>
              <a:spcBef>
                <a:spcPts val="1200"/>
              </a:spcBef>
              <a:spcAft>
                <a:spcPts val="0"/>
              </a:spcAft>
              <a:buClr>
                <a:schemeClr val="dk1"/>
              </a:buClr>
              <a:buSzPct val="77465"/>
              <a:buFont typeface="Arial"/>
              <a:buNone/>
            </a:pPr>
            <a:r>
              <a:rPr b="1" lang="en" sz="1420">
                <a:solidFill>
                  <a:schemeClr val="dk1"/>
                </a:solidFill>
                <a:latin typeface="Arial"/>
                <a:ea typeface="Arial"/>
                <a:cs typeface="Arial"/>
                <a:sym typeface="Arial"/>
              </a:rPr>
              <a:t>Housing Metrics</a:t>
            </a:r>
            <a:endParaRPr b="1" sz="1420">
              <a:solidFill>
                <a:schemeClr val="dk1"/>
              </a:solidFill>
              <a:latin typeface="Arial"/>
              <a:ea typeface="Arial"/>
              <a:cs typeface="Arial"/>
              <a:sym typeface="Arial"/>
            </a:endParaRPr>
          </a:p>
          <a:p>
            <a:pPr indent="-272606" lvl="0" marL="457200" rtl="0" algn="l">
              <a:lnSpc>
                <a:spcPct val="100000"/>
              </a:lnSpc>
              <a:spcBef>
                <a:spcPts val="1200"/>
              </a:spcBef>
              <a:spcAft>
                <a:spcPts val="0"/>
              </a:spcAft>
              <a:buClr>
                <a:schemeClr val="dk1"/>
              </a:buClr>
              <a:buSzPct val="100000"/>
              <a:buFont typeface="Arial"/>
              <a:buChar char="●"/>
            </a:pPr>
            <a:r>
              <a:rPr b="1" lang="en" sz="1260">
                <a:solidFill>
                  <a:schemeClr val="dk1"/>
                </a:solidFill>
                <a:latin typeface="Arial"/>
                <a:ea typeface="Arial"/>
                <a:cs typeface="Arial"/>
                <a:sym typeface="Arial"/>
              </a:rPr>
              <a:t>ZHVI</a:t>
            </a:r>
            <a:r>
              <a:rPr lang="en" sz="1260">
                <a:solidFill>
                  <a:schemeClr val="dk1"/>
                </a:solidFill>
                <a:latin typeface="Arial"/>
                <a:ea typeface="Arial"/>
                <a:cs typeface="Arial"/>
                <a:sym typeface="Arial"/>
              </a:rPr>
              <a:t> – Zillow’s home value index, used as a market-level price benchmark</a:t>
            </a:r>
            <a:br>
              <a:rPr lang="en" sz="1260">
                <a:solidFill>
                  <a:schemeClr val="dk1"/>
                </a:solidFill>
                <a:latin typeface="Arial"/>
                <a:ea typeface="Arial"/>
                <a:cs typeface="Arial"/>
                <a:sym typeface="Arial"/>
              </a:rPr>
            </a:br>
            <a:endParaRPr sz="1260">
              <a:solidFill>
                <a:schemeClr val="dk1"/>
              </a:solidFill>
              <a:latin typeface="Arial"/>
              <a:ea typeface="Arial"/>
              <a:cs typeface="Arial"/>
              <a:sym typeface="Arial"/>
            </a:endParaRPr>
          </a:p>
          <a:p>
            <a:pPr indent="-272606" lvl="0" marL="457200" rtl="0" algn="l">
              <a:lnSpc>
                <a:spcPct val="100000"/>
              </a:lnSpc>
              <a:spcBef>
                <a:spcPts val="0"/>
              </a:spcBef>
              <a:spcAft>
                <a:spcPts val="0"/>
              </a:spcAft>
              <a:buClr>
                <a:schemeClr val="dk1"/>
              </a:buClr>
              <a:buSzPct val="100000"/>
              <a:buFont typeface="Arial"/>
              <a:buChar char="●"/>
            </a:pPr>
            <a:r>
              <a:rPr b="1" lang="en" sz="1260">
                <a:solidFill>
                  <a:schemeClr val="dk1"/>
                </a:solidFill>
                <a:latin typeface="Arial"/>
                <a:ea typeface="Arial"/>
                <a:cs typeface="Arial"/>
                <a:sym typeface="Arial"/>
              </a:rPr>
              <a:t>1-Year YoY Growth</a:t>
            </a:r>
            <a:r>
              <a:rPr lang="en" sz="1260">
                <a:solidFill>
                  <a:schemeClr val="dk1"/>
                </a:solidFill>
                <a:latin typeface="Arial"/>
                <a:ea typeface="Arial"/>
                <a:cs typeface="Arial"/>
                <a:sym typeface="Arial"/>
              </a:rPr>
              <a:t> – percent price change over the most recent 12 months</a:t>
            </a:r>
            <a:br>
              <a:rPr lang="en" sz="1260">
                <a:solidFill>
                  <a:schemeClr val="dk1"/>
                </a:solidFill>
                <a:latin typeface="Arial"/>
                <a:ea typeface="Arial"/>
                <a:cs typeface="Arial"/>
                <a:sym typeface="Arial"/>
              </a:rPr>
            </a:br>
            <a:endParaRPr sz="1260">
              <a:solidFill>
                <a:schemeClr val="dk1"/>
              </a:solidFill>
              <a:latin typeface="Arial"/>
              <a:ea typeface="Arial"/>
              <a:cs typeface="Arial"/>
              <a:sym typeface="Arial"/>
            </a:endParaRPr>
          </a:p>
          <a:p>
            <a:pPr indent="-272606" lvl="0" marL="457200" rtl="0" algn="l">
              <a:lnSpc>
                <a:spcPct val="100000"/>
              </a:lnSpc>
              <a:spcBef>
                <a:spcPts val="0"/>
              </a:spcBef>
              <a:spcAft>
                <a:spcPts val="0"/>
              </a:spcAft>
              <a:buClr>
                <a:schemeClr val="dk1"/>
              </a:buClr>
              <a:buSzPct val="100000"/>
              <a:buFont typeface="Arial"/>
              <a:buChar char="●"/>
            </a:pPr>
            <a:r>
              <a:rPr b="1" lang="en" sz="1260">
                <a:solidFill>
                  <a:schemeClr val="dk1"/>
                </a:solidFill>
                <a:latin typeface="Arial"/>
                <a:ea typeface="Arial"/>
                <a:cs typeface="Arial"/>
                <a:sym typeface="Arial"/>
              </a:rPr>
              <a:t>3-Year CAGR</a:t>
            </a:r>
            <a:r>
              <a:rPr lang="en" sz="1260">
                <a:solidFill>
                  <a:schemeClr val="dk1"/>
                </a:solidFill>
                <a:latin typeface="Arial"/>
                <a:ea typeface="Arial"/>
                <a:cs typeface="Arial"/>
                <a:sym typeface="Arial"/>
              </a:rPr>
              <a:t> – compounded annual growth rate over the last 36 months</a:t>
            </a:r>
            <a:endParaRPr b="1" sz="1260">
              <a:solidFill>
                <a:schemeClr val="dk1"/>
              </a:solidFill>
              <a:latin typeface="Arial"/>
              <a:ea typeface="Arial"/>
              <a:cs typeface="Arial"/>
              <a:sym typeface="Arial"/>
            </a:endParaRPr>
          </a:p>
          <a:p>
            <a:pPr indent="0" lvl="0" marL="0" rtl="0" algn="l">
              <a:lnSpc>
                <a:spcPct val="100000"/>
              </a:lnSpc>
              <a:spcBef>
                <a:spcPts val="1200"/>
              </a:spcBef>
              <a:spcAft>
                <a:spcPts val="0"/>
              </a:spcAft>
              <a:buClr>
                <a:schemeClr val="dk1"/>
              </a:buClr>
              <a:buSzPct val="77465"/>
              <a:buFont typeface="Arial"/>
              <a:buNone/>
            </a:pPr>
            <a:r>
              <a:rPr b="1" lang="en" sz="1420">
                <a:solidFill>
                  <a:schemeClr val="dk1"/>
                </a:solidFill>
                <a:latin typeface="Arial"/>
                <a:ea typeface="Arial"/>
                <a:cs typeface="Arial"/>
                <a:sym typeface="Arial"/>
              </a:rPr>
              <a:t>Rental Metrics</a:t>
            </a:r>
            <a:endParaRPr b="1" sz="1420">
              <a:solidFill>
                <a:schemeClr val="dk1"/>
              </a:solidFill>
              <a:latin typeface="Arial"/>
              <a:ea typeface="Arial"/>
              <a:cs typeface="Arial"/>
              <a:sym typeface="Arial"/>
            </a:endParaRPr>
          </a:p>
          <a:p>
            <a:pPr indent="-272606" lvl="0" marL="457200" rtl="0" algn="l">
              <a:lnSpc>
                <a:spcPct val="100000"/>
              </a:lnSpc>
              <a:spcBef>
                <a:spcPts val="1200"/>
              </a:spcBef>
              <a:spcAft>
                <a:spcPts val="0"/>
              </a:spcAft>
              <a:buClr>
                <a:schemeClr val="dk1"/>
              </a:buClr>
              <a:buSzPct val="100000"/>
              <a:buFont typeface="Arial"/>
              <a:buChar char="●"/>
            </a:pPr>
            <a:r>
              <a:rPr b="1" lang="en" sz="1260">
                <a:solidFill>
                  <a:schemeClr val="dk1"/>
                </a:solidFill>
                <a:latin typeface="Arial"/>
                <a:ea typeface="Arial"/>
                <a:cs typeface="Arial"/>
                <a:sym typeface="Arial"/>
              </a:rPr>
              <a:t>Latest Rent</a:t>
            </a:r>
            <a:r>
              <a:rPr lang="en" sz="1260">
                <a:solidFill>
                  <a:schemeClr val="dk1"/>
                </a:solidFill>
                <a:latin typeface="Arial"/>
                <a:ea typeface="Arial"/>
                <a:cs typeface="Arial"/>
                <a:sym typeface="Arial"/>
              </a:rPr>
              <a:t> – most recent fair-market rent estimate</a:t>
            </a:r>
            <a:br>
              <a:rPr lang="en" sz="1260">
                <a:solidFill>
                  <a:schemeClr val="dk1"/>
                </a:solidFill>
                <a:latin typeface="Arial"/>
                <a:ea typeface="Arial"/>
                <a:cs typeface="Arial"/>
                <a:sym typeface="Arial"/>
              </a:rPr>
            </a:br>
            <a:endParaRPr sz="1260">
              <a:solidFill>
                <a:schemeClr val="dk1"/>
              </a:solidFill>
              <a:latin typeface="Arial"/>
              <a:ea typeface="Arial"/>
              <a:cs typeface="Arial"/>
              <a:sym typeface="Arial"/>
            </a:endParaRPr>
          </a:p>
          <a:p>
            <a:pPr indent="-272606" lvl="0" marL="457200" rtl="0" algn="l">
              <a:lnSpc>
                <a:spcPct val="100000"/>
              </a:lnSpc>
              <a:spcBef>
                <a:spcPts val="0"/>
              </a:spcBef>
              <a:spcAft>
                <a:spcPts val="0"/>
              </a:spcAft>
              <a:buClr>
                <a:schemeClr val="dk1"/>
              </a:buClr>
              <a:buSzPct val="100000"/>
              <a:buFont typeface="Arial"/>
              <a:buChar char="●"/>
            </a:pPr>
            <a:r>
              <a:rPr b="1" lang="en" sz="1260">
                <a:solidFill>
                  <a:schemeClr val="dk1"/>
                </a:solidFill>
                <a:latin typeface="Arial"/>
                <a:ea typeface="Arial"/>
                <a:cs typeface="Arial"/>
                <a:sym typeface="Arial"/>
              </a:rPr>
              <a:t>Rental YoY</a:t>
            </a:r>
            <a:r>
              <a:rPr lang="en" sz="1260">
                <a:solidFill>
                  <a:schemeClr val="dk1"/>
                </a:solidFill>
                <a:latin typeface="Arial"/>
                <a:ea typeface="Arial"/>
                <a:cs typeface="Arial"/>
                <a:sym typeface="Arial"/>
              </a:rPr>
              <a:t> – annual change in rent (%)</a:t>
            </a:r>
            <a:br>
              <a:rPr lang="en" sz="1260">
                <a:solidFill>
                  <a:schemeClr val="dk1"/>
                </a:solidFill>
                <a:latin typeface="Arial"/>
                <a:ea typeface="Arial"/>
                <a:cs typeface="Arial"/>
                <a:sym typeface="Arial"/>
              </a:rPr>
            </a:br>
            <a:endParaRPr sz="1260">
              <a:solidFill>
                <a:schemeClr val="dk1"/>
              </a:solidFill>
              <a:latin typeface="Arial"/>
              <a:ea typeface="Arial"/>
              <a:cs typeface="Arial"/>
              <a:sym typeface="Arial"/>
            </a:endParaRPr>
          </a:p>
          <a:p>
            <a:pPr indent="-272606" lvl="0" marL="457200" rtl="0" algn="l">
              <a:lnSpc>
                <a:spcPct val="100000"/>
              </a:lnSpc>
              <a:spcBef>
                <a:spcPts val="0"/>
              </a:spcBef>
              <a:spcAft>
                <a:spcPts val="0"/>
              </a:spcAft>
              <a:buClr>
                <a:schemeClr val="dk1"/>
              </a:buClr>
              <a:buSzPct val="100000"/>
              <a:buFont typeface="Arial"/>
              <a:buChar char="●"/>
            </a:pPr>
            <a:r>
              <a:rPr b="1" lang="en" sz="1260">
                <a:solidFill>
                  <a:schemeClr val="dk1"/>
                </a:solidFill>
                <a:latin typeface="Arial"/>
                <a:ea typeface="Arial"/>
                <a:cs typeface="Arial"/>
                <a:sym typeface="Arial"/>
              </a:rPr>
              <a:t>Actual Yield</a:t>
            </a:r>
            <a:r>
              <a:rPr lang="en" sz="1260">
                <a:solidFill>
                  <a:schemeClr val="dk1"/>
                </a:solidFill>
                <a:latin typeface="Arial"/>
                <a:ea typeface="Arial"/>
                <a:cs typeface="Arial"/>
                <a:sym typeface="Arial"/>
              </a:rPr>
              <a:t> – rent ÷ price (cash-flow indicator)</a:t>
            </a:r>
            <a:endParaRPr b="1" sz="1260">
              <a:solidFill>
                <a:schemeClr val="dk1"/>
              </a:solidFill>
              <a:latin typeface="Arial"/>
              <a:ea typeface="Arial"/>
              <a:cs typeface="Arial"/>
              <a:sym typeface="Arial"/>
            </a:endParaRPr>
          </a:p>
          <a:p>
            <a:pPr indent="0" lvl="0" marL="0" rtl="0" algn="l">
              <a:lnSpc>
                <a:spcPct val="100000"/>
              </a:lnSpc>
              <a:spcBef>
                <a:spcPts val="1200"/>
              </a:spcBef>
              <a:spcAft>
                <a:spcPts val="0"/>
              </a:spcAft>
              <a:buClr>
                <a:schemeClr val="dk1"/>
              </a:buClr>
              <a:buSzPct val="77465"/>
              <a:buFont typeface="Arial"/>
              <a:buNone/>
            </a:pPr>
            <a:r>
              <a:rPr b="1" lang="en" sz="1420">
                <a:solidFill>
                  <a:schemeClr val="dk1"/>
                </a:solidFill>
                <a:latin typeface="Arial"/>
                <a:ea typeface="Arial"/>
                <a:cs typeface="Arial"/>
                <a:sym typeface="Arial"/>
              </a:rPr>
              <a:t>Demographics &amp; Income</a:t>
            </a:r>
            <a:endParaRPr b="1" sz="1420">
              <a:solidFill>
                <a:schemeClr val="dk1"/>
              </a:solidFill>
              <a:latin typeface="Arial"/>
              <a:ea typeface="Arial"/>
              <a:cs typeface="Arial"/>
              <a:sym typeface="Arial"/>
            </a:endParaRPr>
          </a:p>
          <a:p>
            <a:pPr indent="-273368" lvl="0" marL="457200" rtl="0" algn="l">
              <a:lnSpc>
                <a:spcPct val="100000"/>
              </a:lnSpc>
              <a:spcBef>
                <a:spcPts val="1200"/>
              </a:spcBef>
              <a:spcAft>
                <a:spcPts val="0"/>
              </a:spcAft>
              <a:buClr>
                <a:schemeClr val="dk1"/>
              </a:buClr>
              <a:buSzPct val="100000"/>
              <a:buFont typeface="Arial"/>
              <a:buChar char="●"/>
            </a:pPr>
            <a:r>
              <a:rPr b="1" lang="en" sz="1282">
                <a:solidFill>
                  <a:schemeClr val="dk1"/>
                </a:solidFill>
                <a:latin typeface="Arial"/>
                <a:ea typeface="Arial"/>
                <a:cs typeface="Arial"/>
                <a:sym typeface="Arial"/>
              </a:rPr>
              <a:t>Income z-score</a:t>
            </a:r>
            <a:r>
              <a:rPr lang="en" sz="1282">
                <a:solidFill>
                  <a:schemeClr val="dk1"/>
                </a:solidFill>
                <a:latin typeface="Arial"/>
                <a:ea typeface="Arial"/>
                <a:cs typeface="Arial"/>
                <a:sym typeface="Arial"/>
              </a:rPr>
              <a:t> – standardized income level relative to all CA counties</a:t>
            </a:r>
            <a:br>
              <a:rPr lang="en" sz="1282">
                <a:solidFill>
                  <a:schemeClr val="dk1"/>
                </a:solidFill>
                <a:latin typeface="Arial"/>
                <a:ea typeface="Arial"/>
                <a:cs typeface="Arial"/>
                <a:sym typeface="Arial"/>
              </a:rPr>
            </a:br>
            <a:endParaRPr sz="1282">
              <a:solidFill>
                <a:schemeClr val="dk1"/>
              </a:solidFill>
              <a:latin typeface="Arial"/>
              <a:ea typeface="Arial"/>
              <a:cs typeface="Arial"/>
              <a:sym typeface="Arial"/>
            </a:endParaRPr>
          </a:p>
          <a:p>
            <a:pPr indent="-273368" lvl="0" marL="457200" rtl="0" algn="l">
              <a:lnSpc>
                <a:spcPct val="100000"/>
              </a:lnSpc>
              <a:spcBef>
                <a:spcPts val="0"/>
              </a:spcBef>
              <a:spcAft>
                <a:spcPts val="0"/>
              </a:spcAft>
              <a:buClr>
                <a:schemeClr val="dk1"/>
              </a:buClr>
              <a:buSzPct val="100000"/>
              <a:buFont typeface="Arial"/>
              <a:buChar char="●"/>
            </a:pPr>
            <a:r>
              <a:rPr b="1" lang="en" sz="1282">
                <a:solidFill>
                  <a:schemeClr val="dk1"/>
                </a:solidFill>
                <a:latin typeface="Arial"/>
                <a:ea typeface="Arial"/>
                <a:cs typeface="Arial"/>
                <a:sym typeface="Arial"/>
              </a:rPr>
              <a:t>Demographic z-score</a:t>
            </a:r>
            <a:r>
              <a:rPr lang="en" sz="1282">
                <a:solidFill>
                  <a:schemeClr val="dk1"/>
                </a:solidFill>
                <a:latin typeface="Arial"/>
                <a:ea typeface="Arial"/>
                <a:cs typeface="Arial"/>
                <a:sym typeface="Arial"/>
              </a:rPr>
              <a:t> – age distribution, household size, and population composition</a:t>
            </a:r>
            <a:endParaRPr b="1" sz="1282">
              <a:solidFill>
                <a:schemeClr val="dk1"/>
              </a:solidFill>
              <a:latin typeface="Arial"/>
              <a:ea typeface="Arial"/>
              <a:cs typeface="Arial"/>
              <a:sym typeface="Arial"/>
            </a:endParaRPr>
          </a:p>
          <a:p>
            <a:pPr indent="0" lvl="0" marL="0" rtl="0" algn="l">
              <a:lnSpc>
                <a:spcPct val="100000"/>
              </a:lnSpc>
              <a:spcBef>
                <a:spcPts val="1200"/>
              </a:spcBef>
              <a:spcAft>
                <a:spcPts val="0"/>
              </a:spcAft>
              <a:buClr>
                <a:schemeClr val="dk1"/>
              </a:buClr>
              <a:buSzPct val="77465"/>
              <a:buFont typeface="Arial"/>
              <a:buNone/>
            </a:pPr>
            <a:r>
              <a:rPr b="1" lang="en" sz="1420">
                <a:solidFill>
                  <a:schemeClr val="dk1"/>
                </a:solidFill>
                <a:latin typeface="Arial"/>
                <a:ea typeface="Arial"/>
                <a:cs typeface="Arial"/>
                <a:sym typeface="Arial"/>
              </a:rPr>
              <a:t>Composite Scores</a:t>
            </a:r>
            <a:endParaRPr b="1" sz="1420">
              <a:solidFill>
                <a:schemeClr val="dk1"/>
              </a:solidFill>
              <a:latin typeface="Arial"/>
              <a:ea typeface="Arial"/>
              <a:cs typeface="Arial"/>
              <a:sym typeface="Arial"/>
            </a:endParaRPr>
          </a:p>
          <a:p>
            <a:pPr indent="-273368" lvl="0" marL="457200" rtl="0" algn="l">
              <a:lnSpc>
                <a:spcPct val="100000"/>
              </a:lnSpc>
              <a:spcBef>
                <a:spcPts val="1200"/>
              </a:spcBef>
              <a:spcAft>
                <a:spcPts val="0"/>
              </a:spcAft>
              <a:buClr>
                <a:schemeClr val="dk1"/>
              </a:buClr>
              <a:buSzPct val="100000"/>
              <a:buFont typeface="Arial"/>
              <a:buChar char="●"/>
            </a:pPr>
            <a:r>
              <a:rPr b="1" lang="en" sz="1282">
                <a:solidFill>
                  <a:schemeClr val="dk1"/>
                </a:solidFill>
                <a:latin typeface="Arial"/>
                <a:ea typeface="Arial"/>
                <a:cs typeface="Arial"/>
                <a:sym typeface="Arial"/>
              </a:rPr>
              <a:t>Growth Combined</a:t>
            </a:r>
            <a:r>
              <a:rPr lang="en" sz="1282">
                <a:solidFill>
                  <a:schemeClr val="dk1"/>
                </a:solidFill>
                <a:latin typeface="Arial"/>
                <a:ea typeface="Arial"/>
                <a:cs typeface="Arial"/>
                <a:sym typeface="Arial"/>
              </a:rPr>
              <a:t> – YoY + 3-year trend combined</a:t>
            </a:r>
            <a:br>
              <a:rPr lang="en" sz="1282">
                <a:solidFill>
                  <a:schemeClr val="dk1"/>
                </a:solidFill>
                <a:latin typeface="Arial"/>
                <a:ea typeface="Arial"/>
                <a:cs typeface="Arial"/>
                <a:sym typeface="Arial"/>
              </a:rPr>
            </a:br>
            <a:endParaRPr sz="1282">
              <a:solidFill>
                <a:schemeClr val="dk1"/>
              </a:solidFill>
              <a:latin typeface="Arial"/>
              <a:ea typeface="Arial"/>
              <a:cs typeface="Arial"/>
              <a:sym typeface="Arial"/>
            </a:endParaRPr>
          </a:p>
          <a:p>
            <a:pPr indent="-273368" lvl="0" marL="457200" rtl="0" algn="l">
              <a:lnSpc>
                <a:spcPct val="100000"/>
              </a:lnSpc>
              <a:spcBef>
                <a:spcPts val="0"/>
              </a:spcBef>
              <a:spcAft>
                <a:spcPts val="0"/>
              </a:spcAft>
              <a:buClr>
                <a:schemeClr val="dk1"/>
              </a:buClr>
              <a:buSzPct val="100000"/>
              <a:buFont typeface="Arial"/>
              <a:buChar char="●"/>
            </a:pPr>
            <a:r>
              <a:rPr b="1" lang="en" sz="1282">
                <a:solidFill>
                  <a:schemeClr val="dk1"/>
                </a:solidFill>
                <a:latin typeface="Arial"/>
                <a:ea typeface="Arial"/>
                <a:cs typeface="Arial"/>
                <a:sym typeface="Arial"/>
              </a:rPr>
              <a:t>z-score v2</a:t>
            </a:r>
            <a:r>
              <a:rPr lang="en" sz="1282">
                <a:solidFill>
                  <a:schemeClr val="dk1"/>
                </a:solidFill>
                <a:latin typeface="Arial"/>
                <a:ea typeface="Arial"/>
                <a:cs typeface="Arial"/>
                <a:sym typeface="Arial"/>
              </a:rPr>
              <a:t> – standardized multi-feature ranking</a:t>
            </a:r>
            <a:br>
              <a:rPr lang="en" sz="1282">
                <a:solidFill>
                  <a:schemeClr val="dk1"/>
                </a:solidFill>
                <a:latin typeface="Arial"/>
                <a:ea typeface="Arial"/>
                <a:cs typeface="Arial"/>
                <a:sym typeface="Arial"/>
              </a:rPr>
            </a:br>
            <a:endParaRPr sz="1282">
              <a:solidFill>
                <a:schemeClr val="dk1"/>
              </a:solidFill>
              <a:latin typeface="Arial"/>
              <a:ea typeface="Arial"/>
              <a:cs typeface="Arial"/>
              <a:sym typeface="Arial"/>
            </a:endParaRPr>
          </a:p>
          <a:p>
            <a:pPr indent="-273368" lvl="0" marL="457200" rtl="0" algn="l">
              <a:lnSpc>
                <a:spcPct val="100000"/>
              </a:lnSpc>
              <a:spcBef>
                <a:spcPts val="0"/>
              </a:spcBef>
              <a:spcAft>
                <a:spcPts val="0"/>
              </a:spcAft>
              <a:buClr>
                <a:schemeClr val="dk1"/>
              </a:buClr>
              <a:buSzPct val="100000"/>
              <a:buFont typeface="Arial"/>
              <a:buChar char="●"/>
            </a:pPr>
            <a:r>
              <a:rPr b="1" lang="en" sz="1282">
                <a:solidFill>
                  <a:schemeClr val="dk1"/>
                </a:solidFill>
                <a:latin typeface="Arial"/>
                <a:ea typeface="Arial"/>
                <a:cs typeface="Arial"/>
                <a:sym typeface="Arial"/>
              </a:rPr>
              <a:t>0–100 normalized score</a:t>
            </a:r>
            <a:r>
              <a:rPr lang="en" sz="1282">
                <a:solidFill>
                  <a:schemeClr val="dk1"/>
                </a:solidFill>
                <a:latin typeface="Arial"/>
                <a:ea typeface="Arial"/>
                <a:cs typeface="Arial"/>
                <a:sym typeface="Arial"/>
              </a:rPr>
              <a:t> – final comparison metric used for county ranking</a:t>
            </a:r>
            <a:endParaRPr b="1" sz="1282">
              <a:solidFill>
                <a:schemeClr val="dk1"/>
              </a:solidFill>
              <a:latin typeface="Arial"/>
              <a:ea typeface="Arial"/>
              <a:cs typeface="Arial"/>
              <a:sym typeface="Arial"/>
            </a:endParaRPr>
          </a:p>
        </p:txBody>
      </p:sp>
      <p:pic>
        <p:nvPicPr>
          <p:cNvPr id="127" name="Google Shape;127;p19" title="ChatGPT Image Dec 4, 2025, 06_02_08 AM.png"/>
          <p:cNvPicPr preferRelativeResize="0"/>
          <p:nvPr/>
        </p:nvPicPr>
        <p:blipFill>
          <a:blip r:embed="rId3">
            <a:alphaModFix/>
          </a:blip>
          <a:stretch>
            <a:fillRect/>
          </a:stretch>
        </p:blipFill>
        <p:spPr>
          <a:xfrm>
            <a:off x="4250956" y="1170125"/>
            <a:ext cx="4527602" cy="30184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Findings</a:t>
            </a:r>
            <a:endParaRPr/>
          </a:p>
        </p:txBody>
      </p:sp>
      <p:pic>
        <p:nvPicPr>
          <p:cNvPr id="133" name="Google Shape;133;p20"/>
          <p:cNvPicPr preferRelativeResize="0"/>
          <p:nvPr/>
        </p:nvPicPr>
        <p:blipFill rotWithShape="1">
          <a:blip r:embed="rId3">
            <a:alphaModFix/>
          </a:blip>
          <a:srcRect b="4330" l="4080" r="-4080" t="-4330"/>
          <a:stretch/>
        </p:blipFill>
        <p:spPr>
          <a:xfrm>
            <a:off x="4817113" y="2986775"/>
            <a:ext cx="3402925" cy="1676400"/>
          </a:xfrm>
          <a:prstGeom prst="rect">
            <a:avLst/>
          </a:prstGeom>
          <a:noFill/>
          <a:ln>
            <a:noFill/>
          </a:ln>
        </p:spPr>
      </p:pic>
      <p:pic>
        <p:nvPicPr>
          <p:cNvPr id="134" name="Google Shape;134;p20"/>
          <p:cNvPicPr preferRelativeResize="0"/>
          <p:nvPr/>
        </p:nvPicPr>
        <p:blipFill>
          <a:blip r:embed="rId4">
            <a:alphaModFix/>
          </a:blip>
          <a:stretch>
            <a:fillRect/>
          </a:stretch>
        </p:blipFill>
        <p:spPr>
          <a:xfrm>
            <a:off x="361525" y="1017738"/>
            <a:ext cx="1639787" cy="2856813"/>
          </a:xfrm>
          <a:prstGeom prst="rect">
            <a:avLst/>
          </a:prstGeom>
          <a:noFill/>
          <a:ln>
            <a:noFill/>
          </a:ln>
        </p:spPr>
      </p:pic>
      <p:pic>
        <p:nvPicPr>
          <p:cNvPr id="135" name="Google Shape;135;p20"/>
          <p:cNvPicPr preferRelativeResize="0"/>
          <p:nvPr/>
        </p:nvPicPr>
        <p:blipFill>
          <a:blip r:embed="rId5">
            <a:alphaModFix/>
          </a:blip>
          <a:stretch>
            <a:fillRect/>
          </a:stretch>
        </p:blipFill>
        <p:spPr>
          <a:xfrm>
            <a:off x="2215738" y="1017725"/>
            <a:ext cx="1639787" cy="2872869"/>
          </a:xfrm>
          <a:prstGeom prst="rect">
            <a:avLst/>
          </a:prstGeom>
          <a:noFill/>
          <a:ln>
            <a:noFill/>
          </a:ln>
        </p:spPr>
      </p:pic>
      <p:sp>
        <p:nvSpPr>
          <p:cNvPr id="136" name="Google Shape;136;p20"/>
          <p:cNvSpPr txBox="1"/>
          <p:nvPr>
            <p:ph idx="1" type="body"/>
          </p:nvPr>
        </p:nvSpPr>
        <p:spPr>
          <a:xfrm>
            <a:off x="4518625" y="850500"/>
            <a:ext cx="3999900" cy="2469600"/>
          </a:xfrm>
          <a:prstGeom prst="rect">
            <a:avLst/>
          </a:prstGeom>
        </p:spPr>
        <p:txBody>
          <a:bodyPr anchorCtr="0" anchor="t" bIns="91425" lIns="91425" spcFirstLastPara="1" rIns="91425" wrap="square" tIns="91425">
            <a:noAutofit/>
          </a:bodyPr>
          <a:lstStyle/>
          <a:p>
            <a:pPr indent="0" lvl="0" marL="0" rtl="0" algn="l">
              <a:lnSpc>
                <a:spcPct val="105000"/>
              </a:lnSpc>
              <a:spcBef>
                <a:spcPts val="1400"/>
              </a:spcBef>
              <a:spcAft>
                <a:spcPts val="0"/>
              </a:spcAft>
              <a:buSzPts val="605"/>
              <a:buNone/>
            </a:pPr>
            <a:r>
              <a:rPr b="1" lang="en" sz="815">
                <a:solidFill>
                  <a:schemeClr val="dk1"/>
                </a:solidFill>
                <a:latin typeface="Arial"/>
                <a:ea typeface="Arial"/>
                <a:cs typeface="Arial"/>
                <a:sym typeface="Arial"/>
              </a:rPr>
              <a:t>County Growth Summary</a:t>
            </a:r>
            <a:endParaRPr b="1" sz="815">
              <a:solidFill>
                <a:schemeClr val="dk1"/>
              </a:solidFill>
              <a:latin typeface="Arial"/>
              <a:ea typeface="Arial"/>
              <a:cs typeface="Arial"/>
              <a:sym typeface="Arial"/>
            </a:endParaRPr>
          </a:p>
          <a:p>
            <a:pPr indent="-273368" lvl="0" marL="457200" rtl="0" algn="l">
              <a:lnSpc>
                <a:spcPct val="105000"/>
              </a:lnSpc>
              <a:spcBef>
                <a:spcPts val="1200"/>
              </a:spcBef>
              <a:spcAft>
                <a:spcPts val="0"/>
              </a:spcAft>
              <a:buClr>
                <a:schemeClr val="dk1"/>
              </a:buClr>
              <a:buSzPts val="705"/>
              <a:buFont typeface="Arial"/>
              <a:buChar char="●"/>
            </a:pPr>
            <a:r>
              <a:rPr lang="en" sz="705">
                <a:solidFill>
                  <a:schemeClr val="dk1"/>
                </a:solidFill>
                <a:latin typeface="Arial"/>
                <a:ea typeface="Arial"/>
                <a:cs typeface="Arial"/>
                <a:sym typeface="Arial"/>
              </a:rPr>
              <a:t>Imperial County shows the strongest growth in both the 3-year and 1-year measures.</a:t>
            </a:r>
            <a:br>
              <a:rPr lang="en" sz="705">
                <a:solidFill>
                  <a:schemeClr val="dk1"/>
                </a:solidFill>
                <a:latin typeface="Arial"/>
                <a:ea typeface="Arial"/>
                <a:cs typeface="Arial"/>
                <a:sym typeface="Arial"/>
              </a:rPr>
            </a:br>
            <a:endParaRPr sz="705">
              <a:solidFill>
                <a:schemeClr val="dk1"/>
              </a:solidFill>
              <a:latin typeface="Arial"/>
              <a:ea typeface="Arial"/>
              <a:cs typeface="Arial"/>
              <a:sym typeface="Arial"/>
            </a:endParaRPr>
          </a:p>
          <a:p>
            <a:pPr indent="-273368" lvl="0" marL="457200" rtl="0" algn="l">
              <a:lnSpc>
                <a:spcPct val="105000"/>
              </a:lnSpc>
              <a:spcBef>
                <a:spcPts val="0"/>
              </a:spcBef>
              <a:spcAft>
                <a:spcPts val="0"/>
              </a:spcAft>
              <a:buClr>
                <a:schemeClr val="dk1"/>
              </a:buClr>
              <a:buSzPts val="705"/>
              <a:buFont typeface="Arial"/>
              <a:buChar char="●"/>
            </a:pPr>
            <a:r>
              <a:rPr lang="en" sz="705">
                <a:solidFill>
                  <a:schemeClr val="dk1"/>
                </a:solidFill>
                <a:latin typeface="Arial"/>
                <a:ea typeface="Arial"/>
                <a:cs typeface="Arial"/>
                <a:sym typeface="Arial"/>
              </a:rPr>
              <a:t>San Luis Obispo, Kings, and Santa Clara also appear consistently in the top group.</a:t>
            </a:r>
            <a:br>
              <a:rPr lang="en" sz="705">
                <a:solidFill>
                  <a:schemeClr val="dk1"/>
                </a:solidFill>
                <a:latin typeface="Arial"/>
                <a:ea typeface="Arial"/>
                <a:cs typeface="Arial"/>
                <a:sym typeface="Arial"/>
              </a:rPr>
            </a:br>
            <a:endParaRPr sz="705">
              <a:solidFill>
                <a:schemeClr val="dk1"/>
              </a:solidFill>
              <a:latin typeface="Arial"/>
              <a:ea typeface="Arial"/>
              <a:cs typeface="Arial"/>
              <a:sym typeface="Arial"/>
            </a:endParaRPr>
          </a:p>
          <a:p>
            <a:pPr indent="-273368" lvl="0" marL="457200" rtl="0" algn="l">
              <a:lnSpc>
                <a:spcPct val="105000"/>
              </a:lnSpc>
              <a:spcBef>
                <a:spcPts val="0"/>
              </a:spcBef>
              <a:spcAft>
                <a:spcPts val="0"/>
              </a:spcAft>
              <a:buClr>
                <a:schemeClr val="dk1"/>
              </a:buClr>
              <a:buSzPts val="705"/>
              <a:buFont typeface="Arial"/>
              <a:buChar char="●"/>
            </a:pPr>
            <a:r>
              <a:rPr lang="en" sz="705">
                <a:solidFill>
                  <a:schemeClr val="dk1"/>
                </a:solidFill>
                <a:latin typeface="Arial"/>
                <a:ea typeface="Arial"/>
                <a:cs typeface="Arial"/>
                <a:sym typeface="Arial"/>
              </a:rPr>
              <a:t>Short-term growth is softer statewide, but the top counties still show positive momentum.</a:t>
            </a:r>
            <a:endParaRPr sz="705">
              <a:solidFill>
                <a:schemeClr val="dk1"/>
              </a:solidFill>
              <a:latin typeface="Arial"/>
              <a:ea typeface="Arial"/>
              <a:cs typeface="Arial"/>
              <a:sym typeface="Arial"/>
            </a:endParaRPr>
          </a:p>
          <a:p>
            <a:pPr indent="0" lvl="0" marL="0" rtl="0" algn="l">
              <a:lnSpc>
                <a:spcPct val="105000"/>
              </a:lnSpc>
              <a:spcBef>
                <a:spcPts val="1400"/>
              </a:spcBef>
              <a:spcAft>
                <a:spcPts val="0"/>
              </a:spcAft>
              <a:buSzPts val="605"/>
              <a:buNone/>
            </a:pPr>
            <a:r>
              <a:rPr b="1" lang="en" sz="815">
                <a:solidFill>
                  <a:schemeClr val="dk1"/>
                </a:solidFill>
                <a:latin typeface="Arial"/>
                <a:ea typeface="Arial"/>
                <a:cs typeface="Arial"/>
                <a:sym typeface="Arial"/>
              </a:rPr>
              <a:t>Metro Context</a:t>
            </a:r>
            <a:endParaRPr b="1" sz="815">
              <a:solidFill>
                <a:schemeClr val="dk1"/>
              </a:solidFill>
              <a:latin typeface="Arial"/>
              <a:ea typeface="Arial"/>
              <a:cs typeface="Arial"/>
              <a:sym typeface="Arial"/>
            </a:endParaRPr>
          </a:p>
          <a:p>
            <a:pPr indent="-273368" lvl="0" marL="457200" rtl="0" algn="l">
              <a:lnSpc>
                <a:spcPct val="105000"/>
              </a:lnSpc>
              <a:spcBef>
                <a:spcPts val="1200"/>
              </a:spcBef>
              <a:spcAft>
                <a:spcPts val="0"/>
              </a:spcAft>
              <a:buClr>
                <a:schemeClr val="dk1"/>
              </a:buClr>
              <a:buSzPts val="705"/>
              <a:buFont typeface="Arial"/>
              <a:buChar char="●"/>
            </a:pPr>
            <a:r>
              <a:rPr lang="en" sz="705">
                <a:solidFill>
                  <a:schemeClr val="dk1"/>
                </a:solidFill>
                <a:latin typeface="Arial"/>
                <a:ea typeface="Arial"/>
                <a:cs typeface="Arial"/>
                <a:sym typeface="Arial"/>
              </a:rPr>
              <a:t>Major metros grew strongly until 2022, then flattened during the high-rate period.</a:t>
            </a:r>
            <a:br>
              <a:rPr lang="en" sz="705">
                <a:solidFill>
                  <a:schemeClr val="dk1"/>
                </a:solidFill>
                <a:latin typeface="Arial"/>
                <a:ea typeface="Arial"/>
                <a:cs typeface="Arial"/>
                <a:sym typeface="Arial"/>
              </a:rPr>
            </a:br>
            <a:endParaRPr sz="705">
              <a:solidFill>
                <a:schemeClr val="dk1"/>
              </a:solidFill>
              <a:latin typeface="Arial"/>
              <a:ea typeface="Arial"/>
              <a:cs typeface="Arial"/>
              <a:sym typeface="Arial"/>
            </a:endParaRPr>
          </a:p>
          <a:p>
            <a:pPr indent="-273368" lvl="0" marL="457200" rtl="0" algn="l">
              <a:lnSpc>
                <a:spcPct val="105000"/>
              </a:lnSpc>
              <a:spcBef>
                <a:spcPts val="0"/>
              </a:spcBef>
              <a:spcAft>
                <a:spcPts val="0"/>
              </a:spcAft>
              <a:buClr>
                <a:schemeClr val="dk1"/>
              </a:buClr>
              <a:buSzPts val="705"/>
              <a:buFont typeface="Arial"/>
              <a:buChar char="●"/>
            </a:pPr>
            <a:r>
              <a:rPr lang="en" sz="705">
                <a:solidFill>
                  <a:schemeClr val="dk1"/>
                </a:solidFill>
                <a:latin typeface="Arial"/>
                <a:ea typeface="Arial"/>
                <a:cs typeface="Arial"/>
                <a:sym typeface="Arial"/>
              </a:rPr>
              <a:t>Rising counties continue to outpace large coastal metros in recent appreciation.</a:t>
            </a:r>
            <a:br>
              <a:rPr lang="en" sz="705">
                <a:solidFill>
                  <a:schemeClr val="dk1"/>
                </a:solidFill>
                <a:latin typeface="Arial"/>
                <a:ea typeface="Arial"/>
                <a:cs typeface="Arial"/>
                <a:sym typeface="Arial"/>
              </a:rPr>
            </a:br>
            <a:endParaRPr b="1" sz="881">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Standardized Investment Score </a:t>
            </a:r>
            <a:r>
              <a:rPr lang="en"/>
              <a:t> (z-score)</a:t>
            </a:r>
            <a:endParaRPr/>
          </a:p>
        </p:txBody>
      </p:sp>
      <p:sp>
        <p:nvSpPr>
          <p:cNvPr id="142" name="Google Shape;142;p21"/>
          <p:cNvSpPr txBox="1"/>
          <p:nvPr>
            <p:ph idx="1" type="body"/>
          </p:nvPr>
        </p:nvSpPr>
        <p:spPr>
          <a:xfrm>
            <a:off x="311700" y="1152475"/>
            <a:ext cx="7708200" cy="3416400"/>
          </a:xfrm>
          <a:prstGeom prst="rect">
            <a:avLst/>
          </a:prstGeom>
          <a:noFill/>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t/>
            </a:r>
            <a:endParaRPr sz="1100">
              <a:solidFill>
                <a:schemeClr val="dk1"/>
              </a:solidFill>
              <a:latin typeface="Arial"/>
              <a:ea typeface="Arial"/>
              <a:cs typeface="Arial"/>
              <a:sym typeface="Arial"/>
            </a:endParaRPr>
          </a:p>
          <a:p>
            <a:pPr indent="0" lvl="0" marL="0" rtl="0" algn="l">
              <a:lnSpc>
                <a:spcPct val="150000"/>
              </a:lnSpc>
              <a:spcBef>
                <a:spcPts val="90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914400" rtl="0" algn="l">
              <a:spcBef>
                <a:spcPts val="900"/>
              </a:spcBef>
              <a:spcAft>
                <a:spcPts val="0"/>
              </a:spcAft>
              <a:buNone/>
            </a:pPr>
            <a:r>
              <a:t/>
            </a:r>
            <a:endParaRPr sz="1050">
              <a:solidFill>
                <a:srgbClr val="CCCCCC"/>
              </a:solidFill>
              <a:highlight>
                <a:srgbClr val="181818"/>
              </a:highlight>
              <a:latin typeface="Arial"/>
              <a:ea typeface="Arial"/>
              <a:cs typeface="Arial"/>
              <a:sym typeface="Arial"/>
            </a:endParaRPr>
          </a:p>
          <a:p>
            <a:pPr indent="0" lvl="0" marL="0" rtl="0" algn="l">
              <a:spcBef>
                <a:spcPts val="1800"/>
              </a:spcBef>
              <a:spcAft>
                <a:spcPts val="1200"/>
              </a:spcAft>
              <a:buNone/>
            </a:pPr>
            <a:r>
              <a:t/>
            </a:r>
            <a:endParaRPr/>
          </a:p>
        </p:txBody>
      </p:sp>
      <p:pic>
        <p:nvPicPr>
          <p:cNvPr id="143" name="Google Shape;143;p21"/>
          <p:cNvPicPr preferRelativeResize="0"/>
          <p:nvPr/>
        </p:nvPicPr>
        <p:blipFill>
          <a:blip r:embed="rId3">
            <a:alphaModFix/>
          </a:blip>
          <a:stretch>
            <a:fillRect/>
          </a:stretch>
        </p:blipFill>
        <p:spPr>
          <a:xfrm>
            <a:off x="501750" y="1190692"/>
            <a:ext cx="7157476" cy="206675"/>
          </a:xfrm>
          <a:prstGeom prst="rect">
            <a:avLst/>
          </a:prstGeom>
          <a:noFill/>
          <a:ln>
            <a:noFill/>
          </a:ln>
        </p:spPr>
      </p:pic>
      <p:graphicFrame>
        <p:nvGraphicFramePr>
          <p:cNvPr id="144" name="Google Shape;144;p21"/>
          <p:cNvGraphicFramePr/>
          <p:nvPr/>
        </p:nvGraphicFramePr>
        <p:xfrm>
          <a:off x="499099" y="1582086"/>
          <a:ext cx="3000000" cy="3000000"/>
        </p:xfrm>
        <a:graphic>
          <a:graphicData uri="http://schemas.openxmlformats.org/drawingml/2006/table">
            <a:tbl>
              <a:tblPr>
                <a:noFill/>
                <a:tableStyleId>{C2907A41-1D0B-4578-A4FD-13F027A7D952}</a:tableStyleId>
              </a:tblPr>
              <a:tblGrid>
                <a:gridCol w="1535950"/>
                <a:gridCol w="1067625"/>
                <a:gridCol w="4635425"/>
              </a:tblGrid>
              <a:tr h="381000">
                <a:tc>
                  <a:txBody>
                    <a:bodyPr/>
                    <a:lstStyle/>
                    <a:p>
                      <a:pPr indent="0" lvl="0" marL="0" rtl="0" algn="ctr">
                        <a:spcBef>
                          <a:spcPts val="0"/>
                        </a:spcBef>
                        <a:spcAft>
                          <a:spcPts val="0"/>
                        </a:spcAft>
                        <a:buNone/>
                      </a:pPr>
                      <a:r>
                        <a:rPr b="1" lang="en" sz="1300">
                          <a:solidFill>
                            <a:schemeClr val="lt1"/>
                          </a:solidFill>
                        </a:rPr>
                        <a:t>Components</a:t>
                      </a:r>
                      <a:endParaRPr b="1" sz="1300">
                        <a:solidFill>
                          <a:schemeClr val="lt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sz="1300">
                          <a:solidFill>
                            <a:schemeClr val="lt1"/>
                          </a:solidFill>
                        </a:rPr>
                        <a:t>Weight</a:t>
                      </a:r>
                      <a:endParaRPr b="1" sz="1300">
                        <a:solidFill>
                          <a:schemeClr val="lt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sz="1300">
                          <a:solidFill>
                            <a:schemeClr val="lt1"/>
                          </a:solidFill>
                        </a:rPr>
                        <a:t>Explain</a:t>
                      </a:r>
                      <a:endParaRPr b="1" sz="1300">
                        <a:solidFill>
                          <a:schemeClr val="lt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dk1"/>
                    </a:solidFill>
                  </a:tcPr>
                </a:tc>
              </a:tr>
              <a:tr h="381000">
                <a:tc>
                  <a:txBody>
                    <a:bodyPr/>
                    <a:lstStyle/>
                    <a:p>
                      <a:pPr indent="0" lvl="0" marL="0" rtl="0" algn="ctr">
                        <a:spcBef>
                          <a:spcPts val="0"/>
                        </a:spcBef>
                        <a:spcAft>
                          <a:spcPts val="0"/>
                        </a:spcAft>
                        <a:buNone/>
                      </a:pPr>
                      <a:r>
                        <a:rPr b="1" lang="en" sz="1300">
                          <a:solidFill>
                            <a:schemeClr val="dk1"/>
                          </a:solidFill>
                        </a:rPr>
                        <a:t>Growth</a:t>
                      </a:r>
                      <a:endParaRPr b="1" sz="13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FF0000"/>
                          </a:solidFill>
                        </a:rPr>
                        <a:t>40</a:t>
                      </a:r>
                      <a:r>
                        <a:rPr b="1" lang="en" sz="1300">
                          <a:solidFill>
                            <a:srgbClr val="FF0000"/>
                          </a:solidFill>
                        </a:rPr>
                        <a:t>%</a:t>
                      </a:r>
                      <a:endParaRPr b="1" sz="1300">
                        <a:solidFill>
                          <a:srgbClr val="FF0000"/>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chemeClr val="dk1"/>
                          </a:solidFill>
                        </a:rPr>
                        <a:t>A weighted mix of long-term and short-term appreciation.</a:t>
                      </a:r>
                      <a:endParaRPr sz="1200">
                        <a:solidFill>
                          <a:schemeClr val="dk1"/>
                        </a:solidFill>
                      </a:endParaRPr>
                    </a:p>
                    <a:p>
                      <a:pPr indent="0" lvl="0" marL="0" rtl="0" algn="l">
                        <a:lnSpc>
                          <a:spcPct val="100000"/>
                        </a:lnSpc>
                        <a:spcBef>
                          <a:spcPts val="1200"/>
                        </a:spcBef>
                        <a:spcAft>
                          <a:spcPts val="1200"/>
                        </a:spcAft>
                        <a:buNone/>
                      </a:pPr>
                      <a:r>
                        <a:rPr lang="en" sz="1200">
                          <a:solidFill>
                            <a:schemeClr val="dk1"/>
                          </a:solidFill>
                        </a:rPr>
                        <a:t>i.e.)</a:t>
                      </a:r>
                      <a:r>
                        <a:rPr b="1" lang="en" sz="1200">
                          <a:solidFill>
                            <a:schemeClr val="dk1"/>
                          </a:solidFill>
                        </a:rPr>
                        <a:t> 0.7</a:t>
                      </a:r>
                      <a:r>
                        <a:rPr lang="en" sz="1200">
                          <a:solidFill>
                            <a:schemeClr val="dk1"/>
                          </a:solidFill>
                        </a:rPr>
                        <a:t> x </a:t>
                      </a:r>
                      <a:r>
                        <a:rPr b="1" lang="en" sz="1200">
                          <a:solidFill>
                            <a:schemeClr val="dk1"/>
                          </a:solidFill>
                        </a:rPr>
                        <a:t>3-Year</a:t>
                      </a:r>
                      <a:r>
                        <a:rPr lang="en" sz="1200">
                          <a:solidFill>
                            <a:schemeClr val="dk1"/>
                          </a:solidFill>
                        </a:rPr>
                        <a:t> </a:t>
                      </a:r>
                      <a:r>
                        <a:rPr b="1" lang="en" sz="1200">
                          <a:solidFill>
                            <a:schemeClr val="dk1"/>
                          </a:solidFill>
                        </a:rPr>
                        <a:t>CAGR</a:t>
                      </a:r>
                      <a:r>
                        <a:rPr lang="en" sz="1200">
                          <a:solidFill>
                            <a:schemeClr val="dk1"/>
                          </a:solidFill>
                        </a:rPr>
                        <a:t> +</a:t>
                      </a:r>
                      <a:r>
                        <a:rPr b="1" lang="en" sz="1200">
                          <a:solidFill>
                            <a:schemeClr val="dk1"/>
                          </a:solidFill>
                        </a:rPr>
                        <a:t> 0.3</a:t>
                      </a:r>
                      <a:r>
                        <a:rPr lang="en" sz="1200">
                          <a:solidFill>
                            <a:schemeClr val="dk1"/>
                          </a:solidFill>
                        </a:rPr>
                        <a:t> x </a:t>
                      </a:r>
                      <a:r>
                        <a:rPr b="1" lang="en" sz="1200">
                          <a:solidFill>
                            <a:schemeClr val="dk1"/>
                          </a:solidFill>
                        </a:rPr>
                        <a:t>1-Year YoY Growth</a:t>
                      </a:r>
                      <a:endParaRPr b="1" sz="12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ctr">
                        <a:lnSpc>
                          <a:spcPct val="115000"/>
                        </a:lnSpc>
                        <a:spcBef>
                          <a:spcPts val="0"/>
                        </a:spcBef>
                        <a:spcAft>
                          <a:spcPts val="1200"/>
                        </a:spcAft>
                        <a:buNone/>
                      </a:pPr>
                      <a:r>
                        <a:rPr b="1" lang="en" sz="1300">
                          <a:solidFill>
                            <a:schemeClr val="dk1"/>
                          </a:solidFill>
                        </a:rPr>
                        <a:t>Income</a:t>
                      </a:r>
                      <a:endParaRPr b="1" sz="13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FF0000"/>
                          </a:solidFill>
                        </a:rPr>
                        <a:t>30</a:t>
                      </a:r>
                      <a:r>
                        <a:rPr b="1" lang="en" sz="1300">
                          <a:solidFill>
                            <a:srgbClr val="FF0000"/>
                          </a:solidFill>
                        </a:rPr>
                        <a:t>%</a:t>
                      </a:r>
                      <a:endParaRPr b="1" sz="1300">
                        <a:solidFill>
                          <a:srgbClr val="FF0000"/>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 sz="1200">
                          <a:solidFill>
                            <a:schemeClr val="dk1"/>
                          </a:solidFill>
                        </a:rPr>
                        <a:t>Focuses on cash flow and rental upside.</a:t>
                      </a:r>
                      <a:endParaRPr sz="12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ctr">
                        <a:lnSpc>
                          <a:spcPct val="115000"/>
                        </a:lnSpc>
                        <a:spcBef>
                          <a:spcPts val="0"/>
                        </a:spcBef>
                        <a:spcAft>
                          <a:spcPts val="1200"/>
                        </a:spcAft>
                        <a:buNone/>
                      </a:pPr>
                      <a:r>
                        <a:rPr b="1" lang="en" sz="1300">
                          <a:solidFill>
                            <a:schemeClr val="dk1"/>
                          </a:solidFill>
                        </a:rPr>
                        <a:t>Affordability</a:t>
                      </a:r>
                      <a:endParaRPr b="1" sz="13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FF0000"/>
                          </a:solidFill>
                        </a:rPr>
                        <a:t>20%</a:t>
                      </a:r>
                      <a:endParaRPr b="1" sz="1300">
                        <a:solidFill>
                          <a:srgbClr val="FF0000"/>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chemeClr val="dk1"/>
                          </a:solidFill>
                        </a:rPr>
                        <a:t>Penalizes expensive markets. </a:t>
                      </a:r>
                      <a:endParaRPr sz="1200">
                        <a:solidFill>
                          <a:schemeClr val="dk1"/>
                        </a:solidFill>
                      </a:endParaRPr>
                    </a:p>
                    <a:p>
                      <a:pPr indent="0" lvl="0" marL="0" rtl="0" algn="l">
                        <a:lnSpc>
                          <a:spcPct val="100000"/>
                        </a:lnSpc>
                        <a:spcBef>
                          <a:spcPts val="1200"/>
                        </a:spcBef>
                        <a:spcAft>
                          <a:spcPts val="1200"/>
                        </a:spcAft>
                        <a:buNone/>
                      </a:pPr>
                      <a:r>
                        <a:rPr lang="en" sz="1200">
                          <a:solidFill>
                            <a:schemeClr val="dk1"/>
                          </a:solidFill>
                        </a:rPr>
                        <a:t>i.e.) </a:t>
                      </a:r>
                      <a:r>
                        <a:rPr b="1" lang="en" sz="1200">
                          <a:solidFill>
                            <a:schemeClr val="dk1"/>
                          </a:solidFill>
                        </a:rPr>
                        <a:t>-1 x Price</a:t>
                      </a:r>
                      <a:r>
                        <a:rPr lang="en" sz="1200">
                          <a:solidFill>
                            <a:schemeClr val="dk1"/>
                          </a:solidFill>
                        </a:rPr>
                        <a:t> (</a:t>
                      </a:r>
                      <a:r>
                        <a:rPr b="1" lang="en" sz="1200">
                          <a:solidFill>
                            <a:schemeClr val="dk1"/>
                          </a:solidFill>
                        </a:rPr>
                        <a:t>Inverted</a:t>
                      </a:r>
                      <a:r>
                        <a:rPr lang="en" sz="1200">
                          <a:solidFill>
                            <a:schemeClr val="dk1"/>
                          </a:solidFill>
                        </a:rPr>
                        <a:t>, so lower prices score higher)</a:t>
                      </a:r>
                      <a:endParaRPr sz="12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ctr">
                        <a:lnSpc>
                          <a:spcPct val="115000"/>
                        </a:lnSpc>
                        <a:spcBef>
                          <a:spcPts val="0"/>
                        </a:spcBef>
                        <a:spcAft>
                          <a:spcPts val="1200"/>
                        </a:spcAft>
                        <a:buNone/>
                      </a:pPr>
                      <a:r>
                        <a:rPr b="1" lang="en" sz="1300">
                          <a:solidFill>
                            <a:schemeClr val="dk1"/>
                          </a:solidFill>
                        </a:rPr>
                        <a:t>Demographics</a:t>
                      </a:r>
                      <a:endParaRPr b="1" sz="13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FF0000"/>
                          </a:solidFill>
                        </a:rPr>
                        <a:t>10%</a:t>
                      </a:r>
                      <a:endParaRPr b="1" sz="1300">
                        <a:solidFill>
                          <a:srgbClr val="FF0000"/>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 sz="1200">
                          <a:solidFill>
                            <a:schemeClr val="dk1"/>
                          </a:solidFill>
                        </a:rPr>
                        <a:t>Population Growth.</a:t>
                      </a:r>
                      <a:endParaRPr sz="12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Top 20 Counties by Z-Score and Trade-offs</a:t>
            </a:r>
            <a:endParaRPr/>
          </a:p>
        </p:txBody>
      </p:sp>
      <p:pic>
        <p:nvPicPr>
          <p:cNvPr id="150" name="Google Shape;150;p22"/>
          <p:cNvPicPr preferRelativeResize="0"/>
          <p:nvPr/>
        </p:nvPicPr>
        <p:blipFill>
          <a:blip r:embed="rId3">
            <a:alphaModFix/>
          </a:blip>
          <a:stretch>
            <a:fillRect/>
          </a:stretch>
        </p:blipFill>
        <p:spPr>
          <a:xfrm>
            <a:off x="319133" y="954575"/>
            <a:ext cx="8520602" cy="3755324"/>
          </a:xfrm>
          <a:prstGeom prst="rect">
            <a:avLst/>
          </a:prstGeom>
          <a:noFill/>
          <a:ln>
            <a:noFill/>
          </a:ln>
        </p:spPr>
      </p:pic>
      <p:cxnSp>
        <p:nvCxnSpPr>
          <p:cNvPr id="151" name="Google Shape;151;p22"/>
          <p:cNvCxnSpPr/>
          <p:nvPr/>
        </p:nvCxnSpPr>
        <p:spPr>
          <a:xfrm>
            <a:off x="6912501" y="1152075"/>
            <a:ext cx="7500" cy="3270600"/>
          </a:xfrm>
          <a:prstGeom prst="straightConnector1">
            <a:avLst/>
          </a:prstGeom>
          <a:noFill/>
          <a:ln cap="flat" cmpd="sng" w="9525">
            <a:solidFill>
              <a:schemeClr val="dk2"/>
            </a:solidFill>
            <a:prstDash val="dot"/>
            <a:round/>
            <a:headEnd len="med" w="med" type="none"/>
            <a:tailEnd len="med" w="med" type="none"/>
          </a:ln>
        </p:spPr>
      </p:cxnSp>
      <p:cxnSp>
        <p:nvCxnSpPr>
          <p:cNvPr id="152" name="Google Shape;152;p22"/>
          <p:cNvCxnSpPr/>
          <p:nvPr/>
        </p:nvCxnSpPr>
        <p:spPr>
          <a:xfrm>
            <a:off x="5202950" y="2824475"/>
            <a:ext cx="3352200" cy="7500"/>
          </a:xfrm>
          <a:prstGeom prst="straightConnector1">
            <a:avLst/>
          </a:prstGeom>
          <a:noFill/>
          <a:ln cap="flat" cmpd="sng" w="9525">
            <a:solidFill>
              <a:schemeClr val="dk2"/>
            </a:solidFill>
            <a:prstDash val="dot"/>
            <a:round/>
            <a:headEnd len="med" w="med" type="none"/>
            <a:tailEnd len="med" w="med" type="none"/>
          </a:ln>
        </p:spPr>
      </p:cxnSp>
      <p:pic>
        <p:nvPicPr>
          <p:cNvPr id="153" name="Google Shape;153;p22"/>
          <p:cNvPicPr preferRelativeResize="0"/>
          <p:nvPr/>
        </p:nvPicPr>
        <p:blipFill>
          <a:blip r:embed="rId4">
            <a:alphaModFix/>
          </a:blip>
          <a:stretch>
            <a:fillRect/>
          </a:stretch>
        </p:blipFill>
        <p:spPr>
          <a:xfrm>
            <a:off x="7568409" y="1732058"/>
            <a:ext cx="392950" cy="392950"/>
          </a:xfrm>
          <a:prstGeom prst="rect">
            <a:avLst/>
          </a:prstGeom>
          <a:noFill/>
          <a:ln>
            <a:noFill/>
          </a:ln>
        </p:spPr>
      </p:pic>
      <p:sp>
        <p:nvSpPr>
          <p:cNvPr id="154" name="Google Shape;154;p22"/>
          <p:cNvSpPr txBox="1"/>
          <p:nvPr/>
        </p:nvSpPr>
        <p:spPr>
          <a:xfrm>
            <a:off x="7626065" y="1725322"/>
            <a:ext cx="2751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Inter Tight"/>
                <a:ea typeface="Inter Tight"/>
                <a:cs typeface="Inter Tight"/>
                <a:sym typeface="Inter Tight"/>
              </a:rPr>
              <a:t>1</a:t>
            </a:r>
            <a:endParaRPr sz="1000">
              <a:solidFill>
                <a:schemeClr val="dk2"/>
              </a:solidFill>
              <a:latin typeface="Inter Tight"/>
              <a:ea typeface="Inter Tight"/>
              <a:cs typeface="Inter Tight"/>
              <a:sym typeface="Inter Tight"/>
            </a:endParaRPr>
          </a:p>
        </p:txBody>
      </p:sp>
      <p:sp>
        <p:nvSpPr>
          <p:cNvPr id="155" name="Google Shape;155;p22"/>
          <p:cNvSpPr txBox="1"/>
          <p:nvPr/>
        </p:nvSpPr>
        <p:spPr>
          <a:xfrm>
            <a:off x="5912832" y="1736498"/>
            <a:ext cx="2751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Inter Tight"/>
                <a:ea typeface="Inter Tight"/>
                <a:cs typeface="Inter Tight"/>
                <a:sym typeface="Inter Tight"/>
              </a:rPr>
              <a:t>2</a:t>
            </a:r>
            <a:endParaRPr sz="1000">
              <a:solidFill>
                <a:schemeClr val="dk2"/>
              </a:solidFill>
              <a:latin typeface="Inter Tight"/>
              <a:ea typeface="Inter Tight"/>
              <a:cs typeface="Inter Tight"/>
              <a:sym typeface="Inter Tight"/>
            </a:endParaRPr>
          </a:p>
        </p:txBody>
      </p:sp>
      <p:sp>
        <p:nvSpPr>
          <p:cNvPr id="156" name="Google Shape;156;p22"/>
          <p:cNvSpPr txBox="1"/>
          <p:nvPr/>
        </p:nvSpPr>
        <p:spPr>
          <a:xfrm>
            <a:off x="5886845" y="3405190"/>
            <a:ext cx="2751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Inter Tight"/>
                <a:ea typeface="Inter Tight"/>
                <a:cs typeface="Inter Tight"/>
                <a:sym typeface="Inter Tight"/>
              </a:rPr>
              <a:t>3</a:t>
            </a:r>
            <a:endParaRPr sz="1000">
              <a:solidFill>
                <a:schemeClr val="dk2"/>
              </a:solidFill>
              <a:latin typeface="Inter Tight"/>
              <a:ea typeface="Inter Tight"/>
              <a:cs typeface="Inter Tight"/>
              <a:sym typeface="Inter Tight"/>
            </a:endParaRPr>
          </a:p>
        </p:txBody>
      </p:sp>
      <p:sp>
        <p:nvSpPr>
          <p:cNvPr id="157" name="Google Shape;157;p22"/>
          <p:cNvSpPr txBox="1"/>
          <p:nvPr/>
        </p:nvSpPr>
        <p:spPr>
          <a:xfrm>
            <a:off x="7626070" y="3420056"/>
            <a:ext cx="2751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Inter Tight"/>
                <a:ea typeface="Inter Tight"/>
                <a:cs typeface="Inter Tight"/>
                <a:sym typeface="Inter Tight"/>
              </a:rPr>
              <a:t>4</a:t>
            </a:r>
            <a:endParaRPr sz="1000">
              <a:solidFill>
                <a:schemeClr val="dk2"/>
              </a:solidFill>
              <a:latin typeface="Inter Tight"/>
              <a:ea typeface="Inter Tight"/>
              <a:cs typeface="Inter Tight"/>
              <a:sym typeface="Inter T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Wealth migration (Net AGI)</a:t>
            </a:r>
            <a:endParaRPr/>
          </a:p>
        </p:txBody>
      </p:sp>
      <p:pic>
        <p:nvPicPr>
          <p:cNvPr id="163" name="Google Shape;163;p23"/>
          <p:cNvPicPr preferRelativeResize="0"/>
          <p:nvPr/>
        </p:nvPicPr>
        <p:blipFill>
          <a:blip r:embed="rId3">
            <a:alphaModFix/>
          </a:blip>
          <a:stretch>
            <a:fillRect/>
          </a:stretch>
        </p:blipFill>
        <p:spPr>
          <a:xfrm>
            <a:off x="912888" y="947748"/>
            <a:ext cx="3065275" cy="3747876"/>
          </a:xfrm>
          <a:prstGeom prst="rect">
            <a:avLst/>
          </a:prstGeom>
          <a:noFill/>
          <a:ln>
            <a:noFill/>
          </a:ln>
        </p:spPr>
      </p:pic>
      <p:graphicFrame>
        <p:nvGraphicFramePr>
          <p:cNvPr id="164" name="Google Shape;164;p23"/>
          <p:cNvGraphicFramePr/>
          <p:nvPr/>
        </p:nvGraphicFramePr>
        <p:xfrm>
          <a:off x="4572000" y="1094705"/>
          <a:ext cx="3000000" cy="3000000"/>
        </p:xfrm>
        <a:graphic>
          <a:graphicData uri="http://schemas.openxmlformats.org/drawingml/2006/table">
            <a:tbl>
              <a:tblPr>
                <a:noFill/>
                <a:tableStyleId>{C2907A41-1D0B-4578-A4FD-13F027A7D952}</a:tableStyleId>
              </a:tblPr>
              <a:tblGrid>
                <a:gridCol w="1834800"/>
                <a:gridCol w="1834800"/>
              </a:tblGrid>
              <a:tr h="528525">
                <a:tc>
                  <a:txBody>
                    <a:bodyPr/>
                    <a:lstStyle/>
                    <a:p>
                      <a:pPr indent="0" lvl="0" marL="0" rtl="0" algn="ctr">
                        <a:spcBef>
                          <a:spcPts val="0"/>
                        </a:spcBef>
                        <a:spcAft>
                          <a:spcPts val="0"/>
                        </a:spcAft>
                        <a:buNone/>
                      </a:pPr>
                      <a:r>
                        <a:rPr b="1" lang="en" sz="1600">
                          <a:solidFill>
                            <a:schemeClr val="lt1"/>
                          </a:solidFill>
                        </a:rPr>
                        <a:t>County</a:t>
                      </a:r>
                      <a:endParaRPr b="1" sz="1600">
                        <a:solidFill>
                          <a:schemeClr val="lt1"/>
                        </a:solidFill>
                      </a:endParaRPr>
                    </a:p>
                  </a:txBody>
                  <a:tcPr marT="91425" marB="91425" marR="91425" marL="91425" anchor="ctr">
                    <a:solidFill>
                      <a:schemeClr val="dk1"/>
                    </a:solidFill>
                  </a:tcPr>
                </a:tc>
                <a:tc>
                  <a:txBody>
                    <a:bodyPr/>
                    <a:lstStyle/>
                    <a:p>
                      <a:pPr indent="0" lvl="0" marL="0" rtl="0" algn="ctr">
                        <a:spcBef>
                          <a:spcPts val="0"/>
                        </a:spcBef>
                        <a:spcAft>
                          <a:spcPts val="0"/>
                        </a:spcAft>
                        <a:buNone/>
                      </a:pPr>
                      <a:r>
                        <a:rPr b="1" lang="en" sz="1600">
                          <a:solidFill>
                            <a:schemeClr val="lt1"/>
                          </a:solidFill>
                        </a:rPr>
                        <a:t>Net Inflow</a:t>
                      </a:r>
                      <a:endParaRPr b="1" sz="1600">
                        <a:solidFill>
                          <a:schemeClr val="lt1"/>
                        </a:solidFill>
                      </a:endParaRPr>
                    </a:p>
                  </a:txBody>
                  <a:tcPr marT="91425" marB="91425" marR="91425" marL="91425" anchor="ctr">
                    <a:solidFill>
                      <a:schemeClr val="dk1"/>
                    </a:solidFill>
                  </a:tcPr>
                </a:tc>
              </a:tr>
              <a:tr h="528525">
                <a:tc>
                  <a:txBody>
                    <a:bodyPr/>
                    <a:lstStyle/>
                    <a:p>
                      <a:pPr indent="0" lvl="0" marL="0" rtl="0" algn="ctr">
                        <a:spcBef>
                          <a:spcPts val="0"/>
                        </a:spcBef>
                        <a:spcAft>
                          <a:spcPts val="0"/>
                        </a:spcAft>
                        <a:buNone/>
                      </a:pPr>
                      <a:r>
                        <a:rPr b="1" lang="en" sz="1600">
                          <a:solidFill>
                            <a:srgbClr val="FF0000"/>
                          </a:solidFill>
                        </a:rPr>
                        <a:t>Riverside</a:t>
                      </a:r>
                      <a:endParaRPr b="1" sz="1600">
                        <a:solidFill>
                          <a:srgbClr val="FF0000"/>
                        </a:solidFill>
                      </a:endParaRPr>
                    </a:p>
                  </a:txBody>
                  <a:tcPr marT="91425" marB="91425" marR="91425" marL="91425" anchor="ctr"/>
                </a:tc>
                <a:tc>
                  <a:txBody>
                    <a:bodyPr/>
                    <a:lstStyle/>
                    <a:p>
                      <a:pPr indent="0" lvl="0" marL="0" rtl="0" algn="ctr">
                        <a:spcBef>
                          <a:spcPts val="0"/>
                        </a:spcBef>
                        <a:spcAft>
                          <a:spcPts val="0"/>
                        </a:spcAft>
                        <a:buNone/>
                      </a:pPr>
                      <a:r>
                        <a:rPr b="1" lang="en" sz="1600">
                          <a:solidFill>
                            <a:srgbClr val="FF0000"/>
                          </a:solidFill>
                        </a:rPr>
                        <a:t>+$2.4M</a:t>
                      </a:r>
                      <a:endParaRPr b="1" sz="1600">
                        <a:solidFill>
                          <a:srgbClr val="FF0000"/>
                        </a:solidFill>
                      </a:endParaRPr>
                    </a:p>
                  </a:txBody>
                  <a:tcPr marT="91425" marB="91425" marR="91425" marL="91425" anchor="ctr"/>
                </a:tc>
              </a:tr>
              <a:tr h="528525">
                <a:tc>
                  <a:txBody>
                    <a:bodyPr/>
                    <a:lstStyle/>
                    <a:p>
                      <a:pPr indent="0" lvl="0" marL="0" rtl="0" algn="ctr">
                        <a:spcBef>
                          <a:spcPts val="0"/>
                        </a:spcBef>
                        <a:spcAft>
                          <a:spcPts val="0"/>
                        </a:spcAft>
                        <a:buNone/>
                      </a:pPr>
                      <a:r>
                        <a:rPr lang="en" sz="1600"/>
                        <a:t>Monterey</a:t>
                      </a:r>
                      <a:endParaRPr sz="1600"/>
                    </a:p>
                  </a:txBody>
                  <a:tcPr marT="91425" marB="91425" marR="91425" marL="91425" anchor="ctr"/>
                </a:tc>
                <a:tc>
                  <a:txBody>
                    <a:bodyPr/>
                    <a:lstStyle/>
                    <a:p>
                      <a:pPr indent="0" lvl="0" marL="0" rtl="0" algn="ctr">
                        <a:spcBef>
                          <a:spcPts val="0"/>
                        </a:spcBef>
                        <a:spcAft>
                          <a:spcPts val="0"/>
                        </a:spcAft>
                        <a:buNone/>
                      </a:pPr>
                      <a:r>
                        <a:rPr lang="en" sz="1600"/>
                        <a:t>+2.3M</a:t>
                      </a:r>
                      <a:endParaRPr sz="1600"/>
                    </a:p>
                  </a:txBody>
                  <a:tcPr marT="91425" marB="91425" marR="91425" marL="91425" anchor="ctr"/>
                </a:tc>
              </a:tr>
              <a:tr h="528525">
                <a:tc>
                  <a:txBody>
                    <a:bodyPr/>
                    <a:lstStyle/>
                    <a:p>
                      <a:pPr indent="0" lvl="0" marL="0" rtl="0" algn="ctr">
                        <a:spcBef>
                          <a:spcPts val="0"/>
                        </a:spcBef>
                        <a:spcAft>
                          <a:spcPts val="0"/>
                        </a:spcAft>
                        <a:buNone/>
                      </a:pPr>
                      <a:r>
                        <a:rPr lang="en" sz="1600"/>
                        <a:t>Placer</a:t>
                      </a:r>
                      <a:endParaRPr sz="1600"/>
                    </a:p>
                  </a:txBody>
                  <a:tcPr marT="91425" marB="91425" marR="91425" marL="91425" anchor="ctr"/>
                </a:tc>
                <a:tc>
                  <a:txBody>
                    <a:bodyPr/>
                    <a:lstStyle/>
                    <a:p>
                      <a:pPr indent="0" lvl="0" marL="0" rtl="0" algn="ctr">
                        <a:spcBef>
                          <a:spcPts val="0"/>
                        </a:spcBef>
                        <a:spcAft>
                          <a:spcPts val="0"/>
                        </a:spcAft>
                        <a:buNone/>
                      </a:pPr>
                      <a:r>
                        <a:rPr lang="en" sz="1600"/>
                        <a:t>+$1.2M</a:t>
                      </a:r>
                      <a:endParaRPr sz="1600"/>
                    </a:p>
                  </a:txBody>
                  <a:tcPr marT="91425" marB="91425" marR="91425" marL="91425" anchor="ctr"/>
                </a:tc>
              </a:tr>
              <a:tr h="528525">
                <a:tc>
                  <a:txBody>
                    <a:bodyPr/>
                    <a:lstStyle/>
                    <a:p>
                      <a:pPr indent="0" lvl="0" marL="0" rtl="0" algn="ctr">
                        <a:spcBef>
                          <a:spcPts val="0"/>
                        </a:spcBef>
                        <a:spcAft>
                          <a:spcPts val="0"/>
                        </a:spcAft>
                        <a:buNone/>
                      </a:pPr>
                      <a:r>
                        <a:rPr lang="en" sz="1600"/>
                        <a:t>Santa Barbara</a:t>
                      </a:r>
                      <a:endParaRPr sz="1600"/>
                    </a:p>
                  </a:txBody>
                  <a:tcPr marT="91425" marB="91425" marR="91425" marL="91425" anchor="ctr"/>
                </a:tc>
                <a:tc>
                  <a:txBody>
                    <a:bodyPr/>
                    <a:lstStyle/>
                    <a:p>
                      <a:pPr indent="0" lvl="0" marL="0" rtl="0" algn="ctr">
                        <a:spcBef>
                          <a:spcPts val="0"/>
                        </a:spcBef>
                        <a:spcAft>
                          <a:spcPts val="0"/>
                        </a:spcAft>
                        <a:buNone/>
                      </a:pPr>
                      <a:r>
                        <a:rPr lang="en" sz="1600"/>
                        <a:t>+1.1M</a:t>
                      </a:r>
                      <a:endParaRPr sz="1600"/>
                    </a:p>
                  </a:txBody>
                  <a:tcPr marT="91425" marB="91425" marR="91425" marL="91425" anchor="ctr"/>
                </a:tc>
              </a:tr>
              <a:tr h="528525">
                <a:tc>
                  <a:txBody>
                    <a:bodyPr/>
                    <a:lstStyle/>
                    <a:p>
                      <a:pPr indent="0" lvl="0" marL="0" rtl="0" algn="ctr">
                        <a:spcBef>
                          <a:spcPts val="0"/>
                        </a:spcBef>
                        <a:spcAft>
                          <a:spcPts val="0"/>
                        </a:spcAft>
                        <a:buNone/>
                      </a:pPr>
                      <a:r>
                        <a:rPr lang="en" sz="1600"/>
                        <a:t>San Joaquin</a:t>
                      </a:r>
                      <a:endParaRPr sz="1600"/>
                    </a:p>
                  </a:txBody>
                  <a:tcPr marT="91425" marB="91425" marR="91425" marL="91425" anchor="ctr"/>
                </a:tc>
                <a:tc>
                  <a:txBody>
                    <a:bodyPr/>
                    <a:lstStyle/>
                    <a:p>
                      <a:pPr indent="0" lvl="0" marL="0" rtl="0" algn="ctr">
                        <a:spcBef>
                          <a:spcPts val="0"/>
                        </a:spcBef>
                        <a:spcAft>
                          <a:spcPts val="0"/>
                        </a:spcAft>
                        <a:buNone/>
                      </a:pPr>
                      <a:r>
                        <a:rPr lang="en" sz="1600"/>
                        <a:t>+0.8M</a:t>
                      </a:r>
                      <a:endParaRPr sz="1600"/>
                    </a:p>
                  </a:txBody>
                  <a:tcPr marT="91425" marB="91425" marR="91425" marL="91425"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4"/>
          <p:cNvPicPr preferRelativeResize="0"/>
          <p:nvPr/>
        </p:nvPicPr>
        <p:blipFill rotWithShape="1">
          <a:blip r:embed="rId3">
            <a:alphaModFix/>
          </a:blip>
          <a:srcRect b="0" l="0" r="-22130" t="-4833"/>
          <a:stretch/>
        </p:blipFill>
        <p:spPr>
          <a:xfrm>
            <a:off x="296834" y="-871650"/>
            <a:ext cx="5641975" cy="5440527"/>
          </a:xfrm>
          <a:prstGeom prst="rect">
            <a:avLst/>
          </a:prstGeom>
          <a:noFill/>
          <a:ln>
            <a:noFill/>
          </a:ln>
        </p:spPr>
      </p:pic>
      <p:sp>
        <p:nvSpPr>
          <p:cNvPr id="170" name="Google Shape;170;p24"/>
          <p:cNvSpPr txBox="1"/>
          <p:nvPr>
            <p:ph idx="2" type="body"/>
          </p:nvPr>
        </p:nvSpPr>
        <p:spPr>
          <a:xfrm>
            <a:off x="4679251" y="102670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Key Counties</a:t>
            </a:r>
            <a:endParaRPr b="1">
              <a:solidFill>
                <a:schemeClr val="dk1"/>
              </a:solidFill>
            </a:endParaRPr>
          </a:p>
          <a:p>
            <a:pPr indent="0" lvl="0" marL="0" rtl="0" algn="l">
              <a:spcBef>
                <a:spcPts val="1200"/>
              </a:spcBef>
              <a:spcAft>
                <a:spcPts val="1200"/>
              </a:spcAft>
              <a:buNone/>
            </a:pPr>
            <a:r>
              <a:t/>
            </a:r>
            <a:endParaRPr/>
          </a:p>
        </p:txBody>
      </p:sp>
      <p:graphicFrame>
        <p:nvGraphicFramePr>
          <p:cNvPr id="171" name="Google Shape;171;p24"/>
          <p:cNvGraphicFramePr/>
          <p:nvPr/>
        </p:nvGraphicFramePr>
        <p:xfrm>
          <a:off x="4768985" y="1463302"/>
          <a:ext cx="3000000" cy="3000000"/>
        </p:xfrm>
        <a:graphic>
          <a:graphicData uri="http://schemas.openxmlformats.org/drawingml/2006/table">
            <a:tbl>
              <a:tblPr>
                <a:noFill/>
                <a:tableStyleId>{C2907A41-1D0B-4578-A4FD-13F027A7D952}</a:tableStyleId>
              </a:tblPr>
              <a:tblGrid>
                <a:gridCol w="1653500"/>
                <a:gridCol w="1452875"/>
              </a:tblGrid>
              <a:tr h="401450">
                <a:tc>
                  <a:txBody>
                    <a:bodyPr/>
                    <a:lstStyle/>
                    <a:p>
                      <a:pPr indent="0" lvl="0" marL="0" rtl="0" algn="l">
                        <a:spcBef>
                          <a:spcPts val="0"/>
                        </a:spcBef>
                        <a:spcAft>
                          <a:spcPts val="0"/>
                        </a:spcAft>
                        <a:buNone/>
                      </a:pPr>
                      <a:r>
                        <a:rPr b="1" lang="en">
                          <a:solidFill>
                            <a:schemeClr val="lt1"/>
                          </a:solidFill>
                        </a:rPr>
                        <a:t>Name</a:t>
                      </a:r>
                      <a:endParaRPr b="1">
                        <a:solidFill>
                          <a:schemeClr val="lt1"/>
                        </a:solidFill>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rPr b="1" lang="en">
                          <a:solidFill>
                            <a:schemeClr val="lt1"/>
                          </a:solidFill>
                        </a:rPr>
                        <a:t>Factors</a:t>
                      </a:r>
                      <a:endParaRPr b="1">
                        <a:solidFill>
                          <a:schemeClr val="lt1"/>
                        </a:solidFill>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2"/>
                    </a:solidFill>
                  </a:tcPr>
                </a:tc>
              </a:tr>
              <a:tr h="401450">
                <a:tc>
                  <a:txBody>
                    <a:bodyPr/>
                    <a:lstStyle/>
                    <a:p>
                      <a:pPr indent="0" lvl="0" marL="0" rtl="0" algn="l">
                        <a:spcBef>
                          <a:spcPts val="0"/>
                        </a:spcBef>
                        <a:spcAft>
                          <a:spcPts val="0"/>
                        </a:spcAft>
                        <a:buNone/>
                      </a:pPr>
                      <a:r>
                        <a:rPr b="1" lang="en">
                          <a:solidFill>
                            <a:schemeClr val="dk1"/>
                          </a:solidFill>
                        </a:rPr>
                        <a:t>San Luis Obispo</a:t>
                      </a:r>
                      <a:endParaRPr b="1"/>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32CD32"/>
                    </a:solidFill>
                  </a:tcPr>
                </a:tc>
                <a:tc>
                  <a:txBody>
                    <a:bodyPr/>
                    <a:lstStyle/>
                    <a:p>
                      <a:pPr indent="0" lvl="0" marL="0" rtl="0" algn="l">
                        <a:spcBef>
                          <a:spcPts val="0"/>
                        </a:spcBef>
                        <a:spcAft>
                          <a:spcPts val="0"/>
                        </a:spcAft>
                        <a:buNone/>
                      </a:pPr>
                      <a:r>
                        <a:rPr b="1" lang="en">
                          <a:solidFill>
                            <a:schemeClr val="dk1"/>
                          </a:solidFill>
                        </a:rPr>
                        <a:t>Supply</a:t>
                      </a:r>
                      <a:endParaRPr b="1"/>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32CD32"/>
                    </a:solidFill>
                  </a:tcPr>
                </a:tc>
              </a:tr>
              <a:tr h="401450">
                <a:tc>
                  <a:txBody>
                    <a:bodyPr/>
                    <a:lstStyle/>
                    <a:p>
                      <a:pPr indent="0" lvl="0" marL="0" rtl="0" algn="l">
                        <a:spcBef>
                          <a:spcPts val="0"/>
                        </a:spcBef>
                        <a:spcAft>
                          <a:spcPts val="0"/>
                        </a:spcAft>
                        <a:buClr>
                          <a:schemeClr val="dk1"/>
                        </a:buClr>
                        <a:buSzPts val="1100"/>
                        <a:buFont typeface="Arial"/>
                        <a:buNone/>
                      </a:pPr>
                      <a:r>
                        <a:rPr b="1" lang="en">
                          <a:solidFill>
                            <a:schemeClr val="dk1"/>
                          </a:solidFill>
                        </a:rPr>
                        <a:t>Riverside</a:t>
                      </a:r>
                      <a:endParaRPr b="1"/>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00BFFF"/>
                    </a:solidFill>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Wealth</a:t>
                      </a:r>
                      <a:endParaRPr b="1"/>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00BFFF"/>
                    </a:solidFill>
                  </a:tcPr>
                </a:tc>
              </a:tr>
              <a:tr h="401450">
                <a:tc>
                  <a:txBody>
                    <a:bodyPr/>
                    <a:lstStyle/>
                    <a:p>
                      <a:pPr indent="0" lvl="0" marL="0" rtl="0" algn="l">
                        <a:spcBef>
                          <a:spcPts val="0"/>
                        </a:spcBef>
                        <a:spcAft>
                          <a:spcPts val="0"/>
                        </a:spcAft>
                        <a:buNone/>
                      </a:pPr>
                      <a:r>
                        <a:rPr b="1" lang="en"/>
                        <a:t>Imperial</a:t>
                      </a:r>
                      <a:endParaRPr b="1"/>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1393"/>
                    </a:solidFill>
                  </a:tcPr>
                </a:tc>
                <a:tc>
                  <a:txBody>
                    <a:bodyPr/>
                    <a:lstStyle/>
                    <a:p>
                      <a:pPr indent="0" lvl="0" marL="0" rtl="0" algn="l">
                        <a:spcBef>
                          <a:spcPts val="0"/>
                        </a:spcBef>
                        <a:spcAft>
                          <a:spcPts val="0"/>
                        </a:spcAft>
                        <a:buNone/>
                      </a:pPr>
                      <a:r>
                        <a:rPr b="1" lang="en"/>
                        <a:t>Development</a:t>
                      </a:r>
                      <a:endParaRPr b="1"/>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1393"/>
                    </a:solidFill>
                  </a:tcPr>
                </a:tc>
              </a:tr>
            </a:tbl>
          </a:graphicData>
        </a:graphic>
      </p:graphicFrame>
      <p:sp>
        <p:nvSpPr>
          <p:cNvPr id="172" name="Google Shape;172;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Top 3 Counties of Investment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25"/>
          <p:cNvPicPr preferRelativeResize="0"/>
          <p:nvPr/>
        </p:nvPicPr>
        <p:blipFill>
          <a:blip r:embed="rId3">
            <a:alphaModFix/>
          </a:blip>
          <a:stretch>
            <a:fillRect/>
          </a:stretch>
        </p:blipFill>
        <p:spPr>
          <a:xfrm>
            <a:off x="4358325" y="-29125"/>
            <a:ext cx="4785674" cy="2510225"/>
          </a:xfrm>
          <a:prstGeom prst="rect">
            <a:avLst/>
          </a:prstGeom>
          <a:noFill/>
          <a:ln>
            <a:noFill/>
          </a:ln>
        </p:spPr>
      </p:pic>
      <p:sp>
        <p:nvSpPr>
          <p:cNvPr id="178" name="Google Shape;178;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San Luis Obispo County</a:t>
            </a:r>
            <a:endParaRPr/>
          </a:p>
        </p:txBody>
      </p:sp>
      <p:sp>
        <p:nvSpPr>
          <p:cNvPr id="179" name="Google Shape;179;p25"/>
          <p:cNvSpPr txBox="1"/>
          <p:nvPr>
            <p:ph idx="1" type="body"/>
          </p:nvPr>
        </p:nvSpPr>
        <p:spPr>
          <a:xfrm>
            <a:off x="311700" y="1437839"/>
            <a:ext cx="3999900" cy="23745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a:solidFill>
                  <a:schemeClr val="dk1"/>
                </a:solidFill>
              </a:rPr>
              <a:t>Top-tier scarcity market</a:t>
            </a:r>
            <a:endParaRPr>
              <a:solidFill>
                <a:schemeClr val="dk1"/>
              </a:solidFill>
            </a:endParaRPr>
          </a:p>
          <a:p>
            <a:pPr indent="-304800" lvl="1" marL="914400" rtl="0" algn="l">
              <a:spcBef>
                <a:spcPts val="0"/>
              </a:spcBef>
              <a:spcAft>
                <a:spcPts val="0"/>
              </a:spcAft>
              <a:buClr>
                <a:schemeClr val="dk1"/>
              </a:buClr>
              <a:buSzPts val="1200"/>
              <a:buChar char="○"/>
            </a:pPr>
            <a:r>
              <a:rPr lang="en">
                <a:solidFill>
                  <a:schemeClr val="dk1"/>
                </a:solidFill>
              </a:rPr>
              <a:t>Premium rental remodels</a:t>
            </a:r>
            <a:endParaRPr>
              <a:solidFill>
                <a:schemeClr val="dk1"/>
              </a:solidFill>
            </a:endParaRPr>
          </a:p>
          <a:p>
            <a:pPr indent="-304800" lvl="1" marL="914400" rtl="0" algn="l">
              <a:spcBef>
                <a:spcPts val="0"/>
              </a:spcBef>
              <a:spcAft>
                <a:spcPts val="0"/>
              </a:spcAft>
              <a:buClr>
                <a:schemeClr val="dk1"/>
              </a:buClr>
              <a:buSzPts val="1200"/>
              <a:buChar char="○"/>
            </a:pPr>
            <a:r>
              <a:rPr lang="en">
                <a:solidFill>
                  <a:schemeClr val="dk1"/>
                </a:solidFill>
              </a:rPr>
              <a:t>Student housing plays</a:t>
            </a:r>
            <a:endParaRPr>
              <a:solidFill>
                <a:schemeClr val="dk1"/>
              </a:solidFill>
            </a:endParaRPr>
          </a:p>
          <a:p>
            <a:pPr indent="-304800" lvl="1" marL="914400" rtl="0" algn="l">
              <a:spcBef>
                <a:spcPts val="0"/>
              </a:spcBef>
              <a:spcAft>
                <a:spcPts val="0"/>
              </a:spcAft>
              <a:buClr>
                <a:schemeClr val="dk1"/>
              </a:buClr>
              <a:buSzPts val="1200"/>
              <a:buChar char="○"/>
            </a:pPr>
            <a:r>
              <a:rPr lang="en">
                <a:solidFill>
                  <a:schemeClr val="dk1"/>
                </a:solidFill>
              </a:rPr>
              <a:t>Supply constrained coastal product</a:t>
            </a:r>
            <a:br>
              <a:rPr lang="en">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Moderate-NIMBY </a:t>
            </a:r>
            <a:r>
              <a:rPr lang="en">
                <a:solidFill>
                  <a:schemeClr val="dk1"/>
                </a:solidFill>
              </a:rPr>
              <a:t>homeowner</a:t>
            </a:r>
            <a:r>
              <a:rPr lang="en">
                <a:solidFill>
                  <a:schemeClr val="dk1"/>
                </a:solidFill>
              </a:rPr>
              <a:t> oriented </a:t>
            </a:r>
            <a:br>
              <a:rPr lang="en">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Amenity Gold-Mine</a:t>
            </a:r>
            <a:endParaRPr>
              <a:solidFill>
                <a:schemeClr val="dk1"/>
              </a:solidFill>
            </a:endParaRPr>
          </a:p>
          <a:p>
            <a:pPr indent="-304800" lvl="1" marL="914400" rtl="0" algn="l">
              <a:spcBef>
                <a:spcPts val="0"/>
              </a:spcBef>
              <a:spcAft>
                <a:spcPts val="0"/>
              </a:spcAft>
              <a:buSzPts val="1200"/>
              <a:buChar char="○"/>
            </a:pPr>
            <a:r>
              <a:rPr lang="en">
                <a:solidFill>
                  <a:schemeClr val="dk1"/>
                </a:solidFill>
              </a:rPr>
              <a:t>“Happiest City in the United States”</a:t>
            </a:r>
            <a:r>
              <a:rPr lang="en"/>
              <a:t> </a:t>
            </a:r>
            <a:endParaRPr/>
          </a:p>
        </p:txBody>
      </p:sp>
      <p:pic>
        <p:nvPicPr>
          <p:cNvPr id="180" name="Google Shape;180;p25"/>
          <p:cNvPicPr preferRelativeResize="0"/>
          <p:nvPr/>
        </p:nvPicPr>
        <p:blipFill>
          <a:blip r:embed="rId4">
            <a:alphaModFix/>
          </a:blip>
          <a:stretch>
            <a:fillRect/>
          </a:stretch>
        </p:blipFill>
        <p:spPr>
          <a:xfrm>
            <a:off x="4358325" y="2481100"/>
            <a:ext cx="4785676" cy="2311075"/>
          </a:xfrm>
          <a:prstGeom prst="rect">
            <a:avLst/>
          </a:prstGeom>
          <a:noFill/>
          <a:ln>
            <a:noFill/>
          </a:ln>
        </p:spPr>
      </p:pic>
      <p:sp>
        <p:nvSpPr>
          <p:cNvPr id="181" name="Google Shape;181;p25"/>
          <p:cNvSpPr/>
          <p:nvPr/>
        </p:nvSpPr>
        <p:spPr>
          <a:xfrm rot="14">
            <a:off x="4311598" y="-1031949"/>
            <a:ext cx="69625" cy="5825175"/>
          </a:xfrm>
          <a:prstGeom prst="flowChartProcess">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82" name="Google Shape;182;p25"/>
          <p:cNvSpPr/>
          <p:nvPr/>
        </p:nvSpPr>
        <p:spPr>
          <a:xfrm rot="5400014">
            <a:off x="7254143" y="-450042"/>
            <a:ext cx="69625" cy="5825175"/>
          </a:xfrm>
          <a:prstGeom prst="flowChartProcess">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26"/>
          <p:cNvPicPr preferRelativeResize="0"/>
          <p:nvPr/>
        </p:nvPicPr>
        <p:blipFill>
          <a:blip r:embed="rId3">
            <a:alphaModFix amt="21000"/>
          </a:blip>
          <a:stretch>
            <a:fillRect/>
          </a:stretch>
        </p:blipFill>
        <p:spPr>
          <a:xfrm>
            <a:off x="0" y="0"/>
            <a:ext cx="9144000" cy="4800600"/>
          </a:xfrm>
          <a:prstGeom prst="rect">
            <a:avLst/>
          </a:prstGeom>
          <a:noFill/>
          <a:ln>
            <a:noFill/>
          </a:ln>
        </p:spPr>
      </p:pic>
      <p:sp>
        <p:nvSpPr>
          <p:cNvPr id="188" name="Google Shape;188;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Riverside County</a:t>
            </a:r>
            <a:endParaRPr/>
          </a:p>
        </p:txBody>
      </p:sp>
      <p:sp>
        <p:nvSpPr>
          <p:cNvPr id="189" name="Google Shape;189;p26"/>
          <p:cNvSpPr txBox="1"/>
          <p:nvPr>
            <p:ph idx="1" type="body"/>
          </p:nvPr>
        </p:nvSpPr>
        <p:spPr>
          <a:xfrm>
            <a:off x="311700" y="1527395"/>
            <a:ext cx="3999900" cy="22119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High priority growth market </a:t>
            </a:r>
            <a:endParaRPr sz="1500"/>
          </a:p>
          <a:p>
            <a:pPr indent="-311150" lvl="1" marL="914400" rtl="0" algn="l">
              <a:spcBef>
                <a:spcPts val="0"/>
              </a:spcBef>
              <a:spcAft>
                <a:spcPts val="0"/>
              </a:spcAft>
              <a:buSzPts val="1300"/>
              <a:buChar char="○"/>
            </a:pPr>
            <a:r>
              <a:rPr lang="en" sz="1300"/>
              <a:t>Under-regulated</a:t>
            </a:r>
            <a:br>
              <a:rPr lang="en" sz="1300"/>
            </a:br>
            <a:endParaRPr sz="1300"/>
          </a:p>
          <a:p>
            <a:pPr indent="-311150" lvl="1" marL="914400" rtl="0" algn="l">
              <a:spcBef>
                <a:spcPts val="0"/>
              </a:spcBef>
              <a:spcAft>
                <a:spcPts val="0"/>
              </a:spcAft>
              <a:buSzPts val="1300"/>
              <a:buChar char="○"/>
            </a:pPr>
            <a:r>
              <a:rPr lang="en" sz="1300"/>
              <a:t>Inattentive</a:t>
            </a:r>
            <a:r>
              <a:rPr lang="en" sz="1300"/>
              <a:t> to tenants, focus on managing </a:t>
            </a:r>
            <a:r>
              <a:rPr lang="en" sz="1300"/>
              <a:t>growth</a:t>
            </a:r>
            <a:br>
              <a:rPr lang="en" sz="1300"/>
            </a:br>
            <a:endParaRPr sz="1300"/>
          </a:p>
          <a:p>
            <a:pPr indent="-311150" lvl="1" marL="914400" rtl="0" algn="l">
              <a:spcBef>
                <a:spcPts val="0"/>
              </a:spcBef>
              <a:spcAft>
                <a:spcPts val="0"/>
              </a:spcAft>
              <a:buSzPts val="1300"/>
              <a:buChar char="○"/>
            </a:pPr>
            <a:r>
              <a:rPr lang="en" sz="1300"/>
              <a:t>High-volume acquisition/development</a:t>
            </a:r>
            <a:endParaRPr sz="1300"/>
          </a:p>
        </p:txBody>
      </p:sp>
      <p:sp>
        <p:nvSpPr>
          <p:cNvPr id="190" name="Google Shape;190;p26"/>
          <p:cNvSpPr txBox="1"/>
          <p:nvPr>
            <p:ph idx="1" type="body"/>
          </p:nvPr>
        </p:nvSpPr>
        <p:spPr>
          <a:xfrm>
            <a:off x="4572000" y="1527400"/>
            <a:ext cx="3999900" cy="1889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Steady Demand Structure </a:t>
            </a:r>
            <a:endParaRPr sz="1500"/>
          </a:p>
          <a:p>
            <a:pPr indent="-311150" lvl="1" marL="914400" rtl="0" algn="l">
              <a:spcBef>
                <a:spcPts val="0"/>
              </a:spcBef>
              <a:spcAft>
                <a:spcPts val="0"/>
              </a:spcAft>
              <a:buSzPts val="1300"/>
              <a:buChar char="○"/>
            </a:pPr>
            <a:r>
              <a:rPr lang="en" sz="1300"/>
              <a:t>Room for </a:t>
            </a:r>
            <a:r>
              <a:rPr lang="en" sz="1300"/>
              <a:t>repositioning</a:t>
            </a:r>
            <a:r>
              <a:rPr lang="en" sz="1300"/>
              <a:t> towards luxury </a:t>
            </a:r>
            <a:br>
              <a:rPr lang="en" sz="1300"/>
            </a:br>
            <a:endParaRPr sz="1300"/>
          </a:p>
          <a:p>
            <a:pPr indent="-311150" lvl="1" marL="914400" rtl="0" algn="l">
              <a:spcBef>
                <a:spcPts val="0"/>
              </a:spcBef>
              <a:spcAft>
                <a:spcPts val="0"/>
              </a:spcAft>
              <a:buSzPts val="1300"/>
              <a:buChar char="○"/>
            </a:pPr>
            <a:r>
              <a:rPr lang="en" sz="1300"/>
              <a:t>Coastal incomes chasing inland prices</a:t>
            </a:r>
            <a:br>
              <a:rPr lang="en" sz="1300"/>
            </a:br>
            <a:endParaRPr sz="1300"/>
          </a:p>
          <a:p>
            <a:pPr indent="-311150" lvl="1" marL="914400" rtl="0" algn="l">
              <a:spcBef>
                <a:spcPts val="0"/>
              </a:spcBef>
              <a:spcAft>
                <a:spcPts val="0"/>
              </a:spcAft>
              <a:buSzPts val="1300"/>
              <a:buChar char="○"/>
            </a:pPr>
            <a:r>
              <a:rPr lang="en" sz="1300"/>
              <a:t>Medium </a:t>
            </a:r>
            <a:r>
              <a:rPr lang="en" sz="1300"/>
              <a:t>elasticity with consistent supply pipelines</a:t>
            </a:r>
            <a:endParaRPr sz="13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Digital infrastructure development</a:t>
            </a:r>
            <a:endParaRPr/>
          </a:p>
        </p:txBody>
      </p:sp>
      <p:sp>
        <p:nvSpPr>
          <p:cNvPr id="196" name="Google Shape;196;p27"/>
          <p:cNvSpPr txBox="1"/>
          <p:nvPr>
            <p:ph idx="1" type="body"/>
          </p:nvPr>
        </p:nvSpPr>
        <p:spPr>
          <a:xfrm>
            <a:off x="311700" y="1167074"/>
            <a:ext cx="3999900" cy="282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solidFill>
                  <a:schemeClr val="dk1"/>
                </a:solidFill>
                <a:highlight>
                  <a:srgbClr val="FFFFFF"/>
                </a:highlight>
              </a:rPr>
              <a:t>California also contains several counties outside the traditional major cities that could be key in developing digital infrastructure in the age of AI.</a:t>
            </a:r>
            <a:endParaRPr sz="1300">
              <a:solidFill>
                <a:schemeClr val="dk1"/>
              </a:solidFill>
              <a:highlight>
                <a:srgbClr val="FFFFFF"/>
              </a:highlight>
            </a:endParaRPr>
          </a:p>
          <a:p>
            <a:pPr indent="0" lvl="0" marL="0" rtl="0" algn="l">
              <a:spcBef>
                <a:spcPts val="1200"/>
              </a:spcBef>
              <a:spcAft>
                <a:spcPts val="1200"/>
              </a:spcAft>
              <a:buNone/>
            </a:pPr>
            <a:r>
              <a:rPr i="1" lang="en" sz="1300">
                <a:solidFill>
                  <a:schemeClr val="dk1"/>
                </a:solidFill>
                <a:highlight>
                  <a:srgbClr val="FFFFFF"/>
                </a:highlight>
              </a:rPr>
              <a:t>Imperial County</a:t>
            </a:r>
            <a:r>
              <a:rPr lang="en" sz="1300">
                <a:solidFill>
                  <a:schemeClr val="dk1"/>
                </a:solidFill>
                <a:highlight>
                  <a:srgbClr val="FFFFFF"/>
                </a:highlight>
              </a:rPr>
              <a:t> stands out as a strong, well-rounded candidate: low cost, and fast growing county with near limitless development potential.</a:t>
            </a:r>
            <a:endParaRPr sz="1300">
              <a:solidFill>
                <a:schemeClr val="dk1"/>
              </a:solidFill>
              <a:highlight>
                <a:srgbClr val="FFFFFF"/>
              </a:highlight>
            </a:endParaRPr>
          </a:p>
        </p:txBody>
      </p:sp>
      <p:pic>
        <p:nvPicPr>
          <p:cNvPr id="197" name="Google Shape;197;p27"/>
          <p:cNvPicPr preferRelativeResize="0"/>
          <p:nvPr/>
        </p:nvPicPr>
        <p:blipFill>
          <a:blip r:embed="rId3">
            <a:alphaModFix/>
          </a:blip>
          <a:stretch>
            <a:fillRect/>
          </a:stretch>
        </p:blipFill>
        <p:spPr>
          <a:xfrm>
            <a:off x="5095266" y="630614"/>
            <a:ext cx="3298575" cy="38209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1" name="Shape 201"/>
        <p:cNvGrpSpPr/>
        <p:nvPr/>
      </p:nvGrpSpPr>
      <p:grpSpPr>
        <a:xfrm>
          <a:off x="0" y="0"/>
          <a:ext cx="0" cy="0"/>
          <a:chOff x="0" y="0"/>
          <a:chExt cx="0" cy="0"/>
        </a:xfrm>
      </p:grpSpPr>
      <p:sp>
        <p:nvSpPr>
          <p:cNvPr id="202" name="Google Shape;202;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Trend of CA</a:t>
            </a:r>
            <a:endParaRPr/>
          </a:p>
        </p:txBody>
      </p:sp>
      <p:sp>
        <p:nvSpPr>
          <p:cNvPr id="203" name="Google Shape;203;p2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Buying single-family homes in strictly zoned markets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7" name="Shape 207"/>
        <p:cNvGrpSpPr/>
        <p:nvPr/>
      </p:nvGrpSpPr>
      <p:grpSpPr>
        <a:xfrm>
          <a:off x="0" y="0"/>
          <a:ext cx="0" cy="0"/>
          <a:chOff x="0" y="0"/>
          <a:chExt cx="0" cy="0"/>
        </a:xfrm>
      </p:grpSpPr>
      <p:sp>
        <p:nvSpPr>
          <p:cNvPr id="208" name="Google Shape;208;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Follow the Money</a:t>
            </a:r>
            <a:endParaRPr/>
          </a:p>
        </p:txBody>
      </p:sp>
      <p:graphicFrame>
        <p:nvGraphicFramePr>
          <p:cNvPr id="209" name="Google Shape;209;p29"/>
          <p:cNvGraphicFramePr/>
          <p:nvPr/>
        </p:nvGraphicFramePr>
        <p:xfrm>
          <a:off x="4289350" y="977684"/>
          <a:ext cx="3000000" cy="3000000"/>
        </p:xfrm>
        <a:graphic>
          <a:graphicData uri="http://schemas.openxmlformats.org/drawingml/2006/table">
            <a:tbl>
              <a:tblPr>
                <a:noFill/>
                <a:tableStyleId>{6B66E5CE-1FAA-4199-BB46-567A2A697CA8}</a:tableStyleId>
              </a:tblPr>
              <a:tblGrid>
                <a:gridCol w="1025600"/>
                <a:gridCol w="730450"/>
              </a:tblGrid>
              <a:tr h="285150">
                <a:tc>
                  <a:txBody>
                    <a:bodyPr/>
                    <a:lstStyle/>
                    <a:p>
                      <a:pPr indent="0" lvl="0" marL="0" rtl="0" algn="ctr">
                        <a:spcBef>
                          <a:spcPts val="0"/>
                        </a:spcBef>
                        <a:spcAft>
                          <a:spcPts val="0"/>
                        </a:spcAft>
                        <a:buNone/>
                      </a:pPr>
                      <a:r>
                        <a:rPr b="1" lang="en" sz="1000">
                          <a:solidFill>
                            <a:schemeClr val="dk1"/>
                          </a:solidFill>
                          <a:latin typeface="Inter Tight"/>
                          <a:ea typeface="Inter Tight"/>
                          <a:cs typeface="Inter Tight"/>
                          <a:sym typeface="Inter Tight"/>
                        </a:rPr>
                        <a:t>Cunty</a:t>
                      </a:r>
                      <a:endParaRPr b="1" sz="1000">
                        <a:solidFill>
                          <a:schemeClr val="dk1"/>
                        </a:solidFill>
                        <a:latin typeface="Inter Tight"/>
                        <a:ea typeface="Inter Tight"/>
                        <a:cs typeface="Inter Tight"/>
                        <a:sym typeface="Inter Tight"/>
                      </a:endParaRPr>
                    </a:p>
                  </a:txBody>
                  <a:tcPr marT="91425" marB="91425" marR="91425" marL="91425" anchor="b">
                    <a:lnL cap="flat" cmpd="sng" w="7625">
                      <a:solidFill>
                        <a:srgbClr val="000000"/>
                      </a:solidFill>
                      <a:prstDash val="solid"/>
                      <a:round/>
                      <a:headEnd len="sm" w="sm" type="none"/>
                      <a:tailEnd len="sm" w="sm" type="none"/>
                    </a:lnL>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b="1" lang="en" sz="1000">
                          <a:solidFill>
                            <a:schemeClr val="dk1"/>
                          </a:solidFill>
                          <a:latin typeface="Inter Tight"/>
                          <a:ea typeface="Inter Tight"/>
                          <a:cs typeface="Inter Tight"/>
                          <a:sym typeface="Inter Tight"/>
                        </a:rPr>
                        <a:t>Net AGI (Millions)</a:t>
                      </a:r>
                      <a:endParaRPr b="1" sz="1000">
                        <a:solidFill>
                          <a:schemeClr val="dk1"/>
                        </a:solidFill>
                        <a:latin typeface="Inter Tight"/>
                        <a:ea typeface="Inter Tight"/>
                        <a:cs typeface="Inter Tight"/>
                        <a:sym typeface="Inter Tight"/>
                      </a:endParaRPr>
                    </a:p>
                  </a:txBody>
                  <a:tcPr marT="91425" marB="91425" marR="91425" marL="91425" anchor="b">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D9D9D9"/>
                    </a:solidFill>
                  </a:tcPr>
                </a:tc>
              </a:tr>
              <a:tr h="231475">
                <a:tc>
                  <a:txBody>
                    <a:bodyPr/>
                    <a:lstStyle/>
                    <a:p>
                      <a:pPr indent="0" lvl="0" marL="0" rtl="0" algn="l">
                        <a:lnSpc>
                          <a:spcPct val="100000"/>
                        </a:lnSpc>
                        <a:spcBef>
                          <a:spcPts val="0"/>
                        </a:spcBef>
                        <a:spcAft>
                          <a:spcPts val="0"/>
                        </a:spcAft>
                        <a:buNone/>
                      </a:pPr>
                      <a:r>
                        <a:rPr lang="en" sz="900">
                          <a:latin typeface="Inter Tight"/>
                          <a:ea typeface="Inter Tight"/>
                          <a:cs typeface="Inter Tight"/>
                          <a:sym typeface="Inter Tight"/>
                        </a:rPr>
                        <a:t>Riverside</a:t>
                      </a:r>
                      <a:endParaRPr sz="900">
                        <a:latin typeface="Inter Tight"/>
                        <a:ea typeface="Inter Tight"/>
                        <a:cs typeface="Inter Tight"/>
                        <a:sym typeface="Inter Tight"/>
                      </a:endParaRPr>
                    </a:p>
                  </a:txBody>
                  <a:tcPr marT="91425" marB="91425" marR="91425" marL="91425">
                    <a:lnL cap="flat" cmpd="sng" w="76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900">
                          <a:latin typeface="Space Mono"/>
                          <a:ea typeface="Space Mono"/>
                          <a:cs typeface="Space Mono"/>
                          <a:sym typeface="Space Mono"/>
                        </a:rPr>
                        <a:t>2.40</a:t>
                      </a:r>
                      <a:endParaRPr sz="900">
                        <a:latin typeface="Space Mono"/>
                        <a:ea typeface="Space Mono"/>
                        <a:cs typeface="Space Mono"/>
                        <a:sym typeface="Space Mono"/>
                      </a:endParaRPr>
                    </a:p>
                  </a:txBody>
                  <a:tcPr marT="91425" marB="91425" marR="91425" marL="91425">
                    <a:lnL cap="flat" cmpd="sng" w="9525">
                      <a:solidFill>
                        <a:schemeClr val="dk1"/>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31475">
                <a:tc>
                  <a:txBody>
                    <a:bodyPr/>
                    <a:lstStyle/>
                    <a:p>
                      <a:pPr indent="0" lvl="0" marL="0" rtl="0" algn="l">
                        <a:lnSpc>
                          <a:spcPct val="100000"/>
                        </a:lnSpc>
                        <a:spcBef>
                          <a:spcPts val="0"/>
                        </a:spcBef>
                        <a:spcAft>
                          <a:spcPts val="0"/>
                        </a:spcAft>
                        <a:buNone/>
                      </a:pPr>
                      <a:r>
                        <a:rPr lang="en" sz="900">
                          <a:latin typeface="Inter Tight"/>
                          <a:ea typeface="Inter Tight"/>
                          <a:cs typeface="Inter Tight"/>
                          <a:sym typeface="Inter Tight"/>
                        </a:rPr>
                        <a:t>Monterey</a:t>
                      </a:r>
                      <a:endParaRPr sz="900">
                        <a:latin typeface="Inter Tight"/>
                        <a:ea typeface="Inter Tight"/>
                        <a:cs typeface="Inter Tight"/>
                        <a:sym typeface="Inter Tight"/>
                      </a:endParaRPr>
                    </a:p>
                  </a:txBody>
                  <a:tcPr marT="91425" marB="91425" marR="91425" marL="91425">
                    <a:lnL cap="flat" cmpd="sng" w="76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900">
                          <a:latin typeface="Space Mono"/>
                          <a:ea typeface="Space Mono"/>
                          <a:cs typeface="Space Mono"/>
                          <a:sym typeface="Space Mono"/>
                        </a:rPr>
                        <a:t>2.29</a:t>
                      </a:r>
                      <a:endParaRPr sz="900">
                        <a:latin typeface="Space Mono"/>
                        <a:ea typeface="Space Mono"/>
                        <a:cs typeface="Space Mono"/>
                        <a:sym typeface="Space Mono"/>
                      </a:endParaRPr>
                    </a:p>
                  </a:txBody>
                  <a:tcPr marT="91425" marB="91425" marR="91425" marL="91425">
                    <a:lnL cap="flat" cmpd="sng" w="9525">
                      <a:solidFill>
                        <a:schemeClr val="dk1"/>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31475">
                <a:tc>
                  <a:txBody>
                    <a:bodyPr/>
                    <a:lstStyle/>
                    <a:p>
                      <a:pPr indent="0" lvl="0" marL="0" rtl="0" algn="l">
                        <a:lnSpc>
                          <a:spcPct val="100000"/>
                        </a:lnSpc>
                        <a:spcBef>
                          <a:spcPts val="0"/>
                        </a:spcBef>
                        <a:spcAft>
                          <a:spcPts val="0"/>
                        </a:spcAft>
                        <a:buNone/>
                      </a:pPr>
                      <a:r>
                        <a:rPr lang="en" sz="900">
                          <a:latin typeface="Inter Tight"/>
                          <a:ea typeface="Inter Tight"/>
                          <a:cs typeface="Inter Tight"/>
                          <a:sym typeface="Inter Tight"/>
                        </a:rPr>
                        <a:t>Placer</a:t>
                      </a:r>
                      <a:endParaRPr sz="900">
                        <a:latin typeface="Inter Tight"/>
                        <a:ea typeface="Inter Tight"/>
                        <a:cs typeface="Inter Tight"/>
                        <a:sym typeface="Inter Tight"/>
                      </a:endParaRPr>
                    </a:p>
                  </a:txBody>
                  <a:tcPr marT="91425" marB="91425" marR="91425" marL="91425">
                    <a:lnL cap="flat" cmpd="sng" w="76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900">
                          <a:latin typeface="Space Mono"/>
                          <a:ea typeface="Space Mono"/>
                          <a:cs typeface="Space Mono"/>
                          <a:sym typeface="Space Mono"/>
                        </a:rPr>
                        <a:t>1.21</a:t>
                      </a:r>
                      <a:endParaRPr sz="900">
                        <a:latin typeface="Space Mono"/>
                        <a:ea typeface="Space Mono"/>
                        <a:cs typeface="Space Mono"/>
                        <a:sym typeface="Space Mono"/>
                      </a:endParaRPr>
                    </a:p>
                  </a:txBody>
                  <a:tcPr marT="91425" marB="91425" marR="91425" marL="91425">
                    <a:lnL cap="flat" cmpd="sng" w="9525">
                      <a:solidFill>
                        <a:schemeClr val="dk1"/>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31475">
                <a:tc>
                  <a:txBody>
                    <a:bodyPr/>
                    <a:lstStyle/>
                    <a:p>
                      <a:pPr indent="0" lvl="0" marL="0" rtl="0" algn="l">
                        <a:lnSpc>
                          <a:spcPct val="100000"/>
                        </a:lnSpc>
                        <a:spcBef>
                          <a:spcPts val="0"/>
                        </a:spcBef>
                        <a:spcAft>
                          <a:spcPts val="0"/>
                        </a:spcAft>
                        <a:buNone/>
                      </a:pPr>
                      <a:r>
                        <a:rPr lang="en" sz="900">
                          <a:latin typeface="Inter Tight"/>
                          <a:ea typeface="Inter Tight"/>
                          <a:cs typeface="Inter Tight"/>
                          <a:sym typeface="Inter Tight"/>
                        </a:rPr>
                        <a:t>Santa Barbara</a:t>
                      </a:r>
                      <a:endParaRPr sz="900">
                        <a:latin typeface="Inter Tight"/>
                        <a:ea typeface="Inter Tight"/>
                        <a:cs typeface="Inter Tight"/>
                        <a:sym typeface="Inter Tight"/>
                      </a:endParaRPr>
                    </a:p>
                  </a:txBody>
                  <a:tcPr marT="91425" marB="91425" marR="91425" marL="91425">
                    <a:lnL cap="flat" cmpd="sng" w="76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900">
                          <a:latin typeface="Space Mono"/>
                          <a:ea typeface="Space Mono"/>
                          <a:cs typeface="Space Mono"/>
                          <a:sym typeface="Space Mono"/>
                        </a:rPr>
                        <a:t>1.07</a:t>
                      </a:r>
                      <a:endParaRPr sz="900">
                        <a:latin typeface="Space Mono"/>
                        <a:ea typeface="Space Mono"/>
                        <a:cs typeface="Space Mono"/>
                        <a:sym typeface="Space Mono"/>
                      </a:endParaRPr>
                    </a:p>
                  </a:txBody>
                  <a:tcPr marT="91425" marB="91425" marR="91425" marL="91425">
                    <a:lnL cap="flat" cmpd="sng" w="9525">
                      <a:solidFill>
                        <a:schemeClr val="dk1"/>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31475">
                <a:tc>
                  <a:txBody>
                    <a:bodyPr/>
                    <a:lstStyle/>
                    <a:p>
                      <a:pPr indent="0" lvl="0" marL="0" rtl="0" algn="l">
                        <a:lnSpc>
                          <a:spcPct val="100000"/>
                        </a:lnSpc>
                        <a:spcBef>
                          <a:spcPts val="0"/>
                        </a:spcBef>
                        <a:spcAft>
                          <a:spcPts val="0"/>
                        </a:spcAft>
                        <a:buNone/>
                      </a:pPr>
                      <a:r>
                        <a:rPr lang="en" sz="900">
                          <a:latin typeface="Inter Tight"/>
                          <a:ea typeface="Inter Tight"/>
                          <a:cs typeface="Inter Tight"/>
                          <a:sym typeface="Inter Tight"/>
                        </a:rPr>
                        <a:t>San Joaquin</a:t>
                      </a:r>
                      <a:endParaRPr sz="900">
                        <a:latin typeface="Inter Tight"/>
                        <a:ea typeface="Inter Tight"/>
                        <a:cs typeface="Inter Tight"/>
                        <a:sym typeface="Inter Tight"/>
                      </a:endParaRPr>
                    </a:p>
                  </a:txBody>
                  <a:tcPr marT="91425" marB="91425" marR="91425" marL="91425">
                    <a:lnL cap="flat" cmpd="sng" w="76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900">
                          <a:latin typeface="Space Mono"/>
                          <a:ea typeface="Space Mono"/>
                          <a:cs typeface="Space Mono"/>
                          <a:sym typeface="Space Mono"/>
                        </a:rPr>
                        <a:t>0.79</a:t>
                      </a:r>
                      <a:endParaRPr sz="900">
                        <a:latin typeface="Space Mono"/>
                        <a:ea typeface="Space Mono"/>
                        <a:cs typeface="Space Mono"/>
                        <a:sym typeface="Space Mono"/>
                      </a:endParaRPr>
                    </a:p>
                  </a:txBody>
                  <a:tcPr marT="91425" marB="91425" marR="91425" marL="91425">
                    <a:lnL cap="flat" cmpd="sng" w="9525">
                      <a:solidFill>
                        <a:schemeClr val="dk1"/>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31475">
                <a:tc>
                  <a:txBody>
                    <a:bodyPr/>
                    <a:lstStyle/>
                    <a:p>
                      <a:pPr indent="0" lvl="0" marL="0" rtl="0" algn="l">
                        <a:lnSpc>
                          <a:spcPct val="100000"/>
                        </a:lnSpc>
                        <a:spcBef>
                          <a:spcPts val="0"/>
                        </a:spcBef>
                        <a:spcAft>
                          <a:spcPts val="0"/>
                        </a:spcAft>
                        <a:buNone/>
                      </a:pPr>
                      <a:r>
                        <a:rPr lang="en" sz="900">
                          <a:latin typeface="Inter Tight"/>
                          <a:ea typeface="Inter Tight"/>
                          <a:cs typeface="Inter Tight"/>
                          <a:sym typeface="Inter Tight"/>
                        </a:rPr>
                        <a:t>Marin</a:t>
                      </a:r>
                      <a:endParaRPr sz="900">
                        <a:latin typeface="Inter Tight"/>
                        <a:ea typeface="Inter Tight"/>
                        <a:cs typeface="Inter Tight"/>
                        <a:sym typeface="Inter Tight"/>
                      </a:endParaRPr>
                    </a:p>
                  </a:txBody>
                  <a:tcPr marT="91425" marB="91425" marR="91425" marL="91425">
                    <a:lnL cap="flat" cmpd="sng" w="76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900">
                          <a:latin typeface="Space Mono"/>
                          <a:ea typeface="Space Mono"/>
                          <a:cs typeface="Space Mono"/>
                          <a:sym typeface="Space Mono"/>
                        </a:rPr>
                        <a:t>0.46</a:t>
                      </a:r>
                      <a:endParaRPr sz="900">
                        <a:latin typeface="Space Mono"/>
                        <a:ea typeface="Space Mono"/>
                        <a:cs typeface="Space Mono"/>
                        <a:sym typeface="Space Mono"/>
                      </a:endParaRPr>
                    </a:p>
                  </a:txBody>
                  <a:tcPr marT="91425" marB="91425" marR="91425" marL="91425">
                    <a:lnL cap="flat" cmpd="sng" w="9525">
                      <a:solidFill>
                        <a:schemeClr val="dk1"/>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31475">
                <a:tc>
                  <a:txBody>
                    <a:bodyPr/>
                    <a:lstStyle/>
                    <a:p>
                      <a:pPr indent="0" lvl="0" marL="0" rtl="0" algn="l">
                        <a:lnSpc>
                          <a:spcPct val="100000"/>
                        </a:lnSpc>
                        <a:spcBef>
                          <a:spcPts val="0"/>
                        </a:spcBef>
                        <a:spcAft>
                          <a:spcPts val="0"/>
                        </a:spcAft>
                        <a:buNone/>
                      </a:pPr>
                      <a:r>
                        <a:rPr lang="en" sz="900">
                          <a:latin typeface="Inter Tight"/>
                          <a:ea typeface="Inter Tight"/>
                          <a:cs typeface="Inter Tight"/>
                          <a:sym typeface="Inter Tight"/>
                        </a:rPr>
                        <a:t>San Luis Obispo</a:t>
                      </a:r>
                      <a:endParaRPr sz="900">
                        <a:latin typeface="Inter Tight"/>
                        <a:ea typeface="Inter Tight"/>
                        <a:cs typeface="Inter Tight"/>
                        <a:sym typeface="Inter Tight"/>
                      </a:endParaRPr>
                    </a:p>
                  </a:txBody>
                  <a:tcPr marT="91425" marB="91425" marR="91425" marL="91425">
                    <a:lnL cap="flat" cmpd="sng" w="76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900">
                          <a:latin typeface="Space Mono"/>
                          <a:ea typeface="Space Mono"/>
                          <a:cs typeface="Space Mono"/>
                          <a:sym typeface="Space Mono"/>
                        </a:rPr>
                        <a:t>0.32</a:t>
                      </a:r>
                      <a:endParaRPr sz="900">
                        <a:latin typeface="Space Mono"/>
                        <a:ea typeface="Space Mono"/>
                        <a:cs typeface="Space Mono"/>
                        <a:sym typeface="Space Mono"/>
                      </a:endParaRPr>
                    </a:p>
                  </a:txBody>
                  <a:tcPr marT="91425" marB="91425" marR="91425" marL="91425">
                    <a:lnL cap="flat" cmpd="sng" w="9525">
                      <a:solidFill>
                        <a:schemeClr val="dk1"/>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31475">
                <a:tc>
                  <a:txBody>
                    <a:bodyPr/>
                    <a:lstStyle/>
                    <a:p>
                      <a:pPr indent="0" lvl="0" marL="0" rtl="0" algn="l">
                        <a:lnSpc>
                          <a:spcPct val="100000"/>
                        </a:lnSpc>
                        <a:spcBef>
                          <a:spcPts val="0"/>
                        </a:spcBef>
                        <a:spcAft>
                          <a:spcPts val="0"/>
                        </a:spcAft>
                        <a:buNone/>
                      </a:pPr>
                      <a:r>
                        <a:rPr lang="en" sz="900">
                          <a:latin typeface="Inter Tight"/>
                          <a:ea typeface="Inter Tight"/>
                          <a:cs typeface="Inter Tight"/>
                          <a:sym typeface="Inter Tight"/>
                        </a:rPr>
                        <a:t>San Francisco</a:t>
                      </a:r>
                      <a:endParaRPr sz="900">
                        <a:latin typeface="Inter Tight"/>
                        <a:ea typeface="Inter Tight"/>
                        <a:cs typeface="Inter Tight"/>
                        <a:sym typeface="Inter Tight"/>
                      </a:endParaRPr>
                    </a:p>
                  </a:txBody>
                  <a:tcPr marT="91425" marB="91425" marR="91425" marL="91425">
                    <a:lnL cap="flat" cmpd="sng" w="76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900">
                          <a:latin typeface="Space Mono"/>
                          <a:ea typeface="Space Mono"/>
                          <a:cs typeface="Space Mono"/>
                          <a:sym typeface="Space Mono"/>
                        </a:rPr>
                        <a:t>-19.39</a:t>
                      </a:r>
                      <a:endParaRPr sz="900">
                        <a:latin typeface="Space Mono"/>
                        <a:ea typeface="Space Mono"/>
                        <a:cs typeface="Space Mono"/>
                        <a:sym typeface="Space Mono"/>
                      </a:endParaRPr>
                    </a:p>
                  </a:txBody>
                  <a:tcPr marT="91425" marB="91425" marR="91425" marL="91425">
                    <a:lnL cap="flat" cmpd="sng" w="9525">
                      <a:solidFill>
                        <a:schemeClr val="dk1"/>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31475">
                <a:tc>
                  <a:txBody>
                    <a:bodyPr/>
                    <a:lstStyle/>
                    <a:p>
                      <a:pPr indent="0" lvl="0" marL="0" rtl="0" algn="l">
                        <a:lnSpc>
                          <a:spcPct val="100000"/>
                        </a:lnSpc>
                        <a:spcBef>
                          <a:spcPts val="0"/>
                        </a:spcBef>
                        <a:spcAft>
                          <a:spcPts val="0"/>
                        </a:spcAft>
                        <a:buNone/>
                      </a:pPr>
                      <a:r>
                        <a:rPr lang="en" sz="900">
                          <a:latin typeface="Inter Tight"/>
                          <a:ea typeface="Inter Tight"/>
                          <a:cs typeface="Inter Tight"/>
                          <a:sym typeface="Inter Tight"/>
                        </a:rPr>
                        <a:t>Santa Clara</a:t>
                      </a:r>
                      <a:endParaRPr sz="900">
                        <a:latin typeface="Inter Tight"/>
                        <a:ea typeface="Inter Tight"/>
                        <a:cs typeface="Inter Tight"/>
                        <a:sym typeface="Inter Tight"/>
                      </a:endParaRPr>
                    </a:p>
                  </a:txBody>
                  <a:tcPr marT="91425" marB="91425" marR="91425" marL="91425">
                    <a:lnL cap="flat" cmpd="sng" w="76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900">
                          <a:latin typeface="Space Mono"/>
                          <a:ea typeface="Space Mono"/>
                          <a:cs typeface="Space Mono"/>
                          <a:sym typeface="Space Mono"/>
                        </a:rPr>
                        <a:t>-22.95</a:t>
                      </a:r>
                      <a:endParaRPr sz="900">
                        <a:latin typeface="Space Mono"/>
                        <a:ea typeface="Space Mono"/>
                        <a:cs typeface="Space Mono"/>
                        <a:sym typeface="Space Mono"/>
                      </a:endParaRPr>
                    </a:p>
                  </a:txBody>
                  <a:tcPr marT="91425" marB="91425" marR="91425" marL="91425">
                    <a:lnL cap="flat" cmpd="sng" w="9525">
                      <a:solidFill>
                        <a:schemeClr val="dk1"/>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31475">
                <a:tc>
                  <a:txBody>
                    <a:bodyPr/>
                    <a:lstStyle/>
                    <a:p>
                      <a:pPr indent="0" lvl="0" marL="0" rtl="0" algn="l">
                        <a:lnSpc>
                          <a:spcPct val="100000"/>
                        </a:lnSpc>
                        <a:spcBef>
                          <a:spcPts val="0"/>
                        </a:spcBef>
                        <a:spcAft>
                          <a:spcPts val="0"/>
                        </a:spcAft>
                        <a:buNone/>
                      </a:pPr>
                      <a:r>
                        <a:rPr lang="en" sz="900">
                          <a:latin typeface="Inter Tight"/>
                          <a:ea typeface="Inter Tight"/>
                          <a:cs typeface="Inter Tight"/>
                          <a:sym typeface="Inter Tight"/>
                        </a:rPr>
                        <a:t>Los Angeles</a:t>
                      </a:r>
                      <a:endParaRPr sz="900">
                        <a:latin typeface="Inter Tight"/>
                        <a:ea typeface="Inter Tight"/>
                        <a:cs typeface="Inter Tight"/>
                        <a:sym typeface="Inter Tight"/>
                      </a:endParaRPr>
                    </a:p>
                  </a:txBody>
                  <a:tcPr marT="91425" marB="91425" marR="91425" marL="91425">
                    <a:lnL cap="flat" cmpd="sng" w="76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900">
                          <a:latin typeface="Space Mono"/>
                          <a:ea typeface="Space Mono"/>
                          <a:cs typeface="Space Mono"/>
                          <a:sym typeface="Space Mono"/>
                        </a:rPr>
                        <a:t>-25.041</a:t>
                      </a:r>
                      <a:endParaRPr sz="900">
                        <a:latin typeface="Space Mono"/>
                        <a:ea typeface="Space Mono"/>
                        <a:cs typeface="Space Mono"/>
                        <a:sym typeface="Space Mono"/>
                      </a:endParaRPr>
                    </a:p>
                  </a:txBody>
                  <a:tcPr marT="91425" marB="91425" marR="91425" marL="91425">
                    <a:lnL cap="flat" cmpd="sng" w="9525">
                      <a:solidFill>
                        <a:schemeClr val="dk1"/>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
        <p:nvSpPr>
          <p:cNvPr id="210" name="Google Shape;210;p29"/>
          <p:cNvSpPr txBox="1"/>
          <p:nvPr/>
        </p:nvSpPr>
        <p:spPr>
          <a:xfrm>
            <a:off x="6661500" y="1109200"/>
            <a:ext cx="2170800" cy="264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Inter Tight"/>
                <a:ea typeface="Inter Tight"/>
                <a:cs typeface="Inter Tight"/>
                <a:sym typeface="Inter Tight"/>
              </a:rPr>
              <a:t>A positive gross income indicates a growing economy and a net increase in purchasing power.</a:t>
            </a:r>
            <a:endParaRPr sz="1200">
              <a:solidFill>
                <a:schemeClr val="dk2"/>
              </a:solidFill>
              <a:latin typeface="Inter Tight"/>
              <a:ea typeface="Inter Tight"/>
              <a:cs typeface="Inter Tight"/>
              <a:sym typeface="Inter Tight"/>
            </a:endParaRPr>
          </a:p>
          <a:p>
            <a:pPr indent="0" lvl="0" marL="0" rtl="0" algn="l">
              <a:spcBef>
                <a:spcPts val="0"/>
              </a:spcBef>
              <a:spcAft>
                <a:spcPts val="0"/>
              </a:spcAft>
              <a:buNone/>
            </a:pPr>
            <a:r>
              <a:t/>
            </a:r>
            <a:endParaRPr sz="1200">
              <a:solidFill>
                <a:schemeClr val="dk2"/>
              </a:solidFill>
              <a:latin typeface="Inter Tight"/>
              <a:ea typeface="Inter Tight"/>
              <a:cs typeface="Inter Tight"/>
              <a:sym typeface="Inter Tight"/>
            </a:endParaRPr>
          </a:p>
          <a:p>
            <a:pPr indent="0" lvl="0" marL="0" rtl="0" algn="l">
              <a:spcBef>
                <a:spcPts val="0"/>
              </a:spcBef>
              <a:spcAft>
                <a:spcPts val="0"/>
              </a:spcAft>
              <a:buNone/>
            </a:pPr>
            <a:r>
              <a:t/>
            </a:r>
            <a:endParaRPr sz="1200">
              <a:solidFill>
                <a:schemeClr val="dk2"/>
              </a:solidFill>
              <a:latin typeface="Inter Tight"/>
              <a:ea typeface="Inter Tight"/>
              <a:cs typeface="Inter Tight"/>
              <a:sym typeface="Inter Tight"/>
            </a:endParaRPr>
          </a:p>
        </p:txBody>
      </p:sp>
      <p:pic>
        <p:nvPicPr>
          <p:cNvPr id="211" name="Google Shape;211;p29"/>
          <p:cNvPicPr preferRelativeResize="0"/>
          <p:nvPr/>
        </p:nvPicPr>
        <p:blipFill>
          <a:blip r:embed="rId3">
            <a:alphaModFix/>
          </a:blip>
          <a:stretch>
            <a:fillRect/>
          </a:stretch>
        </p:blipFill>
        <p:spPr>
          <a:xfrm>
            <a:off x="711325" y="892013"/>
            <a:ext cx="2961914" cy="3820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5" name="Shape 215"/>
        <p:cNvGrpSpPr/>
        <p:nvPr/>
      </p:nvGrpSpPr>
      <p:grpSpPr>
        <a:xfrm>
          <a:off x="0" y="0"/>
          <a:ext cx="0" cy="0"/>
          <a:chOff x="0" y="0"/>
          <a:chExt cx="0" cy="0"/>
        </a:xfrm>
      </p:grpSpPr>
      <p:sp>
        <p:nvSpPr>
          <p:cNvPr id="216" name="Google Shape;216;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General California Population Trends</a:t>
            </a:r>
            <a:endParaRPr/>
          </a:p>
        </p:txBody>
      </p:sp>
      <p:sp>
        <p:nvSpPr>
          <p:cNvPr id="217" name="Google Shape;217;p3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1"/>
          <p:cNvSpPr txBox="1"/>
          <p:nvPr>
            <p:ph type="title"/>
          </p:nvPr>
        </p:nvSpPr>
        <p:spPr>
          <a:xfrm>
            <a:off x="1182075" y="952475"/>
            <a:ext cx="4828500" cy="192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Challenges and Key Risks </a:t>
            </a:r>
            <a:endParaRPr/>
          </a:p>
        </p:txBody>
      </p:sp>
      <p:sp>
        <p:nvSpPr>
          <p:cNvPr id="223" name="Google Shape;223;p31"/>
          <p:cNvSpPr txBox="1"/>
          <p:nvPr>
            <p:ph idx="2" type="title"/>
          </p:nvPr>
        </p:nvSpPr>
        <p:spPr>
          <a:xfrm>
            <a:off x="997450" y="3612175"/>
            <a:ext cx="1860000" cy="1355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Investor Day 2025</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California’s population trends</a:t>
            </a:r>
            <a:endParaRPr/>
          </a:p>
        </p:txBody>
      </p:sp>
      <p:pic>
        <p:nvPicPr>
          <p:cNvPr id="229" name="Google Shape;229;p32"/>
          <p:cNvPicPr preferRelativeResize="0"/>
          <p:nvPr/>
        </p:nvPicPr>
        <p:blipFill>
          <a:blip r:embed="rId3">
            <a:alphaModFix/>
          </a:blip>
          <a:stretch>
            <a:fillRect/>
          </a:stretch>
        </p:blipFill>
        <p:spPr>
          <a:xfrm>
            <a:off x="407675" y="955425"/>
            <a:ext cx="2907500" cy="3750775"/>
          </a:xfrm>
          <a:prstGeom prst="rect">
            <a:avLst/>
          </a:prstGeom>
          <a:noFill/>
          <a:ln>
            <a:noFill/>
          </a:ln>
        </p:spPr>
      </p:pic>
      <p:pic>
        <p:nvPicPr>
          <p:cNvPr id="230" name="Google Shape;230;p32"/>
          <p:cNvPicPr preferRelativeResize="0"/>
          <p:nvPr/>
        </p:nvPicPr>
        <p:blipFill>
          <a:blip r:embed="rId4">
            <a:alphaModFix/>
          </a:blip>
          <a:stretch>
            <a:fillRect/>
          </a:stretch>
        </p:blipFill>
        <p:spPr>
          <a:xfrm>
            <a:off x="4178175" y="1122598"/>
            <a:ext cx="3930513" cy="34163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3"/>
          <p:cNvSpPr/>
          <p:nvPr/>
        </p:nvSpPr>
        <p:spPr>
          <a:xfrm rot="14">
            <a:off x="5553900" y="0"/>
            <a:ext cx="120725" cy="4790775"/>
          </a:xfrm>
          <a:prstGeom prst="flowChartProcess">
            <a:avLst/>
          </a:prstGeom>
          <a:solidFill>
            <a:schemeClr val="dk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6" name="Google Shape;236;p33"/>
          <p:cNvSpPr/>
          <p:nvPr/>
        </p:nvSpPr>
        <p:spPr>
          <a:xfrm rot="5400014">
            <a:off x="7078300" y="-1453999"/>
            <a:ext cx="621750" cy="3529747"/>
          </a:xfrm>
          <a:prstGeom prst="flowChartProcess">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7" name="Google Shape;237;p3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Friction with the Local Populace</a:t>
            </a:r>
            <a:endParaRPr/>
          </a:p>
        </p:txBody>
      </p:sp>
      <p:sp>
        <p:nvSpPr>
          <p:cNvPr id="238" name="Google Shape;238;p33"/>
          <p:cNvSpPr txBox="1"/>
          <p:nvPr>
            <p:ph idx="1" type="body"/>
          </p:nvPr>
        </p:nvSpPr>
        <p:spPr>
          <a:xfrm>
            <a:off x="311700" y="1152475"/>
            <a:ext cx="7683300" cy="3416400"/>
          </a:xfrm>
          <a:prstGeom prst="rect">
            <a:avLst/>
          </a:prstGeom>
        </p:spPr>
        <p:txBody>
          <a:bodyPr anchorCtr="0" anchor="t" bIns="91425" lIns="91425" spcFirstLastPara="1" rIns="91425" wrap="square" tIns="91425">
            <a:normAutofit/>
          </a:bodyPr>
          <a:lstStyle/>
          <a:p>
            <a:pPr indent="-317500" lvl="0" marL="457200" rtl="0" algn="l">
              <a:lnSpc>
                <a:spcPct val="150000"/>
              </a:lnSpc>
              <a:spcBef>
                <a:spcPts val="0"/>
              </a:spcBef>
              <a:spcAft>
                <a:spcPts val="0"/>
              </a:spcAft>
              <a:buSzPts val="1400"/>
              <a:buChar char="●"/>
            </a:pPr>
            <a:r>
              <a:rPr lang="en"/>
              <a:t>Low income populations will require </a:t>
            </a:r>
            <a:r>
              <a:rPr lang="en"/>
              <a:t>relocation</a:t>
            </a:r>
            <a:endParaRPr/>
          </a:p>
          <a:p>
            <a:pPr indent="-304800" lvl="1" marL="914400" rtl="0" algn="l">
              <a:lnSpc>
                <a:spcPct val="150000"/>
              </a:lnSpc>
              <a:spcBef>
                <a:spcPts val="0"/>
              </a:spcBef>
              <a:spcAft>
                <a:spcPts val="0"/>
              </a:spcAft>
              <a:buSzPts val="1200"/>
              <a:buChar char="○"/>
            </a:pPr>
            <a:r>
              <a:rPr lang="en"/>
              <a:t>Need to be encouraged to move</a:t>
            </a:r>
            <a:endParaRPr/>
          </a:p>
          <a:p>
            <a:pPr indent="-304800" lvl="1" marL="914400" rtl="0" algn="l">
              <a:lnSpc>
                <a:spcPct val="150000"/>
              </a:lnSpc>
              <a:spcBef>
                <a:spcPts val="0"/>
              </a:spcBef>
              <a:spcAft>
                <a:spcPts val="0"/>
              </a:spcAft>
              <a:buSzPts val="1200"/>
              <a:buChar char="○"/>
            </a:pPr>
            <a:r>
              <a:rPr lang="en"/>
              <a:t>Potential for media scrutiny</a:t>
            </a:r>
            <a:endParaRPr/>
          </a:p>
          <a:p>
            <a:pPr indent="-317500" lvl="0" marL="457200" rtl="0" algn="l">
              <a:lnSpc>
                <a:spcPct val="150000"/>
              </a:lnSpc>
              <a:spcBef>
                <a:spcPts val="0"/>
              </a:spcBef>
              <a:spcAft>
                <a:spcPts val="0"/>
              </a:spcAft>
              <a:buSzPts val="1400"/>
              <a:buChar char="●"/>
            </a:pPr>
            <a:r>
              <a:rPr lang="en"/>
              <a:t>Reliance on local economic growth to encourage new buyers</a:t>
            </a:r>
            <a:endParaRPr/>
          </a:p>
          <a:p>
            <a:pPr indent="-304800" lvl="1" marL="914400" rtl="0" algn="l">
              <a:lnSpc>
                <a:spcPct val="150000"/>
              </a:lnSpc>
              <a:spcBef>
                <a:spcPts val="0"/>
              </a:spcBef>
              <a:spcAft>
                <a:spcPts val="0"/>
              </a:spcAft>
              <a:buSzPts val="1200"/>
              <a:buChar char="○"/>
            </a:pPr>
            <a:r>
              <a:rPr lang="en"/>
              <a:t>Little control over local business decision making</a:t>
            </a:r>
            <a:endParaRPr/>
          </a:p>
          <a:p>
            <a:pPr indent="-317500" lvl="0" marL="457200" rtl="0" algn="l">
              <a:lnSpc>
                <a:spcPct val="150000"/>
              </a:lnSpc>
              <a:spcBef>
                <a:spcPts val="0"/>
              </a:spcBef>
              <a:spcAft>
                <a:spcPts val="0"/>
              </a:spcAft>
              <a:buSzPts val="1400"/>
              <a:buChar char="●"/>
            </a:pPr>
            <a:r>
              <a:rPr lang="en"/>
              <a:t>Other firms failed due to collective anti-outsider sentiment</a:t>
            </a:r>
            <a:endParaRPr/>
          </a:p>
          <a:p>
            <a:pPr indent="-304800" lvl="1" marL="914400" rtl="0" algn="l">
              <a:lnSpc>
                <a:spcPct val="150000"/>
              </a:lnSpc>
              <a:spcBef>
                <a:spcPts val="0"/>
              </a:spcBef>
              <a:spcAft>
                <a:spcPts val="0"/>
              </a:spcAft>
              <a:buSzPts val="1200"/>
              <a:buChar char="○"/>
            </a:pPr>
            <a:r>
              <a:rPr lang="en"/>
              <a:t>Santa Barbara has been particularly resistant</a:t>
            </a:r>
            <a:endParaRPr/>
          </a:p>
        </p:txBody>
      </p:sp>
      <p:sp>
        <p:nvSpPr>
          <p:cNvPr id="239" name="Google Shape;239;p33"/>
          <p:cNvSpPr/>
          <p:nvPr/>
        </p:nvSpPr>
        <p:spPr>
          <a:xfrm rot="5400014">
            <a:off x="7068237" y="552439"/>
            <a:ext cx="621750" cy="3529747"/>
          </a:xfrm>
          <a:prstGeom prst="flowChartProcess">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240" name="Google Shape;240;p33"/>
          <p:cNvPicPr preferRelativeResize="0"/>
          <p:nvPr/>
        </p:nvPicPr>
        <p:blipFill>
          <a:blip r:embed="rId3">
            <a:alphaModFix/>
          </a:blip>
          <a:stretch>
            <a:fillRect/>
          </a:stretch>
        </p:blipFill>
        <p:spPr>
          <a:xfrm>
            <a:off x="5629301" y="335299"/>
            <a:ext cx="3519787" cy="1979875"/>
          </a:xfrm>
          <a:prstGeom prst="rect">
            <a:avLst/>
          </a:prstGeom>
          <a:noFill/>
          <a:ln>
            <a:noFill/>
          </a:ln>
        </p:spPr>
      </p:pic>
      <p:sp>
        <p:nvSpPr>
          <p:cNvPr id="241" name="Google Shape;241;p33"/>
          <p:cNvSpPr/>
          <p:nvPr/>
        </p:nvSpPr>
        <p:spPr>
          <a:xfrm rot="5400014">
            <a:off x="7000237" y="2647014"/>
            <a:ext cx="777900" cy="3509622"/>
          </a:xfrm>
          <a:prstGeom prst="flowChartProcess">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242" name="Google Shape;242;p33"/>
          <p:cNvPicPr preferRelativeResize="0"/>
          <p:nvPr/>
        </p:nvPicPr>
        <p:blipFill>
          <a:blip r:embed="rId4">
            <a:alphaModFix/>
          </a:blip>
          <a:stretch>
            <a:fillRect/>
          </a:stretch>
        </p:blipFill>
        <p:spPr>
          <a:xfrm>
            <a:off x="5629300" y="2497982"/>
            <a:ext cx="3519801" cy="197988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4"/>
          <p:cNvSpPr txBox="1"/>
          <p:nvPr>
            <p:ph type="title"/>
          </p:nvPr>
        </p:nvSpPr>
        <p:spPr>
          <a:xfrm>
            <a:off x="311700" y="275125"/>
            <a:ext cx="3917100" cy="98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Legal Frameworks </a:t>
            </a:r>
            <a:endParaRPr/>
          </a:p>
          <a:p>
            <a:pPr indent="0" lvl="0" marL="0" rtl="0" algn="l">
              <a:spcBef>
                <a:spcPts val="0"/>
              </a:spcBef>
              <a:spcAft>
                <a:spcPts val="0"/>
              </a:spcAft>
              <a:buNone/>
            </a:pPr>
            <a:r>
              <a:rPr lang="en"/>
              <a:t>and Regulations</a:t>
            </a:r>
            <a:endParaRPr/>
          </a:p>
        </p:txBody>
      </p:sp>
      <p:sp>
        <p:nvSpPr>
          <p:cNvPr id="248" name="Google Shape;248;p34"/>
          <p:cNvSpPr txBox="1"/>
          <p:nvPr>
            <p:ph idx="1" type="body"/>
          </p:nvPr>
        </p:nvSpPr>
        <p:spPr>
          <a:xfrm>
            <a:off x="311700" y="1259137"/>
            <a:ext cx="3999900" cy="1206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AB 1482 - The California Tenant Protection Act (2019)</a:t>
            </a:r>
            <a:endParaRPr/>
          </a:p>
          <a:p>
            <a:pPr indent="-304800" lvl="1" marL="914400" rtl="0" algn="l">
              <a:spcBef>
                <a:spcPts val="0"/>
              </a:spcBef>
              <a:spcAft>
                <a:spcPts val="0"/>
              </a:spcAft>
              <a:buSzPts val="1200"/>
              <a:buChar char="○"/>
            </a:pPr>
            <a:r>
              <a:rPr lang="en"/>
              <a:t>Rent Cap (Stabilization)</a:t>
            </a:r>
            <a:endParaRPr/>
          </a:p>
          <a:p>
            <a:pPr indent="-304800" lvl="1" marL="914400" rtl="0" algn="l">
              <a:spcBef>
                <a:spcPts val="0"/>
              </a:spcBef>
              <a:spcAft>
                <a:spcPts val="0"/>
              </a:spcAft>
              <a:buSzPts val="1200"/>
              <a:buChar char="○"/>
            </a:pPr>
            <a:r>
              <a:rPr lang="en"/>
              <a:t>Just Cause Eviction Protections</a:t>
            </a:r>
            <a:endParaRPr/>
          </a:p>
        </p:txBody>
      </p:sp>
      <p:sp>
        <p:nvSpPr>
          <p:cNvPr id="249" name="Google Shape;249;p34"/>
          <p:cNvSpPr txBox="1"/>
          <p:nvPr>
            <p:ph idx="2" type="body"/>
          </p:nvPr>
        </p:nvSpPr>
        <p:spPr>
          <a:xfrm>
            <a:off x="311700" y="2669465"/>
            <a:ext cx="3999900" cy="16371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County Specific Regulatory Concerns:</a:t>
            </a:r>
            <a:endParaRPr/>
          </a:p>
          <a:p>
            <a:pPr indent="-304800" lvl="1" marL="914400" rtl="0" algn="l">
              <a:spcBef>
                <a:spcPts val="0"/>
              </a:spcBef>
              <a:spcAft>
                <a:spcPts val="0"/>
              </a:spcAft>
              <a:buSzPts val="1200"/>
              <a:buChar char="○"/>
            </a:pPr>
            <a:r>
              <a:rPr lang="en"/>
              <a:t>Growth Management Ordinances</a:t>
            </a:r>
            <a:endParaRPr/>
          </a:p>
          <a:p>
            <a:pPr indent="-304800" lvl="1" marL="914400" rtl="0" algn="l">
              <a:spcBef>
                <a:spcPts val="0"/>
              </a:spcBef>
              <a:spcAft>
                <a:spcPts val="0"/>
              </a:spcAft>
              <a:buSzPts val="1200"/>
              <a:buChar char="○"/>
            </a:pPr>
            <a:r>
              <a:rPr lang="en"/>
              <a:t>STR-enforcement</a:t>
            </a:r>
            <a:endParaRPr/>
          </a:p>
          <a:p>
            <a:pPr indent="-304800" lvl="1" marL="914400" rtl="0" algn="l">
              <a:spcBef>
                <a:spcPts val="0"/>
              </a:spcBef>
              <a:spcAft>
                <a:spcPts val="0"/>
              </a:spcAft>
              <a:buSzPts val="1200"/>
              <a:buChar char="○"/>
            </a:pPr>
            <a:r>
              <a:rPr lang="en"/>
              <a:t>Environmental Protections </a:t>
            </a:r>
            <a:r>
              <a:rPr lang="en"/>
              <a:t>and</a:t>
            </a:r>
            <a:r>
              <a:rPr lang="en"/>
              <a:t> </a:t>
            </a:r>
            <a:r>
              <a:rPr lang="en"/>
              <a:t>Resource Constraints</a:t>
            </a:r>
            <a:endParaRPr/>
          </a:p>
          <a:p>
            <a:pPr indent="-304800" lvl="1" marL="914400" rtl="0" algn="l">
              <a:spcBef>
                <a:spcPts val="0"/>
              </a:spcBef>
              <a:spcAft>
                <a:spcPts val="0"/>
              </a:spcAft>
              <a:buSzPts val="1200"/>
              <a:buChar char="○"/>
            </a:pPr>
            <a:r>
              <a:rPr lang="en"/>
              <a:t>Conflicting Industrial Use Zoning</a:t>
            </a:r>
            <a:endParaRPr/>
          </a:p>
        </p:txBody>
      </p:sp>
      <p:pic>
        <p:nvPicPr>
          <p:cNvPr id="250" name="Google Shape;250;p34"/>
          <p:cNvPicPr preferRelativeResize="0"/>
          <p:nvPr/>
        </p:nvPicPr>
        <p:blipFill rotWithShape="1">
          <a:blip r:embed="rId3">
            <a:alphaModFix/>
          </a:blip>
          <a:srcRect b="0" l="0" r="0" t="0"/>
          <a:stretch/>
        </p:blipFill>
        <p:spPr>
          <a:xfrm>
            <a:off x="4381225" y="0"/>
            <a:ext cx="4762776" cy="2561150"/>
          </a:xfrm>
          <a:prstGeom prst="rect">
            <a:avLst/>
          </a:prstGeom>
          <a:noFill/>
          <a:ln>
            <a:noFill/>
          </a:ln>
        </p:spPr>
      </p:pic>
      <p:pic>
        <p:nvPicPr>
          <p:cNvPr id="251" name="Google Shape;251;p34"/>
          <p:cNvPicPr preferRelativeResize="0"/>
          <p:nvPr/>
        </p:nvPicPr>
        <p:blipFill>
          <a:blip r:embed="rId4">
            <a:alphaModFix/>
          </a:blip>
          <a:stretch>
            <a:fillRect/>
          </a:stretch>
        </p:blipFill>
        <p:spPr>
          <a:xfrm>
            <a:off x="4381225" y="2537650"/>
            <a:ext cx="4762776" cy="2255575"/>
          </a:xfrm>
          <a:prstGeom prst="rect">
            <a:avLst/>
          </a:prstGeom>
          <a:noFill/>
          <a:ln>
            <a:noFill/>
          </a:ln>
        </p:spPr>
      </p:pic>
      <p:sp>
        <p:nvSpPr>
          <p:cNvPr id="252" name="Google Shape;252;p34"/>
          <p:cNvSpPr/>
          <p:nvPr/>
        </p:nvSpPr>
        <p:spPr>
          <a:xfrm rot="14">
            <a:off x="4311598" y="-1031949"/>
            <a:ext cx="69625" cy="5825175"/>
          </a:xfrm>
          <a:prstGeom prst="flowChartProcess">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53" name="Google Shape;253;p34"/>
          <p:cNvSpPr/>
          <p:nvPr/>
        </p:nvSpPr>
        <p:spPr>
          <a:xfrm rot="5400014">
            <a:off x="7254143" y="-344987"/>
            <a:ext cx="69625" cy="5825175"/>
          </a:xfrm>
          <a:prstGeom prst="flowChartProcess">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7" name="Shape 25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